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13" r:id="rId4"/>
    <p:sldMasterId id="2147483714" r:id="rId5"/>
    <p:sldMasterId id="214748371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y="5143500" cx="9144000"/>
  <p:notesSz cx="6858000" cy="9144000"/>
  <p:embeddedFontLst>
    <p:embeddedFont>
      <p:font typeface="Roboto"/>
      <p:regular r:id="rId54"/>
      <p:bold r:id="rId55"/>
      <p:italic r:id="rId56"/>
      <p:boldItalic r:id="rId57"/>
    </p:embeddedFont>
    <p:embeddedFont>
      <p:font typeface="Montserrat"/>
      <p:regular r:id="rId58"/>
      <p:bold r:id="rId59"/>
      <p:italic r:id="rId60"/>
      <p:boldItalic r:id="rId61"/>
    </p:embeddedFont>
    <p:embeddedFont>
      <p:font typeface="Google Sans"/>
      <p:regular r:id="rId62"/>
      <p:bold r:id="rId63"/>
      <p:italic r:id="rId64"/>
      <p:boldItalic r:id="rId65"/>
    </p:embeddedFont>
    <p:embeddedFont>
      <p:font typeface="Montserrat Light"/>
      <p:regular r:id="rId66"/>
      <p:bold r:id="rId67"/>
      <p:italic r:id="rId68"/>
      <p:boldItalic r:id="rId69"/>
    </p:embeddedFont>
    <p:embeddedFont>
      <p:font typeface="Helvetica Neue"/>
      <p:regular r:id="rId70"/>
      <p:bold r:id="rId71"/>
      <p:italic r:id="rId72"/>
      <p:boldItalic r:id="rId73"/>
    </p:embeddedFont>
    <p:embeddedFont>
      <p:font typeface="Lexend Deca"/>
      <p:regular r:id="rId74"/>
      <p:bold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9CF31E-63C5-4CAB-A024-31359DF71C8A}">
  <a:tblStyle styleId="{129CF31E-63C5-4CAB-A024-31359DF71C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HelveticaNeue-boldItalic.fntdata"/><Relationship Id="rId72" Type="http://schemas.openxmlformats.org/officeDocument/2006/relationships/font" Target="fonts/HelveticaNeue-italic.fntdata"/><Relationship Id="rId31" Type="http://schemas.openxmlformats.org/officeDocument/2006/relationships/slide" Target="slides/slide24.xml"/><Relationship Id="rId75" Type="http://schemas.openxmlformats.org/officeDocument/2006/relationships/font" Target="fonts/LexendDeca-bold.fntdata"/><Relationship Id="rId30" Type="http://schemas.openxmlformats.org/officeDocument/2006/relationships/slide" Target="slides/slide23.xml"/><Relationship Id="rId74" Type="http://schemas.openxmlformats.org/officeDocument/2006/relationships/font" Target="fonts/LexendDeca-regular.fntdata"/><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HelveticaNeue-bold.fntdata"/><Relationship Id="rId70" Type="http://schemas.openxmlformats.org/officeDocument/2006/relationships/font" Target="fonts/HelveticaNeue-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GoogleSans-regular.fntdata"/><Relationship Id="rId61" Type="http://schemas.openxmlformats.org/officeDocument/2006/relationships/font" Target="fonts/Montserrat-boldItalic.fntdata"/><Relationship Id="rId20" Type="http://schemas.openxmlformats.org/officeDocument/2006/relationships/slide" Target="slides/slide13.xml"/><Relationship Id="rId64" Type="http://schemas.openxmlformats.org/officeDocument/2006/relationships/font" Target="fonts/GoogleSans-italic.fntdata"/><Relationship Id="rId63" Type="http://schemas.openxmlformats.org/officeDocument/2006/relationships/font" Target="fonts/GoogleSans-bold.fntdata"/><Relationship Id="rId22" Type="http://schemas.openxmlformats.org/officeDocument/2006/relationships/slide" Target="slides/slide15.xml"/><Relationship Id="rId66" Type="http://schemas.openxmlformats.org/officeDocument/2006/relationships/font" Target="fonts/MontserratLight-regular.fntdata"/><Relationship Id="rId21" Type="http://schemas.openxmlformats.org/officeDocument/2006/relationships/slide" Target="slides/slide14.xml"/><Relationship Id="rId65" Type="http://schemas.openxmlformats.org/officeDocument/2006/relationships/font" Target="fonts/GoogleSans-boldItalic.fntdata"/><Relationship Id="rId24" Type="http://schemas.openxmlformats.org/officeDocument/2006/relationships/slide" Target="slides/slide17.xml"/><Relationship Id="rId68" Type="http://schemas.openxmlformats.org/officeDocument/2006/relationships/font" Target="fonts/MontserratLight-italic.fntdata"/><Relationship Id="rId23" Type="http://schemas.openxmlformats.org/officeDocument/2006/relationships/slide" Target="slides/slide16.xml"/><Relationship Id="rId67" Type="http://schemas.openxmlformats.org/officeDocument/2006/relationships/font" Target="fonts/MontserratLight-bold.fntdata"/><Relationship Id="rId60" Type="http://schemas.openxmlformats.org/officeDocument/2006/relationships/font" Target="fonts/Montserrat-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ontserratLight-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Roboto-bold.fntdata"/><Relationship Id="rId10" Type="http://schemas.openxmlformats.org/officeDocument/2006/relationships/slide" Target="slides/slide3.xml"/><Relationship Id="rId54" Type="http://schemas.openxmlformats.org/officeDocument/2006/relationships/font" Target="fonts/Roboto-regular.fntdata"/><Relationship Id="rId13" Type="http://schemas.openxmlformats.org/officeDocument/2006/relationships/slide" Target="slides/slide6.xml"/><Relationship Id="rId57" Type="http://schemas.openxmlformats.org/officeDocument/2006/relationships/font" Target="fonts/Roboto-boldItalic.fntdata"/><Relationship Id="rId12" Type="http://schemas.openxmlformats.org/officeDocument/2006/relationships/slide" Target="slides/slide5.xml"/><Relationship Id="rId56" Type="http://schemas.openxmlformats.org/officeDocument/2006/relationships/font" Target="fonts/Roboto-italic.fntdata"/><Relationship Id="rId15" Type="http://schemas.openxmlformats.org/officeDocument/2006/relationships/slide" Target="slides/slide8.xml"/><Relationship Id="rId59" Type="http://schemas.openxmlformats.org/officeDocument/2006/relationships/font" Target="fonts/Montserrat-bold.fntdata"/><Relationship Id="rId14" Type="http://schemas.openxmlformats.org/officeDocument/2006/relationships/slide" Target="slides/slide7.xml"/><Relationship Id="rId58" Type="http://schemas.openxmlformats.org/officeDocument/2006/relationships/font" Target="fonts/Montserra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orbes.com/sites/tomdavenport/2018/01/08/biting-the-data-management-bullet-at-glaxosmithkline/#778530055577"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amr.com/blog/how-carnival-sailed-toward-global-data-alignmen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amr.com/video/data-insights-caa-and-tamr/"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901fedcc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901fedcc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bfdd528f6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bfdd528f6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There has been a massive shift over the last decade in the progression of moving data to cloud data platforms. Along with data, compute is also moving to the cloud, ushering in a new opportunity to scale data management capabilities in unprecedented ways.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However, there’s still a massive gap between data and analytic outcomes. Traditional MDM solutions aimed to solve this problem but they have failed to deliver on the promise of cleansed, mastered data at scale.</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bfdd528f6e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bfdd528f6e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Today, the opportunity lies in next-gen data mgmt. solutions to power DataOps strategies that address both speed and scale. Having worked with dozens of Global 2000 Customers on their data and analytics initiatives, Tamr sees consistent patterns of key principles that are in stark contrast to traditional “single vendor,” “single platform” data processing approaches that are advocated by vendors such as Palantir, Teradata, Informatica, Oracle and others. These principles describe how people, process and tools need to work together to deliver successful initiatives. DataOps and these next-gen solutions promote:</a:t>
            </a:r>
            <a:endParaRPr/>
          </a:p>
          <a:p>
            <a:pPr indent="-298450" lvl="0" marL="457200" rtl="0" algn="l">
              <a:lnSpc>
                <a:spcPct val="115000"/>
              </a:lnSpc>
              <a:spcBef>
                <a:spcPts val="0"/>
              </a:spcBef>
              <a:spcAft>
                <a:spcPts val="0"/>
              </a:spcAft>
              <a:buSzPts val="1100"/>
              <a:buAutoNum type="arabicPeriod"/>
            </a:pPr>
            <a:r>
              <a:rPr lang="en"/>
              <a:t>Agility</a:t>
            </a:r>
            <a:endParaRPr/>
          </a:p>
          <a:p>
            <a:pPr indent="-298450" lvl="0" marL="457200" rtl="0" algn="l">
              <a:lnSpc>
                <a:spcPct val="115000"/>
              </a:lnSpc>
              <a:spcBef>
                <a:spcPts val="0"/>
              </a:spcBef>
              <a:spcAft>
                <a:spcPts val="0"/>
              </a:spcAft>
              <a:buSzPts val="1100"/>
              <a:buAutoNum type="arabicPeriod"/>
            </a:pPr>
            <a:r>
              <a:rPr lang="en"/>
              <a:t>Continuous</a:t>
            </a:r>
            <a:endParaRPr/>
          </a:p>
          <a:p>
            <a:pPr indent="-298450" lvl="0" marL="457200" rtl="0" algn="l">
              <a:lnSpc>
                <a:spcPct val="115000"/>
              </a:lnSpc>
              <a:spcBef>
                <a:spcPts val="0"/>
              </a:spcBef>
              <a:spcAft>
                <a:spcPts val="0"/>
              </a:spcAft>
              <a:buSzPts val="1100"/>
              <a:buAutoNum type="arabicPeriod"/>
            </a:pPr>
            <a:r>
              <a:rPr lang="en"/>
              <a:t>Collaborative</a:t>
            </a:r>
            <a:endParaRPr/>
          </a:p>
          <a:p>
            <a:pPr indent="-298450" lvl="0" marL="457200" rtl="0" algn="l">
              <a:lnSpc>
                <a:spcPct val="115000"/>
              </a:lnSpc>
              <a:spcBef>
                <a:spcPts val="0"/>
              </a:spcBef>
              <a:spcAft>
                <a:spcPts val="0"/>
              </a:spcAft>
              <a:buSzPts val="1100"/>
              <a:buAutoNum type="arabicPeriod"/>
            </a:pPr>
            <a:r>
              <a:rPr lang="en"/>
              <a:t>Interoperability</a:t>
            </a:r>
            <a:endParaRPr/>
          </a:p>
          <a:p>
            <a:pPr indent="-298450" lvl="0" marL="457200" rtl="0" algn="l">
              <a:lnSpc>
                <a:spcPct val="115000"/>
              </a:lnSpc>
              <a:spcBef>
                <a:spcPts val="0"/>
              </a:spcBef>
              <a:spcAft>
                <a:spcPts val="0"/>
              </a:spcAft>
              <a:buSzPts val="1100"/>
              <a:buAutoNum type="arabicPeriod"/>
            </a:pPr>
            <a:r>
              <a:rPr lang="en"/>
              <a:t>Scale</a:t>
            </a:r>
            <a:endParaRPr/>
          </a:p>
          <a:p>
            <a:pPr indent="0" lvl="0" marL="0" rtl="0" algn="l">
              <a:lnSpc>
                <a:spcPct val="115000"/>
              </a:lnSpc>
              <a:spcBef>
                <a:spcPts val="0"/>
              </a:spcBef>
              <a:spcAft>
                <a:spcPts val="0"/>
              </a:spcAft>
              <a:buNone/>
            </a:pPr>
            <a:r>
              <a:rPr lang="en"/>
              <a:t>This iterative, open, best-of-breed approach may require some uncomfortable changes to organizational thinking to get started, but is much more effective in the medium to long term: it represents a winning strategy for maximizing the generation and use of quality data in the enterprise that can stay agile to the business’s shifting needs.</a:t>
            </a:r>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c80cec8dd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c80cec8dd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Tamr’s cloud-native data mastering solutions offer the next generation in master data management (or MDM) platforms, delivering on the unfilled promise of generating curated, mastered datasets that propel the </a:t>
            </a:r>
            <a:r>
              <a:rPr lang="en">
                <a:solidFill>
                  <a:schemeClr val="dk1"/>
                </a:solidFill>
              </a:rPr>
              <a:t>business</a:t>
            </a:r>
            <a:r>
              <a:rPr lang="en">
                <a:solidFill>
                  <a:schemeClr val="dk1"/>
                </a:solidFill>
              </a:rPr>
              <a:t> forward.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Initially formed out of research at MIT led by Turing award winner Michael Stonebraker, at the core of our solutions is machine learning with patented workflows that engage subject matter experts effectively to guide the ML models and accelerate analytic outcomes with curated, mastered data in weeks to months instead of years.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Since then, we have scaled to meet the world’s largest organizations mastering needs, with next-gen data mastering solutions are cloud-native, taking advantage of elastic and ephemeral cloud compute and storage for high volumes of data.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c80cec8dde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c80cec8dde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Tamr’s cloud-native data mastering solutions offer a human-guided, ML approach to data curation, feedback, enrichment and publishing.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output is high-quality, cleansed, mastered datasets that power analytical and operational use cases at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philosophy is that machines do some things very well but that humans are irreplaceable. Tamr combines machine learning with subject matter expert input to train the model and rules (when it helps) to enable the machine to do the heavy lifting to generate curated mastered datasets at scale that align with the business needs.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Tamr ingests data from disparate data sources, and then leverages our human-guided machine learning approach to deliver analytics ready datasets: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Data Curation: Tamr combines disparate data sources by mapping differing data schemas (attributes and categories), such as in this example, where tables have different naming schemas like Name or Company, or CNA1. This process also includes matching and deduplicating records across thousands or millions of rows, generating a unique Tamr ID for golden records of customers or suppliers, and categorizing the data leveraging well-defined taxonomies to power analytical insights.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Data Feedback: Our data mastering workflow makes it easy to engage subject matter experts through simple yes or no questions to train the machine learning algorithms. The machine takes that human feedback as a signal for learning and applies it at scale so that all the delivered data meets their needs, not just what has been reviewed in detail.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rgbClr val="343A43"/>
                </a:solidFill>
              </a:rPr>
              <a:t>Enrichment: With Tamr’s integrated data enrichment services, you can improve data accuracy about organizations (e.g., B2B customers, suppliers, and distributors) and people (e.g., B2C Customers).  In this example, we have a unique record for Google Inc. comprised of the best sources across the organization, but sometimes the best data is in external sources -- and with Tamr you can leverage 1-click data enrichment for address, email and phone validation from external sources.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Publishing: Tamr offers an intuitive user interface that captures mastered data sets and key details about mastered records for core business entities (e.g., suppliers, parts, customers, etc…), and makes it easy to publish data to downstream cloud data stores for analytical use cases or operational needs.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fbb3380b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fbb3380b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Tamr’s cloud-native data mastering solutions offer a human-guided, ML approach to data curation, feedback, enrichment and publishing.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output is high-quality, cleansed, mastered datasets that power analytical and operational use cases at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philosophy is that machines do some things very well but that humans are irreplaceable. Tamr combines machine learning with subject matter expert input to train the model and rules (when it helps) to enable the machine to do the heavy lifting to generate curated mastered datasets at scale that align with the business needs.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Tamr ingests data from disparate data sources, and then leverages our human-guided machine learning approach to deliver analytics ready datasets: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Data Curation: Tamr combines disparate data sources by mapping differing data schemas (attributes and categories), such as in this example, where tables have different naming schemas like Name or Company, or CNA1. This process also includes matching and deduplicating records across thousands or millions of rows, generating a unique Tamr ID for golden records of customers or suppliers, and categorizing the data leveraging well-defined taxonomies to power analytical insights.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Data Feedback: Our data mastering workflow makes it easy to engage subject matter experts through simple yes or no questions to train the machine learning algorithms. The machine takes that human feedback as a signal for learning and applies it at scale so that all the delivered data meets their needs, not just what has been reviewed in detail.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rgbClr val="343A43"/>
                </a:solidFill>
              </a:rPr>
              <a:t>Enrichment: With Tamr’s integrated data enrichment services, you can improve data accuracy about organizations (e.g., B2B customers, suppliers, and distributors) and people (e.g., B2C Customers).  In this example, we have a unique record for Google Inc. comprised of the best sources across the organization, but sometimes the best data is in external sources -- and with Tamr you can leverage 1-click data enrichment for address, email and phone validation from external sources.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Publishing: Tamr offers an intuitive user interface that captures mastered data sets and key details about mastered records for core business entities (e.g., suppliers, parts, customers, etc…), and makes it easy to publish data to downstream cloud data stores for analytical use cases or operational needs.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0291e97e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0291e97e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Tamr’s cloud-native data mastering solutions offer a human-guided, ML approach to data curation, feedback, enrichment and publishing.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output is high-quality, cleansed, mastered datasets that power analytical and operational use cases at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philosophy is that machines do some things very well but that humans are irreplaceable. Tamr combines machine learning with subject matter expert input to train the model and rules (when it helps) to enable the machine to do the heavy lifting to generate curated mastered datasets at scale that align with the business needs.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Tamr ingests data from disparate data sources, and then leverages our human-guided machine learning approach to deliver analytics ready datasets: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Data Curation: Tamr combines disparate data sources by mapping differing data schemas (attributes and categories), such as in this example, where tables have different naming schemas like Name or Company, or CNA1. This process also includes matching and deduplicating records across thousands or millions of rows, generating a unique Tamr ID for golden records of customers or suppliers, and categorizing the data leveraging well-defined taxonomies to power analytical insights.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Data Feedback: Our data mastering workflow makes it easy to engage subject matter experts through simple yes or no questions to train the machine learning algorithms. The machine takes that human feedback as a signal for learning and applies it at scale so that all the delivered data meets their needs, not just what has been reviewed in detail.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rgbClr val="343A43"/>
                </a:solidFill>
              </a:rPr>
              <a:t>Enrichment: With Tamr’s integrated data enrichment services, you can improve data accuracy about organizations (e.g., B2B customers, suppliers, and distributors) and people (e.g., B2C Customers).  In this example, we have a unique record for Google Inc. comprised of the best sources across the organization, but sometimes the best data is in external sources -- and with Tamr you can leverage 1-click data enrichment for address, email and phone validation from external sources.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Publishing: Tamr offers an intuitive user interface that captures mastered data sets and key details about mastered records for core business entities (e.g., suppliers, parts, customers, etc…), and makes it easy to publish data to downstream cloud data stores for analytical use cases or operational needs.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c80cec8dde_1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c80cec8dde_1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Built on top of our platform are data mastering solutions to solve the toughest data challenges, and are key to driving growth strategies and lowering costs. For B2B organizations, we always begin with customer data as it delivers extraordinary value quickly. With curated 360 views of customers, companies like Google and Santander are better positioned to power growth strategies, and it serves as the foundation for mastering additional business-critical data entities, such as suppliers, giving you a more complete picture of demand to align with supply. With product mastering, companies like Johnson and Johnson improve visibility into product assets and streamline go-to-market activities. And for Thermo Fisher and other Tamr customers, the ability to categorize spend data at an extremely granular level has resulted in unprecedented cost savings.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customer data, with dozens of data silos and millions of records, along with constantly shifting business requirements, humans can’t keep up with providing a single customer view. Ultimately, Tamr’s data mastering solutions offer a 90% reduction in manual development and curation processes compared to traditional MDM systems, making the ability to connect all of this enterprise data a reality.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c80cec8dde_1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gc80cec8dde_1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c80cec8dde_1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Marketing would focus on CDPs only</a:t>
            </a:r>
            <a:endParaRPr/>
          </a:p>
          <a:p>
            <a:pPr indent="0" lvl="0" marL="0" rtl="0" algn="l">
              <a:lnSpc>
                <a:spcPct val="100000"/>
              </a:lnSpc>
              <a:spcBef>
                <a:spcPts val="0"/>
              </a:spcBef>
              <a:spcAft>
                <a:spcPts val="0"/>
              </a:spcAft>
              <a:buSzPts val="1100"/>
              <a:buNone/>
            </a:pPr>
            <a:r>
              <a:rPr lang="en"/>
              <a:t>Sales focus on Salesforce </a:t>
            </a:r>
            <a:endParaRPr/>
          </a:p>
          <a:p>
            <a:pPr indent="0" lvl="0" marL="0" rtl="0" algn="l">
              <a:lnSpc>
                <a:spcPct val="100000"/>
              </a:lnSpc>
              <a:spcBef>
                <a:spcPts val="0"/>
              </a:spcBef>
              <a:spcAft>
                <a:spcPts val="0"/>
              </a:spcAft>
              <a:buSzPts val="1100"/>
              <a:buNone/>
            </a:pPr>
            <a:r>
              <a:t/>
            </a:r>
            <a:endParaRPr/>
          </a:p>
        </p:txBody>
      </p:sp>
      <p:sp>
        <p:nvSpPr>
          <p:cNvPr id="672" name="Google Shape;672;gc80cec8dde_1_3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c80cec8dde_1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c80cec8dde_1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Tamr works with the largest organizations in the world to solve several business problems that tie to the need for timely, high quality customer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domain experts support several solutions for private and public sectors that improve customer experiences and boost marketing and sales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of our customers, Analog Devices, used Tamr to drive a 50% increase in the match rate of sales leads to existing accounts within 2 weeks, improving lead response time and accelerating sales pipeline.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c80cec8dde_1_3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gc80cec8dde_1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an overview of our sales cycle that begins with a clear understanding of the top business priorities which we will align on throughout the process and ensure that all of our work, from demo to implementation, is focused on the key value drivers. As a next step, I recommend that we engage the appropriate technical and business stakeholders to determine the top business priority that requires high quality customer data, define the optimal data mastering solution to meet the business case, and then we will carry out a technical proof point -- such as a custom demo -- to see your data in action.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71ed63d0d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71ed63d0d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ed474596d8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7" name="Google Shape;767;ged474596d8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c80cec8dde_1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c80cec8dde_1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eriod"/>
            </a:pPr>
            <a:r>
              <a:rPr lang="en">
                <a:solidFill>
                  <a:schemeClr val="dk1"/>
                </a:solidFill>
              </a:rPr>
              <a:t>Data Curation: Tamr combines disparate data sources by mapping differing data schemas (attributes and categories), matching and deduplicating records across thousands or millions of rows, generating a unique Tamr ID for golden records of customers or suppliers, and categorizing the data leveraging well-defined taxonomies to power analytical insights.</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Data Feedback: Our data mastering workflow makes it easy to engage subject matter experts through simple yes or no questions to train the machine learning algorithms. The machine takes that human feedback as a signal for learning and applies it at scale so that all the delivered data meets their needs, not just what has been reviewed in detail.</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Enrichment: With Tamr’s integrated data enrichment services, you can improve data accuracy about organizations (e.g., B2B customers, suppliers, and distributors) and people (e.g., B2C Customers) with 1-click address, email, and phone validation.</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Publishing: Tamr offers an intuitive user interface that captures mastered data sets and key details about mastered records for core business entities (e.g., suppliers, parts, customers, etc…), and makes it easy to publish data to downstream cloud data stores.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Cloud-first, designed and architected to maximize leverage from cloud components for scalability.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c80cec8dde_1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c80cec8dde_1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Built on top of our platform are data mastering solutions to solve the toughest data challenges, and are key to driving growth strategies and lowering costs. For B2B organizations, we always begin with customer data as it delivers extraordinary value quickly. With curated 360 views of customers, companies like Google and Santander are better positioned to power growth strategies, and it serves as the foundation for mastering additional business-critical data entities, such as suppliers, giving you a more complete picture of demand to align with supply. With product mastering, companies like Johnson and Johnson improve visibility into product assets and streamline go-to-market activities. And for Thermo Fisher and other Tamr customers, the ability to categorize spend data at an extremely granular level has resulted in unprecedented cost savings.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customer data, with dozens of data silos and millions of records, along with constantly shifting business requirements, humans can’t keep up with providing a single customer view. Ultimately, Tamr’s data mastering solutions offer a 90% reduction in manual development and curation processes compared to traditional MDM systems, making the ability to connect all of this enterprise data a reality.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c80cec8dde_1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c80cec8dde_1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C4C5C6"/>
              </a:buClr>
              <a:buFont typeface="Arial"/>
              <a:buNone/>
            </a:pPr>
            <a:r>
              <a:rPr lang="en">
                <a:solidFill>
                  <a:schemeClr val="dk1"/>
                </a:solidFill>
              </a:rPr>
              <a:t>Here we briefly introduce a few of the core capabilities of the system, each of which relies on our approach of using machine learning and expert input to achieve the best possible outcome.</a:t>
            </a:r>
            <a:endParaRPr>
              <a:solidFill>
                <a:schemeClr val="dk1"/>
              </a:solidFill>
            </a:endParaRPr>
          </a:p>
          <a:p>
            <a:pPr indent="0" lvl="0" marL="0" rtl="0" algn="l">
              <a:spcBef>
                <a:spcPts val="0"/>
              </a:spcBef>
              <a:spcAft>
                <a:spcPts val="0"/>
              </a:spcAft>
              <a:buClr>
                <a:srgbClr val="C4C5C6"/>
              </a:buClr>
              <a:buFont typeface="Arial"/>
              <a:buNone/>
            </a:pPr>
            <a:r>
              <a:t/>
            </a:r>
            <a:endParaRPr>
              <a:solidFill>
                <a:schemeClr val="dk1"/>
              </a:solidFill>
            </a:endParaRPr>
          </a:p>
          <a:p>
            <a:pPr indent="-228600" lvl="0" marL="457200" rtl="0" algn="l">
              <a:spcBef>
                <a:spcPts val="0"/>
              </a:spcBef>
              <a:spcAft>
                <a:spcPts val="0"/>
              </a:spcAft>
              <a:buClr>
                <a:schemeClr val="dk1"/>
              </a:buClr>
              <a:buSzPts val="1100"/>
              <a:buChar char="●"/>
            </a:pPr>
            <a:r>
              <a:rPr lang="en">
                <a:solidFill>
                  <a:schemeClr val="dk1"/>
                </a:solidFill>
              </a:rPr>
              <a:t>Schema mastering </a:t>
            </a:r>
            <a:r>
              <a:rPr b="1" lang="en">
                <a:solidFill>
                  <a:schemeClr val="dk1"/>
                </a:solidFill>
              </a:rPr>
              <a:t>COMBINES </a:t>
            </a:r>
            <a:r>
              <a:rPr lang="en">
                <a:solidFill>
                  <a:schemeClr val="dk1"/>
                </a:solidFill>
              </a:rPr>
              <a:t>disparate data sources through a process that leverages machine learning and expert input to efficiently align columns in data sources into a master schema. In the pharmaceutical sector, this capability has been pushed to extremes by customers like GSK and Amgen who are combining thousands of clinical studies with millions of columns into a single unified schema. Performing schema alignment at this scale is beyond the limits of what humans could do alone, and Tamr’s machine-learning powered approach has enabled the vast majority of this work to happen automatically.</a:t>
            </a:r>
            <a:endParaRPr>
              <a:solidFill>
                <a:schemeClr val="dk1"/>
              </a:solidFill>
            </a:endParaRPr>
          </a:p>
          <a:p>
            <a:pPr indent="-228600" lvl="0" marL="457200" rtl="0" algn="l">
              <a:spcBef>
                <a:spcPts val="0"/>
              </a:spcBef>
              <a:spcAft>
                <a:spcPts val="0"/>
              </a:spcAft>
              <a:buClr>
                <a:schemeClr val="dk1"/>
              </a:buClr>
              <a:buSzPts val="1100"/>
              <a:buChar char="●"/>
            </a:pPr>
            <a:r>
              <a:rPr lang="en">
                <a:solidFill>
                  <a:schemeClr val="dk1"/>
                </a:solidFill>
              </a:rPr>
              <a:t>Record matching, of large scale data from disparate sources uses active machine learning to quickly generate a single, trustworthy, unified view of a unique entity, such as a customer or a supplier. Tamr customers like Toyota, and Scotabiank, use Tamr to combine many data sets </a:t>
            </a:r>
            <a:r>
              <a:rPr lang="en">
                <a:solidFill>
                  <a:srgbClr val="343A43"/>
                </a:solidFill>
              </a:rPr>
              <a:t>with extensive duplication and overlap </a:t>
            </a:r>
            <a:r>
              <a:rPr lang="en">
                <a:solidFill>
                  <a:schemeClr val="dk1"/>
                </a:solidFill>
              </a:rPr>
              <a:t>resulting in 10s to 100s of millions of clean, clear, complete customer, supplier and part records. You can think of it as agile data mastering without all the heavy MDM overhead.</a:t>
            </a:r>
            <a:endParaRPr>
              <a:solidFill>
                <a:schemeClr val="dk1"/>
              </a:solidFill>
            </a:endParaRPr>
          </a:p>
          <a:p>
            <a:pPr indent="-228600" lvl="0" marL="457200" rtl="0" algn="l">
              <a:spcBef>
                <a:spcPts val="0"/>
              </a:spcBef>
              <a:spcAft>
                <a:spcPts val="0"/>
              </a:spcAft>
              <a:buClr>
                <a:schemeClr val="dk1"/>
              </a:buClr>
              <a:buSzPts val="1100"/>
              <a:buChar char="●"/>
            </a:pPr>
            <a:r>
              <a:rPr lang="en">
                <a:solidFill>
                  <a:schemeClr val="dk1"/>
                </a:solidFill>
              </a:rPr>
              <a:t>Record mastering consolidates the clusters into </a:t>
            </a:r>
            <a:r>
              <a:rPr b="1" lang="en">
                <a:solidFill>
                  <a:schemeClr val="dk1"/>
                </a:solidFill>
              </a:rPr>
              <a:t>GOLDEN RECORDS, </a:t>
            </a:r>
            <a:r>
              <a:rPr lang="en">
                <a:solidFill>
                  <a:schemeClr val="dk1"/>
                </a:solidFill>
              </a:rPr>
              <a:t>unifying each entity into a single representation for use in downstream systems. In combination with Tamr’s powerful record matching, Golden Records provides the complete, accurate data required to help your organization truly understand customers, suppliers or other entities.</a:t>
            </a:r>
            <a:endParaRPr>
              <a:solidFill>
                <a:schemeClr val="dk1"/>
              </a:solidFill>
            </a:endParaRPr>
          </a:p>
          <a:p>
            <a:pPr indent="-228600" lvl="0" marL="457200" rtl="0" algn="l">
              <a:spcBef>
                <a:spcPts val="0"/>
              </a:spcBef>
              <a:spcAft>
                <a:spcPts val="0"/>
              </a:spcAft>
              <a:buClr>
                <a:schemeClr val="dk1"/>
              </a:buClr>
              <a:buSzPts val="1100"/>
              <a:buChar char="●"/>
            </a:pPr>
            <a:r>
              <a:rPr b="1" lang="en">
                <a:solidFill>
                  <a:schemeClr val="dk1"/>
                </a:solidFill>
              </a:rPr>
              <a:t>CATEGORIZATION</a:t>
            </a:r>
            <a:r>
              <a:rPr lang="en">
                <a:solidFill>
                  <a:schemeClr val="dk1"/>
                </a:solidFill>
              </a:rPr>
              <a:t> maps records to taxonomies to facilitate understanding and analysis. Tamr can utilize industry standard taxonomies, taxonomies generated by other systems, or can suggest a taxonomy based on a combination of machine learning and expert input. It’s here that our work in Procurement Analytics with customers like Societe Generale, J&amp;J, and Carnival has really played a major role in </a:t>
            </a:r>
            <a:r>
              <a:rPr lang="en">
                <a:solidFill>
                  <a:srgbClr val="343A43"/>
                </a:solidFill>
              </a:rPr>
              <a:t>powering analytics to </a:t>
            </a:r>
            <a:r>
              <a:rPr lang="en">
                <a:solidFill>
                  <a:schemeClr val="dk1"/>
                </a:solidFill>
              </a:rPr>
              <a:t>tame spend.</a:t>
            </a:r>
            <a:endParaRPr>
              <a:solidFill>
                <a:schemeClr val="dk1"/>
              </a:solidFill>
            </a:endParaRPr>
          </a:p>
          <a:p>
            <a:pPr indent="-228600" lvl="0" marL="457200" rtl="0" algn="l">
              <a:spcBef>
                <a:spcPts val="0"/>
              </a:spcBef>
              <a:spcAft>
                <a:spcPts val="0"/>
              </a:spcAft>
              <a:buClr>
                <a:schemeClr val="dk1"/>
              </a:buClr>
              <a:buSzPts val="1100"/>
              <a:buChar char="●"/>
            </a:pPr>
            <a:r>
              <a:rPr b="1" lang="en">
                <a:solidFill>
                  <a:schemeClr val="dk1"/>
                </a:solidFill>
              </a:rPr>
              <a:t>DATA ENRICHMENT</a:t>
            </a:r>
            <a:r>
              <a:rPr lang="en">
                <a:solidFill>
                  <a:schemeClr val="dk1"/>
                </a:solidFill>
              </a:rPr>
              <a:t> With Tamr’s integrated data enrichment services, you can improve data accuracy about organizations (e.g., B2B customers, suppliers, and distributors) and people (e.g., B2C Customers). Our first release includes 1-click address, email, and phone validation. These integrated enrichment capabilities not only reduce spend on third party APIs, but can also boost signals to the ML models, in some cases increasing ML efficacy by 50% immediately.</a:t>
            </a:r>
            <a:endParaRPr>
              <a:solidFill>
                <a:schemeClr val="dk1"/>
              </a:solidFill>
            </a:endParaRPr>
          </a:p>
          <a:p>
            <a:pPr indent="0" lvl="0" marL="0" rtl="0" algn="l">
              <a:spcBef>
                <a:spcPts val="0"/>
              </a:spcBef>
              <a:spcAft>
                <a:spcPts val="0"/>
              </a:spcAft>
              <a:buClr>
                <a:srgbClr val="C4C5C6"/>
              </a:buClr>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output from Tamr is clean, curated, versioned data that powers a host of downstream uses such as data visualization tools like Sagemaker or QuickSight, or for data scientists or wranglers to use in analysis, or to power custom apps like customer 360 pages, and programmatic or operational integration using Tamr’s APIs.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77046eb792_1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77046eb792_1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bfdd528f6e_1_1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5" name="Google Shape;905;gbfdd528f6e_1_1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bfdd528f6e_1_1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gbfdd528f6e_1_1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bfdd528f6e_1_9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1" name="Google Shape;951;gbfdd528f6e_1_9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
              <a:t>Before, Santander struggled with slow lending decisions due to a lack of unified views into their customers; both existing and new. Data was siloed across 45 different sources, and there were multiple failed attempts at reconciling these data silos with rules-based systems. </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lang="en"/>
              <a:t>With Tamr, Santander was able to Created complete, up-to-date customer views from 45 sources and 10s of millions of records in under 4 wks. This enabled them to successfully roll out a new lending system, which cut credit decision times in half, and also empowered sales teams for cross-sell opportunities w/ a unified view of customers across divisions and products.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901fedcc84_0_6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2" name="Google Shape;972;g901fedcc84_0_6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Calibri"/>
              <a:buNone/>
            </a:pPr>
            <a:r>
              <a:rPr b="1" lang="en"/>
              <a:t>How Tamr helped</a:t>
            </a:r>
            <a:endParaRPr b="1"/>
          </a:p>
          <a:p>
            <a:pPr indent="0" lvl="0" marL="0" rtl="0" algn="l">
              <a:spcBef>
                <a:spcPts val="0"/>
              </a:spcBef>
              <a:spcAft>
                <a:spcPts val="0"/>
              </a:spcAft>
              <a:buClr>
                <a:schemeClr val="dk1"/>
              </a:buClr>
              <a:buSzPts val="1100"/>
              <a:buFont typeface="Calibri"/>
              <a:buNone/>
            </a:pPr>
            <a:r>
              <a:rPr lang="en"/>
              <a:t>-- Santander UK is confident that when undertaking due diligence or credit risk or pricing activity that they understand the customer holistically and what services and products the customer buys from them, leading to upsell opportunities and lowers the risk of a customer defaulting on loan payments. </a:t>
            </a:r>
            <a:endParaRPr/>
          </a:p>
          <a:p>
            <a:pPr indent="0" lvl="0" marL="0" rtl="0" algn="l">
              <a:spcBef>
                <a:spcPts val="0"/>
              </a:spcBef>
              <a:spcAft>
                <a:spcPts val="0"/>
              </a:spcAft>
              <a:buClr>
                <a:schemeClr val="dk1"/>
              </a:buClr>
              <a:buSzPts val="1100"/>
              <a:buFont typeface="Calibri"/>
              <a:buNone/>
            </a:pPr>
            <a:r>
              <a:rPr lang="en"/>
              <a:t>-- ML provides a scalable way to master data and lets the bank avoid the inefficiency associated with manual reconciliation. Before data mastering, data analysts had to manually approve tons of exception reports for duplicate customer records that Jonathan’s team wanted to condense into one record. With Tamr, ML handles most of the recording matching and greatly reduces the number of exception reports for duplicate records.</a:t>
            </a:r>
            <a:endParaRPr b="1"/>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c6924b53ef_5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1" name="Google Shape;1001;gc6924b53ef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901fedcc84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901fedcc84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 </a:t>
            </a:r>
            <a:r>
              <a:rPr lang="en"/>
              <a:t>Clinical trial mastering</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GSK challenges</a:t>
            </a:r>
            <a:endParaRPr b="1"/>
          </a:p>
          <a:p>
            <a:pPr indent="0" lvl="0" marL="0" rtl="0" algn="l">
              <a:spcBef>
                <a:spcPts val="0"/>
              </a:spcBef>
              <a:spcAft>
                <a:spcPts val="0"/>
              </a:spcAft>
              <a:buNone/>
            </a:pPr>
            <a:r>
              <a:rPr lang="en"/>
              <a:t>-- R&amp;D data was too siloed and fragmented to be used effectively for exploratory analysis around developing new drugs. </a:t>
            </a:r>
            <a:endParaRPr/>
          </a:p>
          <a:p>
            <a:pPr indent="0" lvl="0" marL="0" rtl="0" algn="l">
              <a:spcBef>
                <a:spcPts val="0"/>
              </a:spcBef>
              <a:spcAft>
                <a:spcPts val="0"/>
              </a:spcAft>
              <a:buNone/>
            </a:pPr>
            <a:r>
              <a:rPr lang="en"/>
              <a:t>-- GSK had millions of data elements to master and manually mastering this data would take too much time and effort. </a:t>
            </a:r>
            <a:endParaRPr/>
          </a:p>
          <a:p>
            <a:pPr indent="0" lvl="0" marL="0" rtl="0" algn="l">
              <a:spcBef>
                <a:spcPts val="0"/>
              </a:spcBef>
              <a:spcAft>
                <a:spcPts val="0"/>
              </a:spcAft>
              <a:buNone/>
            </a:pPr>
            <a:r>
              <a:rPr lang="en"/>
              <a:t>-- Here’s a Forbes article about GSK’s use if Tamr: </a:t>
            </a:r>
            <a:r>
              <a:rPr lang="en" u="sng">
                <a:solidFill>
                  <a:schemeClr val="hlink"/>
                </a:solidFill>
                <a:hlinkClick r:id="rId2"/>
              </a:rPr>
              <a:t>https://www.forbes.com/sites/tomdavenport/2018/01/08/biting-the-data-management-bullet-at-glaxosmithkline/#778530055577</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How Tamr helped</a:t>
            </a:r>
            <a:endParaRPr b="1"/>
          </a:p>
          <a:p>
            <a:pPr indent="0" lvl="0" marL="0" rtl="0" algn="l">
              <a:spcBef>
                <a:spcPts val="0"/>
              </a:spcBef>
              <a:spcAft>
                <a:spcPts val="0"/>
              </a:spcAft>
              <a:buNone/>
            </a:pPr>
            <a:r>
              <a:rPr lang="en"/>
              <a:t>-- Allowed GSK to master millions of source attributes across more than 40,000 sources of clinical trial data.</a:t>
            </a:r>
            <a:endParaRPr/>
          </a:p>
          <a:p>
            <a:pPr indent="0" lvl="0" marL="0" rtl="0" algn="l">
              <a:spcBef>
                <a:spcPts val="0"/>
              </a:spcBef>
              <a:spcAft>
                <a:spcPts val="0"/>
              </a:spcAft>
              <a:buNone/>
            </a:pPr>
            <a:r>
              <a:rPr lang="en"/>
              <a:t>-- Allowed GSK to expand use cases for its R&amp;D data from 10 to 250.</a:t>
            </a:r>
            <a:endParaRPr/>
          </a:p>
          <a:p>
            <a:pPr indent="0" lvl="0" marL="0" rtl="0" algn="l">
              <a:spcBef>
                <a:spcPts val="0"/>
              </a:spcBef>
              <a:spcAft>
                <a:spcPts val="0"/>
              </a:spcAft>
              <a:buNone/>
            </a:pPr>
            <a:r>
              <a:rPr lang="en"/>
              <a:t>-- Mastered clinical trial data is helping GSK accelerate the drug discovery process.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b8128e1359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5" name="Google Shape;1045;gb8128e135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e119670c5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4" name="Google Shape;1064;ge119670c5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bfdd528f6e_1_10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3" name="Google Shape;1083;gbfdd528f6e_1_10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b="1" lang="en"/>
              <a:t>Use case: </a:t>
            </a:r>
            <a:r>
              <a:rPr lang="en"/>
              <a:t>KYC</a:t>
            </a:r>
            <a:endParaRPr/>
          </a:p>
          <a:p>
            <a:pPr indent="0" lvl="0" marL="0" rtl="0" algn="l">
              <a:lnSpc>
                <a:spcPct val="100000"/>
              </a:lnSpc>
              <a:spcBef>
                <a:spcPts val="0"/>
              </a:spcBef>
              <a:spcAft>
                <a:spcPts val="0"/>
              </a:spcAft>
              <a:buClr>
                <a:schemeClr val="dk1"/>
              </a:buClr>
              <a:buSzPts val="1100"/>
              <a:buFont typeface="Calibri"/>
              <a:buNone/>
            </a:pPr>
            <a:r>
              <a:t/>
            </a:r>
            <a:endParaRPr b="1"/>
          </a:p>
          <a:p>
            <a:pPr indent="0" lvl="0" marL="0" rtl="0" algn="l">
              <a:lnSpc>
                <a:spcPct val="100000"/>
              </a:lnSpc>
              <a:spcBef>
                <a:spcPts val="0"/>
              </a:spcBef>
              <a:spcAft>
                <a:spcPts val="0"/>
              </a:spcAft>
              <a:buClr>
                <a:schemeClr val="dk1"/>
              </a:buClr>
              <a:buSzPts val="1100"/>
              <a:buFont typeface="Calibri"/>
              <a:buNone/>
            </a:pPr>
            <a:r>
              <a:rPr b="1" lang="en"/>
              <a:t>Scotiabank’s challenges</a:t>
            </a:r>
            <a:endParaRPr b="1"/>
          </a:p>
          <a:p>
            <a:pPr indent="0" lvl="0" marL="0" rtl="0" algn="l">
              <a:lnSpc>
                <a:spcPct val="100000"/>
              </a:lnSpc>
              <a:spcBef>
                <a:spcPts val="0"/>
              </a:spcBef>
              <a:spcAft>
                <a:spcPts val="0"/>
              </a:spcAft>
              <a:buClr>
                <a:schemeClr val="dk1"/>
              </a:buClr>
              <a:buSzPts val="1100"/>
              <a:buFont typeface="Calibri"/>
              <a:buNone/>
            </a:pPr>
            <a:r>
              <a:rPr lang="en"/>
              <a:t>-- Customer data at Scotiabank lived in hundreds of data silos.</a:t>
            </a:r>
            <a:endParaRPr/>
          </a:p>
          <a:p>
            <a:pPr indent="0" lvl="0" marL="0" rtl="0" algn="l">
              <a:lnSpc>
                <a:spcPct val="100000"/>
              </a:lnSpc>
              <a:spcBef>
                <a:spcPts val="0"/>
              </a:spcBef>
              <a:spcAft>
                <a:spcPts val="0"/>
              </a:spcAft>
              <a:buClr>
                <a:schemeClr val="dk1"/>
              </a:buClr>
              <a:buSzPts val="1100"/>
              <a:buFont typeface="Calibri"/>
              <a:buNone/>
            </a:pPr>
            <a:r>
              <a:rPr lang="en"/>
              <a:t>-- This siloed data limited Scotiabank’s ability to comply with regulatory KYC requirements.</a:t>
            </a:r>
            <a:endParaRPr/>
          </a:p>
          <a:p>
            <a:pPr indent="0" lvl="0" marL="0" rtl="0" algn="l">
              <a:lnSpc>
                <a:spcPct val="100000"/>
              </a:lnSpc>
              <a:spcBef>
                <a:spcPts val="0"/>
              </a:spcBef>
              <a:spcAft>
                <a:spcPts val="0"/>
              </a:spcAft>
              <a:buClr>
                <a:schemeClr val="dk1"/>
              </a:buClr>
              <a:buSzPts val="1100"/>
              <a:buFont typeface="Calibri"/>
              <a:buNone/>
            </a:pPr>
            <a:r>
              <a:rPr lang="en"/>
              <a:t>-- Scotiabank wanted customer golden records to more effectively meet regulatory requirements, improve risk management and the customer experience.</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b="1" lang="en"/>
              <a:t>How Tamr helped</a:t>
            </a:r>
            <a:endParaRPr b="1"/>
          </a:p>
          <a:p>
            <a:pPr indent="0" lvl="0" marL="0" rtl="0" algn="l">
              <a:lnSpc>
                <a:spcPct val="100000"/>
              </a:lnSpc>
              <a:spcBef>
                <a:spcPts val="0"/>
              </a:spcBef>
              <a:spcAft>
                <a:spcPts val="0"/>
              </a:spcAft>
              <a:buClr>
                <a:schemeClr val="dk1"/>
              </a:buClr>
              <a:buSzPts val="1100"/>
              <a:buFont typeface="Calibri"/>
              <a:buNone/>
            </a:pPr>
            <a:r>
              <a:rPr lang="en"/>
              <a:t>-- Tamr is helping Scotiabank master millions of U.S. and global customer records to create golden records. </a:t>
            </a:r>
            <a:endParaRPr/>
          </a:p>
          <a:p>
            <a:pPr indent="0" lvl="0" marL="0" rtl="0" algn="l">
              <a:lnSpc>
                <a:spcPct val="100000"/>
              </a:lnSpc>
              <a:spcBef>
                <a:spcPts val="0"/>
              </a:spcBef>
              <a:spcAft>
                <a:spcPts val="0"/>
              </a:spcAft>
              <a:buClr>
                <a:schemeClr val="dk1"/>
              </a:buClr>
              <a:buSzPts val="1100"/>
              <a:buFont typeface="Calibri"/>
              <a:buNone/>
            </a:pPr>
            <a:r>
              <a:rPr lang="en"/>
              <a:t>-- Tamr potentially saved Scotiabank millions of dollars in fines by enabling compliance with regulatory requirements.</a:t>
            </a:r>
            <a:endParaRPr/>
          </a:p>
          <a:p>
            <a:pPr indent="0" lvl="0" marL="0" rtl="0" algn="l">
              <a:lnSpc>
                <a:spcPct val="100000"/>
              </a:lnSpc>
              <a:spcBef>
                <a:spcPts val="0"/>
              </a:spcBef>
              <a:spcAft>
                <a:spcPts val="0"/>
              </a:spcAft>
              <a:buClr>
                <a:schemeClr val="dk1"/>
              </a:buClr>
              <a:buSzPts val="1100"/>
              <a:buFont typeface="Calibri"/>
              <a:buNone/>
            </a:pPr>
            <a:r>
              <a:rPr lang="en"/>
              <a:t>-- Tamr enabled cross-usage of data sources among different groups within the bank, helping Scotiabank better use this data. </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901fedcc84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901fedcc84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901fedcc84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901fedcc84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Use case:</a:t>
            </a:r>
            <a:r>
              <a:rPr lang="en">
                <a:solidFill>
                  <a:schemeClr val="dk1"/>
                </a:solidFill>
              </a:rPr>
              <a:t> Product mastering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Johnson &amp; Johnson challenges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Lacked a unified sales of view of consumer products.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Wanted to master external and internal sales data and distributor data to improve sales of consumer products.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The volume and variety of data made mastering challenging. There were internal data sources, thousands of global retail partners and third party enrichment sources.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Manually mastering this data was a time-consuming and slow process.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How Tamr helped</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Johnson and Johnson considered an MDM but decided Tamr’s human guided machine learning offered advantages in time-to-value, scalability, &amp; flexibility.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Mastered data allows Johnson and Johnson to better understand sales performance and customers’ preferences, generating increased sales.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901fedcc84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901fedcc84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Use case: </a:t>
            </a:r>
            <a:r>
              <a:rPr lang="en">
                <a:solidFill>
                  <a:schemeClr val="dk1"/>
                </a:solidFill>
              </a:rPr>
              <a:t>Spend classification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ThermoFisher’s challenges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Disparate data sources with varying standards made it difficult to obtain accurately classified spend data.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r>
              <a:rPr lang="en" sz="1200">
                <a:solidFill>
                  <a:schemeClr val="dk1"/>
                </a:solidFill>
                <a:latin typeface="Helvetica Neue"/>
                <a:ea typeface="Helvetica Neue"/>
                <a:cs typeface="Helvetica Neue"/>
                <a:sym typeface="Helvetica Neue"/>
              </a:rPr>
              <a:t>ThermoFisher has almost 100 ERP systems producing millions of records annually.</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 Adding new data was an extremely manual &amp; time consuming process.</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 Data volume was an issue. ThermoFisher added hundreds of thousands of new records each month.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 Data quality was an issue. Some parts had ambiguous descriptions, there was duplicate data, some manufacturer part numbers weren’t in the ERPs and the same items were classified differently.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lang="en" sz="1200">
                <a:solidFill>
                  <a:schemeClr val="dk1"/>
                </a:solidFill>
                <a:latin typeface="Helvetica Neue"/>
                <a:ea typeface="Helvetica Neue"/>
                <a:cs typeface="Helvetica Neue"/>
                <a:sym typeface="Helvetica Neue"/>
              </a:rPr>
              <a:t>How Tamr helped</a:t>
            </a:r>
            <a:endParaRPr b="1"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 Allowed ThermoFisher to create a global, unified view of spend classification to better track, analyze and manage spend,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200">
                <a:solidFill>
                  <a:schemeClr val="dk1"/>
                </a:solidFill>
                <a:latin typeface="Helvetica Neue"/>
                <a:ea typeface="Helvetica Neue"/>
                <a:cs typeface="Helvetica Neue"/>
                <a:sym typeface="Helvetica Neue"/>
              </a:rPr>
              <a:t>-- ThermoFisher can take advantage of strong supplier relationships to drive better pricing.</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 ThermoFisher can better enforce corporate level policies for spend compliance.</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lang="en" sz="1400">
                <a:solidFill>
                  <a:schemeClr val="lt1"/>
                </a:solidFill>
                <a:latin typeface="Source Sans Pro"/>
                <a:ea typeface="Source Sans Pro"/>
                <a:cs typeface="Source Sans Pro"/>
                <a:sym typeface="Source Sans Pro"/>
              </a:rPr>
              <a:t>ncrease the accuracy and trustworthiness of its spend classification data, ensuring global spend across the enterprise can be better managed and analyzed.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104f655ef8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104f655ef8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901fedcc84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901fedcc84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Use case:</a:t>
            </a:r>
            <a:r>
              <a:rPr lang="en">
                <a:solidFill>
                  <a:schemeClr val="dk1"/>
                </a:solidFill>
              </a:rPr>
              <a:t> Parts mastering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Carnival challenges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Grew by acquiring multiple cruise lines.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Buying other companies meant data silos across Carnival Corp.</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Here’s a sense of the data challenge: 1.4 million parts to track, across more than 100 ships sailing around the world, more than 50 different ship management systems storing data, data was in different formats, data quality varied.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Each ship carries hundred of millions of dollars of parts and across the entire fleet there are 1.5 million spare parts.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Carnival wanted to master parts and components data to save money by better negotiating with key suppliers, use parts that had fewer maintenance issues, and using parts it had instead of buying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How Tamr helped</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Allowed Carnival to create a golden database for each ship by cleaning up data. These database will be added to another Carnival Corp.-wide database. This is an ongoing project.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Carnival has a better supply chain, allowing it to better use parts. Instead of spending millions on a new part, it can see if a ship in the fleet has the part and send it to the ship that needs it.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Carnival knows what parts perform better and breakdown less frequently, decreasing maintenance costs and the hassle of repairing and replacing broken parts. And Carnival can justify the cost if better performing parts cost more since they’ll have lower maintenance costs.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scale, parts mastering will save Carnival millions. Carnival won’t allow us to say the actual number but the projects figure is several hundreds of millions of dollars.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This blog has more details and quotes: </a:t>
            </a:r>
            <a:r>
              <a:rPr lang="en" u="sng">
                <a:solidFill>
                  <a:srgbClr val="00CCFF"/>
                </a:solidFill>
                <a:hlinkClick r:id="rId2">
                  <a:extLst>
                    <a:ext uri="{A12FA001-AC4F-418D-AE19-62706E023703}">
                      <ahyp:hlinkClr val="tx"/>
                    </a:ext>
                  </a:extLst>
                </a:hlinkClick>
              </a:rPr>
              <a:t>https://www.tamr.com/blog/how-carnival-sailed-toward-global-data-alignment/</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bfdd528f6e_1_8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1" name="Google Shape;1211;gbfdd528f6e_1_8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lang="en"/>
              <a:t>Staples leverages Tamr’s cloud-native data mastering solutions to curate customer data from disparate sources and boost B2B sales and marketing initiatives. </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lang="en"/>
              <a:t>Before, they leveraged a rules-based master data management approach to gathering customer and prospect data. They had dozens of highly skilled engineers and a dozen more business users to maintain the dataset, which was more often than not outdated or inaccurate. When a business user noticed duplicate or incorrect records in Salesforce, it would take months to update the data due to the manual coding required to adjust the rules system and push changes to production.</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lang="en"/>
              <a:t>Initially, with Tamr, we were able to identify nearly 40% duplicate records across operational systems and Salesforce instances. With Tamr, they were able to curate millions of unique customer records from 11 sources -- both from Salesforce and operational data sources, and enrich that data in such a way that they were able to cluster and segment customer views to support marketing and sales ops by territory or industry.</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lang="en"/>
              <a:t>The impact to the business and streamlining marketing and sales campaigns has elevated Tamr to a business-critical partner, and as they expand the data they master with Tamr, they plan to expand the use cases to customer experience initiatives with more targeted campaigns and beyond.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901fedcc84_0_8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3" name="Google Shape;1233;g901fedcc84_0_8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1200">
              <a:solidFill>
                <a:srgbClr val="333333"/>
              </a:solidFill>
              <a:highlight>
                <a:srgbClr val="FFFFFF"/>
              </a:highlight>
            </a:endParaRPr>
          </a:p>
          <a:p>
            <a:pPr indent="0" lvl="0" marL="0" rtl="0" algn="l">
              <a:lnSpc>
                <a:spcPct val="100000"/>
              </a:lnSpc>
              <a:spcBef>
                <a:spcPts val="0"/>
              </a:spcBef>
              <a:spcAft>
                <a:spcPts val="0"/>
              </a:spcAft>
              <a:buClr>
                <a:schemeClr val="dk1"/>
              </a:buClr>
              <a:buSzPts val="1100"/>
              <a:buFont typeface="Calibri"/>
              <a:buNone/>
            </a:pPr>
            <a:r>
              <a:t/>
            </a:r>
            <a:endParaRPr sz="1200">
              <a:solidFill>
                <a:srgbClr val="333333"/>
              </a:solidFill>
              <a:highlight>
                <a:srgbClr val="FFFFFF"/>
              </a:highlight>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c80cec8dde_1_7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5" name="Google Shape;1255;gc80cec8dde_1_7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rPr b="1" lang="en"/>
              <a:t>Use case: Passenger 360</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b="1" lang="en"/>
              <a:t>DHS challenges</a:t>
            </a:r>
            <a:endParaRPr b="1"/>
          </a:p>
          <a:p>
            <a:pPr indent="0" lvl="0" marL="0" rtl="0" algn="l">
              <a:lnSpc>
                <a:spcPct val="100000"/>
              </a:lnSpc>
              <a:spcBef>
                <a:spcPts val="0"/>
              </a:spcBef>
              <a:spcAft>
                <a:spcPts val="0"/>
              </a:spcAft>
              <a:buClr>
                <a:schemeClr val="dk1"/>
              </a:buClr>
              <a:buSzPts val="1100"/>
              <a:buFont typeface="Calibri"/>
              <a:buNone/>
            </a:pPr>
            <a:r>
              <a:rPr lang="en"/>
              <a:t>-- Quickly and reliably Identifying passengers of suspect  </a:t>
            </a:r>
            <a:endParaRPr/>
          </a:p>
          <a:p>
            <a:pPr indent="0" lvl="0" marL="0" rtl="0" algn="l">
              <a:lnSpc>
                <a:spcPct val="100000"/>
              </a:lnSpc>
              <a:spcBef>
                <a:spcPts val="0"/>
              </a:spcBef>
              <a:spcAft>
                <a:spcPts val="0"/>
              </a:spcAft>
              <a:buClr>
                <a:schemeClr val="dk1"/>
              </a:buClr>
              <a:buSzPts val="1100"/>
              <a:buFont typeface="Calibri"/>
              <a:buNone/>
            </a:pPr>
            <a:r>
              <a:rPr lang="en"/>
              <a:t>-- Integrating information from multiple government (US and partner nations) and commercial systems</a:t>
            </a:r>
            <a:endParaRPr/>
          </a:p>
          <a:p>
            <a:pPr indent="0" lvl="0" marL="0" rtl="0" algn="l">
              <a:lnSpc>
                <a:spcPct val="100000"/>
              </a:lnSpc>
              <a:spcBef>
                <a:spcPts val="0"/>
              </a:spcBef>
              <a:spcAft>
                <a:spcPts val="0"/>
              </a:spcAft>
              <a:buClr>
                <a:schemeClr val="dk1"/>
              </a:buClr>
              <a:buSzPts val="1100"/>
              <a:buFont typeface="Calibri"/>
              <a:buNone/>
            </a:pPr>
            <a:r>
              <a:rPr lang="en"/>
              <a:t>-- Manual effort to perform similar tasks often did not identify persons of interest until post entry</a:t>
            </a:r>
            <a:endParaRPr/>
          </a:p>
          <a:p>
            <a:pPr indent="0" lvl="0" marL="0" rtl="0" algn="l">
              <a:lnSpc>
                <a:spcPct val="100000"/>
              </a:lnSpc>
              <a:spcBef>
                <a:spcPts val="0"/>
              </a:spcBef>
              <a:spcAft>
                <a:spcPts val="0"/>
              </a:spcAft>
              <a:buClr>
                <a:schemeClr val="dk1"/>
              </a:buClr>
              <a:buSzPts val="1100"/>
              <a:buFont typeface="Calibri"/>
              <a:buNone/>
            </a:pPr>
            <a:r>
              <a:t/>
            </a:r>
            <a:endParaRPr/>
          </a:p>
          <a:p>
            <a:pPr indent="0" lvl="0" marL="0" rtl="0" algn="l">
              <a:lnSpc>
                <a:spcPct val="100000"/>
              </a:lnSpc>
              <a:spcBef>
                <a:spcPts val="0"/>
              </a:spcBef>
              <a:spcAft>
                <a:spcPts val="0"/>
              </a:spcAft>
              <a:buClr>
                <a:schemeClr val="dk1"/>
              </a:buClr>
              <a:buSzPts val="1100"/>
              <a:buFont typeface="Calibri"/>
              <a:buNone/>
            </a:pPr>
            <a:r>
              <a:rPr b="1" lang="en"/>
              <a:t>How Tamr helped</a:t>
            </a:r>
            <a:endParaRPr b="1"/>
          </a:p>
          <a:p>
            <a:pPr indent="0" lvl="0" marL="0" rtl="0" algn="l">
              <a:lnSpc>
                <a:spcPct val="100000"/>
              </a:lnSpc>
              <a:spcBef>
                <a:spcPts val="0"/>
              </a:spcBef>
              <a:spcAft>
                <a:spcPts val="0"/>
              </a:spcAft>
              <a:buClr>
                <a:schemeClr val="dk1"/>
              </a:buClr>
              <a:buSzPts val="1100"/>
              <a:buFont typeface="Calibri"/>
              <a:buNone/>
            </a:pPr>
            <a:r>
              <a:rPr lang="en"/>
              <a:t>-- Using ML reduced manual integration efforts significantly</a:t>
            </a:r>
            <a:endParaRPr/>
          </a:p>
          <a:p>
            <a:pPr indent="0" lvl="0" marL="0" rtl="0" algn="l">
              <a:lnSpc>
                <a:spcPct val="100000"/>
              </a:lnSpc>
              <a:spcBef>
                <a:spcPts val="0"/>
              </a:spcBef>
              <a:spcAft>
                <a:spcPts val="0"/>
              </a:spcAft>
              <a:buClr>
                <a:schemeClr val="dk1"/>
              </a:buClr>
              <a:buSzPts val="1100"/>
              <a:buFont typeface="Calibri"/>
              <a:buNone/>
            </a:pPr>
            <a:r>
              <a:rPr lang="en"/>
              <a:t>-- Speed up data integration efforts of reservation systems, manifests and other systems used by US and partner countries</a:t>
            </a:r>
            <a:endParaRPr/>
          </a:p>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f10808bad6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2" name="Google Shape;1292;gf10808bad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71450" rtl="0" algn="l">
              <a:lnSpc>
                <a:spcPct val="100000"/>
              </a:lnSpc>
              <a:spcBef>
                <a:spcPts val="1200"/>
              </a:spcBef>
              <a:spcAft>
                <a:spcPts val="0"/>
              </a:spcAft>
              <a:buClr>
                <a:schemeClr val="dk1"/>
              </a:buClr>
              <a:buSzPts val="1200"/>
              <a:buFont typeface="Source Sans Pro"/>
              <a:buNone/>
            </a:pPr>
            <a:r>
              <a:t/>
            </a:r>
            <a:endParaRPr sz="1200">
              <a:solidFill>
                <a:schemeClr val="dk1"/>
              </a:solidFill>
              <a:latin typeface="Source Sans Pro"/>
              <a:ea typeface="Source Sans Pro"/>
              <a:cs typeface="Source Sans Pro"/>
              <a:sym typeface="Source Sans Pro"/>
            </a:endParaRPr>
          </a:p>
          <a:p>
            <a:pPr indent="0" lvl="0" marL="0" rtl="0" algn="l">
              <a:lnSpc>
                <a:spcPct val="100000"/>
              </a:lnSpc>
              <a:spcBef>
                <a:spcPts val="0"/>
              </a:spcBef>
              <a:spcAft>
                <a:spcPts val="0"/>
              </a:spcAft>
              <a:buSzPts val="1100"/>
              <a:buNone/>
            </a:pPr>
            <a:r>
              <a:t/>
            </a:r>
            <a:endParaRPr b="1">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124d82436b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0" name="Google Shape;1310;g124d82436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sz="1200">
              <a:solidFill>
                <a:srgbClr val="333333"/>
              </a:solidFill>
              <a:highlight>
                <a:srgbClr val="FFFFFF"/>
              </a:highlight>
            </a:endParaRPr>
          </a:p>
          <a:p>
            <a:pPr indent="0" lvl="0" marL="0" rtl="0" algn="l">
              <a:lnSpc>
                <a:spcPct val="100000"/>
              </a:lnSpc>
              <a:spcBef>
                <a:spcPts val="0"/>
              </a:spcBef>
              <a:spcAft>
                <a:spcPts val="0"/>
              </a:spcAft>
              <a:buClr>
                <a:schemeClr val="dk1"/>
              </a:buClr>
              <a:buSzPts val="1100"/>
              <a:buFont typeface="Calibri"/>
              <a:buNone/>
            </a:pPr>
            <a:r>
              <a:t/>
            </a:r>
            <a:endParaRPr sz="1200">
              <a:solidFill>
                <a:srgbClr val="333333"/>
              </a:solidFill>
              <a:highlight>
                <a:srgbClr val="FFFFFF"/>
              </a:highlight>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e4762303c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e4762303c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a:solidFill>
                  <a:schemeClr val="dk1"/>
                </a:solidFill>
                <a:latin typeface="Source Sans Pro"/>
                <a:ea typeface="Source Sans Pro"/>
                <a:cs typeface="Source Sans Pro"/>
                <a:sym typeface="Source Sans Pro"/>
              </a:rPr>
              <a:t>Boeing, a Tamr customer since 2018,  recently renewed its contract and will soon be deploying our solution in their Google Cloud environment.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Clr>
                <a:schemeClr val="dk1"/>
              </a:buClr>
              <a:buFont typeface="Arial"/>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Clr>
                <a:schemeClr val="dk1"/>
              </a:buClr>
              <a:buFont typeface="Arial"/>
              <a:buNone/>
            </a:pPr>
            <a:r>
              <a:rPr lang="en">
                <a:solidFill>
                  <a:schemeClr val="dk1"/>
                </a:solidFill>
                <a:latin typeface="Source Sans Pro"/>
                <a:ea typeface="Source Sans Pro"/>
                <a:cs typeface="Source Sans Pro"/>
                <a:sym typeface="Source Sans Pro"/>
              </a:rPr>
              <a:t>Boeing’s use cases are mainly focused on mastering customer and supplier data. Clean, accurate data in golden customer records allows Boeing t</a:t>
            </a:r>
            <a:r>
              <a:rPr lang="en">
                <a:solidFill>
                  <a:srgbClr val="343A43"/>
                </a:solidFill>
                <a:latin typeface="Source Sans Pro"/>
                <a:ea typeface="Source Sans Pro"/>
                <a:cs typeface="Source Sans Pro"/>
                <a:sym typeface="Source Sans Pro"/>
              </a:rPr>
              <a:t>o improve marketing campaigns and boost upsell opportunities by an estimated $10 million. And golden supplier records will drive an estimated $17 million in cost savings by providing an accurate view of key suppliers for better contract negotiations and inventory management.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Clr>
                <a:schemeClr val="dk1"/>
              </a:buClr>
              <a:buFont typeface="Arial"/>
              <a:buNone/>
            </a:pPr>
            <a:r>
              <a:t/>
            </a:r>
            <a:endParaRPr>
              <a:solidFill>
                <a:schemeClr val="dk1"/>
              </a:solidFill>
              <a:latin typeface="Source Sans Pro"/>
              <a:ea typeface="Source Sans Pro"/>
              <a:cs typeface="Source Sans Pro"/>
              <a:sym typeface="Source Sans Pro"/>
            </a:endParaRPr>
          </a:p>
          <a:p>
            <a:pPr indent="0" lvl="0" marL="0" rtl="0" algn="l">
              <a:spcBef>
                <a:spcPts val="0"/>
              </a:spcBef>
              <a:spcAft>
                <a:spcPts val="0"/>
              </a:spcAft>
              <a:buClr>
                <a:schemeClr val="dk1"/>
              </a:buClr>
              <a:buFont typeface="Arial"/>
              <a:buNone/>
            </a:pPr>
            <a:r>
              <a:rPr lang="en">
                <a:solidFill>
                  <a:schemeClr val="dk1"/>
                </a:solidFill>
                <a:latin typeface="Source Sans Pro"/>
                <a:ea typeface="Source Sans Pro"/>
                <a:cs typeface="Source Sans Pro"/>
                <a:sym typeface="Source Sans Pro"/>
              </a:rPr>
              <a:t>Given the millions of data entities involved, a manual, rules-based approach wouldn’t scale. Using the capabilities of Google Cloud along with machine learning powered by Tamr will provide faster time to value and help Boeing bridge the gap between data and analytic outcomes.</a:t>
            </a:r>
            <a:endParaRPr>
              <a:solidFill>
                <a:srgbClr val="343A43"/>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e6545c914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9" name="Google Shape;1349;ge6545c914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9f5c6210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9f5c62100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77046eb792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77046eb792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a:t>
            </a:r>
            <a:r>
              <a:rPr lang="en"/>
              <a:t> Customer 360</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Toyota Motors Europe challenges</a:t>
            </a:r>
            <a:endParaRPr b="1"/>
          </a:p>
          <a:p>
            <a:pPr indent="0" lvl="0" marL="0" rtl="0" algn="l">
              <a:spcBef>
                <a:spcPts val="0"/>
              </a:spcBef>
              <a:spcAft>
                <a:spcPts val="0"/>
              </a:spcAft>
              <a:buNone/>
            </a:pPr>
            <a:r>
              <a:rPr lang="en"/>
              <a:t>-- TME needed a unified customer view to provide better customer experience and improve the effectiveness of sales and marketing campaigns.</a:t>
            </a:r>
            <a:endParaRPr/>
          </a:p>
          <a:p>
            <a:pPr indent="0" lvl="0" marL="0" rtl="0" algn="l">
              <a:spcBef>
                <a:spcPts val="0"/>
              </a:spcBef>
              <a:spcAft>
                <a:spcPts val="0"/>
              </a:spcAft>
              <a:buNone/>
            </a:pPr>
            <a:r>
              <a:rPr lang="en"/>
              <a:t>-- European customer data was silo and stored in different databases across 50 countries. Some databases were centralized, others were created by certain business functions. </a:t>
            </a:r>
            <a:endParaRPr/>
          </a:p>
          <a:p>
            <a:pPr indent="0" lvl="0" marL="0" rtl="0" algn="l">
              <a:spcBef>
                <a:spcPts val="0"/>
              </a:spcBef>
              <a:spcAft>
                <a:spcPts val="0"/>
              </a:spcAft>
              <a:buNone/>
            </a:pPr>
            <a:r>
              <a:rPr lang="en"/>
              <a:t>-- TME tried to manually master this data but that worked for only small amounts of data and didn’t scale as data volume and complexity increased.</a:t>
            </a:r>
            <a:endParaRPr/>
          </a:p>
          <a:p>
            <a:pPr indent="0" lvl="0" marL="0" rtl="0" algn="l">
              <a:spcBef>
                <a:spcPts val="0"/>
              </a:spcBef>
              <a:spcAft>
                <a:spcPts val="0"/>
              </a:spcAft>
              <a:buNone/>
            </a:pPr>
            <a:r>
              <a:rPr lang="en"/>
              <a:t>-- Wanted to a mastering solution that ran on AWS,used machine learning and required little manual input.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How Tamr helped</a:t>
            </a:r>
            <a:endParaRPr b="1"/>
          </a:p>
          <a:p>
            <a:pPr indent="0" lvl="0" marL="0" rtl="0" algn="l">
              <a:spcBef>
                <a:spcPts val="0"/>
              </a:spcBef>
              <a:spcAft>
                <a:spcPts val="0"/>
              </a:spcAft>
              <a:buNone/>
            </a:pPr>
            <a:r>
              <a:rPr lang="en"/>
              <a:t>-- TME created golden customer records by mastering data from more than 250 data sources.</a:t>
            </a:r>
            <a:endParaRPr/>
          </a:p>
          <a:p>
            <a:pPr indent="0" lvl="0" marL="0" rtl="0" algn="l">
              <a:spcBef>
                <a:spcPts val="0"/>
              </a:spcBef>
              <a:spcAft>
                <a:spcPts val="0"/>
              </a:spcAft>
              <a:buNone/>
            </a:pPr>
            <a:r>
              <a:rPr lang="en"/>
              <a:t>-- Having golden customer records improved TME’s ability to meet customer expectations for connected, seamless experiences and optimized upsell</a:t>
            </a:r>
            <a:endParaRPr/>
          </a:p>
          <a:p>
            <a:pPr indent="0" lvl="0" marL="0" rtl="0" algn="l">
              <a:spcBef>
                <a:spcPts val="0"/>
              </a:spcBef>
              <a:spcAft>
                <a:spcPts val="0"/>
              </a:spcAft>
              <a:buNone/>
            </a:pPr>
            <a:r>
              <a:rPr lang="en"/>
              <a:t>opportunities.</a:t>
            </a:r>
            <a:endParaRPr/>
          </a:p>
          <a:p>
            <a:pPr indent="0" lvl="0" marL="0" rtl="0" algn="l">
              <a:spcBef>
                <a:spcPts val="0"/>
              </a:spcBef>
              <a:spcAft>
                <a:spcPts val="0"/>
              </a:spcAft>
              <a:buNone/>
            </a:pPr>
            <a:r>
              <a:rPr lang="en"/>
              <a:t>-- TME saw a 40% reduction of duplicative customer records, allowing for an increase in marketing efficiency and business value by decreasing redundant outreach.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77046eb792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5" name="Google Shape;1395;g77046eb792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a:t>
            </a:r>
            <a:r>
              <a:rPr lang="en"/>
              <a:t> Several, including supplier mastering, which we’re focusing on here.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Novartis’ challenges</a:t>
            </a:r>
            <a:endParaRPr b="1"/>
          </a:p>
          <a:p>
            <a:pPr indent="0" lvl="0" marL="0" rtl="0" algn="l">
              <a:spcBef>
                <a:spcPts val="0"/>
              </a:spcBef>
              <a:spcAft>
                <a:spcPts val="0"/>
              </a:spcAft>
              <a:buNone/>
            </a:pPr>
            <a:r>
              <a:rPr lang="en"/>
              <a:t>-- The drug maker is undergoing an enterprise-wide initiative to build a next-generation data platform. This includes data mastering various project, which is why they’re our first adoption license customer.</a:t>
            </a:r>
            <a:endParaRPr/>
          </a:p>
          <a:p>
            <a:pPr indent="0" lvl="0" marL="0" rtl="0" algn="l">
              <a:spcBef>
                <a:spcPts val="0"/>
              </a:spcBef>
              <a:spcAft>
                <a:spcPts val="0"/>
              </a:spcAft>
              <a:buNone/>
            </a:pPr>
            <a:r>
              <a:rPr lang="en"/>
              <a:t>-- Siloed and messy data prevents quick and accurate access to supplier information, constraining efficiency and incurring unnecessary costs.</a:t>
            </a:r>
            <a:endParaRPr/>
          </a:p>
          <a:p>
            <a:pPr indent="0" lvl="0" marL="0" rtl="0" algn="l">
              <a:spcBef>
                <a:spcPts val="0"/>
              </a:spcBef>
              <a:spcAft>
                <a:spcPts val="0"/>
              </a:spcAft>
              <a:buNone/>
            </a:pPr>
            <a:r>
              <a:rPr lang="en"/>
              <a:t>-- Needed a solution that could scale to meet the volume of data. Novartis has millions of records in several SAP systems.</a:t>
            </a:r>
            <a:endParaRPr/>
          </a:p>
          <a:p>
            <a:pPr indent="0" lvl="0" marL="0" rtl="0" algn="l">
              <a:spcBef>
                <a:spcPts val="0"/>
              </a:spcBef>
              <a:spcAft>
                <a:spcPts val="0"/>
              </a:spcAft>
              <a:buNone/>
            </a:pPr>
            <a:r>
              <a:rPr lang="en"/>
              <a:t>-- Data has different attribute names, comes in a variety of formats, quality is inconsistent.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How Tamr helped</a:t>
            </a:r>
            <a:endParaRPr b="1"/>
          </a:p>
          <a:p>
            <a:pPr indent="0" lvl="0" marL="0" rtl="0" algn="l">
              <a:spcBef>
                <a:spcPts val="0"/>
              </a:spcBef>
              <a:spcAft>
                <a:spcPts val="0"/>
              </a:spcAft>
              <a:buNone/>
            </a:pPr>
            <a:r>
              <a:rPr lang="en"/>
              <a:t>-- Novartis estimates that mastering supplier data will lead to multi-million dollar cost savings.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77046eb79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8" name="Google Shape;1408;g77046eb79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a:t>
            </a:r>
            <a:r>
              <a:rPr lang="en"/>
              <a:t> Wells mastering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Hess’ challenges</a:t>
            </a:r>
            <a:endParaRPr b="1"/>
          </a:p>
          <a:p>
            <a:pPr indent="0" lvl="0" marL="0" rtl="0" algn="l">
              <a:spcBef>
                <a:spcPts val="0"/>
              </a:spcBef>
              <a:spcAft>
                <a:spcPts val="0"/>
              </a:spcAft>
              <a:buNone/>
            </a:pPr>
            <a:r>
              <a:rPr lang="en"/>
              <a:t>-- Adding new external and internal data sources to the MDM system Hess previously used was time-consuming and expensive. </a:t>
            </a:r>
            <a:endParaRPr/>
          </a:p>
          <a:p>
            <a:pPr indent="0" lvl="0" marL="0" rtl="0" algn="l">
              <a:spcBef>
                <a:spcPts val="0"/>
              </a:spcBef>
              <a:spcAft>
                <a:spcPts val="0"/>
              </a:spcAft>
              <a:buNone/>
            </a:pPr>
            <a:r>
              <a:rPr lang="en"/>
              <a:t>-- Needed golden records of all Hess well drilling in North America, offshore well drilling and exploratory well drilling.</a:t>
            </a:r>
            <a:endParaRPr/>
          </a:p>
          <a:p>
            <a:pPr indent="0" lvl="0" marL="0" rtl="0" algn="l">
              <a:spcBef>
                <a:spcPts val="0"/>
              </a:spcBef>
              <a:spcAft>
                <a:spcPts val="0"/>
              </a:spcAft>
              <a:buNone/>
            </a:pPr>
            <a:r>
              <a:rPr lang="en"/>
              <a:t>-- Data experts spend 90% of their time cleaning dirty data, a task Hess wanted to automate.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How Tamr helped</a:t>
            </a:r>
            <a:endParaRPr b="1"/>
          </a:p>
          <a:p>
            <a:pPr indent="0" lvl="0" marL="0" rtl="0" algn="l">
              <a:spcBef>
                <a:spcPts val="0"/>
              </a:spcBef>
              <a:spcAft>
                <a:spcPts val="0"/>
              </a:spcAft>
              <a:buNone/>
            </a:pPr>
            <a:r>
              <a:rPr lang="en"/>
              <a:t>-- Creating golden records allows Hess to better determine which exploratory wells to invest in, leading to better use of capital.</a:t>
            </a:r>
            <a:endParaRPr/>
          </a:p>
          <a:p>
            <a:pPr indent="0" lvl="0" marL="0" rtl="0" algn="l">
              <a:spcBef>
                <a:spcPts val="0"/>
              </a:spcBef>
              <a:spcAft>
                <a:spcPts val="0"/>
              </a:spcAft>
              <a:buNone/>
            </a:pPr>
            <a:r>
              <a:rPr lang="en"/>
              <a:t>-- ML handles data cleaning, letting data experts more time on analytics.</a:t>
            </a:r>
            <a:endParaRPr/>
          </a:p>
          <a:p>
            <a:pPr indent="0" lvl="0" marL="0" rtl="0" algn="l">
              <a:spcBef>
                <a:spcPts val="0"/>
              </a:spcBef>
              <a:spcAft>
                <a:spcPts val="0"/>
              </a:spcAft>
              <a:buNone/>
            </a:pPr>
            <a:r>
              <a:rPr lang="en"/>
              <a:t>-- Adding new data sources faster saves Hess $150,000 and 6-8 months of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77046eb792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77046eb792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 Talent mastering</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CAA challenges</a:t>
            </a:r>
            <a:endParaRPr b="1"/>
          </a:p>
          <a:p>
            <a:pPr indent="0" lvl="0" marL="0" rtl="0" algn="l">
              <a:spcBef>
                <a:spcPts val="0"/>
              </a:spcBef>
              <a:spcAft>
                <a:spcPts val="0"/>
              </a:spcAft>
              <a:buNone/>
            </a:pPr>
            <a:r>
              <a:rPr lang="en"/>
              <a:t>-- CAA needed a more efficient way to match its internal data on its more than 3,400 clients with the hundreds of TV series and thousands of commercial opportunities available while factoring in external data like audience sentiment analysis, viewer affinity and demographics.</a:t>
            </a:r>
            <a:endParaRPr/>
          </a:p>
          <a:p>
            <a:pPr indent="0" lvl="0" marL="0" rtl="0" algn="l">
              <a:spcBef>
                <a:spcPts val="0"/>
              </a:spcBef>
              <a:spcAft>
                <a:spcPts val="0"/>
              </a:spcAft>
              <a:buNone/>
            </a:pPr>
            <a:r>
              <a:rPr lang="en"/>
              <a:t>-- Combining talent and opportunity data with external data required extensive manual work and was time consuming. </a:t>
            </a:r>
            <a:endParaRPr/>
          </a:p>
          <a:p>
            <a:pPr indent="0" lvl="0" marL="0" rtl="0" algn="l">
              <a:spcBef>
                <a:spcPts val="0"/>
              </a:spcBef>
              <a:spcAft>
                <a:spcPts val="0"/>
              </a:spcAft>
              <a:buNone/>
            </a:pPr>
            <a:r>
              <a:rPr lang="en"/>
              <a:t>-- CAA needed to master this data faster and leverage it more efficiently if it wanted to better match its clients with opportunities.</a:t>
            </a:r>
            <a:endParaRPr/>
          </a:p>
          <a:p>
            <a:pPr indent="0" lvl="0" marL="0" rtl="0" algn="l">
              <a:spcBef>
                <a:spcPts val="0"/>
              </a:spcBef>
              <a:spcAft>
                <a:spcPts val="0"/>
              </a:spcAft>
              <a:buNone/>
            </a:pPr>
            <a:r>
              <a:rPr lang="en"/>
              <a:t>-- Wanted to use human-guided machine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r>
              <a:rPr b="1" lang="en"/>
              <a:t>How Tamr helped</a:t>
            </a:r>
            <a:endParaRPr b="1"/>
          </a:p>
          <a:p>
            <a:pPr indent="0" lvl="0" marL="0" rtl="0" algn="l">
              <a:spcBef>
                <a:spcPts val="0"/>
              </a:spcBef>
              <a:spcAft>
                <a:spcPts val="0"/>
              </a:spcAft>
              <a:buNone/>
            </a:pPr>
            <a:r>
              <a:rPr lang="en"/>
              <a:t>-- </a:t>
            </a:r>
            <a:r>
              <a:rPr lang="en" sz="1050">
                <a:solidFill>
                  <a:srgbClr val="222222"/>
                </a:solidFill>
                <a:highlight>
                  <a:srgbClr val="FFFFFF"/>
                </a:highlight>
                <a:latin typeface="Roboto"/>
                <a:ea typeface="Roboto"/>
                <a:cs typeface="Roboto"/>
                <a:sym typeface="Roboto"/>
              </a:rPr>
              <a:t>Faster time to insights for agents, allowing them to quickly narrow and better match their clients with opportunities. </a:t>
            </a:r>
            <a:endParaRPr sz="105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222222"/>
                </a:solidFill>
                <a:highlight>
                  <a:srgbClr val="FFFFFF"/>
                </a:highlight>
                <a:latin typeface="Roboto"/>
                <a:ea typeface="Roboto"/>
                <a:cs typeface="Roboto"/>
                <a:sym typeface="Roboto"/>
              </a:rPr>
              <a:t>-- Tamr engineering team acted like an extension of CAA’s team, earning praise from CAA CDO André Vargas. </a:t>
            </a:r>
            <a:endParaRPr sz="105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222222"/>
                </a:solidFill>
                <a:highlight>
                  <a:srgbClr val="FFFFFF"/>
                </a:highlight>
                <a:latin typeface="Roboto"/>
                <a:ea typeface="Roboto"/>
                <a:cs typeface="Roboto"/>
                <a:sym typeface="Roboto"/>
              </a:rPr>
              <a:t>-- First Tamr use case in media and entertainment. </a:t>
            </a:r>
            <a:endParaRPr sz="105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222222"/>
                </a:solidFill>
                <a:highlight>
                  <a:srgbClr val="FFFFFF"/>
                </a:highlight>
                <a:latin typeface="Roboto"/>
                <a:ea typeface="Roboto"/>
                <a:cs typeface="Roboto"/>
                <a:sym typeface="Roboto"/>
              </a:rPr>
              <a:t>-- We have a video testimonial: </a:t>
            </a:r>
            <a:r>
              <a:rPr lang="en" u="sng">
                <a:solidFill>
                  <a:schemeClr val="hlink"/>
                </a:solidFill>
                <a:hlinkClick r:id="rId2"/>
              </a:rPr>
              <a:t>https://www.tamr.com/video/data-insights-caa-and-tamr/</a:t>
            </a:r>
            <a:endParaRPr sz="1050">
              <a:solidFill>
                <a:srgbClr val="222222"/>
              </a:solidFill>
              <a:highlight>
                <a:srgbClr val="FFFFFF"/>
              </a:highlight>
              <a:latin typeface="Roboto"/>
              <a:ea typeface="Roboto"/>
              <a:cs typeface="Roboto"/>
              <a:sym typeface="Roboto"/>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8738a62b88_6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8738a62b88_6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 Spend analytics</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Soc Gen challenges</a:t>
            </a:r>
            <a:endParaRPr b="1"/>
          </a:p>
          <a:p>
            <a:pPr indent="0" lvl="0" marL="0" rtl="0" algn="l">
              <a:spcBef>
                <a:spcPts val="0"/>
              </a:spcBef>
              <a:spcAft>
                <a:spcPts val="0"/>
              </a:spcAft>
              <a:buNone/>
            </a:pPr>
            <a:r>
              <a:rPr lang="en"/>
              <a:t>-- More than 100 ERPs only 15 connected</a:t>
            </a:r>
            <a:endParaRPr/>
          </a:p>
          <a:p>
            <a:pPr indent="0" lvl="0" marL="0" rtl="0" algn="l">
              <a:spcBef>
                <a:spcPts val="0"/>
              </a:spcBef>
              <a:spcAft>
                <a:spcPts val="0"/>
              </a:spcAft>
              <a:buNone/>
            </a:pPr>
            <a:r>
              <a:rPr lang="en"/>
              <a:t>-- This meant Soc Gen had only 40% visibility into global spend -- leaving a lot of money on the table</a:t>
            </a:r>
            <a:endParaRPr/>
          </a:p>
          <a:p>
            <a:pPr indent="0" lvl="0" marL="0" rtl="0" algn="l">
              <a:spcBef>
                <a:spcPts val="0"/>
              </a:spcBef>
              <a:spcAft>
                <a:spcPts val="0"/>
              </a:spcAft>
              <a:buNone/>
            </a:pPr>
            <a:r>
              <a:rPr lang="en"/>
              <a:t>-- Connecting new data sources technically challenging and time consuming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Tamr impact</a:t>
            </a:r>
            <a:endParaRPr b="1"/>
          </a:p>
          <a:p>
            <a:pPr indent="0" lvl="0" marL="0" rtl="0" algn="l">
              <a:spcBef>
                <a:spcPts val="0"/>
              </a:spcBef>
              <a:spcAft>
                <a:spcPts val="0"/>
              </a:spcAft>
              <a:buNone/>
            </a:pPr>
            <a:r>
              <a:rPr lang="en"/>
              <a:t>-- Easily add new data sources, reducing manual efforts of adding data by 70%, freeing IT to work on more valuable projects.</a:t>
            </a:r>
            <a:endParaRPr/>
          </a:p>
          <a:p>
            <a:pPr indent="0" lvl="0" marL="0" rtl="0" algn="l">
              <a:spcBef>
                <a:spcPts val="0"/>
              </a:spcBef>
              <a:spcAft>
                <a:spcPts val="0"/>
              </a:spcAft>
              <a:buNone/>
            </a:pPr>
            <a:r>
              <a:rPr lang="en"/>
              <a:t>-- Integrating data faster helped SocGen get a complete view of global spend faster. </a:t>
            </a:r>
            <a:endParaRPr/>
          </a:p>
          <a:p>
            <a:pPr indent="0" lvl="0" marL="0" rtl="0" algn="l">
              <a:spcBef>
                <a:spcPts val="0"/>
              </a:spcBef>
              <a:spcAft>
                <a:spcPts val="0"/>
              </a:spcAft>
              <a:buNone/>
            </a:pPr>
            <a:r>
              <a:rPr lang="en"/>
              <a:t>-- Global view allowed SocGen to reduce risks of becoming too dependent on one supplier and better negotiate with vendors it does a lot of business with.</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77046eb792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7" name="Google Shape;1447;g77046eb792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Use case: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Thomson Reuters challenges</a:t>
            </a:r>
            <a:endParaRPr b="1"/>
          </a:p>
          <a:p>
            <a:pPr indent="0" lvl="0" marL="0" rtl="0" algn="l">
              <a:spcBef>
                <a:spcPts val="0"/>
              </a:spcBef>
              <a:spcAft>
                <a:spcPts val="0"/>
              </a:spcAft>
              <a:buNone/>
            </a:pPr>
            <a:r>
              <a:rPr lang="en"/>
              <a:t>-- TR’s Enterprise Customer Mastering Team needed to combine data from more than 20 different sources.</a:t>
            </a:r>
            <a:endParaRPr/>
          </a:p>
          <a:p>
            <a:pPr indent="0" lvl="0" marL="0" rtl="0" algn="l">
              <a:spcBef>
                <a:spcPts val="0"/>
              </a:spcBef>
              <a:spcAft>
                <a:spcPts val="0"/>
              </a:spcAft>
              <a:buNone/>
            </a:pPr>
            <a:r>
              <a:rPr lang="en"/>
              <a:t>-- This data needs to be integrated quickly since TR’s financial services customers use it to make business decisions. </a:t>
            </a:r>
            <a:endParaRPr/>
          </a:p>
          <a:p>
            <a:pPr indent="0" lvl="0" marL="0" rtl="0" algn="l">
              <a:spcBef>
                <a:spcPts val="0"/>
              </a:spcBef>
              <a:spcAft>
                <a:spcPts val="0"/>
              </a:spcAft>
              <a:buNone/>
            </a:pPr>
            <a:r>
              <a:rPr lang="en"/>
              <a:t>-- TR wanted to use machine learning to minimize the amount of manual work required.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How Tamr helped</a:t>
            </a:r>
            <a:endParaRPr b="1"/>
          </a:p>
          <a:p>
            <a:pPr indent="0" lvl="0" marL="0" rtl="0" algn="l">
              <a:spcBef>
                <a:spcPts val="0"/>
              </a:spcBef>
              <a:spcAft>
                <a:spcPts val="0"/>
              </a:spcAft>
              <a:buNone/>
            </a:pPr>
            <a:r>
              <a:rPr lang="en"/>
              <a:t>-- Using ML reduced manual integration efforts by over 40%.</a:t>
            </a:r>
            <a:endParaRPr/>
          </a:p>
          <a:p>
            <a:pPr indent="0" lvl="0" marL="0" rtl="0" algn="l">
              <a:spcBef>
                <a:spcPts val="0"/>
              </a:spcBef>
              <a:spcAft>
                <a:spcPts val="0"/>
              </a:spcAft>
              <a:buNone/>
            </a:pPr>
            <a:r>
              <a:rPr lang="en"/>
              <a:t>-- Speed up data integration efforts by several months, providing TR’s customers with business-critical faster.</a:t>
            </a:r>
            <a:endParaRPr/>
          </a:p>
          <a:p>
            <a:pPr indent="0" lvl="0" marL="0" rtl="0" algn="l">
              <a:spcBef>
                <a:spcPts val="0"/>
              </a:spcBef>
              <a:spcAft>
                <a:spcPts val="0"/>
              </a:spcAft>
              <a:buNone/>
            </a:pPr>
            <a:r>
              <a:rPr lang="en"/>
              <a:t>-- Providing customers with data faster allows them to grow faster and demonstrate the value of TR’s services.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gradFill>
          <a:gsLst>
            <a:gs pos="0">
              <a:schemeClr val="accent3"/>
            </a:gs>
            <a:gs pos="100000">
              <a:schemeClr val="accent1"/>
            </a:gs>
          </a:gsLst>
          <a:lin ang="8100019" scaled="0"/>
        </a:gra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545200" y="1627625"/>
            <a:ext cx="8050200" cy="20526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40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 name="Google Shape;12;p2"/>
          <p:cNvSpPr txBox="1"/>
          <p:nvPr>
            <p:ph idx="1" type="subTitle"/>
          </p:nvPr>
        </p:nvSpPr>
        <p:spPr>
          <a:xfrm>
            <a:off x="545250" y="3675900"/>
            <a:ext cx="8050200" cy="7926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solidFill>
                  <a:schemeClr val="lt1"/>
                </a:solidFill>
                <a:latin typeface="Source Sans Pro"/>
                <a:ea typeface="Source Sans Pro"/>
                <a:cs typeface="Source Sans Pro"/>
                <a:sym typeface="Source Sans Pro"/>
              </a:defRPr>
            </a:lvl1pPr>
            <a:lvl2pPr lvl="1" rtl="0">
              <a:spcBef>
                <a:spcPts val="1000"/>
              </a:spcBef>
              <a:spcAft>
                <a:spcPts val="0"/>
              </a:spcAft>
              <a:buNone/>
              <a:defRPr sz="2400">
                <a:latin typeface="Lexend Deca"/>
                <a:ea typeface="Lexend Deca"/>
                <a:cs typeface="Lexend Deca"/>
                <a:sym typeface="Lexend Deca"/>
              </a:defRPr>
            </a:lvl2pPr>
            <a:lvl3pPr lvl="2" rtl="0">
              <a:spcBef>
                <a:spcPts val="1000"/>
              </a:spcBef>
              <a:spcAft>
                <a:spcPts val="0"/>
              </a:spcAft>
              <a:buNone/>
              <a:defRPr sz="2400">
                <a:latin typeface="Lexend Deca"/>
                <a:ea typeface="Lexend Deca"/>
                <a:cs typeface="Lexend Deca"/>
                <a:sym typeface="Lexend Deca"/>
              </a:defRPr>
            </a:lvl3pPr>
            <a:lvl4pPr lvl="3" rtl="0">
              <a:spcBef>
                <a:spcPts val="1000"/>
              </a:spcBef>
              <a:spcAft>
                <a:spcPts val="0"/>
              </a:spcAft>
              <a:buNone/>
              <a:defRPr sz="2400">
                <a:latin typeface="Lexend Deca"/>
                <a:ea typeface="Lexend Deca"/>
                <a:cs typeface="Lexend Deca"/>
                <a:sym typeface="Lexend Deca"/>
              </a:defRPr>
            </a:lvl4pPr>
            <a:lvl5pPr lvl="4" rtl="0">
              <a:spcBef>
                <a:spcPts val="1000"/>
              </a:spcBef>
              <a:spcAft>
                <a:spcPts val="0"/>
              </a:spcAft>
              <a:buNone/>
              <a:defRPr sz="2400">
                <a:latin typeface="Lexend Deca"/>
                <a:ea typeface="Lexend Deca"/>
                <a:cs typeface="Lexend Deca"/>
                <a:sym typeface="Lexend Deca"/>
              </a:defRPr>
            </a:lvl5pPr>
            <a:lvl6pPr lvl="5" rtl="0">
              <a:spcBef>
                <a:spcPts val="1000"/>
              </a:spcBef>
              <a:spcAft>
                <a:spcPts val="0"/>
              </a:spcAft>
              <a:buNone/>
              <a:defRPr sz="2400">
                <a:latin typeface="Lexend Deca"/>
                <a:ea typeface="Lexend Deca"/>
                <a:cs typeface="Lexend Deca"/>
                <a:sym typeface="Lexend Deca"/>
              </a:defRPr>
            </a:lvl6pPr>
            <a:lvl7pPr lvl="6" rtl="0">
              <a:spcBef>
                <a:spcPts val="1000"/>
              </a:spcBef>
              <a:spcAft>
                <a:spcPts val="0"/>
              </a:spcAft>
              <a:buNone/>
              <a:defRPr sz="2400">
                <a:latin typeface="Lexend Deca"/>
                <a:ea typeface="Lexend Deca"/>
                <a:cs typeface="Lexend Deca"/>
                <a:sym typeface="Lexend Deca"/>
              </a:defRPr>
            </a:lvl7pPr>
            <a:lvl8pPr lvl="7" rtl="0">
              <a:spcBef>
                <a:spcPts val="1000"/>
              </a:spcBef>
              <a:spcAft>
                <a:spcPts val="0"/>
              </a:spcAft>
              <a:buNone/>
              <a:defRPr sz="2400">
                <a:latin typeface="Lexend Deca"/>
                <a:ea typeface="Lexend Deca"/>
                <a:cs typeface="Lexend Deca"/>
                <a:sym typeface="Lexend Deca"/>
              </a:defRPr>
            </a:lvl8pPr>
            <a:lvl9pPr lvl="8" rtl="0">
              <a:spcBef>
                <a:spcPts val="1000"/>
              </a:spcBef>
              <a:spcAft>
                <a:spcPts val="1000"/>
              </a:spcAft>
              <a:buNone/>
              <a:defRPr sz="2400">
                <a:latin typeface="Lexend Deca"/>
                <a:ea typeface="Lexend Deca"/>
                <a:cs typeface="Lexend Deca"/>
                <a:sym typeface="Lexend Deca"/>
              </a:defRPr>
            </a:lvl9pPr>
          </a:lstStyle>
          <a:p/>
        </p:txBody>
      </p:sp>
      <p:pic>
        <p:nvPicPr>
          <p:cNvPr id="13" name="Google Shape;13;p2"/>
          <p:cNvPicPr preferRelativeResize="0"/>
          <p:nvPr/>
        </p:nvPicPr>
        <p:blipFill>
          <a:blip r:embed="rId2">
            <a:alphaModFix/>
          </a:blip>
          <a:stretch>
            <a:fillRect/>
          </a:stretch>
        </p:blipFill>
        <p:spPr>
          <a:xfrm>
            <a:off x="545200" y="1213375"/>
            <a:ext cx="1473997" cy="516900"/>
          </a:xfrm>
          <a:prstGeom prst="rect">
            <a:avLst/>
          </a:prstGeom>
          <a:noFill/>
          <a:ln>
            <a:noFill/>
          </a:ln>
        </p:spPr>
      </p:pic>
    </p:spTree>
  </p:cSld>
  <p:clrMapOvr>
    <a:masterClrMapping/>
  </p:clrMapOvr>
  <p:extLst>
    <p:ext uri="{DCECCB84-F9BA-43D5-87BE-67443E8EF086}">
      <p15:sldGuideLst>
        <p15:guide id="1" pos="343">
          <p15:clr>
            <a:srgbClr val="FA7B17"/>
          </p15:clr>
        </p15:guide>
        <p15:guide id="2" pos="5414">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_1">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685500" y="1627625"/>
            <a:ext cx="7909800" cy="20526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4800">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 name="Google Shape;16;p3"/>
          <p:cNvSpPr txBox="1"/>
          <p:nvPr>
            <p:ph idx="1" type="subTitle"/>
          </p:nvPr>
        </p:nvSpPr>
        <p:spPr>
          <a:xfrm>
            <a:off x="685350" y="3675900"/>
            <a:ext cx="7909800" cy="7926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latin typeface="Source Sans Pro"/>
                <a:ea typeface="Source Sans Pro"/>
                <a:cs typeface="Source Sans Pro"/>
                <a:sym typeface="Source Sans Pro"/>
              </a:defRPr>
            </a:lvl1pPr>
            <a:lvl2pPr lvl="1" rtl="0">
              <a:spcBef>
                <a:spcPts val="1000"/>
              </a:spcBef>
              <a:spcAft>
                <a:spcPts val="0"/>
              </a:spcAft>
              <a:buNone/>
              <a:defRPr sz="2400">
                <a:latin typeface="Lexend Deca"/>
                <a:ea typeface="Lexend Deca"/>
                <a:cs typeface="Lexend Deca"/>
                <a:sym typeface="Lexend Deca"/>
              </a:defRPr>
            </a:lvl2pPr>
            <a:lvl3pPr lvl="2" rtl="0">
              <a:spcBef>
                <a:spcPts val="1000"/>
              </a:spcBef>
              <a:spcAft>
                <a:spcPts val="0"/>
              </a:spcAft>
              <a:buNone/>
              <a:defRPr sz="2400">
                <a:latin typeface="Lexend Deca"/>
                <a:ea typeface="Lexend Deca"/>
                <a:cs typeface="Lexend Deca"/>
                <a:sym typeface="Lexend Deca"/>
              </a:defRPr>
            </a:lvl3pPr>
            <a:lvl4pPr lvl="3" rtl="0">
              <a:spcBef>
                <a:spcPts val="1000"/>
              </a:spcBef>
              <a:spcAft>
                <a:spcPts val="0"/>
              </a:spcAft>
              <a:buNone/>
              <a:defRPr sz="2400">
                <a:latin typeface="Lexend Deca"/>
                <a:ea typeface="Lexend Deca"/>
                <a:cs typeface="Lexend Deca"/>
                <a:sym typeface="Lexend Deca"/>
              </a:defRPr>
            </a:lvl4pPr>
            <a:lvl5pPr lvl="4" rtl="0">
              <a:spcBef>
                <a:spcPts val="1000"/>
              </a:spcBef>
              <a:spcAft>
                <a:spcPts val="0"/>
              </a:spcAft>
              <a:buNone/>
              <a:defRPr sz="2400">
                <a:latin typeface="Lexend Deca"/>
                <a:ea typeface="Lexend Deca"/>
                <a:cs typeface="Lexend Deca"/>
                <a:sym typeface="Lexend Deca"/>
              </a:defRPr>
            </a:lvl5pPr>
            <a:lvl6pPr lvl="5" rtl="0">
              <a:spcBef>
                <a:spcPts val="1000"/>
              </a:spcBef>
              <a:spcAft>
                <a:spcPts val="0"/>
              </a:spcAft>
              <a:buNone/>
              <a:defRPr sz="2400">
                <a:latin typeface="Lexend Deca"/>
                <a:ea typeface="Lexend Deca"/>
                <a:cs typeface="Lexend Deca"/>
                <a:sym typeface="Lexend Deca"/>
              </a:defRPr>
            </a:lvl6pPr>
            <a:lvl7pPr lvl="6" rtl="0">
              <a:spcBef>
                <a:spcPts val="1000"/>
              </a:spcBef>
              <a:spcAft>
                <a:spcPts val="0"/>
              </a:spcAft>
              <a:buNone/>
              <a:defRPr sz="2400">
                <a:latin typeface="Lexend Deca"/>
                <a:ea typeface="Lexend Deca"/>
                <a:cs typeface="Lexend Deca"/>
                <a:sym typeface="Lexend Deca"/>
              </a:defRPr>
            </a:lvl7pPr>
            <a:lvl8pPr lvl="7" rtl="0">
              <a:spcBef>
                <a:spcPts val="1000"/>
              </a:spcBef>
              <a:spcAft>
                <a:spcPts val="0"/>
              </a:spcAft>
              <a:buNone/>
              <a:defRPr sz="2400">
                <a:latin typeface="Lexend Deca"/>
                <a:ea typeface="Lexend Deca"/>
                <a:cs typeface="Lexend Deca"/>
                <a:sym typeface="Lexend Deca"/>
              </a:defRPr>
            </a:lvl8pPr>
            <a:lvl9pPr lvl="8" rtl="0">
              <a:spcBef>
                <a:spcPts val="1000"/>
              </a:spcBef>
              <a:spcAft>
                <a:spcPts val="1000"/>
              </a:spcAft>
              <a:buNone/>
              <a:defRPr sz="2400">
                <a:latin typeface="Lexend Deca"/>
                <a:ea typeface="Lexend Deca"/>
                <a:cs typeface="Lexend Deca"/>
                <a:sym typeface="Lexend Deca"/>
              </a:defRPr>
            </a:lvl9pPr>
          </a:lstStyle>
          <a:p/>
        </p:txBody>
      </p:sp>
      <p:pic>
        <p:nvPicPr>
          <p:cNvPr id="17" name="Google Shape;17;p3"/>
          <p:cNvPicPr preferRelativeResize="0"/>
          <p:nvPr/>
        </p:nvPicPr>
        <p:blipFill>
          <a:blip r:embed="rId2">
            <a:alphaModFix/>
          </a:blip>
          <a:stretch>
            <a:fillRect/>
          </a:stretch>
        </p:blipFill>
        <p:spPr>
          <a:xfrm>
            <a:off x="292608" y="365760"/>
            <a:ext cx="944348" cy="3516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secHead">
  <p:cSld name="SECTION_HEADER">
    <p:bg>
      <p:bgPr>
        <a:gradFill>
          <a:gsLst>
            <a:gs pos="0">
              <a:schemeClr val="accent3"/>
            </a:gs>
            <a:gs pos="100000">
              <a:schemeClr val="accent1"/>
            </a:gs>
          </a:gsLst>
          <a:lin ang="8100019" scaled="0"/>
        </a:gradFill>
      </p:bgPr>
    </p:bg>
    <p:spTree>
      <p:nvGrpSpPr>
        <p:cNvPr id="18" name="Shape 18"/>
        <p:cNvGrpSpPr/>
        <p:nvPr/>
      </p:nvGrpSpPr>
      <p:grpSpPr>
        <a:xfrm>
          <a:off x="0" y="0"/>
          <a:ext cx="0" cy="0"/>
          <a:chOff x="0" y="0"/>
          <a:chExt cx="0" cy="0"/>
        </a:xfrm>
      </p:grpSpPr>
      <p:sp>
        <p:nvSpPr>
          <p:cNvPr id="19" name="Google Shape;19;p4"/>
          <p:cNvSpPr/>
          <p:nvPr/>
        </p:nvSpPr>
        <p:spPr>
          <a:xfrm>
            <a:off x="-4572000" y="51435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4572000" y="-45720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4572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9144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txBox="1"/>
          <p:nvPr>
            <p:ph type="title"/>
          </p:nvPr>
        </p:nvSpPr>
        <p:spPr>
          <a:xfrm>
            <a:off x="548700" y="1097275"/>
            <a:ext cx="3913500" cy="1926300"/>
          </a:xfrm>
          <a:prstGeom prst="rect">
            <a:avLst/>
          </a:prstGeom>
        </p:spPr>
        <p:txBody>
          <a:bodyPr anchorCtr="0" anchor="b" bIns="91425" lIns="91425" spcFirstLastPara="1" rIns="91425" wrap="square" tIns="91425">
            <a:noAutofit/>
          </a:bodyPr>
          <a:lstStyle>
            <a:lvl1pPr lvl="0">
              <a:spcBef>
                <a:spcPts val="0"/>
              </a:spcBef>
              <a:spcAft>
                <a:spcPts val="0"/>
              </a:spcAft>
              <a:buNone/>
              <a:defRPr b="1" sz="3600">
                <a:solidFill>
                  <a:schemeClr val="lt1"/>
                </a:solidFill>
                <a:latin typeface="Source Sans Pro"/>
                <a:ea typeface="Source Sans Pro"/>
                <a:cs typeface="Source Sans Pro"/>
                <a:sym typeface="Source Sans Pr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4" name="Google Shape;24;p4"/>
          <p:cNvSpPr txBox="1"/>
          <p:nvPr>
            <p:ph idx="12" type="sldNum"/>
          </p:nvPr>
        </p:nvSpPr>
        <p:spPr>
          <a:xfrm>
            <a:off x="8375904" y="4700016"/>
            <a:ext cx="548700" cy="292500"/>
          </a:xfrm>
          <a:prstGeom prst="rect">
            <a:avLst/>
          </a:prstGeom>
        </p:spPr>
        <p:txBody>
          <a:bodyPr anchorCtr="0" anchor="t" bIns="91425" lIns="91425" spcFirstLastPara="1" rIns="91425" wrap="square" tIns="91425">
            <a:noAutofit/>
          </a:bodyPr>
          <a:lstStyle>
            <a:lvl1pPr lvl="0">
              <a:buNone/>
              <a:defRPr sz="1000">
                <a:solidFill>
                  <a:schemeClr val="lt1"/>
                </a:solidFill>
                <a:latin typeface="Montserrat Light"/>
                <a:ea typeface="Montserrat Light"/>
                <a:cs typeface="Montserrat Light"/>
                <a:sym typeface="Montserrat Light"/>
              </a:defRPr>
            </a:lvl1pPr>
            <a:lvl2pPr lvl="1">
              <a:buNone/>
              <a:defRPr sz="1000">
                <a:solidFill>
                  <a:schemeClr val="lt1"/>
                </a:solidFill>
                <a:latin typeface="Montserrat Light"/>
                <a:ea typeface="Montserrat Light"/>
                <a:cs typeface="Montserrat Light"/>
                <a:sym typeface="Montserrat Light"/>
              </a:defRPr>
            </a:lvl2pPr>
            <a:lvl3pPr lvl="2">
              <a:buNone/>
              <a:defRPr sz="1000">
                <a:solidFill>
                  <a:schemeClr val="lt1"/>
                </a:solidFill>
                <a:latin typeface="Montserrat Light"/>
                <a:ea typeface="Montserrat Light"/>
                <a:cs typeface="Montserrat Light"/>
                <a:sym typeface="Montserrat Light"/>
              </a:defRPr>
            </a:lvl3pPr>
            <a:lvl4pPr lvl="3">
              <a:buNone/>
              <a:defRPr sz="1000">
                <a:solidFill>
                  <a:schemeClr val="lt1"/>
                </a:solidFill>
                <a:latin typeface="Montserrat Light"/>
                <a:ea typeface="Montserrat Light"/>
                <a:cs typeface="Montserrat Light"/>
                <a:sym typeface="Montserrat Light"/>
              </a:defRPr>
            </a:lvl4pPr>
            <a:lvl5pPr lvl="4">
              <a:buNone/>
              <a:defRPr sz="1000">
                <a:solidFill>
                  <a:schemeClr val="lt1"/>
                </a:solidFill>
                <a:latin typeface="Montserrat Light"/>
                <a:ea typeface="Montserrat Light"/>
                <a:cs typeface="Montserrat Light"/>
                <a:sym typeface="Montserrat Light"/>
              </a:defRPr>
            </a:lvl5pPr>
            <a:lvl6pPr lvl="5">
              <a:buNone/>
              <a:defRPr sz="1000">
                <a:solidFill>
                  <a:schemeClr val="lt1"/>
                </a:solidFill>
                <a:latin typeface="Montserrat Light"/>
                <a:ea typeface="Montserrat Light"/>
                <a:cs typeface="Montserrat Light"/>
                <a:sym typeface="Montserrat Light"/>
              </a:defRPr>
            </a:lvl6pPr>
            <a:lvl7pPr lvl="6">
              <a:buNone/>
              <a:defRPr sz="1000">
                <a:solidFill>
                  <a:schemeClr val="lt1"/>
                </a:solidFill>
                <a:latin typeface="Montserrat Light"/>
                <a:ea typeface="Montserrat Light"/>
                <a:cs typeface="Montserrat Light"/>
                <a:sym typeface="Montserrat Light"/>
              </a:defRPr>
            </a:lvl7pPr>
            <a:lvl8pPr lvl="7">
              <a:buNone/>
              <a:defRPr sz="1000">
                <a:solidFill>
                  <a:schemeClr val="lt1"/>
                </a:solidFill>
                <a:latin typeface="Montserrat Light"/>
                <a:ea typeface="Montserrat Light"/>
                <a:cs typeface="Montserrat Light"/>
                <a:sym typeface="Montserrat Light"/>
              </a:defRPr>
            </a:lvl8pPr>
            <a:lvl9pPr lvl="8">
              <a:buNone/>
              <a:defRPr sz="1000">
                <a:solidFill>
                  <a:schemeClr val="lt1"/>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1" type="body"/>
          </p:nvPr>
        </p:nvSpPr>
        <p:spPr>
          <a:xfrm>
            <a:off x="4791450" y="445138"/>
            <a:ext cx="3804000" cy="42639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Clr>
                <a:schemeClr val="lt1"/>
              </a:buClr>
              <a:buSzPts val="1800"/>
              <a:buChar char="●"/>
              <a:defRPr>
                <a:solidFill>
                  <a:schemeClr val="lt1"/>
                </a:solidFill>
              </a:defRPr>
            </a:lvl1pPr>
            <a:lvl2pPr indent="-317500" lvl="1" marL="914400">
              <a:lnSpc>
                <a:spcPct val="100000"/>
              </a:lnSpc>
              <a:spcBef>
                <a:spcPts val="1000"/>
              </a:spcBef>
              <a:spcAft>
                <a:spcPts val="0"/>
              </a:spcAft>
              <a:buClr>
                <a:schemeClr val="lt1"/>
              </a:buClr>
              <a:buSzPts val="1400"/>
              <a:buChar char="○"/>
              <a:defRPr>
                <a:solidFill>
                  <a:schemeClr val="lt1"/>
                </a:solidFill>
              </a:defRPr>
            </a:lvl2pPr>
            <a:lvl3pPr indent="-304800" lvl="2" marL="1371600">
              <a:lnSpc>
                <a:spcPct val="100000"/>
              </a:lnSpc>
              <a:spcBef>
                <a:spcPts val="1000"/>
              </a:spcBef>
              <a:spcAft>
                <a:spcPts val="0"/>
              </a:spcAft>
              <a:buClr>
                <a:schemeClr val="lt1"/>
              </a:buClr>
              <a:buSzPts val="1200"/>
              <a:buChar char="●"/>
              <a:defRPr>
                <a:solidFill>
                  <a:schemeClr val="lt1"/>
                </a:solidFill>
              </a:defRPr>
            </a:lvl3pPr>
            <a:lvl4pPr indent="-292100" lvl="3" marL="1828800">
              <a:lnSpc>
                <a:spcPct val="100000"/>
              </a:lnSpc>
              <a:spcBef>
                <a:spcPts val="1000"/>
              </a:spcBef>
              <a:spcAft>
                <a:spcPts val="0"/>
              </a:spcAft>
              <a:buClr>
                <a:schemeClr val="lt1"/>
              </a:buClr>
              <a:buSzPts val="1000"/>
              <a:buChar char="○"/>
              <a:defRPr>
                <a:solidFill>
                  <a:schemeClr val="lt1"/>
                </a:solidFill>
              </a:defRPr>
            </a:lvl4pPr>
            <a:lvl5pPr indent="-292100" lvl="4" marL="2286000">
              <a:lnSpc>
                <a:spcPct val="100000"/>
              </a:lnSpc>
              <a:spcBef>
                <a:spcPts val="1000"/>
              </a:spcBef>
              <a:spcAft>
                <a:spcPts val="0"/>
              </a:spcAft>
              <a:buClr>
                <a:schemeClr val="lt1"/>
              </a:buClr>
              <a:buSzPts val="1000"/>
              <a:buChar char="●"/>
              <a:defRPr>
                <a:solidFill>
                  <a:schemeClr val="lt1"/>
                </a:solidFill>
              </a:defRPr>
            </a:lvl5pPr>
            <a:lvl6pPr indent="-292100" lvl="5" marL="2743200">
              <a:lnSpc>
                <a:spcPct val="100000"/>
              </a:lnSpc>
              <a:spcBef>
                <a:spcPts val="1000"/>
              </a:spcBef>
              <a:spcAft>
                <a:spcPts val="0"/>
              </a:spcAft>
              <a:buClr>
                <a:schemeClr val="lt1"/>
              </a:buClr>
              <a:buSzPts val="1000"/>
              <a:buChar char="○"/>
              <a:defRPr>
                <a:solidFill>
                  <a:schemeClr val="lt1"/>
                </a:solidFill>
              </a:defRPr>
            </a:lvl6pPr>
            <a:lvl7pPr indent="-292100" lvl="6" marL="3200400">
              <a:lnSpc>
                <a:spcPct val="100000"/>
              </a:lnSpc>
              <a:spcBef>
                <a:spcPts val="1000"/>
              </a:spcBef>
              <a:spcAft>
                <a:spcPts val="0"/>
              </a:spcAft>
              <a:buClr>
                <a:schemeClr val="lt1"/>
              </a:buClr>
              <a:buSzPts val="1000"/>
              <a:buChar char="●"/>
              <a:defRPr>
                <a:solidFill>
                  <a:schemeClr val="lt1"/>
                </a:solidFill>
              </a:defRPr>
            </a:lvl7pPr>
            <a:lvl8pPr indent="-292100" lvl="7" marL="3657600">
              <a:lnSpc>
                <a:spcPct val="100000"/>
              </a:lnSpc>
              <a:spcBef>
                <a:spcPts val="1000"/>
              </a:spcBef>
              <a:spcAft>
                <a:spcPts val="0"/>
              </a:spcAft>
              <a:buClr>
                <a:schemeClr val="lt1"/>
              </a:buClr>
              <a:buSzPts val="1000"/>
              <a:buChar char="○"/>
              <a:defRPr>
                <a:solidFill>
                  <a:schemeClr val="lt1"/>
                </a:solidFill>
              </a:defRPr>
            </a:lvl8pPr>
            <a:lvl9pPr indent="-292100" lvl="8" marL="4114800">
              <a:lnSpc>
                <a:spcPct val="100000"/>
              </a:lnSpc>
              <a:spcBef>
                <a:spcPts val="1000"/>
              </a:spcBef>
              <a:spcAft>
                <a:spcPts val="1000"/>
              </a:spcAft>
              <a:buClr>
                <a:schemeClr val="lt1"/>
              </a:buClr>
              <a:buSzPts val="1000"/>
              <a:buChar char="●"/>
              <a:defRPr>
                <a:solidFill>
                  <a:schemeClr val="lt1"/>
                </a:solidFill>
              </a:defRPr>
            </a:lvl9pPr>
          </a:lstStyle>
          <a:p/>
        </p:txBody>
      </p:sp>
      <p:sp>
        <p:nvSpPr>
          <p:cNvPr id="26" name="Google Shape;26;p4"/>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Montserrat Light"/>
                <a:ea typeface="Montserrat Light"/>
                <a:cs typeface="Montserrat Light"/>
                <a:sym typeface="Montserrat Light"/>
              </a:rPr>
              <a:t>Confidential – Tamr, Inc.</a:t>
            </a:r>
            <a:endParaRPr sz="1000">
              <a:solidFill>
                <a:schemeClr val="lt1"/>
              </a:solidFill>
              <a:latin typeface="Montserrat Light"/>
              <a:ea typeface="Montserrat Light"/>
              <a:cs typeface="Montserrat Light"/>
              <a:sym typeface="Montserrat Light"/>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
    <p:bg>
      <p:bgPr>
        <a:gradFill>
          <a:gsLst>
            <a:gs pos="0">
              <a:schemeClr val="accent3"/>
            </a:gs>
            <a:gs pos="100000">
              <a:schemeClr val="accent1"/>
            </a:gs>
          </a:gsLst>
          <a:lin ang="8100019" scaled="0"/>
        </a:gradFill>
      </p:bgPr>
    </p:bg>
    <p:spTree>
      <p:nvGrpSpPr>
        <p:cNvPr id="27" name="Shape 27"/>
        <p:cNvGrpSpPr/>
        <p:nvPr/>
      </p:nvGrpSpPr>
      <p:grpSpPr>
        <a:xfrm>
          <a:off x="0" y="0"/>
          <a:ext cx="0" cy="0"/>
          <a:chOff x="0" y="0"/>
          <a:chExt cx="0" cy="0"/>
        </a:xfrm>
      </p:grpSpPr>
      <p:sp>
        <p:nvSpPr>
          <p:cNvPr id="28" name="Google Shape;28;p5"/>
          <p:cNvSpPr/>
          <p:nvPr/>
        </p:nvSpPr>
        <p:spPr>
          <a:xfrm>
            <a:off x="-4572000" y="51435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a:off x="-4572000" y="-45720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4572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9144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548700" y="1097275"/>
            <a:ext cx="8046600" cy="19203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36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3" name="Google Shape;33;p5"/>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5"/>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
    <p:bg>
      <p:bgPr>
        <a:gradFill>
          <a:gsLst>
            <a:gs pos="0">
              <a:schemeClr val="accent3"/>
            </a:gs>
            <a:gs pos="100000">
              <a:schemeClr val="accent1"/>
            </a:gs>
          </a:gsLst>
          <a:lin ang="8100019" scaled="0"/>
        </a:gradFill>
      </p:bgPr>
    </p:bg>
    <p:spTree>
      <p:nvGrpSpPr>
        <p:cNvPr id="35" name="Shape 35"/>
        <p:cNvGrpSpPr/>
        <p:nvPr/>
      </p:nvGrpSpPr>
      <p:grpSpPr>
        <a:xfrm>
          <a:off x="0" y="0"/>
          <a:ext cx="0" cy="0"/>
          <a:chOff x="0" y="0"/>
          <a:chExt cx="0" cy="0"/>
        </a:xfrm>
      </p:grpSpPr>
      <p:sp>
        <p:nvSpPr>
          <p:cNvPr id="36" name="Google Shape;36;p6"/>
          <p:cNvSpPr/>
          <p:nvPr/>
        </p:nvSpPr>
        <p:spPr>
          <a:xfrm>
            <a:off x="-4572000" y="51435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p:nvPr/>
        </p:nvSpPr>
        <p:spPr>
          <a:xfrm>
            <a:off x="-4572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a:off x="9144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txBox="1"/>
          <p:nvPr>
            <p:ph type="title"/>
          </p:nvPr>
        </p:nvSpPr>
        <p:spPr>
          <a:xfrm>
            <a:off x="545200" y="1097275"/>
            <a:ext cx="8050200" cy="19131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36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0" name="Google Shape;40;p6"/>
          <p:cNvSpPr/>
          <p:nvPr/>
        </p:nvSpPr>
        <p:spPr>
          <a:xfrm>
            <a:off x="-4572000" y="-45720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42" name="Google Shape;42;p6"/>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7"/>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Source Sans Pro"/>
              <a:buNone/>
              <a:defRPr b="1">
                <a:latin typeface="Source Sans Pro"/>
                <a:ea typeface="Source Sans Pro"/>
                <a:cs typeface="Source Sans Pro"/>
                <a:sym typeface="Source Sans Pr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 name="Google Shape;45;p7"/>
          <p:cNvSpPr txBox="1"/>
          <p:nvPr>
            <p:ph idx="1" type="body"/>
          </p:nvPr>
        </p:nvSpPr>
        <p:spPr>
          <a:xfrm>
            <a:off x="548800" y="877825"/>
            <a:ext cx="8046600" cy="3813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a:spcBef>
                <a:spcPts val="1000"/>
              </a:spcBef>
              <a:spcAft>
                <a:spcPts val="0"/>
              </a:spcAft>
              <a:buSzPts val="1200"/>
              <a:buFont typeface="Source Sans Pro"/>
              <a:buChar char="●"/>
              <a:defRPr>
                <a:latin typeface="Source Sans Pro"/>
                <a:ea typeface="Source Sans Pro"/>
                <a:cs typeface="Source Sans Pro"/>
                <a:sym typeface="Source Sans Pro"/>
              </a:defRPr>
            </a:lvl3pPr>
            <a:lvl4pPr indent="-292100" lvl="3" marL="182880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46" name="Google Shape;46;p7"/>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47" name="Google Shape;47;p7"/>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48" name="Google Shape;48;p7"/>
          <p:cNvSpPr txBox="1"/>
          <p:nvPr/>
        </p:nvSpPr>
        <p:spPr>
          <a:xfrm>
            <a:off x="6826975" y="486175"/>
            <a:ext cx="11379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Tree>
  </p:cSld>
  <p:clrMapOvr>
    <a:masterClrMapping/>
  </p:clrMapOvr>
  <p:extLst>
    <p:ext uri="{DCECCB84-F9BA-43D5-87BE-67443E8EF086}">
      <p15:sldGuideLst>
        <p15:guide id="1" orient="horz" pos="2955">
          <p15:clr>
            <a:srgbClr val="FA7B17"/>
          </p15:clr>
        </p15:guide>
        <p15:guide id="2" pos="346">
          <p15:clr>
            <a:srgbClr val="FA7B17"/>
          </p15:clr>
        </p15:guide>
        <p15:guide id="3" pos="5414">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8"/>
          <p:cNvSpPr txBox="1"/>
          <p:nvPr>
            <p:ph idx="1" type="body"/>
          </p:nvPr>
        </p:nvSpPr>
        <p:spPr>
          <a:xfrm>
            <a:off x="4681725" y="877825"/>
            <a:ext cx="3917100" cy="380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51" name="Google Shape;51;p8"/>
          <p:cNvSpPr txBox="1"/>
          <p:nvPr>
            <p:ph idx="2" type="body"/>
          </p:nvPr>
        </p:nvSpPr>
        <p:spPr>
          <a:xfrm>
            <a:off x="545200" y="877825"/>
            <a:ext cx="3917100" cy="380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
        <p:nvSpPr>
          <p:cNvPr id="52" name="Google Shape;52;p8"/>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Source Sans Pro"/>
              <a:buNone/>
              <a:defRPr b="1">
                <a:latin typeface="Source Sans Pro"/>
                <a:ea typeface="Source Sans Pro"/>
                <a:cs typeface="Source Sans Pro"/>
                <a:sym typeface="Source Sans Pr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 name="Google Shape;53;p8"/>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54" name="Google Shape;54;p8"/>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p:cSld name="TITLE_AND_TWO_COLUMNS_2">
    <p:spTree>
      <p:nvGrpSpPr>
        <p:cNvPr id="55" name="Shape 55"/>
        <p:cNvGrpSpPr/>
        <p:nvPr/>
      </p:nvGrpSpPr>
      <p:grpSpPr>
        <a:xfrm>
          <a:off x="0" y="0"/>
          <a:ext cx="0" cy="0"/>
          <a:chOff x="0" y="0"/>
          <a:chExt cx="0" cy="0"/>
        </a:xfrm>
      </p:grpSpPr>
      <p:sp>
        <p:nvSpPr>
          <p:cNvPr id="56" name="Google Shape;56;p9"/>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9"/>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58" name="Google Shape;58;p9"/>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Medium)">
  <p:cSld name="TITLE_AND_TWO_COLUMNS_2_1">
    <p:bg>
      <p:bgPr>
        <a:solidFill>
          <a:schemeClr val="accent1"/>
        </a:solidFill>
      </p:bgPr>
    </p:bg>
    <p:spTree>
      <p:nvGrpSpPr>
        <p:cNvPr id="59" name="Shape 59"/>
        <p:cNvGrpSpPr/>
        <p:nvPr/>
      </p:nvGrpSpPr>
      <p:grpSpPr>
        <a:xfrm>
          <a:off x="0" y="0"/>
          <a:ext cx="0" cy="0"/>
          <a:chOff x="0" y="0"/>
          <a:chExt cx="0" cy="0"/>
        </a:xfrm>
      </p:grpSpPr>
      <p:sp>
        <p:nvSpPr>
          <p:cNvPr id="60" name="Google Shape;60;p10"/>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10"/>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62" name="Google Shape;62;p10"/>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Dark)">
  <p:cSld name="TITLE_AND_TWO_COLUMNS_2_1_1">
    <p:bg>
      <p:bgPr>
        <a:solidFill>
          <a:srgbClr val="343A43"/>
        </a:solidFill>
      </p:bgPr>
    </p:bg>
    <p:spTree>
      <p:nvGrpSpPr>
        <p:cNvPr id="63" name="Shape 63"/>
        <p:cNvGrpSpPr/>
        <p:nvPr/>
      </p:nvGrpSpPr>
      <p:grpSpPr>
        <a:xfrm>
          <a:off x="0" y="0"/>
          <a:ext cx="0" cy="0"/>
          <a:chOff x="0" y="0"/>
          <a:chExt cx="0" cy="0"/>
        </a:xfrm>
      </p:grpSpPr>
      <p:sp>
        <p:nvSpPr>
          <p:cNvPr id="64" name="Google Shape;64;p11"/>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 name="Google Shape;65;p11"/>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66" name="Google Shape;66;p11"/>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Light)">
  <p:cSld name="TITLE_AND_TWO_COLUMNS_1">
    <p:spTree>
      <p:nvGrpSpPr>
        <p:cNvPr id="67" name="Shape 67"/>
        <p:cNvGrpSpPr/>
        <p:nvPr/>
      </p:nvGrpSpPr>
      <p:grpSpPr>
        <a:xfrm>
          <a:off x="0" y="0"/>
          <a:ext cx="0" cy="0"/>
          <a:chOff x="0" y="0"/>
          <a:chExt cx="0" cy="0"/>
        </a:xfrm>
      </p:grpSpPr>
      <p:sp>
        <p:nvSpPr>
          <p:cNvPr id="68" name="Google Shape;68;p12"/>
          <p:cNvSpPr txBox="1"/>
          <p:nvPr>
            <p:ph idx="1" type="body"/>
          </p:nvPr>
        </p:nvSpPr>
        <p:spPr>
          <a:xfrm>
            <a:off x="4681725" y="877825"/>
            <a:ext cx="39135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69" name="Google Shape;69;p12"/>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0" name="Google Shape;70;p12"/>
          <p:cNvPicPr preferRelativeResize="0"/>
          <p:nvPr/>
        </p:nvPicPr>
        <p:blipFill>
          <a:blip r:embed="rId2">
            <a:alphaModFix/>
          </a:blip>
          <a:stretch>
            <a:fillRect/>
          </a:stretch>
        </p:blipFill>
        <p:spPr>
          <a:xfrm rot="10800000">
            <a:off x="-15202" y="5049150"/>
            <a:ext cx="9174400" cy="140175"/>
          </a:xfrm>
          <a:prstGeom prst="rect">
            <a:avLst/>
          </a:prstGeom>
          <a:noFill/>
          <a:ln>
            <a:noFill/>
          </a:ln>
        </p:spPr>
      </p:pic>
      <p:sp>
        <p:nvSpPr>
          <p:cNvPr id="71" name="Google Shape;71;p12"/>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72" name="Google Shape;72;p12"/>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Medium)">
  <p:cSld name="TITLE_AND_TWO_COLUMNS_1_1">
    <p:bg>
      <p:bgPr>
        <a:solidFill>
          <a:schemeClr val="accent1"/>
        </a:solidFill>
      </p:bgPr>
    </p:bg>
    <p:spTree>
      <p:nvGrpSpPr>
        <p:cNvPr id="73" name="Shape 73"/>
        <p:cNvGrpSpPr/>
        <p:nvPr/>
      </p:nvGrpSpPr>
      <p:grpSpPr>
        <a:xfrm>
          <a:off x="0" y="0"/>
          <a:ext cx="0" cy="0"/>
          <a:chOff x="0" y="0"/>
          <a:chExt cx="0" cy="0"/>
        </a:xfrm>
      </p:grpSpPr>
      <p:sp>
        <p:nvSpPr>
          <p:cNvPr id="74" name="Google Shape;74;p13"/>
          <p:cNvSpPr txBox="1"/>
          <p:nvPr>
            <p:ph idx="1" type="body"/>
          </p:nvPr>
        </p:nvSpPr>
        <p:spPr>
          <a:xfrm>
            <a:off x="4681725" y="877825"/>
            <a:ext cx="39135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04800" lvl="2" marL="1371600" rtl="0">
              <a:spcBef>
                <a:spcPts val="1000"/>
              </a:spcBef>
              <a:spcAft>
                <a:spcPts val="0"/>
              </a:spcAft>
              <a:buClr>
                <a:schemeClr val="lt1"/>
              </a:buClr>
              <a:buSzPts val="1200"/>
              <a:buChar char="●"/>
              <a:defRPr sz="1200">
                <a:solidFill>
                  <a:schemeClr val="lt1"/>
                </a:solidFill>
              </a:defRPr>
            </a:lvl3pPr>
            <a:lvl4pPr indent="-292100" lvl="3" marL="1828800" rtl="0">
              <a:spcBef>
                <a:spcPts val="1000"/>
              </a:spcBef>
              <a:spcAft>
                <a:spcPts val="0"/>
              </a:spcAft>
              <a:buClr>
                <a:schemeClr val="lt1"/>
              </a:buClr>
              <a:buSzPts val="1000"/>
              <a:buChar char="○"/>
              <a:defRPr>
                <a:solidFill>
                  <a:schemeClr val="lt1"/>
                </a:solidFill>
              </a:defRPr>
            </a:lvl4pPr>
            <a:lvl5pPr indent="-292100" lvl="4" marL="2286000" rtl="0">
              <a:spcBef>
                <a:spcPts val="1000"/>
              </a:spcBef>
              <a:spcAft>
                <a:spcPts val="0"/>
              </a:spcAft>
              <a:buClr>
                <a:schemeClr val="lt1"/>
              </a:buClr>
              <a:buSzPts val="1000"/>
              <a:buChar char="●"/>
              <a:defRPr>
                <a:solidFill>
                  <a:schemeClr val="lt1"/>
                </a:solidFill>
              </a:defRPr>
            </a:lvl5pPr>
            <a:lvl6pPr indent="-292100" lvl="5" marL="2743200" rtl="0">
              <a:spcBef>
                <a:spcPts val="1000"/>
              </a:spcBef>
              <a:spcAft>
                <a:spcPts val="0"/>
              </a:spcAft>
              <a:buClr>
                <a:schemeClr val="lt1"/>
              </a:buClr>
              <a:buSzPts val="1000"/>
              <a:buChar char="○"/>
              <a:defRPr>
                <a:solidFill>
                  <a:schemeClr val="lt1"/>
                </a:solidFill>
              </a:defRPr>
            </a:lvl6pPr>
            <a:lvl7pPr indent="-292100" lvl="6" marL="3200400" rtl="0">
              <a:spcBef>
                <a:spcPts val="1000"/>
              </a:spcBef>
              <a:spcAft>
                <a:spcPts val="0"/>
              </a:spcAft>
              <a:buClr>
                <a:schemeClr val="lt1"/>
              </a:buClr>
              <a:buSzPts val="1000"/>
              <a:buChar char="●"/>
              <a:defRPr>
                <a:solidFill>
                  <a:schemeClr val="lt1"/>
                </a:solidFill>
              </a:defRPr>
            </a:lvl7pPr>
            <a:lvl8pPr indent="-292100" lvl="7" marL="3657600" rtl="0">
              <a:spcBef>
                <a:spcPts val="1000"/>
              </a:spcBef>
              <a:spcAft>
                <a:spcPts val="0"/>
              </a:spcAft>
              <a:buClr>
                <a:schemeClr val="lt1"/>
              </a:buClr>
              <a:buSzPts val="1000"/>
              <a:buChar char="○"/>
              <a:defRPr>
                <a:solidFill>
                  <a:schemeClr val="lt1"/>
                </a:solidFill>
              </a:defRPr>
            </a:lvl8pPr>
            <a:lvl9pPr indent="-292100" lvl="8" marL="4114800" rtl="0">
              <a:spcBef>
                <a:spcPts val="1000"/>
              </a:spcBef>
              <a:spcAft>
                <a:spcPts val="1000"/>
              </a:spcAft>
              <a:buClr>
                <a:schemeClr val="lt1"/>
              </a:buClr>
              <a:buSzPts val="1000"/>
              <a:buChar char="●"/>
              <a:defRPr>
                <a:solidFill>
                  <a:schemeClr val="lt1"/>
                </a:solidFill>
              </a:defRPr>
            </a:lvl9pPr>
          </a:lstStyle>
          <a:p/>
        </p:txBody>
      </p:sp>
      <p:sp>
        <p:nvSpPr>
          <p:cNvPr id="75" name="Google Shape;75;p13"/>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 name="Google Shape;76;p13"/>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77" name="Google Shape;77;p13"/>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Dark)">
  <p:cSld name="TITLE_AND_TWO_COLUMNS_1_1_1">
    <p:bg>
      <p:bgPr>
        <a:solidFill>
          <a:srgbClr val="343A43"/>
        </a:solidFill>
      </p:bgPr>
    </p:bg>
    <p:spTree>
      <p:nvGrpSpPr>
        <p:cNvPr id="78" name="Shape 78"/>
        <p:cNvGrpSpPr/>
        <p:nvPr/>
      </p:nvGrpSpPr>
      <p:grpSpPr>
        <a:xfrm>
          <a:off x="0" y="0"/>
          <a:ext cx="0" cy="0"/>
          <a:chOff x="0" y="0"/>
          <a:chExt cx="0" cy="0"/>
        </a:xfrm>
      </p:grpSpPr>
      <p:sp>
        <p:nvSpPr>
          <p:cNvPr id="79" name="Google Shape;79;p14"/>
          <p:cNvSpPr txBox="1"/>
          <p:nvPr>
            <p:ph idx="1" type="body"/>
          </p:nvPr>
        </p:nvSpPr>
        <p:spPr>
          <a:xfrm>
            <a:off x="4681725" y="877825"/>
            <a:ext cx="39135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04800" lvl="2" marL="1371600" rtl="0">
              <a:spcBef>
                <a:spcPts val="1000"/>
              </a:spcBef>
              <a:spcAft>
                <a:spcPts val="0"/>
              </a:spcAft>
              <a:buClr>
                <a:schemeClr val="lt1"/>
              </a:buClr>
              <a:buSzPts val="1200"/>
              <a:buChar char="●"/>
              <a:defRPr sz="1200">
                <a:solidFill>
                  <a:schemeClr val="lt1"/>
                </a:solidFill>
              </a:defRPr>
            </a:lvl3pPr>
            <a:lvl4pPr indent="-292100" lvl="3" marL="1828800" rtl="0">
              <a:spcBef>
                <a:spcPts val="1000"/>
              </a:spcBef>
              <a:spcAft>
                <a:spcPts val="0"/>
              </a:spcAft>
              <a:buClr>
                <a:schemeClr val="lt1"/>
              </a:buClr>
              <a:buSzPts val="1000"/>
              <a:buChar char="○"/>
              <a:defRPr>
                <a:solidFill>
                  <a:schemeClr val="lt1"/>
                </a:solidFill>
              </a:defRPr>
            </a:lvl4pPr>
            <a:lvl5pPr indent="-292100" lvl="4" marL="2286000" rtl="0">
              <a:spcBef>
                <a:spcPts val="1000"/>
              </a:spcBef>
              <a:spcAft>
                <a:spcPts val="0"/>
              </a:spcAft>
              <a:buClr>
                <a:schemeClr val="lt1"/>
              </a:buClr>
              <a:buSzPts val="1000"/>
              <a:buChar char="●"/>
              <a:defRPr>
                <a:solidFill>
                  <a:schemeClr val="lt1"/>
                </a:solidFill>
              </a:defRPr>
            </a:lvl5pPr>
            <a:lvl6pPr indent="-292100" lvl="5" marL="2743200" rtl="0">
              <a:spcBef>
                <a:spcPts val="1000"/>
              </a:spcBef>
              <a:spcAft>
                <a:spcPts val="0"/>
              </a:spcAft>
              <a:buClr>
                <a:schemeClr val="lt1"/>
              </a:buClr>
              <a:buSzPts val="1000"/>
              <a:buChar char="○"/>
              <a:defRPr>
                <a:solidFill>
                  <a:schemeClr val="lt1"/>
                </a:solidFill>
              </a:defRPr>
            </a:lvl6pPr>
            <a:lvl7pPr indent="-292100" lvl="6" marL="3200400" rtl="0">
              <a:spcBef>
                <a:spcPts val="1000"/>
              </a:spcBef>
              <a:spcAft>
                <a:spcPts val="0"/>
              </a:spcAft>
              <a:buClr>
                <a:schemeClr val="lt1"/>
              </a:buClr>
              <a:buSzPts val="1000"/>
              <a:buChar char="●"/>
              <a:defRPr>
                <a:solidFill>
                  <a:schemeClr val="lt1"/>
                </a:solidFill>
              </a:defRPr>
            </a:lvl7pPr>
            <a:lvl8pPr indent="-292100" lvl="7" marL="3657600" rtl="0">
              <a:spcBef>
                <a:spcPts val="1000"/>
              </a:spcBef>
              <a:spcAft>
                <a:spcPts val="0"/>
              </a:spcAft>
              <a:buClr>
                <a:schemeClr val="lt1"/>
              </a:buClr>
              <a:buSzPts val="1000"/>
              <a:buChar char="○"/>
              <a:defRPr>
                <a:solidFill>
                  <a:schemeClr val="lt1"/>
                </a:solidFill>
              </a:defRPr>
            </a:lvl8pPr>
            <a:lvl9pPr indent="-292100" lvl="8" marL="4114800" rtl="0">
              <a:spcBef>
                <a:spcPts val="1000"/>
              </a:spcBef>
              <a:spcAft>
                <a:spcPts val="1000"/>
              </a:spcAft>
              <a:buClr>
                <a:schemeClr val="lt1"/>
              </a:buClr>
              <a:buSzPts val="1000"/>
              <a:buChar char="●"/>
              <a:defRPr>
                <a:solidFill>
                  <a:schemeClr val="lt1"/>
                </a:solidFill>
              </a:defRPr>
            </a:lvl9pPr>
          </a:lstStyle>
          <a:p/>
        </p:txBody>
      </p:sp>
      <p:sp>
        <p:nvSpPr>
          <p:cNvPr id="80" name="Google Shape;80;p14"/>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4"/>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82" name="Google Shape;82;p14"/>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edium)">
  <p:cSld name="BLANK_1">
    <p:bg>
      <p:bgPr>
        <a:gradFill>
          <a:gsLst>
            <a:gs pos="0">
              <a:schemeClr val="accent3"/>
            </a:gs>
            <a:gs pos="100000">
              <a:schemeClr val="accent1"/>
            </a:gs>
          </a:gsLst>
          <a:lin ang="8100019" scaled="0"/>
        </a:gradFill>
      </p:bgPr>
    </p:bg>
    <p:spTree>
      <p:nvGrpSpPr>
        <p:cNvPr id="83" name="Shape 83"/>
        <p:cNvGrpSpPr/>
        <p:nvPr/>
      </p:nvGrpSpPr>
      <p:grpSpPr>
        <a:xfrm>
          <a:off x="0" y="0"/>
          <a:ext cx="0" cy="0"/>
          <a:chOff x="0" y="0"/>
          <a:chExt cx="0" cy="0"/>
        </a:xfrm>
      </p:grpSpPr>
      <p:sp>
        <p:nvSpPr>
          <p:cNvPr id="84" name="Google Shape;84;p15"/>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85" name="Google Shape;85;p15"/>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edium) 1">
  <p:cSld name="BLANK_1_2">
    <p:bg>
      <p:bgPr>
        <a:solidFill>
          <a:schemeClr val="accent1"/>
        </a:solidFill>
      </p:bgPr>
    </p:bg>
    <p:spTree>
      <p:nvGrpSpPr>
        <p:cNvPr id="86" name="Shape 86"/>
        <p:cNvGrpSpPr/>
        <p:nvPr/>
      </p:nvGrpSpPr>
      <p:grpSpPr>
        <a:xfrm>
          <a:off x="0" y="0"/>
          <a:ext cx="0" cy="0"/>
          <a:chOff x="0" y="0"/>
          <a:chExt cx="0" cy="0"/>
        </a:xfrm>
      </p:grpSpPr>
      <p:sp>
        <p:nvSpPr>
          <p:cNvPr id="87" name="Google Shape;87;p16"/>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88" name="Google Shape;88;p16"/>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_1">
    <p:bg>
      <p:bgPr>
        <a:solidFill>
          <a:srgbClr val="343A43"/>
        </a:solidFill>
      </p:bgPr>
    </p:bg>
    <p:spTree>
      <p:nvGrpSpPr>
        <p:cNvPr id="89" name="Shape 89"/>
        <p:cNvGrpSpPr/>
        <p:nvPr/>
      </p:nvGrpSpPr>
      <p:grpSpPr>
        <a:xfrm>
          <a:off x="0" y="0"/>
          <a:ext cx="0" cy="0"/>
          <a:chOff x="0" y="0"/>
          <a:chExt cx="0" cy="0"/>
        </a:xfrm>
      </p:grpSpPr>
      <p:sp>
        <p:nvSpPr>
          <p:cNvPr id="90" name="Google Shape;90;p17"/>
          <p:cNvSpPr txBox="1"/>
          <p:nvPr>
            <p:ph idx="12" type="sldNum"/>
          </p:nvPr>
        </p:nvSpPr>
        <p:spPr>
          <a:xfrm>
            <a:off x="8375904" y="4700016"/>
            <a:ext cx="548700" cy="292500"/>
          </a:xfrm>
          <a:prstGeom prst="rect">
            <a:avLst/>
          </a:prstGeom>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92" name="Shape 92"/>
        <p:cNvGrpSpPr/>
        <p:nvPr/>
      </p:nvGrpSpPr>
      <p:grpSpPr>
        <a:xfrm>
          <a:off x="0" y="0"/>
          <a:ext cx="0" cy="0"/>
          <a:chOff x="0" y="0"/>
          <a:chExt cx="0" cy="0"/>
        </a:xfrm>
      </p:grpSpPr>
      <p:sp>
        <p:nvSpPr>
          <p:cNvPr id="93" name="Google Shape;93;p18"/>
          <p:cNvSpPr txBox="1"/>
          <p:nvPr>
            <p:ph type="title"/>
          </p:nvPr>
        </p:nvSpPr>
        <p:spPr>
          <a:xfrm>
            <a:off x="102925" y="97775"/>
            <a:ext cx="8937300" cy="829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latin typeface="Montserrat"/>
                <a:ea typeface="Montserrat"/>
                <a:cs typeface="Montserrat"/>
                <a:sym typeface="Montserrat"/>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4" name="Google Shape;94;p18"/>
          <p:cNvSpPr txBox="1"/>
          <p:nvPr>
            <p:ph idx="1" type="body"/>
          </p:nvPr>
        </p:nvSpPr>
        <p:spPr>
          <a:xfrm>
            <a:off x="102925" y="927575"/>
            <a:ext cx="8937300" cy="3643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spcBef>
                <a:spcPts val="1000"/>
              </a:spcBef>
              <a:spcAft>
                <a:spcPts val="0"/>
              </a:spcAft>
              <a:buSzPts val="1200"/>
              <a:buFont typeface="Source Sans Pro"/>
              <a:buChar char="●"/>
              <a:defRPr>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1">
  <p:cSld name="Title and Image (Light)">
    <p:spTree>
      <p:nvGrpSpPr>
        <p:cNvPr id="95" name="Shape 95"/>
        <p:cNvGrpSpPr/>
        <p:nvPr/>
      </p:nvGrpSpPr>
      <p:grpSpPr>
        <a:xfrm>
          <a:off x="0" y="0"/>
          <a:ext cx="0" cy="0"/>
          <a:chOff x="0" y="0"/>
          <a:chExt cx="0" cy="0"/>
        </a:xfrm>
      </p:grpSpPr>
      <p:sp>
        <p:nvSpPr>
          <p:cNvPr id="96" name="Google Shape;96;p19"/>
          <p:cNvSpPr txBox="1"/>
          <p:nvPr>
            <p:ph type="title"/>
          </p:nvPr>
        </p:nvSpPr>
        <p:spPr>
          <a:xfrm>
            <a:off x="545250" y="219450"/>
            <a:ext cx="8049900" cy="585300"/>
          </a:xfrm>
          <a:prstGeom prst="rect">
            <a:avLst/>
          </a:prstGeom>
          <a:noFill/>
          <a:ln>
            <a:noFill/>
          </a:ln>
        </p:spPr>
        <p:txBody>
          <a:bodyPr anchorCtr="0" anchor="t" bIns="68575" lIns="68575" spcFirstLastPara="1" rIns="68575" wrap="square" tIns="68575">
            <a:noAutofit/>
          </a:bodyPr>
          <a:lstStyle>
            <a:lvl1pPr lvl="0" rtl="0" algn="l">
              <a:lnSpc>
                <a:spcPct val="100000"/>
              </a:lnSpc>
              <a:spcBef>
                <a:spcPts val="0"/>
              </a:spcBef>
              <a:spcAft>
                <a:spcPts val="0"/>
              </a:spcAft>
              <a:buSzPts val="23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100"/>
              <a:buNone/>
              <a:defRPr/>
            </a:lvl2pPr>
            <a:lvl3pPr lvl="2" rtl="0" algn="l">
              <a:lnSpc>
                <a:spcPct val="100000"/>
              </a:lnSpc>
              <a:spcBef>
                <a:spcPts val="0"/>
              </a:spcBef>
              <a:spcAft>
                <a:spcPts val="0"/>
              </a:spcAft>
              <a:buSzPts val="2100"/>
              <a:buNone/>
              <a:defRPr/>
            </a:lvl3pPr>
            <a:lvl4pPr lvl="3" rtl="0" algn="l">
              <a:lnSpc>
                <a:spcPct val="100000"/>
              </a:lnSpc>
              <a:spcBef>
                <a:spcPts val="0"/>
              </a:spcBef>
              <a:spcAft>
                <a:spcPts val="0"/>
              </a:spcAft>
              <a:buSzPts val="2100"/>
              <a:buNone/>
              <a:defRPr/>
            </a:lvl4pPr>
            <a:lvl5pPr lvl="4" rtl="0" algn="l">
              <a:lnSpc>
                <a:spcPct val="100000"/>
              </a:lnSpc>
              <a:spcBef>
                <a:spcPts val="0"/>
              </a:spcBef>
              <a:spcAft>
                <a:spcPts val="0"/>
              </a:spcAft>
              <a:buSzPts val="2100"/>
              <a:buNone/>
              <a:defRPr/>
            </a:lvl5pPr>
            <a:lvl6pPr lvl="5" rtl="0" algn="l">
              <a:lnSpc>
                <a:spcPct val="100000"/>
              </a:lnSpc>
              <a:spcBef>
                <a:spcPts val="0"/>
              </a:spcBef>
              <a:spcAft>
                <a:spcPts val="0"/>
              </a:spcAft>
              <a:buSzPts val="2100"/>
              <a:buNone/>
              <a:defRPr/>
            </a:lvl6pPr>
            <a:lvl7pPr lvl="6" rtl="0" algn="l">
              <a:lnSpc>
                <a:spcPct val="100000"/>
              </a:lnSpc>
              <a:spcBef>
                <a:spcPts val="0"/>
              </a:spcBef>
              <a:spcAft>
                <a:spcPts val="0"/>
              </a:spcAft>
              <a:buSzPts val="2100"/>
              <a:buNone/>
              <a:defRPr/>
            </a:lvl7pPr>
            <a:lvl8pPr lvl="7" rtl="0" algn="l">
              <a:lnSpc>
                <a:spcPct val="100000"/>
              </a:lnSpc>
              <a:spcBef>
                <a:spcPts val="0"/>
              </a:spcBef>
              <a:spcAft>
                <a:spcPts val="0"/>
              </a:spcAft>
              <a:buSzPts val="2100"/>
              <a:buNone/>
              <a:defRPr/>
            </a:lvl8pPr>
            <a:lvl9pPr lvl="8" rtl="0" algn="l">
              <a:lnSpc>
                <a:spcPct val="100000"/>
              </a:lnSpc>
              <a:spcBef>
                <a:spcPts val="0"/>
              </a:spcBef>
              <a:spcAft>
                <a:spcPts val="0"/>
              </a:spcAft>
              <a:buSzPts val="2100"/>
              <a:buNone/>
              <a:defRPr/>
            </a:lvl9pPr>
          </a:lstStyle>
          <a:p/>
        </p:txBody>
      </p:sp>
      <p:sp>
        <p:nvSpPr>
          <p:cNvPr id="97" name="Google Shape;97;p19"/>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1 1">
  <p:cSld name="Title and Image (Light) 1">
    <p:spTree>
      <p:nvGrpSpPr>
        <p:cNvPr id="98" name="Shape 98"/>
        <p:cNvGrpSpPr/>
        <p:nvPr/>
      </p:nvGrpSpPr>
      <p:grpSpPr>
        <a:xfrm>
          <a:off x="0" y="0"/>
          <a:ext cx="0" cy="0"/>
          <a:chOff x="0" y="0"/>
          <a:chExt cx="0" cy="0"/>
        </a:xfrm>
      </p:grpSpPr>
      <p:sp>
        <p:nvSpPr>
          <p:cNvPr id="99" name="Google Shape;99;p20"/>
          <p:cNvSpPr txBox="1"/>
          <p:nvPr>
            <p:ph type="title"/>
          </p:nvPr>
        </p:nvSpPr>
        <p:spPr>
          <a:xfrm>
            <a:off x="545250" y="219450"/>
            <a:ext cx="8049900" cy="585300"/>
          </a:xfrm>
          <a:prstGeom prst="rect">
            <a:avLst/>
          </a:prstGeom>
          <a:noFill/>
          <a:ln>
            <a:noFill/>
          </a:ln>
        </p:spPr>
        <p:txBody>
          <a:bodyPr anchorCtr="0" anchor="t" bIns="68575" lIns="68575" spcFirstLastPara="1" rIns="68575" wrap="square" tIns="68575">
            <a:noAutofit/>
          </a:bodyPr>
          <a:lstStyle>
            <a:lvl1pPr lvl="0" rtl="0" algn="l">
              <a:lnSpc>
                <a:spcPct val="100000"/>
              </a:lnSpc>
              <a:spcBef>
                <a:spcPts val="0"/>
              </a:spcBef>
              <a:spcAft>
                <a:spcPts val="0"/>
              </a:spcAft>
              <a:buSzPts val="23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100"/>
              <a:buNone/>
              <a:defRPr/>
            </a:lvl2pPr>
            <a:lvl3pPr lvl="2" rtl="0" algn="l">
              <a:lnSpc>
                <a:spcPct val="100000"/>
              </a:lnSpc>
              <a:spcBef>
                <a:spcPts val="0"/>
              </a:spcBef>
              <a:spcAft>
                <a:spcPts val="0"/>
              </a:spcAft>
              <a:buSzPts val="2100"/>
              <a:buNone/>
              <a:defRPr/>
            </a:lvl3pPr>
            <a:lvl4pPr lvl="3" rtl="0" algn="l">
              <a:lnSpc>
                <a:spcPct val="100000"/>
              </a:lnSpc>
              <a:spcBef>
                <a:spcPts val="0"/>
              </a:spcBef>
              <a:spcAft>
                <a:spcPts val="0"/>
              </a:spcAft>
              <a:buSzPts val="2100"/>
              <a:buNone/>
              <a:defRPr/>
            </a:lvl4pPr>
            <a:lvl5pPr lvl="4" rtl="0" algn="l">
              <a:lnSpc>
                <a:spcPct val="100000"/>
              </a:lnSpc>
              <a:spcBef>
                <a:spcPts val="0"/>
              </a:spcBef>
              <a:spcAft>
                <a:spcPts val="0"/>
              </a:spcAft>
              <a:buSzPts val="2100"/>
              <a:buNone/>
              <a:defRPr/>
            </a:lvl5pPr>
            <a:lvl6pPr lvl="5" rtl="0" algn="l">
              <a:lnSpc>
                <a:spcPct val="100000"/>
              </a:lnSpc>
              <a:spcBef>
                <a:spcPts val="0"/>
              </a:spcBef>
              <a:spcAft>
                <a:spcPts val="0"/>
              </a:spcAft>
              <a:buSzPts val="2100"/>
              <a:buNone/>
              <a:defRPr/>
            </a:lvl6pPr>
            <a:lvl7pPr lvl="6" rtl="0" algn="l">
              <a:lnSpc>
                <a:spcPct val="100000"/>
              </a:lnSpc>
              <a:spcBef>
                <a:spcPts val="0"/>
              </a:spcBef>
              <a:spcAft>
                <a:spcPts val="0"/>
              </a:spcAft>
              <a:buSzPts val="2100"/>
              <a:buNone/>
              <a:defRPr/>
            </a:lvl7pPr>
            <a:lvl8pPr lvl="7" rtl="0" algn="l">
              <a:lnSpc>
                <a:spcPct val="100000"/>
              </a:lnSpc>
              <a:spcBef>
                <a:spcPts val="0"/>
              </a:spcBef>
              <a:spcAft>
                <a:spcPts val="0"/>
              </a:spcAft>
              <a:buSzPts val="2100"/>
              <a:buNone/>
              <a:defRPr/>
            </a:lvl8pPr>
            <a:lvl9pPr lvl="8" rtl="0" algn="l">
              <a:lnSpc>
                <a:spcPct val="100000"/>
              </a:lnSpc>
              <a:spcBef>
                <a:spcPts val="0"/>
              </a:spcBef>
              <a:spcAft>
                <a:spcPts val="0"/>
              </a:spcAft>
              <a:buSzPts val="2100"/>
              <a:buNone/>
              <a:defRPr/>
            </a:lvl9pPr>
          </a:lstStyle>
          <a:p/>
        </p:txBody>
      </p:sp>
      <p:sp>
        <p:nvSpPr>
          <p:cNvPr id="100" name="Google Shape;100;p20"/>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101" name="Google Shape;101;p20"/>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1">
  <p:cSld name="BLANK_2">
    <p:spTree>
      <p:nvGrpSpPr>
        <p:cNvPr id="102" name="Shape 102"/>
        <p:cNvGrpSpPr/>
        <p:nvPr/>
      </p:nvGrpSpPr>
      <p:grpSpPr>
        <a:xfrm>
          <a:off x="0" y="0"/>
          <a:ext cx="0" cy="0"/>
          <a:chOff x="0" y="0"/>
          <a:chExt cx="0" cy="0"/>
        </a:xfrm>
      </p:grpSpPr>
      <p:sp>
        <p:nvSpPr>
          <p:cNvPr id="103" name="Google Shape;103;p21"/>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104" name="Google Shape;104;p21"/>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3">
    <p:spTree>
      <p:nvGrpSpPr>
        <p:cNvPr id="105"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gradFill>
          <a:gsLst>
            <a:gs pos="0">
              <a:schemeClr val="accent3"/>
            </a:gs>
            <a:gs pos="100000">
              <a:schemeClr val="accent1"/>
            </a:gs>
          </a:gsLst>
          <a:lin ang="8100019" scaled="0"/>
        </a:gradFill>
      </p:bgPr>
    </p:bg>
    <p:spTree>
      <p:nvGrpSpPr>
        <p:cNvPr id="110" name="Shape 110"/>
        <p:cNvGrpSpPr/>
        <p:nvPr/>
      </p:nvGrpSpPr>
      <p:grpSpPr>
        <a:xfrm>
          <a:off x="0" y="0"/>
          <a:ext cx="0" cy="0"/>
          <a:chOff x="0" y="0"/>
          <a:chExt cx="0" cy="0"/>
        </a:xfrm>
      </p:grpSpPr>
      <p:sp>
        <p:nvSpPr>
          <p:cNvPr id="111" name="Google Shape;111;p24"/>
          <p:cNvSpPr txBox="1"/>
          <p:nvPr>
            <p:ph type="title"/>
          </p:nvPr>
        </p:nvSpPr>
        <p:spPr>
          <a:xfrm>
            <a:off x="545200" y="1627625"/>
            <a:ext cx="8050200" cy="20526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40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2" name="Google Shape;112;p24"/>
          <p:cNvSpPr txBox="1"/>
          <p:nvPr>
            <p:ph idx="1" type="subTitle"/>
          </p:nvPr>
        </p:nvSpPr>
        <p:spPr>
          <a:xfrm>
            <a:off x="545250" y="3675900"/>
            <a:ext cx="8050200" cy="7926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solidFill>
                  <a:schemeClr val="lt1"/>
                </a:solidFill>
                <a:latin typeface="Source Sans Pro"/>
                <a:ea typeface="Source Sans Pro"/>
                <a:cs typeface="Source Sans Pro"/>
                <a:sym typeface="Source Sans Pro"/>
              </a:defRPr>
            </a:lvl1pPr>
            <a:lvl2pPr lvl="1" rtl="0">
              <a:spcBef>
                <a:spcPts val="1000"/>
              </a:spcBef>
              <a:spcAft>
                <a:spcPts val="0"/>
              </a:spcAft>
              <a:buNone/>
              <a:defRPr sz="2400">
                <a:latin typeface="Lexend Deca"/>
                <a:ea typeface="Lexend Deca"/>
                <a:cs typeface="Lexend Deca"/>
                <a:sym typeface="Lexend Deca"/>
              </a:defRPr>
            </a:lvl2pPr>
            <a:lvl3pPr lvl="2" rtl="0">
              <a:spcBef>
                <a:spcPts val="1000"/>
              </a:spcBef>
              <a:spcAft>
                <a:spcPts val="0"/>
              </a:spcAft>
              <a:buNone/>
              <a:defRPr sz="2400">
                <a:latin typeface="Lexend Deca"/>
                <a:ea typeface="Lexend Deca"/>
                <a:cs typeface="Lexend Deca"/>
                <a:sym typeface="Lexend Deca"/>
              </a:defRPr>
            </a:lvl3pPr>
            <a:lvl4pPr lvl="3" rtl="0">
              <a:spcBef>
                <a:spcPts val="1000"/>
              </a:spcBef>
              <a:spcAft>
                <a:spcPts val="0"/>
              </a:spcAft>
              <a:buNone/>
              <a:defRPr sz="2400">
                <a:latin typeface="Lexend Deca"/>
                <a:ea typeface="Lexend Deca"/>
                <a:cs typeface="Lexend Deca"/>
                <a:sym typeface="Lexend Deca"/>
              </a:defRPr>
            </a:lvl4pPr>
            <a:lvl5pPr lvl="4" rtl="0">
              <a:spcBef>
                <a:spcPts val="1000"/>
              </a:spcBef>
              <a:spcAft>
                <a:spcPts val="0"/>
              </a:spcAft>
              <a:buNone/>
              <a:defRPr sz="2400">
                <a:latin typeface="Lexend Deca"/>
                <a:ea typeface="Lexend Deca"/>
                <a:cs typeface="Lexend Deca"/>
                <a:sym typeface="Lexend Deca"/>
              </a:defRPr>
            </a:lvl5pPr>
            <a:lvl6pPr lvl="5" rtl="0">
              <a:spcBef>
                <a:spcPts val="1000"/>
              </a:spcBef>
              <a:spcAft>
                <a:spcPts val="0"/>
              </a:spcAft>
              <a:buNone/>
              <a:defRPr sz="2400">
                <a:latin typeface="Lexend Deca"/>
                <a:ea typeface="Lexend Deca"/>
                <a:cs typeface="Lexend Deca"/>
                <a:sym typeface="Lexend Deca"/>
              </a:defRPr>
            </a:lvl6pPr>
            <a:lvl7pPr lvl="6" rtl="0">
              <a:spcBef>
                <a:spcPts val="1000"/>
              </a:spcBef>
              <a:spcAft>
                <a:spcPts val="0"/>
              </a:spcAft>
              <a:buNone/>
              <a:defRPr sz="2400">
                <a:latin typeface="Lexend Deca"/>
                <a:ea typeface="Lexend Deca"/>
                <a:cs typeface="Lexend Deca"/>
                <a:sym typeface="Lexend Deca"/>
              </a:defRPr>
            </a:lvl7pPr>
            <a:lvl8pPr lvl="7" rtl="0">
              <a:spcBef>
                <a:spcPts val="1000"/>
              </a:spcBef>
              <a:spcAft>
                <a:spcPts val="0"/>
              </a:spcAft>
              <a:buNone/>
              <a:defRPr sz="2400">
                <a:latin typeface="Lexend Deca"/>
                <a:ea typeface="Lexend Deca"/>
                <a:cs typeface="Lexend Deca"/>
                <a:sym typeface="Lexend Deca"/>
              </a:defRPr>
            </a:lvl8pPr>
            <a:lvl9pPr lvl="8" rtl="0">
              <a:spcBef>
                <a:spcPts val="1000"/>
              </a:spcBef>
              <a:spcAft>
                <a:spcPts val="1000"/>
              </a:spcAft>
              <a:buNone/>
              <a:defRPr sz="2400">
                <a:latin typeface="Lexend Deca"/>
                <a:ea typeface="Lexend Deca"/>
                <a:cs typeface="Lexend Deca"/>
                <a:sym typeface="Lexend Deca"/>
              </a:defRPr>
            </a:lvl9pPr>
          </a:lstStyle>
          <a:p/>
        </p:txBody>
      </p:sp>
      <p:pic>
        <p:nvPicPr>
          <p:cNvPr id="113" name="Google Shape;113;p24"/>
          <p:cNvPicPr preferRelativeResize="0"/>
          <p:nvPr/>
        </p:nvPicPr>
        <p:blipFill>
          <a:blip r:embed="rId2">
            <a:alphaModFix/>
          </a:blip>
          <a:stretch>
            <a:fillRect/>
          </a:stretch>
        </p:blipFill>
        <p:spPr>
          <a:xfrm>
            <a:off x="545200" y="1213375"/>
            <a:ext cx="1473997" cy="516900"/>
          </a:xfrm>
          <a:prstGeom prst="rect">
            <a:avLst/>
          </a:prstGeom>
          <a:noFill/>
          <a:ln>
            <a:noFill/>
          </a:ln>
        </p:spPr>
      </p:pic>
    </p:spTree>
  </p:cSld>
  <p:clrMapOvr>
    <a:masterClrMapping/>
  </p:clrMapOvr>
  <p:extLst>
    <p:ext uri="{DCECCB84-F9BA-43D5-87BE-67443E8EF086}">
      <p15:sldGuideLst>
        <p15:guide id="1" pos="343">
          <p15:clr>
            <a:srgbClr val="FA7B17"/>
          </p15:clr>
        </p15:guide>
        <p15:guide id="2" pos="5414">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_1">
    <p:bg>
      <p:bgPr>
        <a:solidFill>
          <a:schemeClr val="lt1"/>
        </a:solidFill>
      </p:bgPr>
    </p:bg>
    <p:spTree>
      <p:nvGrpSpPr>
        <p:cNvPr id="114" name="Shape 114"/>
        <p:cNvGrpSpPr/>
        <p:nvPr/>
      </p:nvGrpSpPr>
      <p:grpSpPr>
        <a:xfrm>
          <a:off x="0" y="0"/>
          <a:ext cx="0" cy="0"/>
          <a:chOff x="0" y="0"/>
          <a:chExt cx="0" cy="0"/>
        </a:xfrm>
      </p:grpSpPr>
      <p:sp>
        <p:nvSpPr>
          <p:cNvPr id="115" name="Google Shape;115;p25"/>
          <p:cNvSpPr txBox="1"/>
          <p:nvPr>
            <p:ph type="title"/>
          </p:nvPr>
        </p:nvSpPr>
        <p:spPr>
          <a:xfrm>
            <a:off x="685500" y="1627625"/>
            <a:ext cx="7909800" cy="20526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4800">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6" name="Google Shape;116;p25"/>
          <p:cNvSpPr txBox="1"/>
          <p:nvPr>
            <p:ph idx="1" type="subTitle"/>
          </p:nvPr>
        </p:nvSpPr>
        <p:spPr>
          <a:xfrm>
            <a:off x="685350" y="3675900"/>
            <a:ext cx="7909800" cy="7926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latin typeface="Source Sans Pro"/>
                <a:ea typeface="Source Sans Pro"/>
                <a:cs typeface="Source Sans Pro"/>
                <a:sym typeface="Source Sans Pro"/>
              </a:defRPr>
            </a:lvl1pPr>
            <a:lvl2pPr lvl="1" rtl="0">
              <a:spcBef>
                <a:spcPts val="1000"/>
              </a:spcBef>
              <a:spcAft>
                <a:spcPts val="0"/>
              </a:spcAft>
              <a:buNone/>
              <a:defRPr sz="2400">
                <a:latin typeface="Lexend Deca"/>
                <a:ea typeface="Lexend Deca"/>
                <a:cs typeface="Lexend Deca"/>
                <a:sym typeface="Lexend Deca"/>
              </a:defRPr>
            </a:lvl2pPr>
            <a:lvl3pPr lvl="2" rtl="0">
              <a:spcBef>
                <a:spcPts val="1000"/>
              </a:spcBef>
              <a:spcAft>
                <a:spcPts val="0"/>
              </a:spcAft>
              <a:buNone/>
              <a:defRPr sz="2400">
                <a:latin typeface="Lexend Deca"/>
                <a:ea typeface="Lexend Deca"/>
                <a:cs typeface="Lexend Deca"/>
                <a:sym typeface="Lexend Deca"/>
              </a:defRPr>
            </a:lvl3pPr>
            <a:lvl4pPr lvl="3" rtl="0">
              <a:spcBef>
                <a:spcPts val="1000"/>
              </a:spcBef>
              <a:spcAft>
                <a:spcPts val="0"/>
              </a:spcAft>
              <a:buNone/>
              <a:defRPr sz="2400">
                <a:latin typeface="Lexend Deca"/>
                <a:ea typeface="Lexend Deca"/>
                <a:cs typeface="Lexend Deca"/>
                <a:sym typeface="Lexend Deca"/>
              </a:defRPr>
            </a:lvl4pPr>
            <a:lvl5pPr lvl="4" rtl="0">
              <a:spcBef>
                <a:spcPts val="1000"/>
              </a:spcBef>
              <a:spcAft>
                <a:spcPts val="0"/>
              </a:spcAft>
              <a:buNone/>
              <a:defRPr sz="2400">
                <a:latin typeface="Lexend Deca"/>
                <a:ea typeface="Lexend Deca"/>
                <a:cs typeface="Lexend Deca"/>
                <a:sym typeface="Lexend Deca"/>
              </a:defRPr>
            </a:lvl5pPr>
            <a:lvl6pPr lvl="5" rtl="0">
              <a:spcBef>
                <a:spcPts val="1000"/>
              </a:spcBef>
              <a:spcAft>
                <a:spcPts val="0"/>
              </a:spcAft>
              <a:buNone/>
              <a:defRPr sz="2400">
                <a:latin typeface="Lexend Deca"/>
                <a:ea typeface="Lexend Deca"/>
                <a:cs typeface="Lexend Deca"/>
                <a:sym typeface="Lexend Deca"/>
              </a:defRPr>
            </a:lvl6pPr>
            <a:lvl7pPr lvl="6" rtl="0">
              <a:spcBef>
                <a:spcPts val="1000"/>
              </a:spcBef>
              <a:spcAft>
                <a:spcPts val="0"/>
              </a:spcAft>
              <a:buNone/>
              <a:defRPr sz="2400">
                <a:latin typeface="Lexend Deca"/>
                <a:ea typeface="Lexend Deca"/>
                <a:cs typeface="Lexend Deca"/>
                <a:sym typeface="Lexend Deca"/>
              </a:defRPr>
            </a:lvl7pPr>
            <a:lvl8pPr lvl="7" rtl="0">
              <a:spcBef>
                <a:spcPts val="1000"/>
              </a:spcBef>
              <a:spcAft>
                <a:spcPts val="0"/>
              </a:spcAft>
              <a:buNone/>
              <a:defRPr sz="2400">
                <a:latin typeface="Lexend Deca"/>
                <a:ea typeface="Lexend Deca"/>
                <a:cs typeface="Lexend Deca"/>
                <a:sym typeface="Lexend Deca"/>
              </a:defRPr>
            </a:lvl8pPr>
            <a:lvl9pPr lvl="8" rtl="0">
              <a:spcBef>
                <a:spcPts val="1000"/>
              </a:spcBef>
              <a:spcAft>
                <a:spcPts val="1000"/>
              </a:spcAft>
              <a:buNone/>
              <a:defRPr sz="2400">
                <a:latin typeface="Lexend Deca"/>
                <a:ea typeface="Lexend Deca"/>
                <a:cs typeface="Lexend Deca"/>
                <a:sym typeface="Lexend Deca"/>
              </a:defRPr>
            </a:lvl9pPr>
          </a:lstStyle>
          <a:p/>
        </p:txBody>
      </p:sp>
      <p:pic>
        <p:nvPicPr>
          <p:cNvPr id="117" name="Google Shape;117;p25"/>
          <p:cNvPicPr preferRelativeResize="0"/>
          <p:nvPr/>
        </p:nvPicPr>
        <p:blipFill>
          <a:blip r:embed="rId2">
            <a:alphaModFix/>
          </a:blip>
          <a:stretch>
            <a:fillRect/>
          </a:stretch>
        </p:blipFill>
        <p:spPr>
          <a:xfrm>
            <a:off x="292608" y="365760"/>
            <a:ext cx="944348" cy="35162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secHead">
  <p:cSld name="SECTION_HEADER">
    <p:bg>
      <p:bgPr>
        <a:gradFill>
          <a:gsLst>
            <a:gs pos="0">
              <a:schemeClr val="accent3"/>
            </a:gs>
            <a:gs pos="100000">
              <a:schemeClr val="accent1"/>
            </a:gs>
          </a:gsLst>
          <a:lin ang="8100019" scaled="0"/>
        </a:gradFill>
      </p:bgPr>
    </p:bg>
    <p:spTree>
      <p:nvGrpSpPr>
        <p:cNvPr id="118" name="Shape 118"/>
        <p:cNvGrpSpPr/>
        <p:nvPr/>
      </p:nvGrpSpPr>
      <p:grpSpPr>
        <a:xfrm>
          <a:off x="0" y="0"/>
          <a:ext cx="0" cy="0"/>
          <a:chOff x="0" y="0"/>
          <a:chExt cx="0" cy="0"/>
        </a:xfrm>
      </p:grpSpPr>
      <p:sp>
        <p:nvSpPr>
          <p:cNvPr id="119" name="Google Shape;119;p26"/>
          <p:cNvSpPr/>
          <p:nvPr/>
        </p:nvSpPr>
        <p:spPr>
          <a:xfrm>
            <a:off x="-4572000" y="51435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6"/>
          <p:cNvSpPr/>
          <p:nvPr/>
        </p:nvSpPr>
        <p:spPr>
          <a:xfrm>
            <a:off x="-4572000" y="-45720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6"/>
          <p:cNvSpPr/>
          <p:nvPr/>
        </p:nvSpPr>
        <p:spPr>
          <a:xfrm>
            <a:off x="-4572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6"/>
          <p:cNvSpPr/>
          <p:nvPr/>
        </p:nvSpPr>
        <p:spPr>
          <a:xfrm>
            <a:off x="9144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6"/>
          <p:cNvSpPr txBox="1"/>
          <p:nvPr>
            <p:ph type="title"/>
          </p:nvPr>
        </p:nvSpPr>
        <p:spPr>
          <a:xfrm>
            <a:off x="548700" y="1097275"/>
            <a:ext cx="3913500" cy="19263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36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4" name="Google Shape;124;p26"/>
          <p:cNvSpPr txBox="1"/>
          <p:nvPr>
            <p:ph idx="12" type="sldNum"/>
          </p:nvPr>
        </p:nvSpPr>
        <p:spPr>
          <a:xfrm>
            <a:off x="8375904" y="4700016"/>
            <a:ext cx="548700" cy="292500"/>
          </a:xfrm>
          <a:prstGeom prst="rect">
            <a:avLst/>
          </a:prstGeom>
          <a:noFill/>
          <a:ln>
            <a:noFill/>
          </a:ln>
        </p:spPr>
        <p:txBody>
          <a:bodyPr anchorCtr="0" anchor="t" bIns="91425" lIns="91425" spcFirstLastPara="1" rIns="91425" wrap="square" tIns="91425">
            <a:noAutofit/>
          </a:bodyPr>
          <a:lstStyle>
            <a:lvl1pPr lvl="0" rtl="0">
              <a:buNone/>
              <a:defRPr sz="1000">
                <a:solidFill>
                  <a:schemeClr val="lt1"/>
                </a:solidFill>
                <a:latin typeface="Montserrat Light"/>
                <a:ea typeface="Montserrat Light"/>
                <a:cs typeface="Montserrat Light"/>
                <a:sym typeface="Montserrat Light"/>
              </a:defRPr>
            </a:lvl1pPr>
            <a:lvl2pPr lvl="1" rtl="0">
              <a:buNone/>
              <a:defRPr sz="1000">
                <a:solidFill>
                  <a:schemeClr val="lt1"/>
                </a:solidFill>
                <a:latin typeface="Montserrat Light"/>
                <a:ea typeface="Montserrat Light"/>
                <a:cs typeface="Montserrat Light"/>
                <a:sym typeface="Montserrat Light"/>
              </a:defRPr>
            </a:lvl2pPr>
            <a:lvl3pPr lvl="2" rtl="0">
              <a:buNone/>
              <a:defRPr sz="1000">
                <a:solidFill>
                  <a:schemeClr val="lt1"/>
                </a:solidFill>
                <a:latin typeface="Montserrat Light"/>
                <a:ea typeface="Montserrat Light"/>
                <a:cs typeface="Montserrat Light"/>
                <a:sym typeface="Montserrat Light"/>
              </a:defRPr>
            </a:lvl3pPr>
            <a:lvl4pPr lvl="3" rtl="0">
              <a:buNone/>
              <a:defRPr sz="1000">
                <a:solidFill>
                  <a:schemeClr val="lt1"/>
                </a:solidFill>
                <a:latin typeface="Montserrat Light"/>
                <a:ea typeface="Montserrat Light"/>
                <a:cs typeface="Montserrat Light"/>
                <a:sym typeface="Montserrat Light"/>
              </a:defRPr>
            </a:lvl4pPr>
            <a:lvl5pPr lvl="4" rtl="0">
              <a:buNone/>
              <a:defRPr sz="1000">
                <a:solidFill>
                  <a:schemeClr val="lt1"/>
                </a:solidFill>
                <a:latin typeface="Montserrat Light"/>
                <a:ea typeface="Montserrat Light"/>
                <a:cs typeface="Montserrat Light"/>
                <a:sym typeface="Montserrat Light"/>
              </a:defRPr>
            </a:lvl5pPr>
            <a:lvl6pPr lvl="5" rtl="0">
              <a:buNone/>
              <a:defRPr sz="1000">
                <a:solidFill>
                  <a:schemeClr val="lt1"/>
                </a:solidFill>
                <a:latin typeface="Montserrat Light"/>
                <a:ea typeface="Montserrat Light"/>
                <a:cs typeface="Montserrat Light"/>
                <a:sym typeface="Montserrat Light"/>
              </a:defRPr>
            </a:lvl6pPr>
            <a:lvl7pPr lvl="6" rtl="0">
              <a:buNone/>
              <a:defRPr sz="1000">
                <a:solidFill>
                  <a:schemeClr val="lt1"/>
                </a:solidFill>
                <a:latin typeface="Montserrat Light"/>
                <a:ea typeface="Montserrat Light"/>
                <a:cs typeface="Montserrat Light"/>
                <a:sym typeface="Montserrat Light"/>
              </a:defRPr>
            </a:lvl7pPr>
            <a:lvl8pPr lvl="7" rtl="0">
              <a:buNone/>
              <a:defRPr sz="1000">
                <a:solidFill>
                  <a:schemeClr val="lt1"/>
                </a:solidFill>
                <a:latin typeface="Montserrat Light"/>
                <a:ea typeface="Montserrat Light"/>
                <a:cs typeface="Montserrat Light"/>
                <a:sym typeface="Montserrat Light"/>
              </a:defRPr>
            </a:lvl8pPr>
            <a:lvl9pPr lvl="8" rtl="0">
              <a:buNone/>
              <a:defRPr sz="1000">
                <a:solidFill>
                  <a:schemeClr val="lt1"/>
                </a:solidFill>
                <a:latin typeface="Montserrat Light"/>
                <a:ea typeface="Montserrat Light"/>
                <a:cs typeface="Montserrat Light"/>
                <a:sym typeface="Montserrat Light"/>
              </a:defRPr>
            </a:lvl9pPr>
          </a:lstStyle>
          <a:p>
            <a:pPr indent="0" lvl="0" marL="0" rtl="0" algn="l">
              <a:spcBef>
                <a:spcPts val="0"/>
              </a:spcBef>
              <a:spcAft>
                <a:spcPts val="0"/>
              </a:spcAft>
              <a:buNone/>
            </a:pPr>
            <a:fld id="{00000000-1234-1234-1234-123412341234}" type="slidenum">
              <a:rPr lang="en"/>
              <a:t>‹#›</a:t>
            </a:fld>
            <a:endParaRPr/>
          </a:p>
        </p:txBody>
      </p:sp>
      <p:sp>
        <p:nvSpPr>
          <p:cNvPr id="125" name="Google Shape;125;p26"/>
          <p:cNvSpPr txBox="1"/>
          <p:nvPr>
            <p:ph idx="1" type="body"/>
          </p:nvPr>
        </p:nvSpPr>
        <p:spPr>
          <a:xfrm>
            <a:off x="4791450" y="445138"/>
            <a:ext cx="3804000" cy="4263900"/>
          </a:xfrm>
          <a:prstGeom prst="rect">
            <a:avLst/>
          </a:prstGeom>
        </p:spPr>
        <p:txBody>
          <a:bodyPr anchorCtr="0" anchor="ctr" bIns="91425" lIns="91425" spcFirstLastPara="1" rIns="91425" wrap="square" tIns="91425">
            <a:noAutofit/>
          </a:bodyPr>
          <a:lstStyle>
            <a:lvl1pPr indent="-342900" lvl="0" marL="457200" rtl="0">
              <a:lnSpc>
                <a:spcPct val="100000"/>
              </a:lnSpc>
              <a:spcBef>
                <a:spcPts val="0"/>
              </a:spcBef>
              <a:spcAft>
                <a:spcPts val="0"/>
              </a:spcAft>
              <a:buClr>
                <a:schemeClr val="lt1"/>
              </a:buClr>
              <a:buSzPts val="1800"/>
              <a:buChar char="●"/>
              <a:defRPr>
                <a:solidFill>
                  <a:schemeClr val="lt1"/>
                </a:solidFill>
              </a:defRPr>
            </a:lvl1pPr>
            <a:lvl2pPr indent="-317500" lvl="1" marL="914400" rtl="0">
              <a:lnSpc>
                <a:spcPct val="100000"/>
              </a:lnSpc>
              <a:spcBef>
                <a:spcPts val="1000"/>
              </a:spcBef>
              <a:spcAft>
                <a:spcPts val="0"/>
              </a:spcAft>
              <a:buClr>
                <a:schemeClr val="lt1"/>
              </a:buClr>
              <a:buSzPts val="1400"/>
              <a:buChar char="○"/>
              <a:defRPr>
                <a:solidFill>
                  <a:schemeClr val="lt1"/>
                </a:solidFill>
              </a:defRPr>
            </a:lvl2pPr>
            <a:lvl3pPr indent="-304800" lvl="2" marL="1371600" rtl="0">
              <a:lnSpc>
                <a:spcPct val="100000"/>
              </a:lnSpc>
              <a:spcBef>
                <a:spcPts val="1000"/>
              </a:spcBef>
              <a:spcAft>
                <a:spcPts val="0"/>
              </a:spcAft>
              <a:buClr>
                <a:schemeClr val="lt1"/>
              </a:buClr>
              <a:buSzPts val="1200"/>
              <a:buChar char="●"/>
              <a:defRPr>
                <a:solidFill>
                  <a:schemeClr val="lt1"/>
                </a:solidFill>
              </a:defRPr>
            </a:lvl3pPr>
            <a:lvl4pPr indent="-292100" lvl="3" marL="1828800" rtl="0">
              <a:lnSpc>
                <a:spcPct val="100000"/>
              </a:lnSpc>
              <a:spcBef>
                <a:spcPts val="1000"/>
              </a:spcBef>
              <a:spcAft>
                <a:spcPts val="0"/>
              </a:spcAft>
              <a:buClr>
                <a:schemeClr val="lt1"/>
              </a:buClr>
              <a:buSzPts val="1000"/>
              <a:buChar char="○"/>
              <a:defRPr>
                <a:solidFill>
                  <a:schemeClr val="lt1"/>
                </a:solidFill>
              </a:defRPr>
            </a:lvl4pPr>
            <a:lvl5pPr indent="-292100" lvl="4" marL="2286000" rtl="0">
              <a:lnSpc>
                <a:spcPct val="100000"/>
              </a:lnSpc>
              <a:spcBef>
                <a:spcPts val="1000"/>
              </a:spcBef>
              <a:spcAft>
                <a:spcPts val="0"/>
              </a:spcAft>
              <a:buClr>
                <a:schemeClr val="lt1"/>
              </a:buClr>
              <a:buSzPts val="1000"/>
              <a:buChar char="●"/>
              <a:defRPr>
                <a:solidFill>
                  <a:schemeClr val="lt1"/>
                </a:solidFill>
              </a:defRPr>
            </a:lvl5pPr>
            <a:lvl6pPr indent="-292100" lvl="5" marL="2743200" rtl="0">
              <a:lnSpc>
                <a:spcPct val="100000"/>
              </a:lnSpc>
              <a:spcBef>
                <a:spcPts val="1000"/>
              </a:spcBef>
              <a:spcAft>
                <a:spcPts val="0"/>
              </a:spcAft>
              <a:buClr>
                <a:schemeClr val="lt1"/>
              </a:buClr>
              <a:buSzPts val="1000"/>
              <a:buChar char="○"/>
              <a:defRPr>
                <a:solidFill>
                  <a:schemeClr val="lt1"/>
                </a:solidFill>
              </a:defRPr>
            </a:lvl6pPr>
            <a:lvl7pPr indent="-292100" lvl="6" marL="3200400" rtl="0">
              <a:lnSpc>
                <a:spcPct val="100000"/>
              </a:lnSpc>
              <a:spcBef>
                <a:spcPts val="1000"/>
              </a:spcBef>
              <a:spcAft>
                <a:spcPts val="0"/>
              </a:spcAft>
              <a:buClr>
                <a:schemeClr val="lt1"/>
              </a:buClr>
              <a:buSzPts val="1000"/>
              <a:buChar char="●"/>
              <a:defRPr>
                <a:solidFill>
                  <a:schemeClr val="lt1"/>
                </a:solidFill>
              </a:defRPr>
            </a:lvl7pPr>
            <a:lvl8pPr indent="-292100" lvl="7" marL="3657600" rtl="0">
              <a:lnSpc>
                <a:spcPct val="100000"/>
              </a:lnSpc>
              <a:spcBef>
                <a:spcPts val="1000"/>
              </a:spcBef>
              <a:spcAft>
                <a:spcPts val="0"/>
              </a:spcAft>
              <a:buClr>
                <a:schemeClr val="lt1"/>
              </a:buClr>
              <a:buSzPts val="1000"/>
              <a:buChar char="○"/>
              <a:defRPr>
                <a:solidFill>
                  <a:schemeClr val="lt1"/>
                </a:solidFill>
              </a:defRPr>
            </a:lvl8pPr>
            <a:lvl9pPr indent="-292100" lvl="8" marL="4114800" rtl="0">
              <a:lnSpc>
                <a:spcPct val="100000"/>
              </a:lnSpc>
              <a:spcBef>
                <a:spcPts val="1000"/>
              </a:spcBef>
              <a:spcAft>
                <a:spcPts val="1000"/>
              </a:spcAft>
              <a:buClr>
                <a:schemeClr val="lt1"/>
              </a:buClr>
              <a:buSzPts val="1000"/>
              <a:buChar char="●"/>
              <a:defRPr>
                <a:solidFill>
                  <a:schemeClr val="lt1"/>
                </a:solidFill>
              </a:defRPr>
            </a:lvl9pPr>
          </a:lstStyle>
          <a:p/>
        </p:txBody>
      </p:sp>
      <p:sp>
        <p:nvSpPr>
          <p:cNvPr id="126" name="Google Shape;126;p26"/>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Montserrat Light"/>
                <a:ea typeface="Montserrat Light"/>
                <a:cs typeface="Montserrat Light"/>
                <a:sym typeface="Montserrat Light"/>
              </a:rPr>
              <a:t>Confidential – Tamr, Inc.</a:t>
            </a:r>
            <a:endParaRPr sz="1000">
              <a:solidFill>
                <a:schemeClr val="lt1"/>
              </a:solidFill>
              <a:latin typeface="Montserrat Light"/>
              <a:ea typeface="Montserrat Light"/>
              <a:cs typeface="Montserrat Light"/>
              <a:sym typeface="Montserrat Light"/>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
    <p:bg>
      <p:bgPr>
        <a:gradFill>
          <a:gsLst>
            <a:gs pos="0">
              <a:schemeClr val="accent3"/>
            </a:gs>
            <a:gs pos="100000">
              <a:schemeClr val="accent1"/>
            </a:gs>
          </a:gsLst>
          <a:lin ang="8100019" scaled="0"/>
        </a:gradFill>
      </p:bgPr>
    </p:bg>
    <p:spTree>
      <p:nvGrpSpPr>
        <p:cNvPr id="127" name="Shape 127"/>
        <p:cNvGrpSpPr/>
        <p:nvPr/>
      </p:nvGrpSpPr>
      <p:grpSpPr>
        <a:xfrm>
          <a:off x="0" y="0"/>
          <a:ext cx="0" cy="0"/>
          <a:chOff x="0" y="0"/>
          <a:chExt cx="0" cy="0"/>
        </a:xfrm>
      </p:grpSpPr>
      <p:sp>
        <p:nvSpPr>
          <p:cNvPr id="128" name="Google Shape;128;p27"/>
          <p:cNvSpPr/>
          <p:nvPr/>
        </p:nvSpPr>
        <p:spPr>
          <a:xfrm>
            <a:off x="-4572000" y="51435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7"/>
          <p:cNvSpPr/>
          <p:nvPr/>
        </p:nvSpPr>
        <p:spPr>
          <a:xfrm>
            <a:off x="-4572000" y="-45720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7"/>
          <p:cNvSpPr/>
          <p:nvPr/>
        </p:nvSpPr>
        <p:spPr>
          <a:xfrm>
            <a:off x="-4572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7"/>
          <p:cNvSpPr/>
          <p:nvPr/>
        </p:nvSpPr>
        <p:spPr>
          <a:xfrm>
            <a:off x="9144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7"/>
          <p:cNvSpPr txBox="1"/>
          <p:nvPr>
            <p:ph type="title"/>
          </p:nvPr>
        </p:nvSpPr>
        <p:spPr>
          <a:xfrm>
            <a:off x="548700" y="1097275"/>
            <a:ext cx="8046600" cy="19203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36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33" name="Google Shape;133;p27"/>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
        <p:nvSpPr>
          <p:cNvPr id="134" name="Google Shape;134;p27"/>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
    <p:bg>
      <p:bgPr>
        <a:gradFill>
          <a:gsLst>
            <a:gs pos="0">
              <a:schemeClr val="accent3"/>
            </a:gs>
            <a:gs pos="100000">
              <a:schemeClr val="accent1"/>
            </a:gs>
          </a:gsLst>
          <a:lin ang="8100019" scaled="0"/>
        </a:gradFill>
      </p:bgPr>
    </p:bg>
    <p:spTree>
      <p:nvGrpSpPr>
        <p:cNvPr id="135" name="Shape 135"/>
        <p:cNvGrpSpPr/>
        <p:nvPr/>
      </p:nvGrpSpPr>
      <p:grpSpPr>
        <a:xfrm>
          <a:off x="0" y="0"/>
          <a:ext cx="0" cy="0"/>
          <a:chOff x="0" y="0"/>
          <a:chExt cx="0" cy="0"/>
        </a:xfrm>
      </p:grpSpPr>
      <p:sp>
        <p:nvSpPr>
          <p:cNvPr id="136" name="Google Shape;136;p28"/>
          <p:cNvSpPr/>
          <p:nvPr/>
        </p:nvSpPr>
        <p:spPr>
          <a:xfrm>
            <a:off x="-4572000" y="51435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8"/>
          <p:cNvSpPr/>
          <p:nvPr/>
        </p:nvSpPr>
        <p:spPr>
          <a:xfrm>
            <a:off x="-4572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8"/>
          <p:cNvSpPr/>
          <p:nvPr/>
        </p:nvSpPr>
        <p:spPr>
          <a:xfrm>
            <a:off x="9144000" y="-4572000"/>
            <a:ext cx="4572000" cy="1429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8"/>
          <p:cNvSpPr txBox="1"/>
          <p:nvPr>
            <p:ph type="title"/>
          </p:nvPr>
        </p:nvSpPr>
        <p:spPr>
          <a:xfrm>
            <a:off x="545200" y="1097275"/>
            <a:ext cx="8050200" cy="1913100"/>
          </a:xfrm>
          <a:prstGeom prst="rect">
            <a:avLst/>
          </a:prstGeom>
        </p:spPr>
        <p:txBody>
          <a:bodyPr anchorCtr="0" anchor="b" bIns="91425" lIns="91425" spcFirstLastPara="1" rIns="91425" wrap="square" tIns="91425">
            <a:noAutofit/>
          </a:bodyPr>
          <a:lstStyle>
            <a:lvl1pPr lvl="0" rtl="0">
              <a:spcBef>
                <a:spcPts val="0"/>
              </a:spcBef>
              <a:spcAft>
                <a:spcPts val="0"/>
              </a:spcAft>
              <a:buNone/>
              <a:defRPr b="1" sz="3600">
                <a:solidFill>
                  <a:schemeClr val="lt1"/>
                </a:solidFill>
                <a:latin typeface="Source Sans Pro"/>
                <a:ea typeface="Source Sans Pro"/>
                <a:cs typeface="Source Sans Pro"/>
                <a:sym typeface="Source Sans Pr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0" name="Google Shape;140;p28"/>
          <p:cNvSpPr/>
          <p:nvPr/>
        </p:nvSpPr>
        <p:spPr>
          <a:xfrm>
            <a:off x="-4572000" y="-4572000"/>
            <a:ext cx="18288000" cy="45720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8"/>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42" name="Google Shape;142;p28"/>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43" name="Shape 143"/>
        <p:cNvGrpSpPr/>
        <p:nvPr/>
      </p:nvGrpSpPr>
      <p:grpSpPr>
        <a:xfrm>
          <a:off x="0" y="0"/>
          <a:ext cx="0" cy="0"/>
          <a:chOff x="0" y="0"/>
          <a:chExt cx="0" cy="0"/>
        </a:xfrm>
      </p:grpSpPr>
      <p:sp>
        <p:nvSpPr>
          <p:cNvPr id="144" name="Google Shape;144;p29"/>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5" name="Google Shape;145;p29"/>
          <p:cNvSpPr txBox="1"/>
          <p:nvPr>
            <p:ph idx="1" type="body"/>
          </p:nvPr>
        </p:nvSpPr>
        <p:spPr>
          <a:xfrm>
            <a:off x="548800" y="877825"/>
            <a:ext cx="8046600" cy="3813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spcBef>
                <a:spcPts val="1000"/>
              </a:spcBef>
              <a:spcAft>
                <a:spcPts val="0"/>
              </a:spcAft>
              <a:buSzPts val="1200"/>
              <a:buFont typeface="Source Sans Pro"/>
              <a:buChar char="●"/>
              <a:defRPr>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146" name="Google Shape;146;p29"/>
          <p:cNvSpPr txBox="1"/>
          <p:nvPr/>
        </p:nvSpPr>
        <p:spPr>
          <a:xfrm>
            <a:off x="6826975" y="486175"/>
            <a:ext cx="11379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Tree>
  </p:cSld>
  <p:clrMapOvr>
    <a:masterClrMapping/>
  </p:clrMapOvr>
  <p:extLst>
    <p:ext uri="{DCECCB84-F9BA-43D5-87BE-67443E8EF086}">
      <p15:sldGuideLst>
        <p15:guide id="1" orient="horz" pos="2955">
          <p15:clr>
            <a:srgbClr val="FA7B17"/>
          </p15:clr>
        </p15:guide>
        <p15:guide id="2" pos="346">
          <p15:clr>
            <a:srgbClr val="FA7B17"/>
          </p15:clr>
        </p15:guide>
        <p15:guide id="3" pos="5414">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147" name="Shape 147"/>
        <p:cNvGrpSpPr/>
        <p:nvPr/>
      </p:nvGrpSpPr>
      <p:grpSpPr>
        <a:xfrm>
          <a:off x="0" y="0"/>
          <a:ext cx="0" cy="0"/>
          <a:chOff x="0" y="0"/>
          <a:chExt cx="0" cy="0"/>
        </a:xfrm>
      </p:grpSpPr>
      <p:sp>
        <p:nvSpPr>
          <p:cNvPr id="148" name="Google Shape;148;p30"/>
          <p:cNvSpPr txBox="1"/>
          <p:nvPr>
            <p:ph idx="1" type="body"/>
          </p:nvPr>
        </p:nvSpPr>
        <p:spPr>
          <a:xfrm>
            <a:off x="4681725" y="877825"/>
            <a:ext cx="39171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rtl="0">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149" name="Google Shape;149;p30"/>
          <p:cNvSpPr txBox="1"/>
          <p:nvPr>
            <p:ph idx="2" type="body"/>
          </p:nvPr>
        </p:nvSpPr>
        <p:spPr>
          <a:xfrm>
            <a:off x="545200" y="877825"/>
            <a:ext cx="39171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rtl="0">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
        <p:nvSpPr>
          <p:cNvPr id="150" name="Google Shape;150;p30"/>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1" name="Google Shape;151;p30"/>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p:cSld name="TITLE_AND_TWO_COLUMNS_2">
    <p:spTree>
      <p:nvGrpSpPr>
        <p:cNvPr id="152" name="Shape 152"/>
        <p:cNvGrpSpPr/>
        <p:nvPr/>
      </p:nvGrpSpPr>
      <p:grpSpPr>
        <a:xfrm>
          <a:off x="0" y="0"/>
          <a:ext cx="0" cy="0"/>
          <a:chOff x="0" y="0"/>
          <a:chExt cx="0" cy="0"/>
        </a:xfrm>
      </p:grpSpPr>
      <p:sp>
        <p:nvSpPr>
          <p:cNvPr id="153" name="Google Shape;153;p31"/>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4" name="Google Shape;154;p31"/>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155" name="Google Shape;155;p31"/>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Medium)">
  <p:cSld name="TITLE_AND_TWO_COLUMNS_2_1">
    <p:bg>
      <p:bgPr>
        <a:solidFill>
          <a:schemeClr val="accent1"/>
        </a:solidFill>
      </p:bgPr>
    </p:bg>
    <p:spTree>
      <p:nvGrpSpPr>
        <p:cNvPr id="156" name="Shape 156"/>
        <p:cNvGrpSpPr/>
        <p:nvPr/>
      </p:nvGrpSpPr>
      <p:grpSpPr>
        <a:xfrm>
          <a:off x="0" y="0"/>
          <a:ext cx="0" cy="0"/>
          <a:chOff x="0" y="0"/>
          <a:chExt cx="0" cy="0"/>
        </a:xfrm>
      </p:grpSpPr>
      <p:sp>
        <p:nvSpPr>
          <p:cNvPr id="157" name="Google Shape;157;p32"/>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8" name="Google Shape;158;p32"/>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59" name="Google Shape;159;p32"/>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Dark)">
  <p:cSld name="TITLE_AND_TWO_COLUMNS_2_1_1">
    <p:bg>
      <p:bgPr>
        <a:solidFill>
          <a:srgbClr val="343A43"/>
        </a:solidFill>
      </p:bgPr>
    </p:bg>
    <p:spTree>
      <p:nvGrpSpPr>
        <p:cNvPr id="160" name="Shape 160"/>
        <p:cNvGrpSpPr/>
        <p:nvPr/>
      </p:nvGrpSpPr>
      <p:grpSpPr>
        <a:xfrm>
          <a:off x="0" y="0"/>
          <a:ext cx="0" cy="0"/>
          <a:chOff x="0" y="0"/>
          <a:chExt cx="0" cy="0"/>
        </a:xfrm>
      </p:grpSpPr>
      <p:sp>
        <p:nvSpPr>
          <p:cNvPr id="161" name="Google Shape;161;p33"/>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2" name="Google Shape;162;p33"/>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63" name="Google Shape;163;p33"/>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Light)">
  <p:cSld name="TITLE_AND_TWO_COLUMNS_1">
    <p:spTree>
      <p:nvGrpSpPr>
        <p:cNvPr id="164" name="Shape 164"/>
        <p:cNvGrpSpPr/>
        <p:nvPr/>
      </p:nvGrpSpPr>
      <p:grpSpPr>
        <a:xfrm>
          <a:off x="0" y="0"/>
          <a:ext cx="0" cy="0"/>
          <a:chOff x="0" y="0"/>
          <a:chExt cx="0" cy="0"/>
        </a:xfrm>
      </p:grpSpPr>
      <p:sp>
        <p:nvSpPr>
          <p:cNvPr id="165" name="Google Shape;165;p34"/>
          <p:cNvSpPr txBox="1"/>
          <p:nvPr>
            <p:ph idx="1" type="body"/>
          </p:nvPr>
        </p:nvSpPr>
        <p:spPr>
          <a:xfrm>
            <a:off x="4681725" y="877825"/>
            <a:ext cx="39135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166" name="Google Shape;166;p34"/>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7" name="Google Shape;167;p34"/>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168" name="Google Shape;168;p34"/>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Medium)">
  <p:cSld name="TITLE_AND_TWO_COLUMNS_1_1">
    <p:bg>
      <p:bgPr>
        <a:solidFill>
          <a:schemeClr val="accent1"/>
        </a:solidFill>
      </p:bgPr>
    </p:bg>
    <p:spTree>
      <p:nvGrpSpPr>
        <p:cNvPr id="169" name="Shape 169"/>
        <p:cNvGrpSpPr/>
        <p:nvPr/>
      </p:nvGrpSpPr>
      <p:grpSpPr>
        <a:xfrm>
          <a:off x="0" y="0"/>
          <a:ext cx="0" cy="0"/>
          <a:chOff x="0" y="0"/>
          <a:chExt cx="0" cy="0"/>
        </a:xfrm>
      </p:grpSpPr>
      <p:sp>
        <p:nvSpPr>
          <p:cNvPr id="170" name="Google Shape;170;p35"/>
          <p:cNvSpPr txBox="1"/>
          <p:nvPr>
            <p:ph idx="1" type="body"/>
          </p:nvPr>
        </p:nvSpPr>
        <p:spPr>
          <a:xfrm>
            <a:off x="4681725" y="877825"/>
            <a:ext cx="39135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04800" lvl="2" marL="1371600" rtl="0">
              <a:spcBef>
                <a:spcPts val="1000"/>
              </a:spcBef>
              <a:spcAft>
                <a:spcPts val="0"/>
              </a:spcAft>
              <a:buClr>
                <a:schemeClr val="lt1"/>
              </a:buClr>
              <a:buSzPts val="1200"/>
              <a:buChar char="●"/>
              <a:defRPr sz="1200">
                <a:solidFill>
                  <a:schemeClr val="lt1"/>
                </a:solidFill>
              </a:defRPr>
            </a:lvl3pPr>
            <a:lvl4pPr indent="-292100" lvl="3" marL="1828800" rtl="0">
              <a:spcBef>
                <a:spcPts val="1000"/>
              </a:spcBef>
              <a:spcAft>
                <a:spcPts val="0"/>
              </a:spcAft>
              <a:buClr>
                <a:schemeClr val="lt1"/>
              </a:buClr>
              <a:buSzPts val="1000"/>
              <a:buChar char="○"/>
              <a:defRPr>
                <a:solidFill>
                  <a:schemeClr val="lt1"/>
                </a:solidFill>
              </a:defRPr>
            </a:lvl4pPr>
            <a:lvl5pPr indent="-292100" lvl="4" marL="2286000" rtl="0">
              <a:spcBef>
                <a:spcPts val="1000"/>
              </a:spcBef>
              <a:spcAft>
                <a:spcPts val="0"/>
              </a:spcAft>
              <a:buClr>
                <a:schemeClr val="lt1"/>
              </a:buClr>
              <a:buSzPts val="1000"/>
              <a:buChar char="●"/>
              <a:defRPr>
                <a:solidFill>
                  <a:schemeClr val="lt1"/>
                </a:solidFill>
              </a:defRPr>
            </a:lvl5pPr>
            <a:lvl6pPr indent="-292100" lvl="5" marL="2743200" rtl="0">
              <a:spcBef>
                <a:spcPts val="1000"/>
              </a:spcBef>
              <a:spcAft>
                <a:spcPts val="0"/>
              </a:spcAft>
              <a:buClr>
                <a:schemeClr val="lt1"/>
              </a:buClr>
              <a:buSzPts val="1000"/>
              <a:buChar char="○"/>
              <a:defRPr>
                <a:solidFill>
                  <a:schemeClr val="lt1"/>
                </a:solidFill>
              </a:defRPr>
            </a:lvl6pPr>
            <a:lvl7pPr indent="-292100" lvl="6" marL="3200400" rtl="0">
              <a:spcBef>
                <a:spcPts val="1000"/>
              </a:spcBef>
              <a:spcAft>
                <a:spcPts val="0"/>
              </a:spcAft>
              <a:buClr>
                <a:schemeClr val="lt1"/>
              </a:buClr>
              <a:buSzPts val="1000"/>
              <a:buChar char="●"/>
              <a:defRPr>
                <a:solidFill>
                  <a:schemeClr val="lt1"/>
                </a:solidFill>
              </a:defRPr>
            </a:lvl7pPr>
            <a:lvl8pPr indent="-292100" lvl="7" marL="3657600" rtl="0">
              <a:spcBef>
                <a:spcPts val="1000"/>
              </a:spcBef>
              <a:spcAft>
                <a:spcPts val="0"/>
              </a:spcAft>
              <a:buClr>
                <a:schemeClr val="lt1"/>
              </a:buClr>
              <a:buSzPts val="1000"/>
              <a:buChar char="○"/>
              <a:defRPr>
                <a:solidFill>
                  <a:schemeClr val="lt1"/>
                </a:solidFill>
              </a:defRPr>
            </a:lvl8pPr>
            <a:lvl9pPr indent="-292100" lvl="8" marL="4114800" rtl="0">
              <a:spcBef>
                <a:spcPts val="1000"/>
              </a:spcBef>
              <a:spcAft>
                <a:spcPts val="1000"/>
              </a:spcAft>
              <a:buClr>
                <a:schemeClr val="lt1"/>
              </a:buClr>
              <a:buSzPts val="1000"/>
              <a:buChar char="●"/>
              <a:defRPr>
                <a:solidFill>
                  <a:schemeClr val="lt1"/>
                </a:solidFill>
              </a:defRPr>
            </a:lvl9pPr>
          </a:lstStyle>
          <a:p/>
        </p:txBody>
      </p:sp>
      <p:sp>
        <p:nvSpPr>
          <p:cNvPr id="171" name="Google Shape;171;p35"/>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2" name="Google Shape;172;p35"/>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73" name="Google Shape;173;p35"/>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Dark)">
  <p:cSld name="TITLE_AND_TWO_COLUMNS_1_1_1">
    <p:bg>
      <p:bgPr>
        <a:solidFill>
          <a:srgbClr val="343A43"/>
        </a:solidFill>
      </p:bgPr>
    </p:bg>
    <p:spTree>
      <p:nvGrpSpPr>
        <p:cNvPr id="174" name="Shape 174"/>
        <p:cNvGrpSpPr/>
        <p:nvPr/>
      </p:nvGrpSpPr>
      <p:grpSpPr>
        <a:xfrm>
          <a:off x="0" y="0"/>
          <a:ext cx="0" cy="0"/>
          <a:chOff x="0" y="0"/>
          <a:chExt cx="0" cy="0"/>
        </a:xfrm>
      </p:grpSpPr>
      <p:sp>
        <p:nvSpPr>
          <p:cNvPr id="175" name="Google Shape;175;p36"/>
          <p:cNvSpPr txBox="1"/>
          <p:nvPr>
            <p:ph idx="1" type="body"/>
          </p:nvPr>
        </p:nvSpPr>
        <p:spPr>
          <a:xfrm>
            <a:off x="4681725" y="877825"/>
            <a:ext cx="3913500" cy="380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04800" lvl="2" marL="1371600" rtl="0">
              <a:spcBef>
                <a:spcPts val="1000"/>
              </a:spcBef>
              <a:spcAft>
                <a:spcPts val="0"/>
              </a:spcAft>
              <a:buClr>
                <a:schemeClr val="lt1"/>
              </a:buClr>
              <a:buSzPts val="1200"/>
              <a:buChar char="●"/>
              <a:defRPr sz="1200">
                <a:solidFill>
                  <a:schemeClr val="lt1"/>
                </a:solidFill>
              </a:defRPr>
            </a:lvl3pPr>
            <a:lvl4pPr indent="-292100" lvl="3" marL="1828800" rtl="0">
              <a:spcBef>
                <a:spcPts val="1000"/>
              </a:spcBef>
              <a:spcAft>
                <a:spcPts val="0"/>
              </a:spcAft>
              <a:buClr>
                <a:schemeClr val="lt1"/>
              </a:buClr>
              <a:buSzPts val="1000"/>
              <a:buChar char="○"/>
              <a:defRPr>
                <a:solidFill>
                  <a:schemeClr val="lt1"/>
                </a:solidFill>
              </a:defRPr>
            </a:lvl4pPr>
            <a:lvl5pPr indent="-292100" lvl="4" marL="2286000" rtl="0">
              <a:spcBef>
                <a:spcPts val="1000"/>
              </a:spcBef>
              <a:spcAft>
                <a:spcPts val="0"/>
              </a:spcAft>
              <a:buClr>
                <a:schemeClr val="lt1"/>
              </a:buClr>
              <a:buSzPts val="1000"/>
              <a:buChar char="●"/>
              <a:defRPr>
                <a:solidFill>
                  <a:schemeClr val="lt1"/>
                </a:solidFill>
              </a:defRPr>
            </a:lvl5pPr>
            <a:lvl6pPr indent="-292100" lvl="5" marL="2743200" rtl="0">
              <a:spcBef>
                <a:spcPts val="1000"/>
              </a:spcBef>
              <a:spcAft>
                <a:spcPts val="0"/>
              </a:spcAft>
              <a:buClr>
                <a:schemeClr val="lt1"/>
              </a:buClr>
              <a:buSzPts val="1000"/>
              <a:buChar char="○"/>
              <a:defRPr>
                <a:solidFill>
                  <a:schemeClr val="lt1"/>
                </a:solidFill>
              </a:defRPr>
            </a:lvl6pPr>
            <a:lvl7pPr indent="-292100" lvl="6" marL="3200400" rtl="0">
              <a:spcBef>
                <a:spcPts val="1000"/>
              </a:spcBef>
              <a:spcAft>
                <a:spcPts val="0"/>
              </a:spcAft>
              <a:buClr>
                <a:schemeClr val="lt1"/>
              </a:buClr>
              <a:buSzPts val="1000"/>
              <a:buChar char="●"/>
              <a:defRPr>
                <a:solidFill>
                  <a:schemeClr val="lt1"/>
                </a:solidFill>
              </a:defRPr>
            </a:lvl7pPr>
            <a:lvl8pPr indent="-292100" lvl="7" marL="3657600" rtl="0">
              <a:spcBef>
                <a:spcPts val="1000"/>
              </a:spcBef>
              <a:spcAft>
                <a:spcPts val="0"/>
              </a:spcAft>
              <a:buClr>
                <a:schemeClr val="lt1"/>
              </a:buClr>
              <a:buSzPts val="1000"/>
              <a:buChar char="○"/>
              <a:defRPr>
                <a:solidFill>
                  <a:schemeClr val="lt1"/>
                </a:solidFill>
              </a:defRPr>
            </a:lvl8pPr>
            <a:lvl9pPr indent="-292100" lvl="8" marL="4114800" rtl="0">
              <a:spcBef>
                <a:spcPts val="1000"/>
              </a:spcBef>
              <a:spcAft>
                <a:spcPts val="1000"/>
              </a:spcAft>
              <a:buClr>
                <a:schemeClr val="lt1"/>
              </a:buClr>
              <a:buSzPts val="1000"/>
              <a:buChar char="●"/>
              <a:defRPr>
                <a:solidFill>
                  <a:schemeClr val="lt1"/>
                </a:solidFill>
              </a:defRPr>
            </a:lvl9pPr>
          </a:lstStyle>
          <a:p/>
        </p:txBody>
      </p:sp>
      <p:sp>
        <p:nvSpPr>
          <p:cNvPr id="176" name="Google Shape;176;p36"/>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7" name="Google Shape;177;p36"/>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78" name="Google Shape;178;p36"/>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edium)">
  <p:cSld name="BLANK_1">
    <p:bg>
      <p:bgPr>
        <a:gradFill>
          <a:gsLst>
            <a:gs pos="0">
              <a:schemeClr val="accent3"/>
            </a:gs>
            <a:gs pos="100000">
              <a:schemeClr val="accent1"/>
            </a:gs>
          </a:gsLst>
          <a:lin ang="8100019" scaled="0"/>
        </a:gradFill>
      </p:bgPr>
    </p:bg>
    <p:spTree>
      <p:nvGrpSpPr>
        <p:cNvPr id="179" name="Shape 179"/>
        <p:cNvGrpSpPr/>
        <p:nvPr/>
      </p:nvGrpSpPr>
      <p:grpSpPr>
        <a:xfrm>
          <a:off x="0" y="0"/>
          <a:ext cx="0" cy="0"/>
          <a:chOff x="0" y="0"/>
          <a:chExt cx="0" cy="0"/>
        </a:xfrm>
      </p:grpSpPr>
      <p:sp>
        <p:nvSpPr>
          <p:cNvPr id="180" name="Google Shape;180;p37"/>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81" name="Google Shape;181;p37"/>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edium) 1">
  <p:cSld name="BLANK_1_2">
    <p:bg>
      <p:bgPr>
        <a:solidFill>
          <a:schemeClr val="accent1"/>
        </a:solidFill>
      </p:bgPr>
    </p:bg>
    <p:spTree>
      <p:nvGrpSpPr>
        <p:cNvPr id="182" name="Shape 182"/>
        <p:cNvGrpSpPr/>
        <p:nvPr/>
      </p:nvGrpSpPr>
      <p:grpSpPr>
        <a:xfrm>
          <a:off x="0" y="0"/>
          <a:ext cx="0" cy="0"/>
          <a:chOff x="0" y="0"/>
          <a:chExt cx="0" cy="0"/>
        </a:xfrm>
      </p:grpSpPr>
      <p:sp>
        <p:nvSpPr>
          <p:cNvPr id="183" name="Google Shape;183;p38"/>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
        <p:nvSpPr>
          <p:cNvPr id="184" name="Google Shape;184;p38"/>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_1">
    <p:bg>
      <p:bgPr>
        <a:solidFill>
          <a:srgbClr val="343A43"/>
        </a:solidFill>
      </p:bgPr>
    </p:bg>
    <p:spTree>
      <p:nvGrpSpPr>
        <p:cNvPr id="185" name="Shape 185"/>
        <p:cNvGrpSpPr/>
        <p:nvPr/>
      </p:nvGrpSpPr>
      <p:grpSpPr>
        <a:xfrm>
          <a:off x="0" y="0"/>
          <a:ext cx="0" cy="0"/>
          <a:chOff x="0" y="0"/>
          <a:chExt cx="0" cy="0"/>
        </a:xfrm>
      </p:grpSpPr>
      <p:sp>
        <p:nvSpPr>
          <p:cNvPr id="186" name="Google Shape;186;p39"/>
          <p:cNvSpPr txBox="1"/>
          <p:nvPr>
            <p:ph idx="12" type="sldNum"/>
          </p:nvPr>
        </p:nvSpPr>
        <p:spPr>
          <a:xfrm>
            <a:off x="8375904" y="4700016"/>
            <a:ext cx="548700" cy="292500"/>
          </a:xfrm>
          <a:prstGeom prst="rect">
            <a:avLst/>
          </a:prstGeom>
          <a:noFill/>
          <a:ln>
            <a:noFill/>
          </a:ln>
        </p:spPr>
        <p:txBody>
          <a:bodyPr anchorCtr="0" anchor="ctr" bIns="91425" lIns="91425" spcFirstLastPara="1" rIns="91425" wrap="square" tIns="91425">
            <a:noAutofit/>
          </a:bodyPr>
          <a:lstStyle>
            <a:lvl1pPr lvl="0" rtl="0">
              <a:buNone/>
              <a:defRPr sz="1100">
                <a:solidFill>
                  <a:schemeClr val="lt1"/>
                </a:solidFill>
                <a:latin typeface="Source Sans Pro"/>
                <a:ea typeface="Source Sans Pro"/>
                <a:cs typeface="Source Sans Pro"/>
                <a:sym typeface="Source Sans Pro"/>
              </a:defRPr>
            </a:lvl1pPr>
            <a:lvl2pPr lvl="1" rtl="0">
              <a:buNone/>
              <a:defRPr sz="1100">
                <a:solidFill>
                  <a:schemeClr val="lt1"/>
                </a:solidFill>
                <a:latin typeface="Source Sans Pro"/>
                <a:ea typeface="Source Sans Pro"/>
                <a:cs typeface="Source Sans Pro"/>
                <a:sym typeface="Source Sans Pro"/>
              </a:defRPr>
            </a:lvl2pPr>
            <a:lvl3pPr lvl="2" rtl="0">
              <a:buNone/>
              <a:defRPr sz="1100">
                <a:solidFill>
                  <a:schemeClr val="lt1"/>
                </a:solidFill>
                <a:latin typeface="Source Sans Pro"/>
                <a:ea typeface="Source Sans Pro"/>
                <a:cs typeface="Source Sans Pro"/>
                <a:sym typeface="Source Sans Pro"/>
              </a:defRPr>
            </a:lvl3pPr>
            <a:lvl4pPr lvl="3" rtl="0">
              <a:buNone/>
              <a:defRPr sz="1100">
                <a:solidFill>
                  <a:schemeClr val="lt1"/>
                </a:solidFill>
                <a:latin typeface="Source Sans Pro"/>
                <a:ea typeface="Source Sans Pro"/>
                <a:cs typeface="Source Sans Pro"/>
                <a:sym typeface="Source Sans Pro"/>
              </a:defRPr>
            </a:lvl4pPr>
            <a:lvl5pPr lvl="4" rtl="0">
              <a:buNone/>
              <a:defRPr sz="1100">
                <a:solidFill>
                  <a:schemeClr val="lt1"/>
                </a:solidFill>
                <a:latin typeface="Source Sans Pro"/>
                <a:ea typeface="Source Sans Pro"/>
                <a:cs typeface="Source Sans Pro"/>
                <a:sym typeface="Source Sans Pro"/>
              </a:defRPr>
            </a:lvl5pPr>
            <a:lvl6pPr lvl="5" rtl="0">
              <a:buNone/>
              <a:defRPr sz="1100">
                <a:solidFill>
                  <a:schemeClr val="lt1"/>
                </a:solidFill>
                <a:latin typeface="Source Sans Pro"/>
                <a:ea typeface="Source Sans Pro"/>
                <a:cs typeface="Source Sans Pro"/>
                <a:sym typeface="Source Sans Pro"/>
              </a:defRPr>
            </a:lvl6pPr>
            <a:lvl7pPr lvl="6" rtl="0">
              <a:buNone/>
              <a:defRPr sz="1100">
                <a:solidFill>
                  <a:schemeClr val="lt1"/>
                </a:solidFill>
                <a:latin typeface="Source Sans Pro"/>
                <a:ea typeface="Source Sans Pro"/>
                <a:cs typeface="Source Sans Pro"/>
                <a:sym typeface="Source Sans Pro"/>
              </a:defRPr>
            </a:lvl7pPr>
            <a:lvl8pPr lvl="7" rtl="0">
              <a:buNone/>
              <a:defRPr sz="1100">
                <a:solidFill>
                  <a:schemeClr val="lt1"/>
                </a:solidFill>
                <a:latin typeface="Source Sans Pro"/>
                <a:ea typeface="Source Sans Pro"/>
                <a:cs typeface="Source Sans Pro"/>
                <a:sym typeface="Source Sans Pro"/>
              </a:defRPr>
            </a:lvl8pPr>
            <a:lvl9pPr lvl="8" rtl="0">
              <a:buNone/>
              <a:defRPr sz="1100">
                <a:solidFill>
                  <a:schemeClr val="lt1"/>
                </a:solidFill>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
        <p:nvSpPr>
          <p:cNvPr id="187" name="Google Shape;187;p39"/>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Confidential – Tamr, Inc.</a:t>
            </a:r>
            <a:endParaRPr sz="1100">
              <a:solidFill>
                <a:schemeClr val="lt1"/>
              </a:solidFill>
              <a:latin typeface="Source Sans Pro"/>
              <a:ea typeface="Source Sans Pro"/>
              <a:cs typeface="Source Sans Pro"/>
              <a:sym typeface="Source Sans Pro"/>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188" name="Shape 188"/>
        <p:cNvGrpSpPr/>
        <p:nvPr/>
      </p:nvGrpSpPr>
      <p:grpSpPr>
        <a:xfrm>
          <a:off x="0" y="0"/>
          <a:ext cx="0" cy="0"/>
          <a:chOff x="0" y="0"/>
          <a:chExt cx="0" cy="0"/>
        </a:xfrm>
      </p:grpSpPr>
      <p:sp>
        <p:nvSpPr>
          <p:cNvPr id="189" name="Google Shape;189;p40"/>
          <p:cNvSpPr txBox="1"/>
          <p:nvPr>
            <p:ph type="title"/>
          </p:nvPr>
        </p:nvSpPr>
        <p:spPr>
          <a:xfrm>
            <a:off x="102925" y="97775"/>
            <a:ext cx="8937300" cy="829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latin typeface="Montserrat"/>
                <a:ea typeface="Montserrat"/>
                <a:cs typeface="Montserrat"/>
                <a:sym typeface="Montserrat"/>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90" name="Google Shape;190;p40"/>
          <p:cNvSpPr txBox="1"/>
          <p:nvPr>
            <p:ph idx="1" type="body"/>
          </p:nvPr>
        </p:nvSpPr>
        <p:spPr>
          <a:xfrm>
            <a:off x="102925" y="927575"/>
            <a:ext cx="8937300" cy="3643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spcBef>
                <a:spcPts val="1000"/>
              </a:spcBef>
              <a:spcAft>
                <a:spcPts val="0"/>
              </a:spcAft>
              <a:buSzPts val="1200"/>
              <a:buFont typeface="Source Sans Pro"/>
              <a:buChar char="●"/>
              <a:defRPr>
                <a:latin typeface="Source Sans Pro"/>
                <a:ea typeface="Source Sans Pro"/>
                <a:cs typeface="Source Sans Pro"/>
                <a:sym typeface="Source Sans Pro"/>
              </a:defRPr>
            </a:lvl3pPr>
            <a:lvl4pPr indent="-292100" lvl="3" marL="1828800" rtl="0">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1">
  <p:cSld name="Title and Image (Light)">
    <p:spTree>
      <p:nvGrpSpPr>
        <p:cNvPr id="191" name="Shape 191"/>
        <p:cNvGrpSpPr/>
        <p:nvPr/>
      </p:nvGrpSpPr>
      <p:grpSpPr>
        <a:xfrm>
          <a:off x="0" y="0"/>
          <a:ext cx="0" cy="0"/>
          <a:chOff x="0" y="0"/>
          <a:chExt cx="0" cy="0"/>
        </a:xfrm>
      </p:grpSpPr>
      <p:sp>
        <p:nvSpPr>
          <p:cNvPr id="192" name="Google Shape;192;p41"/>
          <p:cNvSpPr txBox="1"/>
          <p:nvPr>
            <p:ph type="title"/>
          </p:nvPr>
        </p:nvSpPr>
        <p:spPr>
          <a:xfrm>
            <a:off x="545250" y="219450"/>
            <a:ext cx="8049900" cy="585300"/>
          </a:xfrm>
          <a:prstGeom prst="rect">
            <a:avLst/>
          </a:prstGeom>
          <a:noFill/>
          <a:ln>
            <a:noFill/>
          </a:ln>
        </p:spPr>
        <p:txBody>
          <a:bodyPr anchorCtr="0" anchor="t" bIns="68575" lIns="68575" spcFirstLastPara="1" rIns="68575" wrap="square" tIns="68575">
            <a:noAutofit/>
          </a:bodyPr>
          <a:lstStyle>
            <a:lvl1pPr lvl="0" rtl="0" algn="l">
              <a:lnSpc>
                <a:spcPct val="100000"/>
              </a:lnSpc>
              <a:spcBef>
                <a:spcPts val="0"/>
              </a:spcBef>
              <a:spcAft>
                <a:spcPts val="0"/>
              </a:spcAft>
              <a:buSzPts val="23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100"/>
              <a:buNone/>
              <a:defRPr/>
            </a:lvl2pPr>
            <a:lvl3pPr lvl="2" rtl="0" algn="l">
              <a:lnSpc>
                <a:spcPct val="100000"/>
              </a:lnSpc>
              <a:spcBef>
                <a:spcPts val="0"/>
              </a:spcBef>
              <a:spcAft>
                <a:spcPts val="0"/>
              </a:spcAft>
              <a:buSzPts val="2100"/>
              <a:buNone/>
              <a:defRPr/>
            </a:lvl3pPr>
            <a:lvl4pPr lvl="3" rtl="0" algn="l">
              <a:lnSpc>
                <a:spcPct val="100000"/>
              </a:lnSpc>
              <a:spcBef>
                <a:spcPts val="0"/>
              </a:spcBef>
              <a:spcAft>
                <a:spcPts val="0"/>
              </a:spcAft>
              <a:buSzPts val="2100"/>
              <a:buNone/>
              <a:defRPr/>
            </a:lvl4pPr>
            <a:lvl5pPr lvl="4" rtl="0" algn="l">
              <a:lnSpc>
                <a:spcPct val="100000"/>
              </a:lnSpc>
              <a:spcBef>
                <a:spcPts val="0"/>
              </a:spcBef>
              <a:spcAft>
                <a:spcPts val="0"/>
              </a:spcAft>
              <a:buSzPts val="2100"/>
              <a:buNone/>
              <a:defRPr/>
            </a:lvl5pPr>
            <a:lvl6pPr lvl="5" rtl="0" algn="l">
              <a:lnSpc>
                <a:spcPct val="100000"/>
              </a:lnSpc>
              <a:spcBef>
                <a:spcPts val="0"/>
              </a:spcBef>
              <a:spcAft>
                <a:spcPts val="0"/>
              </a:spcAft>
              <a:buSzPts val="2100"/>
              <a:buNone/>
              <a:defRPr/>
            </a:lvl6pPr>
            <a:lvl7pPr lvl="6" rtl="0" algn="l">
              <a:lnSpc>
                <a:spcPct val="100000"/>
              </a:lnSpc>
              <a:spcBef>
                <a:spcPts val="0"/>
              </a:spcBef>
              <a:spcAft>
                <a:spcPts val="0"/>
              </a:spcAft>
              <a:buSzPts val="2100"/>
              <a:buNone/>
              <a:defRPr/>
            </a:lvl7pPr>
            <a:lvl8pPr lvl="7" rtl="0" algn="l">
              <a:lnSpc>
                <a:spcPct val="100000"/>
              </a:lnSpc>
              <a:spcBef>
                <a:spcPts val="0"/>
              </a:spcBef>
              <a:spcAft>
                <a:spcPts val="0"/>
              </a:spcAft>
              <a:buSzPts val="2100"/>
              <a:buNone/>
              <a:defRPr/>
            </a:lvl8pPr>
            <a:lvl9pPr lvl="8" rtl="0" algn="l">
              <a:lnSpc>
                <a:spcPct val="100000"/>
              </a:lnSpc>
              <a:spcBef>
                <a:spcPts val="0"/>
              </a:spcBef>
              <a:spcAft>
                <a:spcPts val="0"/>
              </a:spcAft>
              <a:buSzPts val="2100"/>
              <a:buNone/>
              <a:defRPr/>
            </a:lvl9pPr>
          </a:lstStyle>
          <a:p/>
        </p:txBody>
      </p:sp>
      <p:sp>
        <p:nvSpPr>
          <p:cNvPr id="193" name="Google Shape;193;p41"/>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194" name="Google Shape;194;p41"/>
          <p:cNvSpPr txBox="1"/>
          <p:nvPr>
            <p:ph idx="12" type="sldNum"/>
          </p:nvPr>
        </p:nvSpPr>
        <p:spPr>
          <a:xfrm>
            <a:off x="8458200" y="4724400"/>
            <a:ext cx="533400" cy="292500"/>
          </a:xfrm>
          <a:prstGeom prst="rect">
            <a:avLst/>
          </a:prstGeom>
          <a:noFill/>
          <a:ln>
            <a:noFill/>
          </a:ln>
        </p:spPr>
        <p:txBody>
          <a:bodyPr anchorCtr="0" anchor="t" bIns="68575" lIns="68575" spcFirstLastPara="1" rIns="68575" wrap="square" tIns="68575">
            <a:noAutofit/>
          </a:bodyPr>
          <a:lstStyle>
            <a:lvl1pPr indent="0" lvl="0"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1 1">
  <p:cSld name="Title and Image (Light) 1">
    <p:spTree>
      <p:nvGrpSpPr>
        <p:cNvPr id="195" name="Shape 195"/>
        <p:cNvGrpSpPr/>
        <p:nvPr/>
      </p:nvGrpSpPr>
      <p:grpSpPr>
        <a:xfrm>
          <a:off x="0" y="0"/>
          <a:ext cx="0" cy="0"/>
          <a:chOff x="0" y="0"/>
          <a:chExt cx="0" cy="0"/>
        </a:xfrm>
      </p:grpSpPr>
      <p:sp>
        <p:nvSpPr>
          <p:cNvPr id="196" name="Google Shape;196;p42"/>
          <p:cNvSpPr txBox="1"/>
          <p:nvPr>
            <p:ph type="title"/>
          </p:nvPr>
        </p:nvSpPr>
        <p:spPr>
          <a:xfrm>
            <a:off x="545250" y="219450"/>
            <a:ext cx="8049900" cy="585300"/>
          </a:xfrm>
          <a:prstGeom prst="rect">
            <a:avLst/>
          </a:prstGeom>
          <a:noFill/>
          <a:ln>
            <a:noFill/>
          </a:ln>
        </p:spPr>
        <p:txBody>
          <a:bodyPr anchorCtr="0" anchor="t" bIns="68575" lIns="68575" spcFirstLastPara="1" rIns="68575" wrap="square" tIns="68575">
            <a:noAutofit/>
          </a:bodyPr>
          <a:lstStyle>
            <a:lvl1pPr lvl="0" rtl="0" algn="l">
              <a:lnSpc>
                <a:spcPct val="100000"/>
              </a:lnSpc>
              <a:spcBef>
                <a:spcPts val="0"/>
              </a:spcBef>
              <a:spcAft>
                <a:spcPts val="0"/>
              </a:spcAft>
              <a:buSzPts val="23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100"/>
              <a:buNone/>
              <a:defRPr/>
            </a:lvl2pPr>
            <a:lvl3pPr lvl="2" rtl="0" algn="l">
              <a:lnSpc>
                <a:spcPct val="100000"/>
              </a:lnSpc>
              <a:spcBef>
                <a:spcPts val="0"/>
              </a:spcBef>
              <a:spcAft>
                <a:spcPts val="0"/>
              </a:spcAft>
              <a:buSzPts val="2100"/>
              <a:buNone/>
              <a:defRPr/>
            </a:lvl3pPr>
            <a:lvl4pPr lvl="3" rtl="0" algn="l">
              <a:lnSpc>
                <a:spcPct val="100000"/>
              </a:lnSpc>
              <a:spcBef>
                <a:spcPts val="0"/>
              </a:spcBef>
              <a:spcAft>
                <a:spcPts val="0"/>
              </a:spcAft>
              <a:buSzPts val="2100"/>
              <a:buNone/>
              <a:defRPr/>
            </a:lvl4pPr>
            <a:lvl5pPr lvl="4" rtl="0" algn="l">
              <a:lnSpc>
                <a:spcPct val="100000"/>
              </a:lnSpc>
              <a:spcBef>
                <a:spcPts val="0"/>
              </a:spcBef>
              <a:spcAft>
                <a:spcPts val="0"/>
              </a:spcAft>
              <a:buSzPts val="2100"/>
              <a:buNone/>
              <a:defRPr/>
            </a:lvl5pPr>
            <a:lvl6pPr lvl="5" rtl="0" algn="l">
              <a:lnSpc>
                <a:spcPct val="100000"/>
              </a:lnSpc>
              <a:spcBef>
                <a:spcPts val="0"/>
              </a:spcBef>
              <a:spcAft>
                <a:spcPts val="0"/>
              </a:spcAft>
              <a:buSzPts val="2100"/>
              <a:buNone/>
              <a:defRPr/>
            </a:lvl6pPr>
            <a:lvl7pPr lvl="6" rtl="0" algn="l">
              <a:lnSpc>
                <a:spcPct val="100000"/>
              </a:lnSpc>
              <a:spcBef>
                <a:spcPts val="0"/>
              </a:spcBef>
              <a:spcAft>
                <a:spcPts val="0"/>
              </a:spcAft>
              <a:buSzPts val="2100"/>
              <a:buNone/>
              <a:defRPr/>
            </a:lvl7pPr>
            <a:lvl8pPr lvl="7" rtl="0" algn="l">
              <a:lnSpc>
                <a:spcPct val="100000"/>
              </a:lnSpc>
              <a:spcBef>
                <a:spcPts val="0"/>
              </a:spcBef>
              <a:spcAft>
                <a:spcPts val="0"/>
              </a:spcAft>
              <a:buSzPts val="2100"/>
              <a:buNone/>
              <a:defRPr/>
            </a:lvl8pPr>
            <a:lvl9pPr lvl="8" rtl="0" algn="l">
              <a:lnSpc>
                <a:spcPct val="100000"/>
              </a:lnSpc>
              <a:spcBef>
                <a:spcPts val="0"/>
              </a:spcBef>
              <a:spcAft>
                <a:spcPts val="0"/>
              </a:spcAft>
              <a:buSzPts val="2100"/>
              <a:buNone/>
              <a:defRPr/>
            </a:lvl9pPr>
          </a:lstStyle>
          <a:p/>
        </p:txBody>
      </p:sp>
      <p:sp>
        <p:nvSpPr>
          <p:cNvPr id="197" name="Google Shape;197;p42"/>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198" name="Google Shape;198;p42"/>
          <p:cNvSpPr txBox="1"/>
          <p:nvPr>
            <p:ph idx="12" type="sldNum"/>
          </p:nvPr>
        </p:nvSpPr>
        <p:spPr>
          <a:xfrm>
            <a:off x="8458200" y="4724400"/>
            <a:ext cx="533400" cy="292500"/>
          </a:xfrm>
          <a:prstGeom prst="rect">
            <a:avLst/>
          </a:prstGeom>
          <a:noFill/>
          <a:ln>
            <a:noFill/>
          </a:ln>
        </p:spPr>
        <p:txBody>
          <a:bodyPr anchorCtr="0" anchor="t" bIns="68575" lIns="68575" spcFirstLastPara="1" rIns="68575" wrap="square" tIns="68575">
            <a:noAutofit/>
          </a:bodyPr>
          <a:lstStyle>
            <a:lvl1pPr indent="0" lvl="0"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8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1">
  <p:cSld name="BLANK_2">
    <p:spTree>
      <p:nvGrpSpPr>
        <p:cNvPr id="199" name="Shape 199"/>
        <p:cNvGrpSpPr/>
        <p:nvPr/>
      </p:nvGrpSpPr>
      <p:grpSpPr>
        <a:xfrm>
          <a:off x="0" y="0"/>
          <a:ext cx="0" cy="0"/>
          <a:chOff x="0" y="0"/>
          <a:chExt cx="0" cy="0"/>
        </a:xfrm>
      </p:grpSpPr>
      <p:sp>
        <p:nvSpPr>
          <p:cNvPr id="200" name="Google Shape;200;p43"/>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Source Sans Pro"/>
                <a:ea typeface="Source Sans Pro"/>
                <a:cs typeface="Source Sans Pro"/>
                <a:sym typeface="Source Sans Pro"/>
              </a:rPr>
              <a:t>Confidential – Tamr, Inc.</a:t>
            </a:r>
            <a:endParaRPr sz="1100">
              <a:solidFill>
                <a:schemeClr val="dk2"/>
              </a:solidFill>
              <a:latin typeface="Source Sans Pro"/>
              <a:ea typeface="Source Sans Pro"/>
              <a:cs typeface="Source Sans Pro"/>
              <a:sym typeface="Source Sans Pro"/>
            </a:endParaRPr>
          </a:p>
        </p:txBody>
      </p:sp>
      <p:sp>
        <p:nvSpPr>
          <p:cNvPr id="201" name="Google Shape;201;p43"/>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lvl="0" rtl="0">
              <a:buNone/>
              <a:defRPr sz="1100">
                <a:latin typeface="Source Sans Pro"/>
                <a:ea typeface="Source Sans Pro"/>
                <a:cs typeface="Source Sans Pro"/>
                <a:sym typeface="Source Sans Pro"/>
              </a:defRPr>
            </a:lvl1pPr>
            <a:lvl2pPr lvl="1" rtl="0">
              <a:buNone/>
              <a:defRPr sz="1100">
                <a:latin typeface="Source Sans Pro"/>
                <a:ea typeface="Source Sans Pro"/>
                <a:cs typeface="Source Sans Pro"/>
                <a:sym typeface="Source Sans Pro"/>
              </a:defRPr>
            </a:lvl2pPr>
            <a:lvl3pPr lvl="2" rtl="0">
              <a:buNone/>
              <a:defRPr sz="1100">
                <a:latin typeface="Source Sans Pro"/>
                <a:ea typeface="Source Sans Pro"/>
                <a:cs typeface="Source Sans Pro"/>
                <a:sym typeface="Source Sans Pro"/>
              </a:defRPr>
            </a:lvl3pPr>
            <a:lvl4pPr lvl="3" rtl="0">
              <a:buNone/>
              <a:defRPr sz="1100">
                <a:latin typeface="Source Sans Pro"/>
                <a:ea typeface="Source Sans Pro"/>
                <a:cs typeface="Source Sans Pro"/>
                <a:sym typeface="Source Sans Pro"/>
              </a:defRPr>
            </a:lvl4pPr>
            <a:lvl5pPr lvl="4" rtl="0">
              <a:buNone/>
              <a:defRPr sz="1100">
                <a:latin typeface="Source Sans Pro"/>
                <a:ea typeface="Source Sans Pro"/>
                <a:cs typeface="Source Sans Pro"/>
                <a:sym typeface="Source Sans Pro"/>
              </a:defRPr>
            </a:lvl5pPr>
            <a:lvl6pPr lvl="5" rtl="0">
              <a:buNone/>
              <a:defRPr sz="1100">
                <a:latin typeface="Source Sans Pro"/>
                <a:ea typeface="Source Sans Pro"/>
                <a:cs typeface="Source Sans Pro"/>
                <a:sym typeface="Source Sans Pro"/>
              </a:defRPr>
            </a:lvl6pPr>
            <a:lvl7pPr lvl="6" rtl="0">
              <a:buNone/>
              <a:defRPr sz="1100">
                <a:latin typeface="Source Sans Pro"/>
                <a:ea typeface="Source Sans Pro"/>
                <a:cs typeface="Source Sans Pro"/>
                <a:sym typeface="Source Sans Pro"/>
              </a:defRPr>
            </a:lvl7pPr>
            <a:lvl8pPr lvl="7" rtl="0">
              <a:buNone/>
              <a:defRPr sz="1100">
                <a:latin typeface="Source Sans Pro"/>
                <a:ea typeface="Source Sans Pro"/>
                <a:cs typeface="Source Sans Pro"/>
                <a:sym typeface="Source Sans Pro"/>
              </a:defRPr>
            </a:lvl8pPr>
            <a:lvl9pPr lvl="8" rtl="0">
              <a:buNone/>
              <a:defRPr sz="1100">
                <a:latin typeface="Source Sans Pro"/>
                <a:ea typeface="Source Sans Pro"/>
                <a:cs typeface="Source Sans Pro"/>
                <a:sym typeface="Source Sans Pr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02" name="Shape 202"/>
        <p:cNvGrpSpPr/>
        <p:nvPr/>
      </p:nvGrpSpPr>
      <p:grpSpPr>
        <a:xfrm>
          <a:off x="0" y="0"/>
          <a:ext cx="0" cy="0"/>
          <a:chOff x="0" y="0"/>
          <a:chExt cx="0" cy="0"/>
        </a:xfrm>
      </p:grpSpPr>
      <p:sp>
        <p:nvSpPr>
          <p:cNvPr id="203" name="Google Shape;203;p44"/>
          <p:cNvSpPr txBox="1"/>
          <p:nvPr>
            <p:ph type="title"/>
          </p:nvPr>
        </p:nvSpPr>
        <p:spPr>
          <a:xfrm>
            <a:off x="102925" y="97775"/>
            <a:ext cx="8937300" cy="829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400">
                <a:latin typeface="Montserrat"/>
                <a:ea typeface="Montserrat"/>
                <a:cs typeface="Montserrat"/>
                <a:sym typeface="Montserrat"/>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204" name="Shape 204"/>
        <p:cNvGrpSpPr/>
        <p:nvPr/>
      </p:nvGrpSpPr>
      <p:grpSpPr>
        <a:xfrm>
          <a:off x="0" y="0"/>
          <a:ext cx="0" cy="0"/>
          <a:chOff x="0" y="0"/>
          <a:chExt cx="0" cy="0"/>
        </a:xfrm>
      </p:grpSpPr>
      <p:sp>
        <p:nvSpPr>
          <p:cNvPr id="205" name="Google Shape;205;p45"/>
          <p:cNvSpPr txBox="1"/>
          <p:nvPr>
            <p:ph type="title"/>
          </p:nvPr>
        </p:nvSpPr>
        <p:spPr>
          <a:xfrm>
            <a:off x="102925" y="97775"/>
            <a:ext cx="8937300" cy="829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None/>
              <a:defRPr sz="2400">
                <a:latin typeface="Montserrat"/>
                <a:ea typeface="Montserrat"/>
                <a:cs typeface="Montserrat"/>
                <a:sym typeface="Montserrat"/>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6" name="Google Shape;206;p45"/>
          <p:cNvSpPr txBox="1"/>
          <p:nvPr>
            <p:ph idx="1" type="body"/>
          </p:nvPr>
        </p:nvSpPr>
        <p:spPr>
          <a:xfrm>
            <a:off x="102925" y="927575"/>
            <a:ext cx="4307100" cy="36432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Content">
  <p:cSld name="CUSTOM_2_3">
    <p:spTree>
      <p:nvGrpSpPr>
        <p:cNvPr id="207" name="Shape 207"/>
        <p:cNvGrpSpPr/>
        <p:nvPr/>
      </p:nvGrpSpPr>
      <p:grpSpPr>
        <a:xfrm>
          <a:off x="0" y="0"/>
          <a:ext cx="0" cy="0"/>
          <a:chOff x="0" y="0"/>
          <a:chExt cx="0" cy="0"/>
        </a:xfrm>
      </p:grpSpPr>
      <p:sp>
        <p:nvSpPr>
          <p:cNvPr id="208" name="Google Shape;208;p46"/>
          <p:cNvSpPr txBox="1"/>
          <p:nvPr>
            <p:ph idx="1" type="body"/>
          </p:nvPr>
        </p:nvSpPr>
        <p:spPr>
          <a:xfrm>
            <a:off x="457175" y="1536250"/>
            <a:ext cx="6153900" cy="3151800"/>
          </a:xfrm>
          <a:prstGeom prst="rect">
            <a:avLst/>
          </a:prstGeom>
        </p:spPr>
        <p:txBody>
          <a:bodyPr anchorCtr="0" anchor="t" bIns="91425" lIns="91425" spcFirstLastPara="1" rIns="91425" wrap="square" tIns="91425">
            <a:noAutofit/>
          </a:bodyPr>
          <a:lstStyle>
            <a:lvl1pPr indent="-355600" lvl="0" marL="457200" rtl="0">
              <a:spcBef>
                <a:spcPts val="0"/>
              </a:spcBef>
              <a:spcAft>
                <a:spcPts val="0"/>
              </a:spcAft>
              <a:buSzPts val="2000"/>
              <a:buChar char="●"/>
              <a:defRPr sz="2000"/>
            </a:lvl1pPr>
            <a:lvl2pPr indent="-355600" lvl="1" marL="914400" rtl="0">
              <a:spcBef>
                <a:spcPts val="2000"/>
              </a:spcBef>
              <a:spcAft>
                <a:spcPts val="0"/>
              </a:spcAft>
              <a:buSzPts val="2000"/>
              <a:buChar char="○"/>
              <a:defRPr sz="2000"/>
            </a:lvl2pPr>
            <a:lvl3pPr indent="-355600" lvl="2" marL="1371600" rtl="0">
              <a:spcBef>
                <a:spcPts val="2000"/>
              </a:spcBef>
              <a:spcAft>
                <a:spcPts val="0"/>
              </a:spcAft>
              <a:buSzPts val="2000"/>
              <a:buChar char="●"/>
              <a:defRPr sz="2000"/>
            </a:lvl3pPr>
            <a:lvl4pPr indent="-355600" lvl="3" marL="1828800" rtl="0">
              <a:spcBef>
                <a:spcPts val="2000"/>
              </a:spcBef>
              <a:spcAft>
                <a:spcPts val="0"/>
              </a:spcAft>
              <a:buSzPts val="2000"/>
              <a:buChar char="○"/>
              <a:defRPr sz="2000"/>
            </a:lvl4pPr>
            <a:lvl5pPr indent="-355600" lvl="4" marL="2286000" rtl="0">
              <a:spcBef>
                <a:spcPts val="2000"/>
              </a:spcBef>
              <a:spcAft>
                <a:spcPts val="0"/>
              </a:spcAft>
              <a:buSzPts val="2000"/>
              <a:buChar char="●"/>
              <a:defRPr sz="2000"/>
            </a:lvl5pPr>
            <a:lvl6pPr indent="-355600" lvl="5" marL="2743200" rtl="0">
              <a:spcBef>
                <a:spcPts val="2000"/>
              </a:spcBef>
              <a:spcAft>
                <a:spcPts val="0"/>
              </a:spcAft>
              <a:buSzPts val="2000"/>
              <a:buChar char="○"/>
              <a:defRPr sz="2000"/>
            </a:lvl6pPr>
            <a:lvl7pPr indent="-355600" lvl="6" marL="3200400" rtl="0">
              <a:spcBef>
                <a:spcPts val="2000"/>
              </a:spcBef>
              <a:spcAft>
                <a:spcPts val="0"/>
              </a:spcAft>
              <a:buSzPts val="2000"/>
              <a:buChar char="●"/>
              <a:defRPr sz="2000"/>
            </a:lvl7pPr>
            <a:lvl8pPr indent="-355600" lvl="7" marL="3657600" rtl="0">
              <a:spcBef>
                <a:spcPts val="2000"/>
              </a:spcBef>
              <a:spcAft>
                <a:spcPts val="0"/>
              </a:spcAft>
              <a:buSzPts val="2000"/>
              <a:buChar char="○"/>
              <a:defRPr sz="2000"/>
            </a:lvl8pPr>
            <a:lvl9pPr indent="-355600" lvl="8" marL="4114800" rtl="0">
              <a:spcBef>
                <a:spcPts val="2000"/>
              </a:spcBef>
              <a:spcAft>
                <a:spcPts val="2000"/>
              </a:spcAft>
              <a:buSzPts val="2000"/>
              <a:buChar char="●"/>
              <a:defRPr sz="2000"/>
            </a:lvl9pPr>
          </a:lstStyle>
          <a:p/>
        </p:txBody>
      </p:sp>
      <p:sp>
        <p:nvSpPr>
          <p:cNvPr id="209" name="Google Shape;209;p46"/>
          <p:cNvSpPr txBox="1"/>
          <p:nvPr>
            <p:ph type="title"/>
          </p:nvPr>
        </p:nvSpPr>
        <p:spPr>
          <a:xfrm>
            <a:off x="457175" y="460250"/>
            <a:ext cx="5459100" cy="999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4000">
                <a:latin typeface="Google Sans"/>
                <a:ea typeface="Google Sans"/>
                <a:cs typeface="Google Sans"/>
                <a:sym typeface="Google Sans"/>
              </a:defRPr>
            </a:lvl1pPr>
            <a:lvl2pPr lvl="1" rtl="0">
              <a:spcBef>
                <a:spcPts val="0"/>
              </a:spcBef>
              <a:spcAft>
                <a:spcPts val="0"/>
              </a:spcAft>
              <a:buNone/>
              <a:defRPr sz="3000">
                <a:latin typeface="Google Sans"/>
                <a:ea typeface="Google Sans"/>
                <a:cs typeface="Google Sans"/>
                <a:sym typeface="Google Sans"/>
              </a:defRPr>
            </a:lvl2pPr>
            <a:lvl3pPr lvl="2" rtl="0">
              <a:spcBef>
                <a:spcPts val="0"/>
              </a:spcBef>
              <a:spcAft>
                <a:spcPts val="0"/>
              </a:spcAft>
              <a:buNone/>
              <a:defRPr sz="3000">
                <a:latin typeface="Google Sans"/>
                <a:ea typeface="Google Sans"/>
                <a:cs typeface="Google Sans"/>
                <a:sym typeface="Google Sans"/>
              </a:defRPr>
            </a:lvl3pPr>
            <a:lvl4pPr lvl="3" rtl="0">
              <a:spcBef>
                <a:spcPts val="0"/>
              </a:spcBef>
              <a:spcAft>
                <a:spcPts val="0"/>
              </a:spcAft>
              <a:buNone/>
              <a:defRPr sz="3000">
                <a:latin typeface="Google Sans"/>
                <a:ea typeface="Google Sans"/>
                <a:cs typeface="Google Sans"/>
                <a:sym typeface="Google Sans"/>
              </a:defRPr>
            </a:lvl4pPr>
            <a:lvl5pPr lvl="4" rtl="0">
              <a:spcBef>
                <a:spcPts val="0"/>
              </a:spcBef>
              <a:spcAft>
                <a:spcPts val="0"/>
              </a:spcAft>
              <a:buNone/>
              <a:defRPr sz="3000">
                <a:latin typeface="Google Sans"/>
                <a:ea typeface="Google Sans"/>
                <a:cs typeface="Google Sans"/>
                <a:sym typeface="Google Sans"/>
              </a:defRPr>
            </a:lvl5pPr>
            <a:lvl6pPr lvl="5" rtl="0">
              <a:spcBef>
                <a:spcPts val="0"/>
              </a:spcBef>
              <a:spcAft>
                <a:spcPts val="0"/>
              </a:spcAft>
              <a:buNone/>
              <a:defRPr sz="3000">
                <a:latin typeface="Google Sans"/>
                <a:ea typeface="Google Sans"/>
                <a:cs typeface="Google Sans"/>
                <a:sym typeface="Google Sans"/>
              </a:defRPr>
            </a:lvl6pPr>
            <a:lvl7pPr lvl="6" rtl="0">
              <a:spcBef>
                <a:spcPts val="0"/>
              </a:spcBef>
              <a:spcAft>
                <a:spcPts val="0"/>
              </a:spcAft>
              <a:buNone/>
              <a:defRPr sz="3000">
                <a:latin typeface="Google Sans"/>
                <a:ea typeface="Google Sans"/>
                <a:cs typeface="Google Sans"/>
                <a:sym typeface="Google Sans"/>
              </a:defRPr>
            </a:lvl7pPr>
            <a:lvl8pPr lvl="7" rtl="0">
              <a:spcBef>
                <a:spcPts val="0"/>
              </a:spcBef>
              <a:spcAft>
                <a:spcPts val="0"/>
              </a:spcAft>
              <a:buNone/>
              <a:defRPr sz="3000">
                <a:latin typeface="Google Sans"/>
                <a:ea typeface="Google Sans"/>
                <a:cs typeface="Google Sans"/>
                <a:sym typeface="Google Sans"/>
              </a:defRPr>
            </a:lvl8pPr>
            <a:lvl9pPr lvl="8" rtl="0">
              <a:spcBef>
                <a:spcPts val="0"/>
              </a:spcBef>
              <a:spcAft>
                <a:spcPts val="0"/>
              </a:spcAft>
              <a:buNone/>
              <a:defRPr sz="3000">
                <a:latin typeface="Google Sans"/>
                <a:ea typeface="Google Sans"/>
                <a:cs typeface="Google Sans"/>
                <a:sym typeface="Google Sans"/>
              </a:defRPr>
            </a:lvl9pPr>
          </a:lstStyle>
          <a:p/>
        </p:txBody>
      </p:sp>
      <p:pic>
        <p:nvPicPr>
          <p:cNvPr id="210" name="Google Shape;210;p46"/>
          <p:cNvPicPr preferRelativeResize="0"/>
          <p:nvPr/>
        </p:nvPicPr>
        <p:blipFill>
          <a:blip r:embed="rId2">
            <a:alphaModFix/>
          </a:blip>
          <a:stretch>
            <a:fillRect/>
          </a:stretch>
        </p:blipFill>
        <p:spPr>
          <a:xfrm>
            <a:off x="8313988" y="4527445"/>
            <a:ext cx="373023" cy="30119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1">
  <p:cSld name="BLANK_2">
    <p:spTree>
      <p:nvGrpSpPr>
        <p:cNvPr id="215" name="Shape 215"/>
        <p:cNvGrpSpPr/>
        <p:nvPr/>
      </p:nvGrpSpPr>
      <p:grpSpPr>
        <a:xfrm>
          <a:off x="0" y="0"/>
          <a:ext cx="0" cy="0"/>
          <a:chOff x="0" y="0"/>
          <a:chExt cx="0" cy="0"/>
        </a:xfrm>
      </p:grpSpPr>
      <p:sp>
        <p:nvSpPr>
          <p:cNvPr id="216" name="Google Shape;216;p48"/>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17" name="Google Shape;217;p48"/>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 White">
  <p:cSld name="TITLE_1">
    <p:bg>
      <p:bgPr>
        <a:solidFill>
          <a:schemeClr val="lt1"/>
        </a:solidFill>
      </p:bgPr>
    </p:bg>
    <p:spTree>
      <p:nvGrpSpPr>
        <p:cNvPr id="218" name="Shape 218"/>
        <p:cNvGrpSpPr/>
        <p:nvPr/>
      </p:nvGrpSpPr>
      <p:grpSpPr>
        <a:xfrm>
          <a:off x="0" y="0"/>
          <a:ext cx="0" cy="0"/>
          <a:chOff x="0" y="0"/>
          <a:chExt cx="0" cy="0"/>
        </a:xfrm>
      </p:grpSpPr>
      <p:sp>
        <p:nvSpPr>
          <p:cNvPr id="219" name="Google Shape;219;p49"/>
          <p:cNvSpPr txBox="1"/>
          <p:nvPr>
            <p:ph type="title"/>
          </p:nvPr>
        </p:nvSpPr>
        <p:spPr>
          <a:xfrm>
            <a:off x="548700" y="1097280"/>
            <a:ext cx="8046600" cy="1828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b="1" sz="4000">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0" name="Google Shape;220;p49"/>
          <p:cNvSpPr txBox="1"/>
          <p:nvPr>
            <p:ph idx="1" type="subTitle"/>
          </p:nvPr>
        </p:nvSpPr>
        <p:spPr>
          <a:xfrm>
            <a:off x="548700" y="2834640"/>
            <a:ext cx="80466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800"/>
              <a:buNone/>
              <a:defRPr sz="2400">
                <a:latin typeface="Source Sans Pro"/>
                <a:ea typeface="Source Sans Pro"/>
                <a:cs typeface="Source Sans Pro"/>
                <a:sym typeface="Source Sans Pro"/>
              </a:defRPr>
            </a:lvl1pPr>
            <a:lvl2pPr lvl="1" rtl="0" algn="l">
              <a:lnSpc>
                <a:spcPct val="100000"/>
              </a:lnSpc>
              <a:spcBef>
                <a:spcPts val="1000"/>
              </a:spcBef>
              <a:spcAft>
                <a:spcPts val="0"/>
              </a:spcAft>
              <a:buSzPts val="1400"/>
              <a:buNone/>
              <a:defRPr sz="2400">
                <a:latin typeface="Lexend Deca"/>
                <a:ea typeface="Lexend Deca"/>
                <a:cs typeface="Lexend Deca"/>
                <a:sym typeface="Lexend Deca"/>
              </a:defRPr>
            </a:lvl2pPr>
            <a:lvl3pPr lvl="2" rtl="0" algn="l">
              <a:lnSpc>
                <a:spcPct val="100000"/>
              </a:lnSpc>
              <a:spcBef>
                <a:spcPts val="1000"/>
              </a:spcBef>
              <a:spcAft>
                <a:spcPts val="0"/>
              </a:spcAft>
              <a:buSzPts val="1200"/>
              <a:buNone/>
              <a:defRPr sz="2400">
                <a:latin typeface="Lexend Deca"/>
                <a:ea typeface="Lexend Deca"/>
                <a:cs typeface="Lexend Deca"/>
                <a:sym typeface="Lexend Deca"/>
              </a:defRPr>
            </a:lvl3pPr>
            <a:lvl4pPr lvl="3" rtl="0" algn="l">
              <a:lnSpc>
                <a:spcPct val="100000"/>
              </a:lnSpc>
              <a:spcBef>
                <a:spcPts val="1000"/>
              </a:spcBef>
              <a:spcAft>
                <a:spcPts val="0"/>
              </a:spcAft>
              <a:buSzPts val="1000"/>
              <a:buNone/>
              <a:defRPr sz="2400">
                <a:latin typeface="Lexend Deca"/>
                <a:ea typeface="Lexend Deca"/>
                <a:cs typeface="Lexend Deca"/>
                <a:sym typeface="Lexend Deca"/>
              </a:defRPr>
            </a:lvl4pPr>
            <a:lvl5pPr lvl="4" rtl="0" algn="l">
              <a:lnSpc>
                <a:spcPct val="100000"/>
              </a:lnSpc>
              <a:spcBef>
                <a:spcPts val="1000"/>
              </a:spcBef>
              <a:spcAft>
                <a:spcPts val="0"/>
              </a:spcAft>
              <a:buSzPts val="1000"/>
              <a:buNone/>
              <a:defRPr sz="2400">
                <a:latin typeface="Lexend Deca"/>
                <a:ea typeface="Lexend Deca"/>
                <a:cs typeface="Lexend Deca"/>
                <a:sym typeface="Lexend Deca"/>
              </a:defRPr>
            </a:lvl5pPr>
            <a:lvl6pPr lvl="5" rtl="0" algn="l">
              <a:lnSpc>
                <a:spcPct val="100000"/>
              </a:lnSpc>
              <a:spcBef>
                <a:spcPts val="1000"/>
              </a:spcBef>
              <a:spcAft>
                <a:spcPts val="0"/>
              </a:spcAft>
              <a:buSzPts val="1000"/>
              <a:buNone/>
              <a:defRPr sz="2400">
                <a:latin typeface="Lexend Deca"/>
                <a:ea typeface="Lexend Deca"/>
                <a:cs typeface="Lexend Deca"/>
                <a:sym typeface="Lexend Deca"/>
              </a:defRPr>
            </a:lvl6pPr>
            <a:lvl7pPr lvl="6" rtl="0" algn="l">
              <a:lnSpc>
                <a:spcPct val="100000"/>
              </a:lnSpc>
              <a:spcBef>
                <a:spcPts val="1000"/>
              </a:spcBef>
              <a:spcAft>
                <a:spcPts val="0"/>
              </a:spcAft>
              <a:buSzPts val="1000"/>
              <a:buNone/>
              <a:defRPr sz="2400">
                <a:latin typeface="Lexend Deca"/>
                <a:ea typeface="Lexend Deca"/>
                <a:cs typeface="Lexend Deca"/>
                <a:sym typeface="Lexend Deca"/>
              </a:defRPr>
            </a:lvl7pPr>
            <a:lvl8pPr lvl="7" rtl="0" algn="l">
              <a:lnSpc>
                <a:spcPct val="100000"/>
              </a:lnSpc>
              <a:spcBef>
                <a:spcPts val="1000"/>
              </a:spcBef>
              <a:spcAft>
                <a:spcPts val="0"/>
              </a:spcAft>
              <a:buSzPts val="1000"/>
              <a:buNone/>
              <a:defRPr sz="2400">
                <a:latin typeface="Lexend Deca"/>
                <a:ea typeface="Lexend Deca"/>
                <a:cs typeface="Lexend Deca"/>
                <a:sym typeface="Lexend Deca"/>
              </a:defRPr>
            </a:lvl8pPr>
            <a:lvl9pPr lvl="8" rtl="0" algn="l">
              <a:lnSpc>
                <a:spcPct val="100000"/>
              </a:lnSpc>
              <a:spcBef>
                <a:spcPts val="1000"/>
              </a:spcBef>
              <a:spcAft>
                <a:spcPts val="1000"/>
              </a:spcAft>
              <a:buSzPts val="1000"/>
              <a:buNone/>
              <a:defRPr sz="2400">
                <a:latin typeface="Lexend Deca"/>
                <a:ea typeface="Lexend Deca"/>
                <a:cs typeface="Lexend Deca"/>
                <a:sym typeface="Lexend Deca"/>
              </a:defRPr>
            </a:lvl9pPr>
          </a:lstStyle>
          <a:p/>
        </p:txBody>
      </p:sp>
      <p:pic>
        <p:nvPicPr>
          <p:cNvPr id="221" name="Google Shape;221;p49"/>
          <p:cNvPicPr preferRelativeResize="0"/>
          <p:nvPr/>
        </p:nvPicPr>
        <p:blipFill rotWithShape="1">
          <a:blip r:embed="rId2">
            <a:alphaModFix/>
          </a:blip>
          <a:srcRect b="0" l="0" r="0" t="0"/>
          <a:stretch/>
        </p:blipFill>
        <p:spPr>
          <a:xfrm>
            <a:off x="292608" y="365760"/>
            <a:ext cx="944350" cy="351627"/>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secHead">
  <p:cSld name="SECTION_HEADER">
    <p:bg>
      <p:bgPr>
        <a:gradFill>
          <a:gsLst>
            <a:gs pos="0">
              <a:schemeClr val="accent1"/>
            </a:gs>
            <a:gs pos="50000">
              <a:srgbClr val="089FFF"/>
            </a:gs>
            <a:gs pos="100000">
              <a:schemeClr val="accent3"/>
            </a:gs>
          </a:gsLst>
          <a:lin ang="18900044" scaled="0"/>
        </a:gradFill>
      </p:bgPr>
    </p:bg>
    <p:spTree>
      <p:nvGrpSpPr>
        <p:cNvPr id="222" name="Shape 222"/>
        <p:cNvGrpSpPr/>
        <p:nvPr/>
      </p:nvGrpSpPr>
      <p:grpSpPr>
        <a:xfrm>
          <a:off x="0" y="0"/>
          <a:ext cx="0" cy="0"/>
          <a:chOff x="0" y="0"/>
          <a:chExt cx="0" cy="0"/>
        </a:xfrm>
      </p:grpSpPr>
      <p:sp>
        <p:nvSpPr>
          <p:cNvPr id="223" name="Google Shape;223;p50"/>
          <p:cNvSpPr txBox="1"/>
          <p:nvPr>
            <p:ph type="title"/>
          </p:nvPr>
        </p:nvSpPr>
        <p:spPr>
          <a:xfrm>
            <a:off x="548700" y="1097275"/>
            <a:ext cx="3913500" cy="1926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b="1" sz="3600">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4" name="Google Shape;224;p50"/>
          <p:cNvSpPr txBox="1"/>
          <p:nvPr>
            <p:ph idx="1" type="body"/>
          </p:nvPr>
        </p:nvSpPr>
        <p:spPr>
          <a:xfrm>
            <a:off x="4791450" y="445138"/>
            <a:ext cx="3804000" cy="4263900"/>
          </a:xfrm>
          <a:prstGeom prst="rect">
            <a:avLst/>
          </a:prstGeom>
          <a:noFill/>
          <a:ln>
            <a:noFill/>
          </a:ln>
        </p:spPr>
        <p:txBody>
          <a:bodyPr anchorCtr="0" anchor="ctr" bIns="91425" lIns="91425" spcFirstLastPara="1" rIns="91425" wrap="square" tIns="91425">
            <a:noAutofit/>
          </a:bodyPr>
          <a:lstStyle>
            <a:lvl1pPr indent="-342900" lvl="0" marL="457200" rtl="0" algn="l">
              <a:lnSpc>
                <a:spcPct val="100000"/>
              </a:lnSpc>
              <a:spcBef>
                <a:spcPts val="0"/>
              </a:spcBef>
              <a:spcAft>
                <a:spcPts val="0"/>
              </a:spcAft>
              <a:buClr>
                <a:schemeClr val="lt1"/>
              </a:buClr>
              <a:buSzPts val="1800"/>
              <a:buChar char="●"/>
              <a:defRPr>
                <a:solidFill>
                  <a:schemeClr val="lt1"/>
                </a:solidFill>
              </a:defRPr>
            </a:lvl1pPr>
            <a:lvl2pPr indent="-317500" lvl="1" marL="914400" rtl="0" algn="l">
              <a:lnSpc>
                <a:spcPct val="100000"/>
              </a:lnSpc>
              <a:spcBef>
                <a:spcPts val="1000"/>
              </a:spcBef>
              <a:spcAft>
                <a:spcPts val="0"/>
              </a:spcAft>
              <a:buClr>
                <a:schemeClr val="lt1"/>
              </a:buClr>
              <a:buSzPts val="1400"/>
              <a:buChar char="○"/>
              <a:defRPr>
                <a:solidFill>
                  <a:schemeClr val="lt1"/>
                </a:solidFill>
              </a:defRPr>
            </a:lvl2pPr>
            <a:lvl3pPr indent="-304800" lvl="2" marL="1371600" rtl="0" algn="l">
              <a:lnSpc>
                <a:spcPct val="100000"/>
              </a:lnSpc>
              <a:spcBef>
                <a:spcPts val="1000"/>
              </a:spcBef>
              <a:spcAft>
                <a:spcPts val="0"/>
              </a:spcAft>
              <a:buClr>
                <a:schemeClr val="lt1"/>
              </a:buClr>
              <a:buSzPts val="1200"/>
              <a:buChar char="●"/>
              <a:defRPr>
                <a:solidFill>
                  <a:schemeClr val="lt1"/>
                </a:solidFill>
              </a:defRPr>
            </a:lvl3pPr>
            <a:lvl4pPr indent="-292100" lvl="3" marL="1828800" rtl="0" algn="l">
              <a:lnSpc>
                <a:spcPct val="100000"/>
              </a:lnSpc>
              <a:spcBef>
                <a:spcPts val="1000"/>
              </a:spcBef>
              <a:spcAft>
                <a:spcPts val="0"/>
              </a:spcAft>
              <a:buClr>
                <a:schemeClr val="lt1"/>
              </a:buClr>
              <a:buSzPts val="1000"/>
              <a:buChar char="○"/>
              <a:defRPr>
                <a:solidFill>
                  <a:schemeClr val="lt1"/>
                </a:solidFill>
              </a:defRPr>
            </a:lvl4pPr>
            <a:lvl5pPr indent="-292100" lvl="4" marL="2286000" rtl="0" algn="l">
              <a:lnSpc>
                <a:spcPct val="100000"/>
              </a:lnSpc>
              <a:spcBef>
                <a:spcPts val="1000"/>
              </a:spcBef>
              <a:spcAft>
                <a:spcPts val="0"/>
              </a:spcAft>
              <a:buClr>
                <a:schemeClr val="lt1"/>
              </a:buClr>
              <a:buSzPts val="1000"/>
              <a:buChar char="●"/>
              <a:defRPr>
                <a:solidFill>
                  <a:schemeClr val="lt1"/>
                </a:solidFill>
              </a:defRPr>
            </a:lvl5pPr>
            <a:lvl6pPr indent="-292100" lvl="5" marL="2743200" rtl="0" algn="l">
              <a:lnSpc>
                <a:spcPct val="100000"/>
              </a:lnSpc>
              <a:spcBef>
                <a:spcPts val="1000"/>
              </a:spcBef>
              <a:spcAft>
                <a:spcPts val="0"/>
              </a:spcAft>
              <a:buClr>
                <a:schemeClr val="lt1"/>
              </a:buClr>
              <a:buSzPts val="1000"/>
              <a:buChar char="○"/>
              <a:defRPr>
                <a:solidFill>
                  <a:schemeClr val="lt1"/>
                </a:solidFill>
              </a:defRPr>
            </a:lvl6pPr>
            <a:lvl7pPr indent="-292100" lvl="6" marL="3200400" rtl="0" algn="l">
              <a:lnSpc>
                <a:spcPct val="100000"/>
              </a:lnSpc>
              <a:spcBef>
                <a:spcPts val="1000"/>
              </a:spcBef>
              <a:spcAft>
                <a:spcPts val="0"/>
              </a:spcAft>
              <a:buClr>
                <a:schemeClr val="lt1"/>
              </a:buClr>
              <a:buSzPts val="1000"/>
              <a:buChar char="●"/>
              <a:defRPr>
                <a:solidFill>
                  <a:schemeClr val="lt1"/>
                </a:solidFill>
              </a:defRPr>
            </a:lvl7pPr>
            <a:lvl8pPr indent="-292100" lvl="7" marL="3657600" rtl="0" algn="l">
              <a:lnSpc>
                <a:spcPct val="100000"/>
              </a:lnSpc>
              <a:spcBef>
                <a:spcPts val="1000"/>
              </a:spcBef>
              <a:spcAft>
                <a:spcPts val="0"/>
              </a:spcAft>
              <a:buClr>
                <a:schemeClr val="lt1"/>
              </a:buClr>
              <a:buSzPts val="1000"/>
              <a:buChar char="○"/>
              <a:defRPr>
                <a:solidFill>
                  <a:schemeClr val="lt1"/>
                </a:solidFill>
              </a:defRPr>
            </a:lvl8pPr>
            <a:lvl9pPr indent="-292100" lvl="8" marL="4114800" rtl="0" algn="l">
              <a:lnSpc>
                <a:spcPct val="100000"/>
              </a:lnSpc>
              <a:spcBef>
                <a:spcPts val="1000"/>
              </a:spcBef>
              <a:spcAft>
                <a:spcPts val="1000"/>
              </a:spcAft>
              <a:buClr>
                <a:schemeClr val="lt1"/>
              </a:buClr>
              <a:buSzPts val="1000"/>
              <a:buChar char="●"/>
              <a:defRPr>
                <a:solidFill>
                  <a:schemeClr val="lt1"/>
                </a:solidFill>
              </a:defRPr>
            </a:lvl9pPr>
          </a:lstStyle>
          <a:p/>
        </p:txBody>
      </p:sp>
      <p:sp>
        <p:nvSpPr>
          <p:cNvPr id="225" name="Google Shape;225;p50"/>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226" name="Google Shape;226;p50"/>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
    <p:bg>
      <p:bgPr>
        <a:gradFill>
          <a:gsLst>
            <a:gs pos="0">
              <a:schemeClr val="accent1"/>
            </a:gs>
            <a:gs pos="50000">
              <a:srgbClr val="089FFF"/>
            </a:gs>
            <a:gs pos="100000">
              <a:schemeClr val="accent3"/>
            </a:gs>
          </a:gsLst>
          <a:lin ang="18900044" scaled="0"/>
        </a:gradFill>
      </p:bgPr>
    </p:bg>
    <p:spTree>
      <p:nvGrpSpPr>
        <p:cNvPr id="227" name="Shape 227"/>
        <p:cNvGrpSpPr/>
        <p:nvPr/>
      </p:nvGrpSpPr>
      <p:grpSpPr>
        <a:xfrm>
          <a:off x="0" y="0"/>
          <a:ext cx="0" cy="0"/>
          <a:chOff x="0" y="0"/>
          <a:chExt cx="0" cy="0"/>
        </a:xfrm>
      </p:grpSpPr>
      <p:sp>
        <p:nvSpPr>
          <p:cNvPr id="228" name="Google Shape;228;p51"/>
          <p:cNvSpPr txBox="1"/>
          <p:nvPr>
            <p:ph type="title"/>
          </p:nvPr>
        </p:nvSpPr>
        <p:spPr>
          <a:xfrm>
            <a:off x="548700" y="1097275"/>
            <a:ext cx="8046600" cy="1920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b="1" sz="3600">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9" name="Google Shape;229;p51"/>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51"/>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
    <p:bg>
      <p:bgPr>
        <a:gradFill>
          <a:gsLst>
            <a:gs pos="0">
              <a:schemeClr val="accent1"/>
            </a:gs>
            <a:gs pos="50000">
              <a:srgbClr val="089FFF"/>
            </a:gs>
            <a:gs pos="100000">
              <a:schemeClr val="accent3"/>
            </a:gs>
          </a:gsLst>
          <a:lin ang="18900044" scaled="0"/>
        </a:gradFill>
      </p:bgPr>
    </p:bg>
    <p:spTree>
      <p:nvGrpSpPr>
        <p:cNvPr id="231" name="Shape 231"/>
        <p:cNvGrpSpPr/>
        <p:nvPr/>
      </p:nvGrpSpPr>
      <p:grpSpPr>
        <a:xfrm>
          <a:off x="0" y="0"/>
          <a:ext cx="0" cy="0"/>
          <a:chOff x="0" y="0"/>
          <a:chExt cx="0" cy="0"/>
        </a:xfrm>
      </p:grpSpPr>
      <p:sp>
        <p:nvSpPr>
          <p:cNvPr id="232" name="Google Shape;232;p52"/>
          <p:cNvSpPr txBox="1"/>
          <p:nvPr>
            <p:ph type="title"/>
          </p:nvPr>
        </p:nvSpPr>
        <p:spPr>
          <a:xfrm>
            <a:off x="548700" y="1097275"/>
            <a:ext cx="8046600" cy="19203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b="1" sz="3600">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33" name="Google Shape;233;p52"/>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52"/>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Tree>
  </p:cSld>
  <p:clrMapOvr>
    <a:masterClrMapping/>
  </p:clrMapOvr>
  <p:extLst>
    <p:ext uri="{DCECCB84-F9BA-43D5-87BE-67443E8EF086}">
      <p15:sldGuideLst>
        <p15:guide id="1" pos="346">
          <p15:clr>
            <a:srgbClr val="FA7B17"/>
          </p15:clr>
        </p15:guide>
        <p15:guide id="2" pos="5414">
          <p15:clr>
            <a:srgbClr val="FA7B17"/>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235" name="Shape 235"/>
        <p:cNvGrpSpPr/>
        <p:nvPr/>
      </p:nvGrpSpPr>
      <p:grpSpPr>
        <a:xfrm>
          <a:off x="0" y="0"/>
          <a:ext cx="0" cy="0"/>
          <a:chOff x="0" y="0"/>
          <a:chExt cx="0" cy="0"/>
        </a:xfrm>
      </p:grpSpPr>
      <p:sp>
        <p:nvSpPr>
          <p:cNvPr id="236" name="Google Shape;236;p53"/>
          <p:cNvSpPr txBox="1"/>
          <p:nvPr>
            <p:ph idx="1" type="body"/>
          </p:nvPr>
        </p:nvSpPr>
        <p:spPr>
          <a:xfrm>
            <a:off x="4681725" y="877825"/>
            <a:ext cx="39171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37" name="Google Shape;237;p53"/>
          <p:cNvSpPr txBox="1"/>
          <p:nvPr>
            <p:ph idx="2" type="body"/>
          </p:nvPr>
        </p:nvSpPr>
        <p:spPr>
          <a:xfrm>
            <a:off x="545200" y="877825"/>
            <a:ext cx="39171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rtl="0" algn="l">
              <a:lnSpc>
                <a:spcPct val="100000"/>
              </a:lnSpc>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
        <p:nvSpPr>
          <p:cNvPr id="238" name="Google Shape;238;p53"/>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39" name="Google Shape;239;p53"/>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40" name="Google Shape;240;p53"/>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p:cSld name="TITLE_AND_TWO_COLUMNS_2">
    <p:spTree>
      <p:nvGrpSpPr>
        <p:cNvPr id="241" name="Shape 241"/>
        <p:cNvGrpSpPr/>
        <p:nvPr/>
      </p:nvGrpSpPr>
      <p:grpSpPr>
        <a:xfrm>
          <a:off x="0" y="0"/>
          <a:ext cx="0" cy="0"/>
          <a:chOff x="0" y="0"/>
          <a:chExt cx="0" cy="0"/>
        </a:xfrm>
      </p:grpSpPr>
      <p:sp>
        <p:nvSpPr>
          <p:cNvPr id="242" name="Google Shape;242;p54"/>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43" name="Google Shape;243;p54"/>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44" name="Google Shape;244;p54"/>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Dark)">
  <p:cSld name="TITLE_AND_TWO_COLUMNS_2_1_1">
    <p:bg>
      <p:bgPr>
        <a:solidFill>
          <a:srgbClr val="343A43"/>
        </a:solidFill>
      </p:bgPr>
    </p:bg>
    <p:spTree>
      <p:nvGrpSpPr>
        <p:cNvPr id="245" name="Shape 245"/>
        <p:cNvGrpSpPr/>
        <p:nvPr/>
      </p:nvGrpSpPr>
      <p:grpSpPr>
        <a:xfrm>
          <a:off x="0" y="0"/>
          <a:ext cx="0" cy="0"/>
          <a:chOff x="0" y="0"/>
          <a:chExt cx="0" cy="0"/>
        </a:xfrm>
      </p:grpSpPr>
      <p:sp>
        <p:nvSpPr>
          <p:cNvPr id="246" name="Google Shape;246;p55"/>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47" name="Google Shape;247;p55"/>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248" name="Google Shape;248;p55"/>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Light)">
  <p:cSld name="TITLE_AND_TWO_COLUMNS_1">
    <p:bg>
      <p:bgPr>
        <a:blipFill>
          <a:blip r:embed="rId2">
            <a:alphaModFix/>
          </a:blip>
          <a:stretch>
            <a:fillRect/>
          </a:stretch>
        </a:blipFill>
      </p:bgPr>
    </p:bg>
    <p:spTree>
      <p:nvGrpSpPr>
        <p:cNvPr id="249" name="Shape 249"/>
        <p:cNvGrpSpPr/>
        <p:nvPr/>
      </p:nvGrpSpPr>
      <p:grpSpPr>
        <a:xfrm>
          <a:off x="0" y="0"/>
          <a:ext cx="0" cy="0"/>
          <a:chOff x="0" y="0"/>
          <a:chExt cx="0" cy="0"/>
        </a:xfrm>
      </p:grpSpPr>
      <p:sp>
        <p:nvSpPr>
          <p:cNvPr id="250" name="Google Shape;250;p56"/>
          <p:cNvSpPr txBox="1"/>
          <p:nvPr>
            <p:ph idx="1" type="body"/>
          </p:nvPr>
        </p:nvSpPr>
        <p:spPr>
          <a:xfrm>
            <a:off x="4681725" y="877825"/>
            <a:ext cx="39135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51" name="Google Shape;251;p56"/>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2" name="Google Shape;252;p56"/>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53" name="Google Shape;253;p56"/>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Medium)">
  <p:cSld name="TITLE_AND_TWO_COLUMNS_1_1">
    <p:bg>
      <p:bgPr>
        <a:gradFill>
          <a:gsLst>
            <a:gs pos="0">
              <a:schemeClr val="accent1"/>
            </a:gs>
            <a:gs pos="50000">
              <a:srgbClr val="089FFF"/>
            </a:gs>
            <a:gs pos="100000">
              <a:schemeClr val="accent3"/>
            </a:gs>
          </a:gsLst>
          <a:lin ang="18900044" scaled="0"/>
        </a:gradFill>
      </p:bgPr>
    </p:bg>
    <p:spTree>
      <p:nvGrpSpPr>
        <p:cNvPr id="254" name="Shape 254"/>
        <p:cNvGrpSpPr/>
        <p:nvPr/>
      </p:nvGrpSpPr>
      <p:grpSpPr>
        <a:xfrm>
          <a:off x="0" y="0"/>
          <a:ext cx="0" cy="0"/>
          <a:chOff x="0" y="0"/>
          <a:chExt cx="0" cy="0"/>
        </a:xfrm>
      </p:grpSpPr>
      <p:sp>
        <p:nvSpPr>
          <p:cNvPr id="255" name="Google Shape;255;p57"/>
          <p:cNvSpPr txBox="1"/>
          <p:nvPr>
            <p:ph idx="1" type="body"/>
          </p:nvPr>
        </p:nvSpPr>
        <p:spPr>
          <a:xfrm>
            <a:off x="4681725" y="877825"/>
            <a:ext cx="39135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chemeClr val="lt1"/>
              </a:buClr>
              <a:buSzPts val="1800"/>
              <a:buChar char="●"/>
              <a:defRPr>
                <a:solidFill>
                  <a:schemeClr val="lt1"/>
                </a:solidFill>
              </a:defRPr>
            </a:lvl1pPr>
            <a:lvl2pPr indent="-317500" lvl="1" marL="914400" rtl="0" algn="l">
              <a:lnSpc>
                <a:spcPct val="100000"/>
              </a:lnSpc>
              <a:spcBef>
                <a:spcPts val="1000"/>
              </a:spcBef>
              <a:spcAft>
                <a:spcPts val="0"/>
              </a:spcAft>
              <a:buClr>
                <a:schemeClr val="lt1"/>
              </a:buClr>
              <a:buSzPts val="1400"/>
              <a:buChar char="○"/>
              <a:defRPr>
                <a:solidFill>
                  <a:schemeClr val="lt1"/>
                </a:solidFill>
              </a:defRPr>
            </a:lvl2pPr>
            <a:lvl3pPr indent="-304800" lvl="2" marL="1371600" rtl="0" algn="l">
              <a:lnSpc>
                <a:spcPct val="100000"/>
              </a:lnSpc>
              <a:spcBef>
                <a:spcPts val="1000"/>
              </a:spcBef>
              <a:spcAft>
                <a:spcPts val="0"/>
              </a:spcAft>
              <a:buClr>
                <a:schemeClr val="lt1"/>
              </a:buClr>
              <a:buSzPts val="1200"/>
              <a:buChar char="●"/>
              <a:defRPr sz="1200">
                <a:solidFill>
                  <a:schemeClr val="lt1"/>
                </a:solidFill>
              </a:defRPr>
            </a:lvl3pPr>
            <a:lvl4pPr indent="-292100" lvl="3" marL="1828800" rtl="0" algn="l">
              <a:lnSpc>
                <a:spcPct val="100000"/>
              </a:lnSpc>
              <a:spcBef>
                <a:spcPts val="1000"/>
              </a:spcBef>
              <a:spcAft>
                <a:spcPts val="0"/>
              </a:spcAft>
              <a:buClr>
                <a:schemeClr val="lt1"/>
              </a:buClr>
              <a:buSzPts val="1000"/>
              <a:buChar char="○"/>
              <a:defRPr>
                <a:solidFill>
                  <a:schemeClr val="lt1"/>
                </a:solidFill>
              </a:defRPr>
            </a:lvl4pPr>
            <a:lvl5pPr indent="-292100" lvl="4" marL="2286000" rtl="0" algn="l">
              <a:lnSpc>
                <a:spcPct val="100000"/>
              </a:lnSpc>
              <a:spcBef>
                <a:spcPts val="1000"/>
              </a:spcBef>
              <a:spcAft>
                <a:spcPts val="0"/>
              </a:spcAft>
              <a:buClr>
                <a:schemeClr val="lt1"/>
              </a:buClr>
              <a:buSzPts val="1000"/>
              <a:buChar char="●"/>
              <a:defRPr>
                <a:solidFill>
                  <a:schemeClr val="lt1"/>
                </a:solidFill>
              </a:defRPr>
            </a:lvl5pPr>
            <a:lvl6pPr indent="-292100" lvl="5" marL="2743200" rtl="0" algn="l">
              <a:lnSpc>
                <a:spcPct val="100000"/>
              </a:lnSpc>
              <a:spcBef>
                <a:spcPts val="1000"/>
              </a:spcBef>
              <a:spcAft>
                <a:spcPts val="0"/>
              </a:spcAft>
              <a:buClr>
                <a:schemeClr val="lt1"/>
              </a:buClr>
              <a:buSzPts val="1000"/>
              <a:buChar char="○"/>
              <a:defRPr>
                <a:solidFill>
                  <a:schemeClr val="lt1"/>
                </a:solidFill>
              </a:defRPr>
            </a:lvl6pPr>
            <a:lvl7pPr indent="-292100" lvl="6" marL="3200400" rtl="0" algn="l">
              <a:lnSpc>
                <a:spcPct val="100000"/>
              </a:lnSpc>
              <a:spcBef>
                <a:spcPts val="1000"/>
              </a:spcBef>
              <a:spcAft>
                <a:spcPts val="0"/>
              </a:spcAft>
              <a:buClr>
                <a:schemeClr val="lt1"/>
              </a:buClr>
              <a:buSzPts val="1000"/>
              <a:buChar char="●"/>
              <a:defRPr>
                <a:solidFill>
                  <a:schemeClr val="lt1"/>
                </a:solidFill>
              </a:defRPr>
            </a:lvl7pPr>
            <a:lvl8pPr indent="-292100" lvl="7" marL="3657600" rtl="0" algn="l">
              <a:lnSpc>
                <a:spcPct val="100000"/>
              </a:lnSpc>
              <a:spcBef>
                <a:spcPts val="1000"/>
              </a:spcBef>
              <a:spcAft>
                <a:spcPts val="0"/>
              </a:spcAft>
              <a:buClr>
                <a:schemeClr val="lt1"/>
              </a:buClr>
              <a:buSzPts val="1000"/>
              <a:buChar char="○"/>
              <a:defRPr>
                <a:solidFill>
                  <a:schemeClr val="lt1"/>
                </a:solidFill>
              </a:defRPr>
            </a:lvl8pPr>
            <a:lvl9pPr indent="-292100" lvl="8" marL="4114800" rtl="0" algn="l">
              <a:lnSpc>
                <a:spcPct val="100000"/>
              </a:lnSpc>
              <a:spcBef>
                <a:spcPts val="1000"/>
              </a:spcBef>
              <a:spcAft>
                <a:spcPts val="1000"/>
              </a:spcAft>
              <a:buClr>
                <a:schemeClr val="lt1"/>
              </a:buClr>
              <a:buSzPts val="1000"/>
              <a:buChar char="●"/>
              <a:defRPr>
                <a:solidFill>
                  <a:schemeClr val="lt1"/>
                </a:solidFill>
              </a:defRPr>
            </a:lvl9pPr>
          </a:lstStyle>
          <a:p/>
        </p:txBody>
      </p:sp>
      <p:sp>
        <p:nvSpPr>
          <p:cNvPr id="256" name="Google Shape;256;p57"/>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7" name="Google Shape;257;p57"/>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258" name="Google Shape;258;p57"/>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Dark)">
  <p:cSld name="TITLE_AND_TWO_COLUMNS_1_1_1">
    <p:bg>
      <p:bgPr>
        <a:solidFill>
          <a:srgbClr val="343A43"/>
        </a:solidFill>
      </p:bgPr>
    </p:bg>
    <p:spTree>
      <p:nvGrpSpPr>
        <p:cNvPr id="259" name="Shape 259"/>
        <p:cNvGrpSpPr/>
        <p:nvPr/>
      </p:nvGrpSpPr>
      <p:grpSpPr>
        <a:xfrm>
          <a:off x="0" y="0"/>
          <a:ext cx="0" cy="0"/>
          <a:chOff x="0" y="0"/>
          <a:chExt cx="0" cy="0"/>
        </a:xfrm>
      </p:grpSpPr>
      <p:sp>
        <p:nvSpPr>
          <p:cNvPr id="260" name="Google Shape;260;p58"/>
          <p:cNvSpPr txBox="1"/>
          <p:nvPr>
            <p:ph idx="1" type="body"/>
          </p:nvPr>
        </p:nvSpPr>
        <p:spPr>
          <a:xfrm>
            <a:off x="4681725" y="877825"/>
            <a:ext cx="39135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chemeClr val="lt1"/>
              </a:buClr>
              <a:buSzPts val="1800"/>
              <a:buChar char="●"/>
              <a:defRPr>
                <a:solidFill>
                  <a:schemeClr val="lt1"/>
                </a:solidFill>
              </a:defRPr>
            </a:lvl1pPr>
            <a:lvl2pPr indent="-317500" lvl="1" marL="914400" rtl="0" algn="l">
              <a:lnSpc>
                <a:spcPct val="100000"/>
              </a:lnSpc>
              <a:spcBef>
                <a:spcPts val="1000"/>
              </a:spcBef>
              <a:spcAft>
                <a:spcPts val="0"/>
              </a:spcAft>
              <a:buClr>
                <a:schemeClr val="lt1"/>
              </a:buClr>
              <a:buSzPts val="1400"/>
              <a:buChar char="○"/>
              <a:defRPr>
                <a:solidFill>
                  <a:schemeClr val="lt1"/>
                </a:solidFill>
              </a:defRPr>
            </a:lvl2pPr>
            <a:lvl3pPr indent="-304800" lvl="2" marL="1371600" rtl="0" algn="l">
              <a:lnSpc>
                <a:spcPct val="100000"/>
              </a:lnSpc>
              <a:spcBef>
                <a:spcPts val="1000"/>
              </a:spcBef>
              <a:spcAft>
                <a:spcPts val="0"/>
              </a:spcAft>
              <a:buClr>
                <a:schemeClr val="lt1"/>
              </a:buClr>
              <a:buSzPts val="1200"/>
              <a:buChar char="●"/>
              <a:defRPr sz="1200">
                <a:solidFill>
                  <a:schemeClr val="lt1"/>
                </a:solidFill>
              </a:defRPr>
            </a:lvl3pPr>
            <a:lvl4pPr indent="-292100" lvl="3" marL="1828800" rtl="0" algn="l">
              <a:lnSpc>
                <a:spcPct val="100000"/>
              </a:lnSpc>
              <a:spcBef>
                <a:spcPts val="1000"/>
              </a:spcBef>
              <a:spcAft>
                <a:spcPts val="0"/>
              </a:spcAft>
              <a:buClr>
                <a:schemeClr val="lt1"/>
              </a:buClr>
              <a:buSzPts val="1000"/>
              <a:buChar char="○"/>
              <a:defRPr>
                <a:solidFill>
                  <a:schemeClr val="lt1"/>
                </a:solidFill>
              </a:defRPr>
            </a:lvl4pPr>
            <a:lvl5pPr indent="-292100" lvl="4" marL="2286000" rtl="0" algn="l">
              <a:lnSpc>
                <a:spcPct val="100000"/>
              </a:lnSpc>
              <a:spcBef>
                <a:spcPts val="1000"/>
              </a:spcBef>
              <a:spcAft>
                <a:spcPts val="0"/>
              </a:spcAft>
              <a:buClr>
                <a:schemeClr val="lt1"/>
              </a:buClr>
              <a:buSzPts val="1000"/>
              <a:buChar char="●"/>
              <a:defRPr>
                <a:solidFill>
                  <a:schemeClr val="lt1"/>
                </a:solidFill>
              </a:defRPr>
            </a:lvl5pPr>
            <a:lvl6pPr indent="-292100" lvl="5" marL="2743200" rtl="0" algn="l">
              <a:lnSpc>
                <a:spcPct val="100000"/>
              </a:lnSpc>
              <a:spcBef>
                <a:spcPts val="1000"/>
              </a:spcBef>
              <a:spcAft>
                <a:spcPts val="0"/>
              </a:spcAft>
              <a:buClr>
                <a:schemeClr val="lt1"/>
              </a:buClr>
              <a:buSzPts val="1000"/>
              <a:buChar char="○"/>
              <a:defRPr>
                <a:solidFill>
                  <a:schemeClr val="lt1"/>
                </a:solidFill>
              </a:defRPr>
            </a:lvl6pPr>
            <a:lvl7pPr indent="-292100" lvl="6" marL="3200400" rtl="0" algn="l">
              <a:lnSpc>
                <a:spcPct val="100000"/>
              </a:lnSpc>
              <a:spcBef>
                <a:spcPts val="1000"/>
              </a:spcBef>
              <a:spcAft>
                <a:spcPts val="0"/>
              </a:spcAft>
              <a:buClr>
                <a:schemeClr val="lt1"/>
              </a:buClr>
              <a:buSzPts val="1000"/>
              <a:buChar char="●"/>
              <a:defRPr>
                <a:solidFill>
                  <a:schemeClr val="lt1"/>
                </a:solidFill>
              </a:defRPr>
            </a:lvl7pPr>
            <a:lvl8pPr indent="-292100" lvl="7" marL="3657600" rtl="0" algn="l">
              <a:lnSpc>
                <a:spcPct val="100000"/>
              </a:lnSpc>
              <a:spcBef>
                <a:spcPts val="1000"/>
              </a:spcBef>
              <a:spcAft>
                <a:spcPts val="0"/>
              </a:spcAft>
              <a:buClr>
                <a:schemeClr val="lt1"/>
              </a:buClr>
              <a:buSzPts val="1000"/>
              <a:buChar char="○"/>
              <a:defRPr>
                <a:solidFill>
                  <a:schemeClr val="lt1"/>
                </a:solidFill>
              </a:defRPr>
            </a:lvl8pPr>
            <a:lvl9pPr indent="-292100" lvl="8" marL="4114800" rtl="0" algn="l">
              <a:lnSpc>
                <a:spcPct val="100000"/>
              </a:lnSpc>
              <a:spcBef>
                <a:spcPts val="1000"/>
              </a:spcBef>
              <a:spcAft>
                <a:spcPts val="1000"/>
              </a:spcAft>
              <a:buClr>
                <a:schemeClr val="lt1"/>
              </a:buClr>
              <a:buSzPts val="1000"/>
              <a:buChar char="●"/>
              <a:defRPr>
                <a:solidFill>
                  <a:schemeClr val="lt1"/>
                </a:solidFill>
              </a:defRPr>
            </a:lvl9pPr>
          </a:lstStyle>
          <a:p/>
        </p:txBody>
      </p:sp>
      <p:sp>
        <p:nvSpPr>
          <p:cNvPr id="261" name="Google Shape;261;p58"/>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62" name="Google Shape;262;p58"/>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263" name="Google Shape;263;p58"/>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Text Boxes">
  <p:cSld name="TITLE_AND_TWO_COLUMNS_1_2">
    <p:bg>
      <p:bgPr>
        <a:blipFill>
          <a:blip r:embed="rId2">
            <a:alphaModFix/>
          </a:blip>
          <a:stretch>
            <a:fillRect/>
          </a:stretch>
        </a:blipFill>
      </p:bgPr>
    </p:bg>
    <p:spTree>
      <p:nvGrpSpPr>
        <p:cNvPr id="264" name="Shape 264"/>
        <p:cNvGrpSpPr/>
        <p:nvPr/>
      </p:nvGrpSpPr>
      <p:grpSpPr>
        <a:xfrm>
          <a:off x="0" y="0"/>
          <a:ext cx="0" cy="0"/>
          <a:chOff x="0" y="0"/>
          <a:chExt cx="0" cy="0"/>
        </a:xfrm>
      </p:grpSpPr>
      <p:sp>
        <p:nvSpPr>
          <p:cNvPr id="265" name="Google Shape;265;p59"/>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66" name="Google Shape;266;p59"/>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67" name="Google Shape;267;p59"/>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59"/>
          <p:cNvSpPr txBox="1"/>
          <p:nvPr>
            <p:ph idx="1" type="body"/>
          </p:nvPr>
        </p:nvSpPr>
        <p:spPr>
          <a:xfrm>
            <a:off x="548650"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69" name="Google Shape;269;p59"/>
          <p:cNvSpPr txBox="1"/>
          <p:nvPr>
            <p:ph idx="2" type="body"/>
          </p:nvPr>
        </p:nvSpPr>
        <p:spPr>
          <a:xfrm>
            <a:off x="3265547"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70" name="Google Shape;270;p59"/>
          <p:cNvSpPr txBox="1"/>
          <p:nvPr>
            <p:ph idx="3" type="body"/>
          </p:nvPr>
        </p:nvSpPr>
        <p:spPr>
          <a:xfrm>
            <a:off x="5982444"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Dark) 1">
  <p:cSld name="TITLE_AND_TWO_COLUMNS_1_1_1_1">
    <p:bg>
      <p:bgPr>
        <a:solidFill>
          <a:srgbClr val="343A43"/>
        </a:solidFill>
      </p:bgPr>
    </p:bg>
    <p:spTree>
      <p:nvGrpSpPr>
        <p:cNvPr id="271" name="Shape 271"/>
        <p:cNvGrpSpPr/>
        <p:nvPr/>
      </p:nvGrpSpPr>
      <p:grpSpPr>
        <a:xfrm>
          <a:off x="0" y="0"/>
          <a:ext cx="0" cy="0"/>
          <a:chOff x="0" y="0"/>
          <a:chExt cx="0" cy="0"/>
        </a:xfrm>
      </p:grpSpPr>
      <p:sp>
        <p:nvSpPr>
          <p:cNvPr id="272" name="Google Shape;272;p60"/>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73" name="Google Shape;273;p60"/>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274" name="Google Shape;274;p60"/>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60"/>
          <p:cNvSpPr txBox="1"/>
          <p:nvPr>
            <p:ph idx="1" type="body"/>
          </p:nvPr>
        </p:nvSpPr>
        <p:spPr>
          <a:xfrm>
            <a:off x="548650"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rgbClr val="FFFFFF"/>
              </a:buClr>
              <a:buSzPts val="1800"/>
              <a:buFont typeface="Source Sans Pro"/>
              <a:buChar char="●"/>
              <a:defRPr>
                <a:solidFill>
                  <a:srgbClr val="FFFFFF"/>
                </a:solidFill>
                <a:latin typeface="Source Sans Pro"/>
                <a:ea typeface="Source Sans Pro"/>
                <a:cs typeface="Source Sans Pro"/>
                <a:sym typeface="Source Sans Pro"/>
              </a:defRPr>
            </a:lvl1pPr>
            <a:lvl2pPr indent="-317500" lvl="1" marL="914400" rtl="0" algn="l">
              <a:lnSpc>
                <a:spcPct val="100000"/>
              </a:lnSpc>
              <a:spcBef>
                <a:spcPts val="1000"/>
              </a:spcBef>
              <a:spcAft>
                <a:spcPts val="0"/>
              </a:spcAft>
              <a:buClr>
                <a:srgbClr val="FFFFFF"/>
              </a:buClr>
              <a:buSzPts val="1400"/>
              <a:buFont typeface="Source Sans Pro"/>
              <a:buChar char="○"/>
              <a:defRPr>
                <a:solidFill>
                  <a:srgbClr val="FFFFFF"/>
                </a:solidFill>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Clr>
                <a:srgbClr val="FFFFFF"/>
              </a:buClr>
              <a:buSzPts val="1200"/>
              <a:buFont typeface="Source Sans Pro"/>
              <a:buChar char="●"/>
              <a:defRPr sz="1200">
                <a:solidFill>
                  <a:srgbClr val="FFFFFF"/>
                </a:solidFill>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76" name="Google Shape;276;p60"/>
          <p:cNvSpPr txBox="1"/>
          <p:nvPr>
            <p:ph idx="2" type="body"/>
          </p:nvPr>
        </p:nvSpPr>
        <p:spPr>
          <a:xfrm>
            <a:off x="3265547"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rgbClr val="FFFFFF"/>
              </a:buClr>
              <a:buSzPts val="1800"/>
              <a:buFont typeface="Source Sans Pro"/>
              <a:buChar char="●"/>
              <a:defRPr>
                <a:solidFill>
                  <a:srgbClr val="FFFFFF"/>
                </a:solidFill>
                <a:latin typeface="Source Sans Pro"/>
                <a:ea typeface="Source Sans Pro"/>
                <a:cs typeface="Source Sans Pro"/>
                <a:sym typeface="Source Sans Pro"/>
              </a:defRPr>
            </a:lvl1pPr>
            <a:lvl2pPr indent="-317500" lvl="1" marL="914400" rtl="0" algn="l">
              <a:lnSpc>
                <a:spcPct val="100000"/>
              </a:lnSpc>
              <a:spcBef>
                <a:spcPts val="1000"/>
              </a:spcBef>
              <a:spcAft>
                <a:spcPts val="0"/>
              </a:spcAft>
              <a:buClr>
                <a:srgbClr val="FFFFFF"/>
              </a:buClr>
              <a:buSzPts val="1400"/>
              <a:buFont typeface="Source Sans Pro"/>
              <a:buChar char="○"/>
              <a:defRPr>
                <a:solidFill>
                  <a:srgbClr val="FFFFFF"/>
                </a:solidFill>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Clr>
                <a:srgbClr val="FFFFFF"/>
              </a:buClr>
              <a:buSzPts val="1200"/>
              <a:buFont typeface="Source Sans Pro"/>
              <a:buChar char="●"/>
              <a:defRPr sz="1200">
                <a:solidFill>
                  <a:srgbClr val="FFFFFF"/>
                </a:solidFill>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77" name="Google Shape;277;p60"/>
          <p:cNvSpPr txBox="1"/>
          <p:nvPr>
            <p:ph idx="3" type="body"/>
          </p:nvPr>
        </p:nvSpPr>
        <p:spPr>
          <a:xfrm>
            <a:off x="5982444"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rgbClr val="FFFFFF"/>
              </a:buClr>
              <a:buSzPts val="1800"/>
              <a:buFont typeface="Source Sans Pro"/>
              <a:buChar char="●"/>
              <a:defRPr>
                <a:solidFill>
                  <a:srgbClr val="FFFFFF"/>
                </a:solidFill>
                <a:latin typeface="Source Sans Pro"/>
                <a:ea typeface="Source Sans Pro"/>
                <a:cs typeface="Source Sans Pro"/>
                <a:sym typeface="Source Sans Pro"/>
              </a:defRPr>
            </a:lvl1pPr>
            <a:lvl2pPr indent="-317500" lvl="1" marL="914400" rtl="0" algn="l">
              <a:lnSpc>
                <a:spcPct val="100000"/>
              </a:lnSpc>
              <a:spcBef>
                <a:spcPts val="1000"/>
              </a:spcBef>
              <a:spcAft>
                <a:spcPts val="0"/>
              </a:spcAft>
              <a:buClr>
                <a:srgbClr val="FFFFFF"/>
              </a:buClr>
              <a:buSzPts val="1400"/>
              <a:buFont typeface="Source Sans Pro"/>
              <a:buChar char="○"/>
              <a:defRPr>
                <a:solidFill>
                  <a:srgbClr val="FFFFFF"/>
                </a:solidFill>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Clr>
                <a:srgbClr val="FFFFFF"/>
              </a:buClr>
              <a:buSzPts val="1200"/>
              <a:buFont typeface="Source Sans Pro"/>
              <a:buChar char="●"/>
              <a:defRPr sz="1200">
                <a:solidFill>
                  <a:srgbClr val="FFFFFF"/>
                </a:solidFill>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and Text (Medium) 1">
  <p:cSld name="TITLE_AND_TWO_COLUMNS_1_1_2">
    <p:bg>
      <p:bgPr>
        <a:gradFill>
          <a:gsLst>
            <a:gs pos="0">
              <a:schemeClr val="accent1"/>
            </a:gs>
            <a:gs pos="50000">
              <a:srgbClr val="089FFF"/>
            </a:gs>
            <a:gs pos="100000">
              <a:schemeClr val="accent3"/>
            </a:gs>
          </a:gsLst>
          <a:lin ang="18900044" scaled="0"/>
        </a:gradFill>
      </p:bgPr>
    </p:bg>
    <p:spTree>
      <p:nvGrpSpPr>
        <p:cNvPr id="278" name="Shape 278"/>
        <p:cNvGrpSpPr/>
        <p:nvPr/>
      </p:nvGrpSpPr>
      <p:grpSpPr>
        <a:xfrm>
          <a:off x="0" y="0"/>
          <a:ext cx="0" cy="0"/>
          <a:chOff x="0" y="0"/>
          <a:chExt cx="0" cy="0"/>
        </a:xfrm>
      </p:grpSpPr>
      <p:sp>
        <p:nvSpPr>
          <p:cNvPr id="279" name="Google Shape;279;p61"/>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000"/>
              <a:buFont typeface="Source Sans Pro"/>
              <a:buNone/>
              <a:defRPr b="1">
                <a:solidFill>
                  <a:schemeClr val="lt1"/>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80" name="Google Shape;280;p61"/>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281" name="Google Shape;281;p61"/>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61"/>
          <p:cNvSpPr txBox="1"/>
          <p:nvPr>
            <p:ph idx="1" type="body"/>
          </p:nvPr>
        </p:nvSpPr>
        <p:spPr>
          <a:xfrm>
            <a:off x="548650"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rgbClr val="FFFFFF"/>
              </a:buClr>
              <a:buSzPts val="1800"/>
              <a:buFont typeface="Source Sans Pro"/>
              <a:buChar char="●"/>
              <a:defRPr>
                <a:solidFill>
                  <a:srgbClr val="FFFFFF"/>
                </a:solidFill>
                <a:latin typeface="Source Sans Pro"/>
                <a:ea typeface="Source Sans Pro"/>
                <a:cs typeface="Source Sans Pro"/>
                <a:sym typeface="Source Sans Pro"/>
              </a:defRPr>
            </a:lvl1pPr>
            <a:lvl2pPr indent="-317500" lvl="1" marL="914400" rtl="0" algn="l">
              <a:lnSpc>
                <a:spcPct val="100000"/>
              </a:lnSpc>
              <a:spcBef>
                <a:spcPts val="1000"/>
              </a:spcBef>
              <a:spcAft>
                <a:spcPts val="0"/>
              </a:spcAft>
              <a:buClr>
                <a:srgbClr val="FFFFFF"/>
              </a:buClr>
              <a:buSzPts val="1400"/>
              <a:buFont typeface="Source Sans Pro"/>
              <a:buChar char="○"/>
              <a:defRPr>
                <a:solidFill>
                  <a:srgbClr val="FFFFFF"/>
                </a:solidFill>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Clr>
                <a:srgbClr val="FFFFFF"/>
              </a:buClr>
              <a:buSzPts val="1200"/>
              <a:buFont typeface="Source Sans Pro"/>
              <a:buChar char="●"/>
              <a:defRPr sz="1200">
                <a:solidFill>
                  <a:srgbClr val="FFFFFF"/>
                </a:solidFill>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83" name="Google Shape;283;p61"/>
          <p:cNvSpPr txBox="1"/>
          <p:nvPr>
            <p:ph idx="2" type="body"/>
          </p:nvPr>
        </p:nvSpPr>
        <p:spPr>
          <a:xfrm>
            <a:off x="3265547"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rgbClr val="FFFFFF"/>
              </a:buClr>
              <a:buSzPts val="1800"/>
              <a:buFont typeface="Source Sans Pro"/>
              <a:buChar char="●"/>
              <a:defRPr>
                <a:solidFill>
                  <a:srgbClr val="FFFFFF"/>
                </a:solidFill>
                <a:latin typeface="Source Sans Pro"/>
                <a:ea typeface="Source Sans Pro"/>
                <a:cs typeface="Source Sans Pro"/>
                <a:sym typeface="Source Sans Pro"/>
              </a:defRPr>
            </a:lvl1pPr>
            <a:lvl2pPr indent="-317500" lvl="1" marL="914400" rtl="0" algn="l">
              <a:lnSpc>
                <a:spcPct val="100000"/>
              </a:lnSpc>
              <a:spcBef>
                <a:spcPts val="1000"/>
              </a:spcBef>
              <a:spcAft>
                <a:spcPts val="0"/>
              </a:spcAft>
              <a:buClr>
                <a:srgbClr val="FFFFFF"/>
              </a:buClr>
              <a:buSzPts val="1400"/>
              <a:buFont typeface="Source Sans Pro"/>
              <a:buChar char="○"/>
              <a:defRPr>
                <a:solidFill>
                  <a:srgbClr val="FFFFFF"/>
                </a:solidFill>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Clr>
                <a:srgbClr val="FFFFFF"/>
              </a:buClr>
              <a:buSzPts val="1200"/>
              <a:buFont typeface="Source Sans Pro"/>
              <a:buChar char="●"/>
              <a:defRPr sz="1200">
                <a:solidFill>
                  <a:srgbClr val="FFFFFF"/>
                </a:solidFill>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84" name="Google Shape;284;p61"/>
          <p:cNvSpPr txBox="1"/>
          <p:nvPr>
            <p:ph idx="3" type="body"/>
          </p:nvPr>
        </p:nvSpPr>
        <p:spPr>
          <a:xfrm>
            <a:off x="5982444"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Clr>
                <a:srgbClr val="FFFFFF"/>
              </a:buClr>
              <a:buSzPts val="1800"/>
              <a:buFont typeface="Source Sans Pro"/>
              <a:buChar char="●"/>
              <a:defRPr>
                <a:solidFill>
                  <a:srgbClr val="FFFFFF"/>
                </a:solidFill>
                <a:latin typeface="Source Sans Pro"/>
                <a:ea typeface="Source Sans Pro"/>
                <a:cs typeface="Source Sans Pro"/>
                <a:sym typeface="Source Sans Pro"/>
              </a:defRPr>
            </a:lvl1pPr>
            <a:lvl2pPr indent="-317500" lvl="1" marL="914400" rtl="0" algn="l">
              <a:lnSpc>
                <a:spcPct val="100000"/>
              </a:lnSpc>
              <a:spcBef>
                <a:spcPts val="1000"/>
              </a:spcBef>
              <a:spcAft>
                <a:spcPts val="0"/>
              </a:spcAft>
              <a:buClr>
                <a:srgbClr val="FFFFFF"/>
              </a:buClr>
              <a:buSzPts val="1400"/>
              <a:buFont typeface="Source Sans Pro"/>
              <a:buChar char="○"/>
              <a:defRPr>
                <a:solidFill>
                  <a:srgbClr val="FFFFFF"/>
                </a:solidFill>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Clr>
                <a:srgbClr val="FFFFFF"/>
              </a:buClr>
              <a:buSzPts val="1200"/>
              <a:buFont typeface="Source Sans Pro"/>
              <a:buChar char="●"/>
              <a:defRPr sz="1200">
                <a:solidFill>
                  <a:srgbClr val="FFFFFF"/>
                </a:solidFill>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Clr>
                <a:srgbClr val="FFFFFF"/>
              </a:buClr>
              <a:buSzPts val="1000"/>
              <a:buFont typeface="Source Sans Pro"/>
              <a:buChar char="○"/>
              <a:defRPr>
                <a:solidFill>
                  <a:srgbClr val="FFFFFF"/>
                </a:solidFill>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and Images">
  <p:cSld name="TITLE_AND_TWO_COLUMNS_1_2_1_1">
    <p:bg>
      <p:bgPr>
        <a:blipFill>
          <a:blip r:embed="rId2">
            <a:alphaModFix/>
          </a:blip>
          <a:stretch>
            <a:fillRect/>
          </a:stretch>
        </a:blipFill>
      </p:bgPr>
    </p:bg>
    <p:spTree>
      <p:nvGrpSpPr>
        <p:cNvPr id="285" name="Shape 285"/>
        <p:cNvGrpSpPr/>
        <p:nvPr/>
      </p:nvGrpSpPr>
      <p:grpSpPr>
        <a:xfrm>
          <a:off x="0" y="0"/>
          <a:ext cx="0" cy="0"/>
          <a:chOff x="0" y="0"/>
          <a:chExt cx="0" cy="0"/>
        </a:xfrm>
      </p:grpSpPr>
      <p:sp>
        <p:nvSpPr>
          <p:cNvPr id="286" name="Google Shape;286;p62"/>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87" name="Google Shape;287;p62"/>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88" name="Google Shape;288;p62"/>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89" name="Google Shape;289;p62"/>
          <p:cNvSpPr txBox="1"/>
          <p:nvPr>
            <p:ph idx="1" type="body"/>
          </p:nvPr>
        </p:nvSpPr>
        <p:spPr>
          <a:xfrm>
            <a:off x="548650" y="3090625"/>
            <a:ext cx="2612700" cy="13398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90" name="Google Shape;290;p62"/>
          <p:cNvSpPr txBox="1"/>
          <p:nvPr>
            <p:ph idx="2" type="body"/>
          </p:nvPr>
        </p:nvSpPr>
        <p:spPr>
          <a:xfrm>
            <a:off x="3265549" y="3090625"/>
            <a:ext cx="2612700" cy="13398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91" name="Google Shape;291;p62"/>
          <p:cNvSpPr txBox="1"/>
          <p:nvPr>
            <p:ph idx="3" type="body"/>
          </p:nvPr>
        </p:nvSpPr>
        <p:spPr>
          <a:xfrm>
            <a:off x="5982448" y="3090625"/>
            <a:ext cx="2612700" cy="13398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Text Boxes 1">
  <p:cSld name="BLANK_3_1">
    <p:spTree>
      <p:nvGrpSpPr>
        <p:cNvPr id="292" name="Shape 292"/>
        <p:cNvGrpSpPr/>
        <p:nvPr/>
      </p:nvGrpSpPr>
      <p:grpSpPr>
        <a:xfrm>
          <a:off x="0" y="0"/>
          <a:ext cx="0" cy="0"/>
          <a:chOff x="0" y="0"/>
          <a:chExt cx="0" cy="0"/>
        </a:xfrm>
      </p:grpSpPr>
      <p:sp>
        <p:nvSpPr>
          <p:cNvPr id="293" name="Google Shape;293;p63"/>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294" name="Google Shape;294;p63"/>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295" name="Google Shape;295;p63"/>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96" name="Google Shape;296;p63"/>
          <p:cNvSpPr txBox="1"/>
          <p:nvPr>
            <p:ph idx="1" type="body"/>
          </p:nvPr>
        </p:nvSpPr>
        <p:spPr>
          <a:xfrm>
            <a:off x="548650" y="3090672"/>
            <a:ext cx="2612700" cy="13398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97" name="Google Shape;297;p63"/>
          <p:cNvSpPr txBox="1"/>
          <p:nvPr>
            <p:ph idx="2" type="body"/>
          </p:nvPr>
        </p:nvSpPr>
        <p:spPr>
          <a:xfrm>
            <a:off x="3265549" y="3090672"/>
            <a:ext cx="2612700" cy="13398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298" name="Google Shape;298;p63"/>
          <p:cNvSpPr txBox="1"/>
          <p:nvPr>
            <p:ph idx="3" type="body"/>
          </p:nvPr>
        </p:nvSpPr>
        <p:spPr>
          <a:xfrm>
            <a:off x="5982448" y="3090672"/>
            <a:ext cx="2612700" cy="13398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for Diagrams/Images">
  <p:cSld name="TITLE_AND_TWO_COLUMNS_1_2_1">
    <p:bg>
      <p:bgPr>
        <a:blipFill>
          <a:blip r:embed="rId2">
            <a:alphaModFix/>
          </a:blip>
          <a:stretch>
            <a:fillRect/>
          </a:stretch>
        </a:blipFill>
      </p:bgPr>
    </p:bg>
    <p:spTree>
      <p:nvGrpSpPr>
        <p:cNvPr id="299" name="Shape 299"/>
        <p:cNvGrpSpPr/>
        <p:nvPr/>
      </p:nvGrpSpPr>
      <p:grpSpPr>
        <a:xfrm>
          <a:off x="0" y="0"/>
          <a:ext cx="0" cy="0"/>
          <a:chOff x="0" y="0"/>
          <a:chExt cx="0" cy="0"/>
        </a:xfrm>
      </p:grpSpPr>
      <p:sp>
        <p:nvSpPr>
          <p:cNvPr id="300" name="Google Shape;300;p64"/>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01" name="Google Shape;301;p64"/>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302" name="Google Shape;302;p64"/>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303" name="Google Shape;303;p64"/>
          <p:cNvSpPr txBox="1"/>
          <p:nvPr>
            <p:ph idx="1" type="body"/>
          </p:nvPr>
        </p:nvSpPr>
        <p:spPr>
          <a:xfrm>
            <a:off x="4681725" y="3635200"/>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304" name="Google Shape;304;p64"/>
          <p:cNvSpPr txBox="1"/>
          <p:nvPr>
            <p:ph idx="2" type="body"/>
          </p:nvPr>
        </p:nvSpPr>
        <p:spPr>
          <a:xfrm>
            <a:off x="545200" y="3635200"/>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rtl="0" algn="l">
              <a:lnSpc>
                <a:spcPct val="100000"/>
              </a:lnSpc>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
        <p:nvSpPr>
          <p:cNvPr id="305" name="Google Shape;305;p64"/>
          <p:cNvSpPr txBox="1"/>
          <p:nvPr>
            <p:ph idx="3" type="body"/>
          </p:nvPr>
        </p:nvSpPr>
        <p:spPr>
          <a:xfrm>
            <a:off x="4681725" y="1030225"/>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306" name="Google Shape;306;p64"/>
          <p:cNvSpPr txBox="1"/>
          <p:nvPr>
            <p:ph idx="4" type="body"/>
          </p:nvPr>
        </p:nvSpPr>
        <p:spPr>
          <a:xfrm>
            <a:off x="531750" y="1030225"/>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rtl="0" algn="l">
              <a:lnSpc>
                <a:spcPct val="100000"/>
              </a:lnSpc>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460">
          <p15:clr>
            <a:srgbClr val="FA7B17"/>
          </p15:clr>
        </p15:guide>
        <p15:guide id="2" pos="3069">
          <p15:clr>
            <a:srgbClr val="FA7B17"/>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for Diagrams/Images on White">
  <p:cSld name="TITLE_AND_TWO_COLUMNS_1_2_1_2">
    <p:spTree>
      <p:nvGrpSpPr>
        <p:cNvPr id="307" name="Shape 307"/>
        <p:cNvGrpSpPr/>
        <p:nvPr/>
      </p:nvGrpSpPr>
      <p:grpSpPr>
        <a:xfrm>
          <a:off x="0" y="0"/>
          <a:ext cx="0" cy="0"/>
          <a:chOff x="0" y="0"/>
          <a:chExt cx="0" cy="0"/>
        </a:xfrm>
      </p:grpSpPr>
      <p:sp>
        <p:nvSpPr>
          <p:cNvPr id="308" name="Google Shape;308;p65"/>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09" name="Google Shape;309;p65"/>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310" name="Google Shape;310;p65"/>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311" name="Google Shape;311;p65"/>
          <p:cNvSpPr txBox="1"/>
          <p:nvPr>
            <p:ph idx="1" type="body"/>
          </p:nvPr>
        </p:nvSpPr>
        <p:spPr>
          <a:xfrm>
            <a:off x="4681725" y="3635200"/>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312" name="Google Shape;312;p65"/>
          <p:cNvSpPr txBox="1"/>
          <p:nvPr>
            <p:ph idx="2" type="body"/>
          </p:nvPr>
        </p:nvSpPr>
        <p:spPr>
          <a:xfrm>
            <a:off x="545200" y="3635200"/>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rtl="0" algn="l">
              <a:lnSpc>
                <a:spcPct val="100000"/>
              </a:lnSpc>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
        <p:nvSpPr>
          <p:cNvPr id="313" name="Google Shape;313;p65"/>
          <p:cNvSpPr txBox="1"/>
          <p:nvPr>
            <p:ph idx="3" type="body"/>
          </p:nvPr>
        </p:nvSpPr>
        <p:spPr>
          <a:xfrm>
            <a:off x="4681725" y="1030225"/>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Montserrat Light"/>
              <a:buChar char="○"/>
              <a:defRPr>
                <a:latin typeface="Montserrat Light"/>
                <a:ea typeface="Montserrat Light"/>
                <a:cs typeface="Montserrat Light"/>
                <a:sym typeface="Montserrat Light"/>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314" name="Google Shape;314;p65"/>
          <p:cNvSpPr txBox="1"/>
          <p:nvPr>
            <p:ph idx="4" type="body"/>
          </p:nvPr>
        </p:nvSpPr>
        <p:spPr>
          <a:xfrm>
            <a:off x="531750" y="1030225"/>
            <a:ext cx="3917100" cy="9144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Montserrat Light"/>
              <a:buChar char="○"/>
              <a:defRPr>
                <a:latin typeface="Montserrat Light"/>
                <a:ea typeface="Montserrat Light"/>
                <a:cs typeface="Montserrat Light"/>
                <a:sym typeface="Montserrat Light"/>
              </a:defRPr>
            </a:lvl8pPr>
            <a:lvl9pPr indent="-292100" lvl="8" marL="4114800" rtl="0" algn="l">
              <a:lnSpc>
                <a:spcPct val="100000"/>
              </a:lnSpc>
              <a:spcBef>
                <a:spcPts val="1000"/>
              </a:spcBef>
              <a:spcAft>
                <a:spcPts val="1000"/>
              </a:spcAft>
              <a:buSzPts val="1000"/>
              <a:buFont typeface="Montserrat Light"/>
              <a:buChar char="●"/>
              <a:defRPr>
                <a:latin typeface="Montserrat Light"/>
                <a:ea typeface="Montserrat Light"/>
                <a:cs typeface="Montserrat Light"/>
                <a:sym typeface="Montserrat Light"/>
              </a:defRPr>
            </a:lvl9pPr>
          </a:lstStyle>
          <a:p/>
        </p:txBody>
      </p:sp>
    </p:spTree>
  </p:cSld>
  <p:clrMapOvr>
    <a:masterClrMapping/>
  </p:clrMapOvr>
  <p:extLst>
    <p:ext uri="{DCECCB84-F9BA-43D5-87BE-67443E8EF086}">
      <p15:sldGuideLst>
        <p15:guide id="1" pos="460">
          <p15:clr>
            <a:srgbClr val="FA7B17"/>
          </p15:clr>
        </p15:guide>
        <p15:guide id="2" pos="3069">
          <p15:clr>
            <a:srgbClr val="FA7B17"/>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3 Columns of Text" type="blank">
  <p:cSld name="BLANK">
    <p:spTree>
      <p:nvGrpSpPr>
        <p:cNvPr id="315" name="Shape 315"/>
        <p:cNvGrpSpPr/>
        <p:nvPr/>
      </p:nvGrpSpPr>
      <p:grpSpPr>
        <a:xfrm>
          <a:off x="0" y="0"/>
          <a:ext cx="0" cy="0"/>
          <a:chOff x="0" y="0"/>
          <a:chExt cx="0" cy="0"/>
        </a:xfrm>
      </p:grpSpPr>
      <p:sp>
        <p:nvSpPr>
          <p:cNvPr id="316" name="Google Shape;316;p66"/>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Source Sans Pro"/>
                <a:ea typeface="Source Sans Pro"/>
                <a:cs typeface="Source Sans Pro"/>
                <a:sym typeface="Source Sans Pro"/>
              </a:rPr>
              <a:t>Confidential – Tamr, Inc.</a:t>
            </a:r>
            <a:endParaRPr b="0" i="0" sz="1100" u="none" cap="none" strike="noStrike">
              <a:solidFill>
                <a:schemeClr val="dk2"/>
              </a:solidFill>
              <a:latin typeface="Source Sans Pro"/>
              <a:ea typeface="Source Sans Pro"/>
              <a:cs typeface="Source Sans Pro"/>
              <a:sym typeface="Source Sans Pro"/>
            </a:endParaRPr>
          </a:p>
        </p:txBody>
      </p:sp>
      <p:sp>
        <p:nvSpPr>
          <p:cNvPr id="317" name="Google Shape;317;p66"/>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
        <p:nvSpPr>
          <p:cNvPr id="318" name="Google Shape;318;p66"/>
          <p:cNvSpPr txBox="1"/>
          <p:nvPr>
            <p:ph type="title"/>
          </p:nvPr>
        </p:nvSpPr>
        <p:spPr>
          <a:xfrm>
            <a:off x="545250" y="228600"/>
            <a:ext cx="8049900" cy="585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Font typeface="Source Sans Pro"/>
              <a:buNone/>
              <a:defRPr b="1">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19" name="Google Shape;319;p66"/>
          <p:cNvSpPr txBox="1"/>
          <p:nvPr>
            <p:ph idx="1" type="body"/>
          </p:nvPr>
        </p:nvSpPr>
        <p:spPr>
          <a:xfrm>
            <a:off x="548650"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320" name="Google Shape;320;p66"/>
          <p:cNvSpPr txBox="1"/>
          <p:nvPr>
            <p:ph idx="2" type="body"/>
          </p:nvPr>
        </p:nvSpPr>
        <p:spPr>
          <a:xfrm>
            <a:off x="3265547"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
        <p:nvSpPr>
          <p:cNvPr id="321" name="Google Shape;321;p66"/>
          <p:cNvSpPr txBox="1"/>
          <p:nvPr>
            <p:ph idx="3" type="body"/>
          </p:nvPr>
        </p:nvSpPr>
        <p:spPr>
          <a:xfrm>
            <a:off x="5982444" y="854950"/>
            <a:ext cx="2612700" cy="38040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Font typeface="Source Sans Pro"/>
              <a:buChar char="●"/>
              <a:defRPr>
                <a:latin typeface="Source Sans Pro"/>
                <a:ea typeface="Source Sans Pro"/>
                <a:cs typeface="Source Sans Pro"/>
                <a:sym typeface="Source Sans Pro"/>
              </a:defRPr>
            </a:lvl1pPr>
            <a:lvl2pPr indent="-317500" lvl="1" marL="914400" rtl="0" algn="l">
              <a:lnSpc>
                <a:spcPct val="100000"/>
              </a:lnSpc>
              <a:spcBef>
                <a:spcPts val="1000"/>
              </a:spcBef>
              <a:spcAft>
                <a:spcPts val="0"/>
              </a:spcAft>
              <a:buSzPts val="1400"/>
              <a:buFont typeface="Source Sans Pro"/>
              <a:buChar char="○"/>
              <a:defRPr>
                <a:latin typeface="Source Sans Pro"/>
                <a:ea typeface="Source Sans Pro"/>
                <a:cs typeface="Source Sans Pro"/>
                <a:sym typeface="Source Sans Pro"/>
              </a:defRPr>
            </a:lvl2pPr>
            <a:lvl3pPr indent="-304800" lvl="2" marL="1371600" rtl="0" algn="l">
              <a:lnSpc>
                <a:spcPct val="100000"/>
              </a:lnSpc>
              <a:spcBef>
                <a:spcPts val="1000"/>
              </a:spcBef>
              <a:spcAft>
                <a:spcPts val="0"/>
              </a:spcAft>
              <a:buSzPts val="1200"/>
              <a:buFont typeface="Source Sans Pro"/>
              <a:buChar char="●"/>
              <a:defRPr sz="1200">
                <a:latin typeface="Source Sans Pro"/>
                <a:ea typeface="Source Sans Pro"/>
                <a:cs typeface="Source Sans Pro"/>
                <a:sym typeface="Source Sans Pro"/>
              </a:defRPr>
            </a:lvl3pPr>
            <a:lvl4pPr indent="-292100" lvl="3" marL="18288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4pPr>
            <a:lvl5pPr indent="-292100" lvl="4" marL="22860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5pPr>
            <a:lvl6pPr indent="-292100" lvl="5" marL="27432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6pPr>
            <a:lvl7pPr indent="-292100" lvl="6" marL="32004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7pPr>
            <a:lvl8pPr indent="-292100" lvl="7" marL="3657600" rtl="0" algn="l">
              <a:lnSpc>
                <a:spcPct val="100000"/>
              </a:lnSpc>
              <a:spcBef>
                <a:spcPts val="1000"/>
              </a:spcBef>
              <a:spcAft>
                <a:spcPts val="0"/>
              </a:spcAft>
              <a:buSzPts val="1000"/>
              <a:buFont typeface="Source Sans Pro"/>
              <a:buChar char="○"/>
              <a:defRPr>
                <a:latin typeface="Source Sans Pro"/>
                <a:ea typeface="Source Sans Pro"/>
                <a:cs typeface="Source Sans Pro"/>
                <a:sym typeface="Source Sans Pro"/>
              </a:defRPr>
            </a:lvl8pPr>
            <a:lvl9pPr indent="-292100" lvl="8" marL="4114800" rtl="0" algn="l">
              <a:lnSpc>
                <a:spcPct val="100000"/>
              </a:lnSpc>
              <a:spcBef>
                <a:spcPts val="1000"/>
              </a:spcBef>
              <a:spcAft>
                <a:spcPts val="1000"/>
              </a:spcAft>
              <a:buSzPts val="1000"/>
              <a:buFont typeface="Source Sans Pro"/>
              <a:buChar char="●"/>
              <a:defRPr>
                <a:latin typeface="Source Sans Pro"/>
                <a:ea typeface="Source Sans Pro"/>
                <a:cs typeface="Source Sans Pro"/>
                <a:sym typeface="Source Sans Pr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edium)">
  <p:cSld name="BLANK_1">
    <p:bg>
      <p:bgPr>
        <a:gradFill>
          <a:gsLst>
            <a:gs pos="0">
              <a:schemeClr val="accent1"/>
            </a:gs>
            <a:gs pos="50000">
              <a:srgbClr val="089FFF"/>
            </a:gs>
            <a:gs pos="100000">
              <a:schemeClr val="accent3"/>
            </a:gs>
          </a:gsLst>
          <a:lin ang="18900044" scaled="0"/>
        </a:gradFill>
      </p:bgPr>
    </p:bg>
    <p:spTree>
      <p:nvGrpSpPr>
        <p:cNvPr id="322" name="Shape 322"/>
        <p:cNvGrpSpPr/>
        <p:nvPr/>
      </p:nvGrpSpPr>
      <p:grpSpPr>
        <a:xfrm>
          <a:off x="0" y="0"/>
          <a:ext cx="0" cy="0"/>
          <a:chOff x="0" y="0"/>
          <a:chExt cx="0" cy="0"/>
        </a:xfrm>
      </p:grpSpPr>
      <p:sp>
        <p:nvSpPr>
          <p:cNvPr id="323" name="Google Shape;323;p67"/>
          <p:cNvSpPr txBox="1"/>
          <p:nvPr/>
        </p:nvSpPr>
        <p:spPr>
          <a:xfrm>
            <a:off x="219446" y="4700025"/>
            <a:ext cx="1697100" cy="2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Sans Pro"/>
                <a:ea typeface="Source Sans Pro"/>
                <a:cs typeface="Source Sans Pro"/>
                <a:sym typeface="Source Sans Pro"/>
              </a:rPr>
              <a:t>Confidential – Tamr, Inc.</a:t>
            </a:r>
            <a:endParaRPr b="0" i="0" sz="1100" u="none" cap="none" strike="noStrike">
              <a:solidFill>
                <a:schemeClr val="lt1"/>
              </a:solidFill>
              <a:latin typeface="Source Sans Pro"/>
              <a:ea typeface="Source Sans Pro"/>
              <a:cs typeface="Source Sans Pro"/>
              <a:sym typeface="Source Sans Pro"/>
            </a:endParaRPr>
          </a:p>
        </p:txBody>
      </p:sp>
      <p:sp>
        <p:nvSpPr>
          <p:cNvPr id="324" name="Google Shape;324;p67"/>
          <p:cNvSpPr txBox="1"/>
          <p:nvPr>
            <p:ph idx="12" type="sldNum"/>
          </p:nvPr>
        </p:nvSpPr>
        <p:spPr>
          <a:xfrm>
            <a:off x="8458200" y="4724400"/>
            <a:ext cx="5334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5" name="Shape 325"/>
        <p:cNvGrpSpPr/>
        <p:nvPr/>
      </p:nvGrpSpPr>
      <p:grpSpPr>
        <a:xfrm>
          <a:off x="0" y="0"/>
          <a:ext cx="0" cy="0"/>
          <a:chOff x="0" y="0"/>
          <a:chExt cx="0" cy="0"/>
        </a:xfrm>
      </p:grpSpPr>
      <p:sp>
        <p:nvSpPr>
          <p:cNvPr id="326" name="Google Shape;326;p68"/>
          <p:cNvSpPr txBox="1"/>
          <p:nvPr>
            <p:ph type="title"/>
          </p:nvPr>
        </p:nvSpPr>
        <p:spPr>
          <a:xfrm>
            <a:off x="102925" y="97775"/>
            <a:ext cx="8937300" cy="829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None/>
              <a:defRPr sz="2400">
                <a:latin typeface="Montserrat"/>
                <a:ea typeface="Montserrat"/>
                <a:cs typeface="Montserrat"/>
                <a:sym typeface="Montserrat"/>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1.xml"/><Relationship Id="rId11" Type="http://schemas.openxmlformats.org/officeDocument/2006/relationships/slideLayout" Target="../slideLayouts/slideLayout32.xml"/><Relationship Id="rId22" Type="http://schemas.openxmlformats.org/officeDocument/2006/relationships/slideLayout" Target="../slideLayouts/slideLayout43.xml"/><Relationship Id="rId10" Type="http://schemas.openxmlformats.org/officeDocument/2006/relationships/slideLayout" Target="../slideLayouts/slideLayout31.xml"/><Relationship Id="rId21" Type="http://schemas.openxmlformats.org/officeDocument/2006/relationships/slideLayout" Target="../slideLayouts/slideLayout42.xml"/><Relationship Id="rId13" Type="http://schemas.openxmlformats.org/officeDocument/2006/relationships/slideLayout" Target="../slideLayouts/slideLayout34.xml"/><Relationship Id="rId24" Type="http://schemas.openxmlformats.org/officeDocument/2006/relationships/theme" Target="../theme/theme2.xml"/><Relationship Id="rId12" Type="http://schemas.openxmlformats.org/officeDocument/2006/relationships/slideLayout" Target="../slideLayouts/slideLayout33.xml"/><Relationship Id="rId23" Type="http://schemas.openxmlformats.org/officeDocument/2006/relationships/slideLayout" Target="../slideLayouts/slideLayout44.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19" Type="http://schemas.openxmlformats.org/officeDocument/2006/relationships/slideLayout" Target="../slideLayouts/slideLayout40.xml"/><Relationship Id="rId6" Type="http://schemas.openxmlformats.org/officeDocument/2006/relationships/slideLayout" Target="../slideLayouts/slideLayout27.xml"/><Relationship Id="rId18" Type="http://schemas.openxmlformats.org/officeDocument/2006/relationships/slideLayout" Target="../slideLayouts/slideLayout39.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4.xml"/><Relationship Id="rId11" Type="http://schemas.openxmlformats.org/officeDocument/2006/relationships/slideLayout" Target="../slideLayouts/slideLayout55.xml"/><Relationship Id="rId22" Type="http://schemas.openxmlformats.org/officeDocument/2006/relationships/theme" Target="../theme/theme3.xml"/><Relationship Id="rId10" Type="http://schemas.openxmlformats.org/officeDocument/2006/relationships/slideLayout" Target="../slideLayouts/slideLayout54.xml"/><Relationship Id="rId21" Type="http://schemas.openxmlformats.org/officeDocument/2006/relationships/slideLayout" Target="../slideLayouts/slideLayout65.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5" Type="http://schemas.openxmlformats.org/officeDocument/2006/relationships/slideLayout" Target="../slideLayouts/slideLayout49.xml"/><Relationship Id="rId19" Type="http://schemas.openxmlformats.org/officeDocument/2006/relationships/slideLayout" Target="../slideLayouts/slideLayout63.xml"/><Relationship Id="rId6" Type="http://schemas.openxmlformats.org/officeDocument/2006/relationships/slideLayout" Target="../slideLayouts/slideLayout50.xml"/><Relationship Id="rId18" Type="http://schemas.openxmlformats.org/officeDocument/2006/relationships/slideLayout" Target="../slideLayouts/slideLayout62.xml"/><Relationship Id="rId7" Type="http://schemas.openxmlformats.org/officeDocument/2006/relationships/slideLayout" Target="../slideLayouts/slideLayout51.xml"/><Relationship Id="rId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545200" y="877825"/>
            <a:ext cx="8049900" cy="38130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1pPr>
            <a:lvl2pPr indent="-317500" lvl="1" marL="914400">
              <a:lnSpc>
                <a:spcPct val="100000"/>
              </a:lnSpc>
              <a:spcBef>
                <a:spcPts val="100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indent="-304800" lvl="2" marL="1371600">
              <a:lnSpc>
                <a:spcPct val="100000"/>
              </a:lnSpc>
              <a:spcBef>
                <a:spcPts val="10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3pPr>
            <a:lvl4pPr indent="-292100" lvl="3" marL="182880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4pPr>
            <a:lvl5pPr indent="-292100" lvl="4" marL="228600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5pPr>
            <a:lvl6pPr indent="-292100" lvl="5" marL="274320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6pPr>
            <a:lvl7pPr indent="-292100" lvl="6" marL="320040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7pPr>
            <a:lvl8pPr indent="-292100" lvl="7" marL="365760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8pPr>
            <a:lvl9pPr indent="-292100" lvl="8" marL="4114800">
              <a:lnSpc>
                <a:spcPct val="100000"/>
              </a:lnSpc>
              <a:spcBef>
                <a:spcPts val="1000"/>
              </a:spcBef>
              <a:spcAft>
                <a:spcPts val="100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9pPr>
          </a:lstStyle>
          <a:p/>
        </p:txBody>
      </p:sp>
      <p:sp>
        <p:nvSpPr>
          <p:cNvPr id="7" name="Google Shape;7;p1"/>
          <p:cNvSpPr txBox="1"/>
          <p:nvPr>
            <p:ph type="title"/>
          </p:nvPr>
        </p:nvSpPr>
        <p:spPr>
          <a:xfrm>
            <a:off x="545250" y="219450"/>
            <a:ext cx="8049900" cy="585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ource Sans Pro"/>
              <a:buNone/>
              <a:defRPr b="1" sz="3000">
                <a:solidFill>
                  <a:schemeClr val="dk1"/>
                </a:solidFill>
                <a:latin typeface="Source Sans Pro"/>
                <a:ea typeface="Source Sans Pro"/>
                <a:cs typeface="Source Sans Pro"/>
                <a:sym typeface="Source Sans Pr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 name="Google Shape;8;p1"/>
          <p:cNvSpPr txBox="1"/>
          <p:nvPr>
            <p:ph idx="12" type="sldNum"/>
          </p:nvPr>
        </p:nvSpPr>
        <p:spPr>
          <a:xfrm>
            <a:off x="8375904" y="4700016"/>
            <a:ext cx="548700" cy="292500"/>
          </a:xfrm>
          <a:prstGeom prst="rect">
            <a:avLst/>
          </a:prstGeom>
          <a:noFill/>
          <a:ln>
            <a:noFill/>
          </a:ln>
        </p:spPr>
        <p:txBody>
          <a:bodyPr anchorCtr="0" anchor="t" bIns="91425" lIns="91425" spcFirstLastPara="1" rIns="91425" wrap="square" tIns="91425">
            <a:noAutofit/>
          </a:bodyPr>
          <a:lstStyle>
            <a:lvl1pPr lvl="0" algn="r">
              <a:buNone/>
              <a:defRPr sz="1000">
                <a:solidFill>
                  <a:schemeClr val="dk2"/>
                </a:solidFill>
                <a:latin typeface="Lexend Deca"/>
                <a:ea typeface="Lexend Deca"/>
                <a:cs typeface="Lexend Deca"/>
                <a:sym typeface="Lexend Deca"/>
              </a:defRPr>
            </a:lvl1pPr>
            <a:lvl2pPr lvl="1" algn="r">
              <a:buNone/>
              <a:defRPr sz="1000">
                <a:solidFill>
                  <a:schemeClr val="dk2"/>
                </a:solidFill>
                <a:latin typeface="Lexend Deca"/>
                <a:ea typeface="Lexend Deca"/>
                <a:cs typeface="Lexend Deca"/>
                <a:sym typeface="Lexend Deca"/>
              </a:defRPr>
            </a:lvl2pPr>
            <a:lvl3pPr lvl="2" algn="r">
              <a:buNone/>
              <a:defRPr sz="1000">
                <a:solidFill>
                  <a:schemeClr val="dk2"/>
                </a:solidFill>
                <a:latin typeface="Lexend Deca"/>
                <a:ea typeface="Lexend Deca"/>
                <a:cs typeface="Lexend Deca"/>
                <a:sym typeface="Lexend Deca"/>
              </a:defRPr>
            </a:lvl3pPr>
            <a:lvl4pPr lvl="3" algn="r">
              <a:buNone/>
              <a:defRPr sz="1000">
                <a:solidFill>
                  <a:schemeClr val="dk2"/>
                </a:solidFill>
                <a:latin typeface="Lexend Deca"/>
                <a:ea typeface="Lexend Deca"/>
                <a:cs typeface="Lexend Deca"/>
                <a:sym typeface="Lexend Deca"/>
              </a:defRPr>
            </a:lvl4pPr>
            <a:lvl5pPr lvl="4" algn="r">
              <a:buNone/>
              <a:defRPr sz="1000">
                <a:solidFill>
                  <a:schemeClr val="dk2"/>
                </a:solidFill>
                <a:latin typeface="Lexend Deca"/>
                <a:ea typeface="Lexend Deca"/>
                <a:cs typeface="Lexend Deca"/>
                <a:sym typeface="Lexend Deca"/>
              </a:defRPr>
            </a:lvl5pPr>
            <a:lvl6pPr lvl="5" algn="r">
              <a:buNone/>
              <a:defRPr sz="1000">
                <a:solidFill>
                  <a:schemeClr val="dk2"/>
                </a:solidFill>
                <a:latin typeface="Lexend Deca"/>
                <a:ea typeface="Lexend Deca"/>
                <a:cs typeface="Lexend Deca"/>
                <a:sym typeface="Lexend Deca"/>
              </a:defRPr>
            </a:lvl6pPr>
            <a:lvl7pPr lvl="6" algn="r">
              <a:buNone/>
              <a:defRPr sz="1000">
                <a:solidFill>
                  <a:schemeClr val="dk2"/>
                </a:solidFill>
                <a:latin typeface="Lexend Deca"/>
                <a:ea typeface="Lexend Deca"/>
                <a:cs typeface="Lexend Deca"/>
                <a:sym typeface="Lexend Deca"/>
              </a:defRPr>
            </a:lvl7pPr>
            <a:lvl8pPr lvl="7" algn="r">
              <a:buNone/>
              <a:defRPr sz="1000">
                <a:solidFill>
                  <a:schemeClr val="dk2"/>
                </a:solidFill>
                <a:latin typeface="Lexend Deca"/>
                <a:ea typeface="Lexend Deca"/>
                <a:cs typeface="Lexend Deca"/>
                <a:sym typeface="Lexend Deca"/>
              </a:defRPr>
            </a:lvl8pPr>
            <a:lvl9pPr lvl="8" algn="r">
              <a:buNone/>
              <a:defRPr sz="1000">
                <a:solidFill>
                  <a:schemeClr val="dk2"/>
                </a:solidFill>
                <a:latin typeface="Lexend Deca"/>
                <a:ea typeface="Lexend Deca"/>
                <a:cs typeface="Lexend Deca"/>
                <a:sym typeface="Lexend Deca"/>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687975" y="3847100"/>
            <a:ext cx="33135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6" name="Shape 106"/>
        <p:cNvGrpSpPr/>
        <p:nvPr/>
      </p:nvGrpSpPr>
      <p:grpSpPr>
        <a:xfrm>
          <a:off x="0" y="0"/>
          <a:ext cx="0" cy="0"/>
          <a:chOff x="0" y="0"/>
          <a:chExt cx="0" cy="0"/>
        </a:xfrm>
      </p:grpSpPr>
      <p:sp>
        <p:nvSpPr>
          <p:cNvPr id="107" name="Google Shape;107;p23"/>
          <p:cNvSpPr txBox="1"/>
          <p:nvPr>
            <p:ph idx="1" type="body"/>
          </p:nvPr>
        </p:nvSpPr>
        <p:spPr>
          <a:xfrm>
            <a:off x="545200" y="877825"/>
            <a:ext cx="8049900" cy="38130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1pPr>
            <a:lvl2pPr indent="-317500" lvl="1" marL="914400" rtl="0">
              <a:lnSpc>
                <a:spcPct val="100000"/>
              </a:lnSpc>
              <a:spcBef>
                <a:spcPts val="100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indent="-304800" lvl="2" marL="1371600" rtl="0">
              <a:lnSpc>
                <a:spcPct val="100000"/>
              </a:lnSpc>
              <a:spcBef>
                <a:spcPts val="1000"/>
              </a:spcBef>
              <a:spcAft>
                <a:spcPts val="0"/>
              </a:spcAft>
              <a:buClr>
                <a:schemeClr val="dk1"/>
              </a:buClr>
              <a:buSzPts val="1200"/>
              <a:buFont typeface="Source Sans Pro"/>
              <a:buChar char="●"/>
              <a:defRPr sz="1200">
                <a:solidFill>
                  <a:schemeClr val="dk1"/>
                </a:solidFill>
                <a:latin typeface="Source Sans Pro"/>
                <a:ea typeface="Source Sans Pro"/>
                <a:cs typeface="Source Sans Pro"/>
                <a:sym typeface="Source Sans Pro"/>
              </a:defRPr>
            </a:lvl3pPr>
            <a:lvl4pPr indent="-292100" lvl="3" marL="1828800" rtl="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4pPr>
            <a:lvl5pPr indent="-292100" lvl="4" marL="2286000" rtl="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5pPr>
            <a:lvl6pPr indent="-292100" lvl="5" marL="2743200" rtl="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6pPr>
            <a:lvl7pPr indent="-292100" lvl="6" marL="3200400" rtl="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7pPr>
            <a:lvl8pPr indent="-292100" lvl="7" marL="3657600" rtl="0">
              <a:lnSpc>
                <a:spcPct val="100000"/>
              </a:lnSpc>
              <a:spcBef>
                <a:spcPts val="1000"/>
              </a:spcBef>
              <a:spcAft>
                <a:spcPts val="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8pPr>
            <a:lvl9pPr indent="-292100" lvl="8" marL="4114800" rtl="0">
              <a:lnSpc>
                <a:spcPct val="100000"/>
              </a:lnSpc>
              <a:spcBef>
                <a:spcPts val="1000"/>
              </a:spcBef>
              <a:spcAft>
                <a:spcPts val="1000"/>
              </a:spcAft>
              <a:buClr>
                <a:schemeClr val="dk1"/>
              </a:buClr>
              <a:buSzPts val="1000"/>
              <a:buFont typeface="Source Sans Pro"/>
              <a:buChar char="●"/>
              <a:defRPr sz="1000">
                <a:solidFill>
                  <a:schemeClr val="dk1"/>
                </a:solidFill>
                <a:latin typeface="Source Sans Pro"/>
                <a:ea typeface="Source Sans Pro"/>
                <a:cs typeface="Source Sans Pro"/>
                <a:sym typeface="Source Sans Pro"/>
              </a:defRPr>
            </a:lvl9pPr>
          </a:lstStyle>
          <a:p/>
        </p:txBody>
      </p:sp>
      <p:sp>
        <p:nvSpPr>
          <p:cNvPr id="108" name="Google Shape;108;p23"/>
          <p:cNvSpPr txBox="1"/>
          <p:nvPr>
            <p:ph type="title"/>
          </p:nvPr>
        </p:nvSpPr>
        <p:spPr>
          <a:xfrm>
            <a:off x="545250" y="219450"/>
            <a:ext cx="8049900" cy="5853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urce Sans Pro"/>
              <a:buNone/>
              <a:defRPr b="1" sz="3000">
                <a:solidFill>
                  <a:schemeClr val="dk1"/>
                </a:solidFill>
                <a:latin typeface="Source Sans Pro"/>
                <a:ea typeface="Source Sans Pro"/>
                <a:cs typeface="Source Sans Pro"/>
                <a:sym typeface="Source Sans Pr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9" name="Google Shape;109;p23"/>
          <p:cNvSpPr txBox="1"/>
          <p:nvPr/>
        </p:nvSpPr>
        <p:spPr>
          <a:xfrm>
            <a:off x="687975" y="3847100"/>
            <a:ext cx="33135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ource Sans Pro"/>
              <a:ea typeface="Source Sans Pro"/>
              <a:cs typeface="Source Sans Pro"/>
              <a:sym typeface="Source Sans Pro"/>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1" name="Shape 211"/>
        <p:cNvGrpSpPr/>
        <p:nvPr/>
      </p:nvGrpSpPr>
      <p:grpSpPr>
        <a:xfrm>
          <a:off x="0" y="0"/>
          <a:ext cx="0" cy="0"/>
          <a:chOff x="0" y="0"/>
          <a:chExt cx="0" cy="0"/>
        </a:xfrm>
      </p:grpSpPr>
      <p:sp>
        <p:nvSpPr>
          <p:cNvPr id="212" name="Google Shape;212;p47"/>
          <p:cNvSpPr txBox="1"/>
          <p:nvPr>
            <p:ph idx="1" type="body"/>
          </p:nvPr>
        </p:nvSpPr>
        <p:spPr>
          <a:xfrm>
            <a:off x="545200" y="877825"/>
            <a:ext cx="8049900" cy="38130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0"/>
              </a:spcBef>
              <a:spcAft>
                <a:spcPts val="0"/>
              </a:spcAft>
              <a:buClr>
                <a:schemeClr val="dk1"/>
              </a:buClr>
              <a:buSzPts val="1800"/>
              <a:buFont typeface="Source Sans Pro"/>
              <a:buChar char="●"/>
              <a:defRPr b="0" i="0" sz="1800" u="none" cap="none" strike="noStrike">
                <a:solidFill>
                  <a:schemeClr val="dk1"/>
                </a:solidFill>
                <a:latin typeface="Source Sans Pro"/>
                <a:ea typeface="Source Sans Pro"/>
                <a:cs typeface="Source Sans Pro"/>
                <a:sym typeface="Source Sans Pro"/>
              </a:defRPr>
            </a:lvl1pPr>
            <a:lvl2pPr indent="-317500" lvl="1" marL="914400" marR="0" rtl="0" algn="l">
              <a:lnSpc>
                <a:spcPct val="100000"/>
              </a:lnSpc>
              <a:spcBef>
                <a:spcPts val="1000"/>
              </a:spcBef>
              <a:spcAft>
                <a:spcPts val="0"/>
              </a:spcAft>
              <a:buClr>
                <a:schemeClr val="dk1"/>
              </a:buClr>
              <a:buSzPts val="1400"/>
              <a:buFont typeface="Source Sans Pro"/>
              <a:buChar char="○"/>
              <a:defRPr b="0" i="0" sz="1400" u="none" cap="none" strike="noStrike">
                <a:solidFill>
                  <a:schemeClr val="dk1"/>
                </a:solidFill>
                <a:latin typeface="Source Sans Pro"/>
                <a:ea typeface="Source Sans Pro"/>
                <a:cs typeface="Source Sans Pro"/>
                <a:sym typeface="Source Sans Pro"/>
              </a:defRPr>
            </a:lvl2pPr>
            <a:lvl3pPr indent="-304800" lvl="2" marL="1371600" marR="0" rtl="0" algn="l">
              <a:lnSpc>
                <a:spcPct val="100000"/>
              </a:lnSpc>
              <a:spcBef>
                <a:spcPts val="1000"/>
              </a:spcBef>
              <a:spcAft>
                <a:spcPts val="0"/>
              </a:spcAft>
              <a:buClr>
                <a:schemeClr val="dk1"/>
              </a:buClr>
              <a:buSzPts val="1200"/>
              <a:buFont typeface="Source Sans Pro"/>
              <a:buChar char="●"/>
              <a:defRPr b="0" i="0" sz="1200" u="none" cap="none" strike="noStrike">
                <a:solidFill>
                  <a:schemeClr val="dk1"/>
                </a:solidFill>
                <a:latin typeface="Source Sans Pro"/>
                <a:ea typeface="Source Sans Pro"/>
                <a:cs typeface="Source Sans Pro"/>
                <a:sym typeface="Source Sans Pro"/>
              </a:defRPr>
            </a:lvl3pPr>
            <a:lvl4pPr indent="-292100" lvl="3" marL="1828800" marR="0" rtl="0" algn="l">
              <a:lnSpc>
                <a:spcPct val="100000"/>
              </a:lnSpc>
              <a:spcBef>
                <a:spcPts val="1000"/>
              </a:spcBef>
              <a:spcAft>
                <a:spcPts val="0"/>
              </a:spcAft>
              <a:buClr>
                <a:schemeClr val="dk1"/>
              </a:buClr>
              <a:buSzPts val="1000"/>
              <a:buFont typeface="Source Sans Pro"/>
              <a:buChar char="○"/>
              <a:defRPr b="0" i="0" sz="1000" u="none" cap="none" strike="noStrike">
                <a:solidFill>
                  <a:schemeClr val="dk1"/>
                </a:solidFill>
                <a:latin typeface="Source Sans Pro"/>
                <a:ea typeface="Source Sans Pro"/>
                <a:cs typeface="Source Sans Pro"/>
                <a:sym typeface="Source Sans Pro"/>
              </a:defRPr>
            </a:lvl4pPr>
            <a:lvl5pPr indent="-292100" lvl="4" marL="2286000" marR="0" rtl="0" algn="l">
              <a:lnSpc>
                <a:spcPct val="100000"/>
              </a:lnSpc>
              <a:spcBef>
                <a:spcPts val="1000"/>
              </a:spcBef>
              <a:spcAft>
                <a:spcPts val="0"/>
              </a:spcAft>
              <a:buClr>
                <a:schemeClr val="dk1"/>
              </a:buClr>
              <a:buSzPts val="1000"/>
              <a:buFont typeface="Source Sans Pro"/>
              <a:buChar char="●"/>
              <a:defRPr b="0" i="0" sz="1000" u="none" cap="none" strike="noStrike">
                <a:solidFill>
                  <a:schemeClr val="dk1"/>
                </a:solidFill>
                <a:latin typeface="Source Sans Pro"/>
                <a:ea typeface="Source Sans Pro"/>
                <a:cs typeface="Source Sans Pro"/>
                <a:sym typeface="Source Sans Pro"/>
              </a:defRPr>
            </a:lvl5pPr>
            <a:lvl6pPr indent="-292100" lvl="5" marL="2743200" marR="0" rtl="0" algn="l">
              <a:lnSpc>
                <a:spcPct val="100000"/>
              </a:lnSpc>
              <a:spcBef>
                <a:spcPts val="1000"/>
              </a:spcBef>
              <a:spcAft>
                <a:spcPts val="0"/>
              </a:spcAft>
              <a:buClr>
                <a:schemeClr val="dk1"/>
              </a:buClr>
              <a:buSzPts val="1000"/>
              <a:buFont typeface="Source Sans Pro"/>
              <a:buChar char="○"/>
              <a:defRPr b="0" i="0" sz="1000" u="none" cap="none" strike="noStrike">
                <a:solidFill>
                  <a:schemeClr val="dk1"/>
                </a:solidFill>
                <a:latin typeface="Source Sans Pro"/>
                <a:ea typeface="Source Sans Pro"/>
                <a:cs typeface="Source Sans Pro"/>
                <a:sym typeface="Source Sans Pro"/>
              </a:defRPr>
            </a:lvl6pPr>
            <a:lvl7pPr indent="-292100" lvl="6" marL="3200400" marR="0" rtl="0" algn="l">
              <a:lnSpc>
                <a:spcPct val="100000"/>
              </a:lnSpc>
              <a:spcBef>
                <a:spcPts val="1000"/>
              </a:spcBef>
              <a:spcAft>
                <a:spcPts val="0"/>
              </a:spcAft>
              <a:buClr>
                <a:schemeClr val="dk1"/>
              </a:buClr>
              <a:buSzPts val="1000"/>
              <a:buFont typeface="Source Sans Pro"/>
              <a:buChar char="●"/>
              <a:defRPr b="0" i="0" sz="1000" u="none" cap="none" strike="noStrike">
                <a:solidFill>
                  <a:schemeClr val="dk1"/>
                </a:solidFill>
                <a:latin typeface="Source Sans Pro"/>
                <a:ea typeface="Source Sans Pro"/>
                <a:cs typeface="Source Sans Pro"/>
                <a:sym typeface="Source Sans Pro"/>
              </a:defRPr>
            </a:lvl7pPr>
            <a:lvl8pPr indent="-292100" lvl="7" marL="3657600" marR="0" rtl="0" algn="l">
              <a:lnSpc>
                <a:spcPct val="100000"/>
              </a:lnSpc>
              <a:spcBef>
                <a:spcPts val="1000"/>
              </a:spcBef>
              <a:spcAft>
                <a:spcPts val="0"/>
              </a:spcAft>
              <a:buClr>
                <a:schemeClr val="dk1"/>
              </a:buClr>
              <a:buSzPts val="1000"/>
              <a:buFont typeface="Source Sans Pro"/>
              <a:buChar char="○"/>
              <a:defRPr b="0" i="0" sz="1000" u="none" cap="none" strike="noStrike">
                <a:solidFill>
                  <a:schemeClr val="dk1"/>
                </a:solidFill>
                <a:latin typeface="Source Sans Pro"/>
                <a:ea typeface="Source Sans Pro"/>
                <a:cs typeface="Source Sans Pro"/>
                <a:sym typeface="Source Sans Pro"/>
              </a:defRPr>
            </a:lvl8pPr>
            <a:lvl9pPr indent="-292100" lvl="8" marL="4114800" marR="0" rtl="0" algn="l">
              <a:lnSpc>
                <a:spcPct val="100000"/>
              </a:lnSpc>
              <a:spcBef>
                <a:spcPts val="1000"/>
              </a:spcBef>
              <a:spcAft>
                <a:spcPts val="1000"/>
              </a:spcAft>
              <a:buClr>
                <a:schemeClr val="dk1"/>
              </a:buClr>
              <a:buSzPts val="1000"/>
              <a:buFont typeface="Source Sans Pro"/>
              <a:buChar char="●"/>
              <a:defRPr b="0" i="0" sz="1000" u="none" cap="none" strike="noStrike">
                <a:solidFill>
                  <a:schemeClr val="dk1"/>
                </a:solidFill>
                <a:latin typeface="Source Sans Pro"/>
                <a:ea typeface="Source Sans Pro"/>
                <a:cs typeface="Source Sans Pro"/>
                <a:sym typeface="Source Sans Pro"/>
              </a:defRPr>
            </a:lvl9pPr>
          </a:lstStyle>
          <a:p/>
        </p:txBody>
      </p:sp>
      <p:sp>
        <p:nvSpPr>
          <p:cNvPr id="213" name="Google Shape;213;p47"/>
          <p:cNvSpPr txBox="1"/>
          <p:nvPr>
            <p:ph type="title"/>
          </p:nvPr>
        </p:nvSpPr>
        <p:spPr>
          <a:xfrm>
            <a:off x="545250" y="219450"/>
            <a:ext cx="8049900" cy="5853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ource Sans Pro"/>
              <a:buNone/>
              <a:defRPr b="1" i="0" sz="3000" u="none" cap="none" strike="noStrike">
                <a:solidFill>
                  <a:schemeClr val="dk1"/>
                </a:solidFill>
                <a:latin typeface="Source Sans Pro"/>
                <a:ea typeface="Source Sans Pro"/>
                <a:cs typeface="Source Sans Pro"/>
                <a:sym typeface="Source Sans Pr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14" name="Google Shape;214;p47"/>
          <p:cNvSpPr txBox="1"/>
          <p:nvPr>
            <p:ph idx="12" type="sldNum"/>
          </p:nvPr>
        </p:nvSpPr>
        <p:spPr>
          <a:xfrm>
            <a:off x="8375904" y="4700016"/>
            <a:ext cx="548700" cy="2925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5.png"/><Relationship Id="rId13" Type="http://schemas.openxmlformats.org/officeDocument/2006/relationships/image" Target="../media/image13.png"/><Relationship Id="rId12" Type="http://schemas.openxmlformats.org/officeDocument/2006/relationships/image" Target="../media/image8.png"/><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0.png"/><Relationship Id="rId9" Type="http://schemas.openxmlformats.org/officeDocument/2006/relationships/image" Target="../media/image12.png"/><Relationship Id="rId15" Type="http://schemas.openxmlformats.org/officeDocument/2006/relationships/image" Target="../media/image20.png"/><Relationship Id="rId14" Type="http://schemas.openxmlformats.org/officeDocument/2006/relationships/image" Target="../media/image11.png"/><Relationship Id="rId17" Type="http://schemas.openxmlformats.org/officeDocument/2006/relationships/image" Target="../media/image17.png"/><Relationship Id="rId16" Type="http://schemas.openxmlformats.org/officeDocument/2006/relationships/image" Target="../media/image16.png"/><Relationship Id="rId5" Type="http://schemas.openxmlformats.org/officeDocument/2006/relationships/image" Target="../media/image22.png"/><Relationship Id="rId19" Type="http://schemas.openxmlformats.org/officeDocument/2006/relationships/image" Target="../media/image18.png"/><Relationship Id="rId6" Type="http://schemas.openxmlformats.org/officeDocument/2006/relationships/image" Target="../media/image2.png"/><Relationship Id="rId18"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20" Type="http://schemas.openxmlformats.org/officeDocument/2006/relationships/image" Target="../media/image12.png"/><Relationship Id="rId22" Type="http://schemas.openxmlformats.org/officeDocument/2006/relationships/image" Target="../media/image6.png"/><Relationship Id="rId21" Type="http://schemas.openxmlformats.org/officeDocument/2006/relationships/image" Target="../media/image15.png"/><Relationship Id="rId24" Type="http://schemas.openxmlformats.org/officeDocument/2006/relationships/image" Target="../media/image13.png"/><Relationship Id="rId23" Type="http://schemas.openxmlformats.org/officeDocument/2006/relationships/image" Target="../media/image8.png"/><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2.png"/><Relationship Id="rId4" Type="http://schemas.openxmlformats.org/officeDocument/2006/relationships/image" Target="../media/image23.png"/><Relationship Id="rId9" Type="http://schemas.openxmlformats.org/officeDocument/2006/relationships/image" Target="../media/image32.png"/><Relationship Id="rId26" Type="http://schemas.openxmlformats.org/officeDocument/2006/relationships/image" Target="../media/image20.png"/><Relationship Id="rId25" Type="http://schemas.openxmlformats.org/officeDocument/2006/relationships/image" Target="../media/image11.png"/><Relationship Id="rId27" Type="http://schemas.openxmlformats.org/officeDocument/2006/relationships/image" Target="../media/image16.png"/><Relationship Id="rId5" Type="http://schemas.openxmlformats.org/officeDocument/2006/relationships/image" Target="../media/image37.png"/><Relationship Id="rId6" Type="http://schemas.openxmlformats.org/officeDocument/2006/relationships/image" Target="../media/image21.png"/><Relationship Id="rId7" Type="http://schemas.openxmlformats.org/officeDocument/2006/relationships/image" Target="../media/image76.png"/><Relationship Id="rId8" Type="http://schemas.openxmlformats.org/officeDocument/2006/relationships/image" Target="../media/image36.png"/><Relationship Id="rId11" Type="http://schemas.openxmlformats.org/officeDocument/2006/relationships/image" Target="../media/image31.png"/><Relationship Id="rId10" Type="http://schemas.openxmlformats.org/officeDocument/2006/relationships/image" Target="../media/image34.png"/><Relationship Id="rId13" Type="http://schemas.openxmlformats.org/officeDocument/2006/relationships/image" Target="../media/image30.png"/><Relationship Id="rId12" Type="http://schemas.openxmlformats.org/officeDocument/2006/relationships/image" Target="../media/image29.png"/><Relationship Id="rId15" Type="http://schemas.openxmlformats.org/officeDocument/2006/relationships/image" Target="../media/image10.png"/><Relationship Id="rId14" Type="http://schemas.openxmlformats.org/officeDocument/2006/relationships/image" Target="../media/image3.png"/><Relationship Id="rId17" Type="http://schemas.openxmlformats.org/officeDocument/2006/relationships/image" Target="../media/image2.png"/><Relationship Id="rId16" Type="http://schemas.openxmlformats.org/officeDocument/2006/relationships/image" Target="../media/image22.png"/><Relationship Id="rId19" Type="http://schemas.openxmlformats.org/officeDocument/2006/relationships/image" Target="../media/image5.png"/><Relationship Id="rId18" Type="http://schemas.openxmlformats.org/officeDocument/2006/relationships/image" Target="../media/image4.png"/></Relationships>
</file>

<file path=ppt/slides/_rels/slide4.xml.rels><?xml version="1.0" encoding="UTF-8" standalone="yes"?><Relationships xmlns="http://schemas.openxmlformats.org/package/2006/relationships"><Relationship Id="rId20" Type="http://schemas.openxmlformats.org/officeDocument/2006/relationships/image" Target="../media/image50.png"/><Relationship Id="rId21" Type="http://schemas.openxmlformats.org/officeDocument/2006/relationships/image" Target="../media/image58.png"/><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35.png"/><Relationship Id="rId4" Type="http://schemas.openxmlformats.org/officeDocument/2006/relationships/image" Target="../media/image55.png"/><Relationship Id="rId9" Type="http://schemas.openxmlformats.org/officeDocument/2006/relationships/image" Target="../media/image120.png"/><Relationship Id="rId5" Type="http://schemas.openxmlformats.org/officeDocument/2006/relationships/image" Target="../media/image79.png"/><Relationship Id="rId6" Type="http://schemas.openxmlformats.org/officeDocument/2006/relationships/image" Target="../media/image78.png"/><Relationship Id="rId7" Type="http://schemas.openxmlformats.org/officeDocument/2006/relationships/image" Target="../media/image63.png"/><Relationship Id="rId8" Type="http://schemas.openxmlformats.org/officeDocument/2006/relationships/image" Target="../media/image89.png"/><Relationship Id="rId11" Type="http://schemas.openxmlformats.org/officeDocument/2006/relationships/image" Target="../media/image64.png"/><Relationship Id="rId10" Type="http://schemas.openxmlformats.org/officeDocument/2006/relationships/image" Target="../media/image67.png"/><Relationship Id="rId13" Type="http://schemas.openxmlformats.org/officeDocument/2006/relationships/image" Target="../media/image39.png"/><Relationship Id="rId12" Type="http://schemas.openxmlformats.org/officeDocument/2006/relationships/image" Target="../media/image155.png"/><Relationship Id="rId15" Type="http://schemas.openxmlformats.org/officeDocument/2006/relationships/image" Target="../media/image38.png"/><Relationship Id="rId14" Type="http://schemas.openxmlformats.org/officeDocument/2006/relationships/image" Target="../media/image44.png"/><Relationship Id="rId17" Type="http://schemas.openxmlformats.org/officeDocument/2006/relationships/image" Target="../media/image47.png"/><Relationship Id="rId16" Type="http://schemas.openxmlformats.org/officeDocument/2006/relationships/image" Target="../media/image42.png"/><Relationship Id="rId19" Type="http://schemas.openxmlformats.org/officeDocument/2006/relationships/image" Target="../media/image48.png"/><Relationship Id="rId18" Type="http://schemas.openxmlformats.org/officeDocument/2006/relationships/image" Target="../media/image5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image" Target="../media/image45.png"/><Relationship Id="rId4" Type="http://schemas.openxmlformats.org/officeDocument/2006/relationships/image" Target="../media/image43.png"/><Relationship Id="rId9" Type="http://schemas.openxmlformats.org/officeDocument/2006/relationships/image" Target="../media/image75.png"/><Relationship Id="rId5" Type="http://schemas.openxmlformats.org/officeDocument/2006/relationships/image" Target="../media/image49.png"/><Relationship Id="rId6" Type="http://schemas.openxmlformats.org/officeDocument/2006/relationships/image" Target="../media/image56.png"/><Relationship Id="rId7" Type="http://schemas.openxmlformats.org/officeDocument/2006/relationships/image" Target="../media/image51.png"/><Relationship Id="rId8" Type="http://schemas.openxmlformats.org/officeDocument/2006/relationships/image" Target="../media/image20.png"/><Relationship Id="rId10" Type="http://schemas.openxmlformats.org/officeDocument/2006/relationships/image" Target="../media/image5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45.png"/><Relationship Id="rId4" Type="http://schemas.openxmlformats.org/officeDocument/2006/relationships/image" Target="../media/image43.png"/><Relationship Id="rId9" Type="http://schemas.openxmlformats.org/officeDocument/2006/relationships/image" Target="../media/image75.png"/><Relationship Id="rId5" Type="http://schemas.openxmlformats.org/officeDocument/2006/relationships/image" Target="../media/image49.png"/><Relationship Id="rId6" Type="http://schemas.openxmlformats.org/officeDocument/2006/relationships/image" Target="../media/image56.png"/><Relationship Id="rId7" Type="http://schemas.openxmlformats.org/officeDocument/2006/relationships/image" Target="../media/image51.png"/><Relationship Id="rId8" Type="http://schemas.openxmlformats.org/officeDocument/2006/relationships/image" Target="../media/image20.png"/><Relationship Id="rId11" Type="http://schemas.openxmlformats.org/officeDocument/2006/relationships/image" Target="../media/image15.png"/><Relationship Id="rId10" Type="http://schemas.openxmlformats.org/officeDocument/2006/relationships/image" Target="../media/image54.png"/><Relationship Id="rId13" Type="http://schemas.openxmlformats.org/officeDocument/2006/relationships/image" Target="../media/image8.png"/><Relationship Id="rId1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45.png"/><Relationship Id="rId4" Type="http://schemas.openxmlformats.org/officeDocument/2006/relationships/image" Target="../media/image43.png"/><Relationship Id="rId9" Type="http://schemas.openxmlformats.org/officeDocument/2006/relationships/image" Target="../media/image75.png"/><Relationship Id="rId5" Type="http://schemas.openxmlformats.org/officeDocument/2006/relationships/image" Target="../media/image49.png"/><Relationship Id="rId6" Type="http://schemas.openxmlformats.org/officeDocument/2006/relationships/image" Target="../media/image56.png"/><Relationship Id="rId7" Type="http://schemas.openxmlformats.org/officeDocument/2006/relationships/image" Target="../media/image51.png"/><Relationship Id="rId8" Type="http://schemas.openxmlformats.org/officeDocument/2006/relationships/image" Target="../media/image20.png"/><Relationship Id="rId11" Type="http://schemas.openxmlformats.org/officeDocument/2006/relationships/image" Target="../media/image6.png"/><Relationship Id="rId10"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1.png"/><Relationship Id="rId4" Type="http://schemas.openxmlformats.org/officeDocument/2006/relationships/image" Target="../media/image65.png"/><Relationship Id="rId5" Type="http://schemas.openxmlformats.org/officeDocument/2006/relationships/image" Target="../media/image95.png"/><Relationship Id="rId6" Type="http://schemas.openxmlformats.org/officeDocument/2006/relationships/image" Target="../media/image57.png"/><Relationship Id="rId7" Type="http://schemas.openxmlformats.org/officeDocument/2006/relationships/image" Target="../media/image6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59.png"/><Relationship Id="rId4" Type="http://schemas.openxmlformats.org/officeDocument/2006/relationships/image" Target="../media/image62.png"/><Relationship Id="rId9" Type="http://schemas.openxmlformats.org/officeDocument/2006/relationships/image" Target="../media/image157.png"/><Relationship Id="rId5" Type="http://schemas.openxmlformats.org/officeDocument/2006/relationships/image" Target="../media/image60.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2.png"/><Relationship Id="rId11" Type="http://schemas.openxmlformats.org/officeDocument/2006/relationships/image" Target="../media/image77.png"/><Relationship Id="rId10" Type="http://schemas.openxmlformats.org/officeDocument/2006/relationships/image" Target="../media/image70.png"/><Relationship Id="rId13" Type="http://schemas.openxmlformats.org/officeDocument/2006/relationships/image" Target="../media/image74.png"/><Relationship Id="rId12" Type="http://schemas.openxmlformats.org/officeDocument/2006/relationships/image" Target="../media/image71.png"/><Relationship Id="rId14" Type="http://schemas.openxmlformats.org/officeDocument/2006/relationships/image" Target="../media/image1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107.png"/><Relationship Id="rId4" Type="http://schemas.openxmlformats.org/officeDocument/2006/relationships/image" Target="../media/image81.png"/><Relationship Id="rId5" Type="http://schemas.openxmlformats.org/officeDocument/2006/relationships/image" Target="../media/image73.png"/><Relationship Id="rId6" Type="http://schemas.openxmlformats.org/officeDocument/2006/relationships/image" Target="../media/image7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0.png"/><Relationship Id="rId4" Type="http://schemas.openxmlformats.org/officeDocument/2006/relationships/image" Target="../media/image88.png"/><Relationship Id="rId5" Type="http://schemas.openxmlformats.org/officeDocument/2006/relationships/image" Target="../media/image116.png"/><Relationship Id="rId6" Type="http://schemas.openxmlformats.org/officeDocument/2006/relationships/image" Target="../media/image9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83.png"/><Relationship Id="rId4" Type="http://schemas.openxmlformats.org/officeDocument/2006/relationships/image" Target="../media/image85.png"/><Relationship Id="rId5" Type="http://schemas.openxmlformats.org/officeDocument/2006/relationships/image" Target="../media/image10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87.png"/><Relationship Id="rId4" Type="http://schemas.openxmlformats.org/officeDocument/2006/relationships/image" Target="../media/image38.png"/><Relationship Id="rId5" Type="http://schemas.openxmlformats.org/officeDocument/2006/relationships/image" Target="../media/image44.png"/><Relationship Id="rId6" Type="http://schemas.openxmlformats.org/officeDocument/2006/relationships/image" Target="../media/image50.png"/><Relationship Id="rId7" Type="http://schemas.openxmlformats.org/officeDocument/2006/relationships/image" Target="../media/image10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61.png"/><Relationship Id="rId4" Type="http://schemas.openxmlformats.org/officeDocument/2006/relationships/image" Target="../media/image65.png"/><Relationship Id="rId5" Type="http://schemas.openxmlformats.org/officeDocument/2006/relationships/image" Target="../media/image95.png"/><Relationship Id="rId6" Type="http://schemas.openxmlformats.org/officeDocument/2006/relationships/image" Target="../media/image57.png"/><Relationship Id="rId7" Type="http://schemas.openxmlformats.org/officeDocument/2006/relationships/image" Target="../media/image6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90.jpg"/><Relationship Id="rId4" Type="http://schemas.openxmlformats.org/officeDocument/2006/relationships/image" Target="../media/image8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92.png"/><Relationship Id="rId4" Type="http://schemas.openxmlformats.org/officeDocument/2006/relationships/image" Target="../media/image9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93.png"/><Relationship Id="rId4" Type="http://schemas.openxmlformats.org/officeDocument/2006/relationships/image" Target="../media/image1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9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8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97.png"/><Relationship Id="rId4" Type="http://schemas.openxmlformats.org/officeDocument/2006/relationships/image" Target="../media/image123.png"/><Relationship Id="rId5" Type="http://schemas.openxmlformats.org/officeDocument/2006/relationships/image" Target="../media/image10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112.png"/><Relationship Id="rId4" Type="http://schemas.openxmlformats.org/officeDocument/2006/relationships/image" Target="../media/image10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99.png"/><Relationship Id="rId4" Type="http://schemas.openxmlformats.org/officeDocument/2006/relationships/image" Target="../media/image10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119.png"/><Relationship Id="rId4" Type="http://schemas.openxmlformats.org/officeDocument/2006/relationships/image" Target="../media/image1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19.png"/><Relationship Id="rId6" Type="http://schemas.openxmlformats.org/officeDocument/2006/relationships/image" Target="../media/image148.png"/><Relationship Id="rId7" Type="http://schemas.openxmlformats.org/officeDocument/2006/relationships/image" Target="../media/image1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127.png"/><Relationship Id="rId4" Type="http://schemas.openxmlformats.org/officeDocument/2006/relationships/image" Target="../media/image160.png"/><Relationship Id="rId5" Type="http://schemas.openxmlformats.org/officeDocument/2006/relationships/image" Target="../media/image10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160.png"/><Relationship Id="rId4" Type="http://schemas.openxmlformats.org/officeDocument/2006/relationships/image" Target="../media/image1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60.png"/><Relationship Id="rId4" Type="http://schemas.openxmlformats.org/officeDocument/2006/relationships/image" Target="../media/image114.png"/><Relationship Id="rId5" Type="http://schemas.openxmlformats.org/officeDocument/2006/relationships/image" Target="../media/image1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115.png"/><Relationship Id="rId4" Type="http://schemas.openxmlformats.org/officeDocument/2006/relationships/image" Target="../media/image1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 Id="rId3" Type="http://schemas.openxmlformats.org/officeDocument/2006/relationships/image" Target="../media/image100.png"/><Relationship Id="rId4" Type="http://schemas.openxmlformats.org/officeDocument/2006/relationships/image" Target="../media/image1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 Id="rId3" Type="http://schemas.openxmlformats.org/officeDocument/2006/relationships/image" Target="../media/image132.png"/><Relationship Id="rId4" Type="http://schemas.openxmlformats.org/officeDocument/2006/relationships/image" Target="../media/image122.png"/><Relationship Id="rId9" Type="http://schemas.openxmlformats.org/officeDocument/2006/relationships/image" Target="../media/image133.png"/><Relationship Id="rId5" Type="http://schemas.openxmlformats.org/officeDocument/2006/relationships/image" Target="../media/image125.png"/><Relationship Id="rId6" Type="http://schemas.openxmlformats.org/officeDocument/2006/relationships/image" Target="../media/image130.png"/><Relationship Id="rId7" Type="http://schemas.openxmlformats.org/officeDocument/2006/relationships/image" Target="../media/image126.png"/><Relationship Id="rId8" Type="http://schemas.openxmlformats.org/officeDocument/2006/relationships/hyperlink" Target="https://www.dhs.gov/science-and-technology/news/2020/06/15/news-release-cambridge-start-receives-inaugural-phase-5-award" TargetMode="External"/><Relationship Id="rId11" Type="http://schemas.openxmlformats.org/officeDocument/2006/relationships/image" Target="../media/image129.png"/><Relationship Id="rId10" Type="http://schemas.openxmlformats.org/officeDocument/2006/relationships/image" Target="../media/image134.png"/><Relationship Id="rId12" Type="http://schemas.openxmlformats.org/officeDocument/2006/relationships/image" Target="../media/image1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 Id="rId3" Type="http://schemas.openxmlformats.org/officeDocument/2006/relationships/image" Target="../media/image153.png"/><Relationship Id="rId4" Type="http://schemas.openxmlformats.org/officeDocument/2006/relationships/image" Target="../media/image1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109.png"/><Relationship Id="rId4" Type="http://schemas.openxmlformats.org/officeDocument/2006/relationships/image" Target="../media/image140.png"/><Relationship Id="rId5" Type="http://schemas.openxmlformats.org/officeDocument/2006/relationships/image" Target="../media/image1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8.xml"/><Relationship Id="rId3" Type="http://schemas.openxmlformats.org/officeDocument/2006/relationships/image" Target="../media/image139.png"/><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 Id="rId3" Type="http://schemas.openxmlformats.org/officeDocument/2006/relationships/image" Target="../media/image143.png"/><Relationship Id="rId4" Type="http://schemas.openxmlformats.org/officeDocument/2006/relationships/image" Target="../media/image1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136.png"/><Relationship Id="rId4" Type="http://schemas.openxmlformats.org/officeDocument/2006/relationships/hyperlink" Target="https://www.linkedin.com/in/thomaspologruto/" TargetMode="External"/><Relationship Id="rId5" Type="http://schemas.openxmlformats.org/officeDocument/2006/relationships/hyperlink" Target="https://www.tamr.com/datamasters/on-demand/breaking-all-the-rules-why-finance-is-turning-to-machine-learning-to-manage-data/" TargetMode="External"/><Relationship Id="rId6" Type="http://schemas.openxmlformats.org/officeDocument/2006/relationships/image" Target="../media/image1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 Id="rId3" Type="http://schemas.openxmlformats.org/officeDocument/2006/relationships/image" Target="../media/image144.png"/><Relationship Id="rId4" Type="http://schemas.openxmlformats.org/officeDocument/2006/relationships/hyperlink" Target="https://www.linkedin.com/in/stevensmatt/" TargetMode="External"/><Relationship Id="rId5" Type="http://schemas.openxmlformats.org/officeDocument/2006/relationships/image" Target="../media/image16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hyperlink" Target="https://www.linkedin.com/search/results/all/?keywords=Remy%20Evard&amp;origin=GLOBAL_SEARCH_HEADER" TargetMode="External"/><Relationship Id="rId4" Type="http://schemas.openxmlformats.org/officeDocument/2006/relationships/image" Target="../media/image141.png"/><Relationship Id="rId5" Type="http://schemas.openxmlformats.org/officeDocument/2006/relationships/image" Target="../media/image1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145.png"/><Relationship Id="rId4" Type="http://schemas.openxmlformats.org/officeDocument/2006/relationships/hyperlink" Target="https://www.linkedin.com/in/graeme-gordon-39b15525/" TargetMode="External"/><Relationship Id="rId5" Type="http://schemas.openxmlformats.org/officeDocument/2006/relationships/image" Target="../media/image1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Relationship Id="rId3" Type="http://schemas.openxmlformats.org/officeDocument/2006/relationships/image" Target="../media/image158.png"/><Relationship Id="rId4" Type="http://schemas.openxmlformats.org/officeDocument/2006/relationships/image" Target="../media/image147.png"/><Relationship Id="rId5" Type="http://schemas.openxmlformats.org/officeDocument/2006/relationships/hyperlink" Target="https://www.linkedin.com/in/andrevarga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 Id="rId3" Type="http://schemas.openxmlformats.org/officeDocument/2006/relationships/image" Target="../media/image103.png"/><Relationship Id="rId4" Type="http://schemas.openxmlformats.org/officeDocument/2006/relationships/image" Target="../media/image1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 Id="rId3" Type="http://schemas.openxmlformats.org/officeDocument/2006/relationships/image" Target="../media/image151.png"/><Relationship Id="rId4" Type="http://schemas.openxmlformats.org/officeDocument/2006/relationships/image" Target="../media/image1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9"/>
          <p:cNvSpPr txBox="1"/>
          <p:nvPr>
            <p:ph type="title"/>
          </p:nvPr>
        </p:nvSpPr>
        <p:spPr>
          <a:xfrm>
            <a:off x="524250" y="1869907"/>
            <a:ext cx="87051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4000">
                <a:latin typeface="Source Sans Pro"/>
                <a:ea typeface="Source Sans Pro"/>
                <a:cs typeface="Source Sans Pro"/>
                <a:sym typeface="Source Sans Pro"/>
              </a:rPr>
              <a:t>Tamr Data Mastering</a:t>
            </a:r>
            <a:endParaRPr b="1" sz="4000">
              <a:latin typeface="Source Sans Pro"/>
              <a:ea typeface="Source Sans Pro"/>
              <a:cs typeface="Source Sans Pro"/>
              <a:sym typeface="Source Sans Pro"/>
            </a:endParaRPr>
          </a:p>
        </p:txBody>
      </p:sp>
      <p:sp>
        <p:nvSpPr>
          <p:cNvPr id="332" name="Google Shape;332;p69"/>
          <p:cNvSpPr txBox="1"/>
          <p:nvPr>
            <p:ph idx="1" type="subTitle"/>
          </p:nvPr>
        </p:nvSpPr>
        <p:spPr>
          <a:xfrm>
            <a:off x="524256" y="3837668"/>
            <a:ext cx="8705100" cy="7926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Bridging the Gap Between Data and Business Outcomes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70"/>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Big Data Isn’t a Problem. Bad </a:t>
            </a:r>
            <a:r>
              <a:rPr lang="en" sz="2400"/>
              <a:t>Data</a:t>
            </a:r>
            <a:r>
              <a:rPr lang="en" sz="2400"/>
              <a:t> Is. </a:t>
            </a:r>
            <a:endParaRPr sz="2400"/>
          </a:p>
        </p:txBody>
      </p:sp>
      <p:grpSp>
        <p:nvGrpSpPr>
          <p:cNvPr id="338" name="Google Shape;338;p70"/>
          <p:cNvGrpSpPr/>
          <p:nvPr/>
        </p:nvGrpSpPr>
        <p:grpSpPr>
          <a:xfrm>
            <a:off x="807035" y="2651271"/>
            <a:ext cx="1797793" cy="670800"/>
            <a:chOff x="835450" y="3108471"/>
            <a:chExt cx="1797793" cy="670800"/>
          </a:xfrm>
        </p:grpSpPr>
        <p:sp>
          <p:nvSpPr>
            <p:cNvPr id="339" name="Google Shape;339;p70"/>
            <p:cNvSpPr/>
            <p:nvPr/>
          </p:nvSpPr>
          <p:spPr>
            <a:xfrm>
              <a:off x="877375" y="3108471"/>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0"/>
            <p:cNvSpPr/>
            <p:nvPr/>
          </p:nvSpPr>
          <p:spPr>
            <a:xfrm>
              <a:off x="835450" y="3108471"/>
              <a:ext cx="670800" cy="67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0"/>
            <p:cNvSpPr txBox="1"/>
            <p:nvPr/>
          </p:nvSpPr>
          <p:spPr>
            <a:xfrm>
              <a:off x="1509743" y="3297185"/>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Data Warehouses</a:t>
              </a:r>
              <a:endParaRPr b="1" sz="1000">
                <a:solidFill>
                  <a:schemeClr val="dk1"/>
                </a:solidFill>
                <a:latin typeface="Source Sans Pro"/>
                <a:ea typeface="Source Sans Pro"/>
                <a:cs typeface="Source Sans Pro"/>
                <a:sym typeface="Source Sans Pro"/>
              </a:endParaRPr>
            </a:p>
          </p:txBody>
        </p:sp>
        <p:pic>
          <p:nvPicPr>
            <p:cNvPr id="342" name="Google Shape;342;p70"/>
            <p:cNvPicPr preferRelativeResize="0"/>
            <p:nvPr/>
          </p:nvPicPr>
          <p:blipFill>
            <a:blip r:embed="rId3">
              <a:alphaModFix/>
            </a:blip>
            <a:stretch>
              <a:fillRect/>
            </a:stretch>
          </p:blipFill>
          <p:spPr>
            <a:xfrm>
              <a:off x="1051850" y="3297171"/>
              <a:ext cx="238000" cy="293400"/>
            </a:xfrm>
            <a:prstGeom prst="rect">
              <a:avLst/>
            </a:prstGeom>
            <a:noFill/>
            <a:ln>
              <a:noFill/>
            </a:ln>
          </p:spPr>
        </p:pic>
      </p:grpSp>
      <p:grpSp>
        <p:nvGrpSpPr>
          <p:cNvPr id="343" name="Google Shape;343;p70"/>
          <p:cNvGrpSpPr/>
          <p:nvPr/>
        </p:nvGrpSpPr>
        <p:grpSpPr>
          <a:xfrm>
            <a:off x="807035" y="1849159"/>
            <a:ext cx="1801148" cy="670800"/>
            <a:chOff x="807035" y="2077759"/>
            <a:chExt cx="1801148" cy="670800"/>
          </a:xfrm>
        </p:grpSpPr>
        <p:sp>
          <p:nvSpPr>
            <p:cNvPr id="344" name="Google Shape;344;p70"/>
            <p:cNvSpPr/>
            <p:nvPr/>
          </p:nvSpPr>
          <p:spPr>
            <a:xfrm>
              <a:off x="813853" y="2077759"/>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0"/>
            <p:cNvSpPr/>
            <p:nvPr/>
          </p:nvSpPr>
          <p:spPr>
            <a:xfrm>
              <a:off x="807035" y="2077759"/>
              <a:ext cx="670800" cy="67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0"/>
            <p:cNvSpPr txBox="1"/>
            <p:nvPr/>
          </p:nvSpPr>
          <p:spPr>
            <a:xfrm>
              <a:off x="1484683" y="2266472"/>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Master Data Management</a:t>
              </a:r>
              <a:endParaRPr b="1" sz="1000">
                <a:solidFill>
                  <a:schemeClr val="dk1"/>
                </a:solidFill>
                <a:latin typeface="Source Sans Pro"/>
                <a:ea typeface="Source Sans Pro"/>
                <a:cs typeface="Source Sans Pro"/>
                <a:sym typeface="Source Sans Pro"/>
              </a:endParaRPr>
            </a:p>
          </p:txBody>
        </p:sp>
        <p:pic>
          <p:nvPicPr>
            <p:cNvPr id="347" name="Google Shape;347;p70"/>
            <p:cNvPicPr preferRelativeResize="0"/>
            <p:nvPr/>
          </p:nvPicPr>
          <p:blipFill>
            <a:blip r:embed="rId4">
              <a:alphaModFix/>
            </a:blip>
            <a:stretch>
              <a:fillRect/>
            </a:stretch>
          </p:blipFill>
          <p:spPr>
            <a:xfrm flipH="1">
              <a:off x="972673" y="2263311"/>
              <a:ext cx="333875" cy="299699"/>
            </a:xfrm>
            <a:prstGeom prst="rect">
              <a:avLst/>
            </a:prstGeom>
            <a:noFill/>
            <a:ln>
              <a:noFill/>
            </a:ln>
          </p:spPr>
        </p:pic>
      </p:grpSp>
      <p:pic>
        <p:nvPicPr>
          <p:cNvPr id="348" name="Google Shape;348;p70"/>
          <p:cNvPicPr preferRelativeResize="0"/>
          <p:nvPr/>
        </p:nvPicPr>
        <p:blipFill rotWithShape="1">
          <a:blip r:embed="rId5">
            <a:alphaModFix/>
          </a:blip>
          <a:srcRect b="29230" l="0" r="0" t="21726"/>
          <a:stretch/>
        </p:blipFill>
        <p:spPr>
          <a:xfrm>
            <a:off x="795820" y="3521741"/>
            <a:ext cx="953099" cy="221026"/>
          </a:xfrm>
          <a:prstGeom prst="rect">
            <a:avLst/>
          </a:prstGeom>
          <a:noFill/>
          <a:ln>
            <a:noFill/>
          </a:ln>
        </p:spPr>
      </p:pic>
      <p:pic>
        <p:nvPicPr>
          <p:cNvPr id="349" name="Google Shape;349;p70"/>
          <p:cNvPicPr preferRelativeResize="0"/>
          <p:nvPr/>
        </p:nvPicPr>
        <p:blipFill>
          <a:blip r:embed="rId6">
            <a:alphaModFix/>
          </a:blip>
          <a:stretch>
            <a:fillRect/>
          </a:stretch>
        </p:blipFill>
        <p:spPr>
          <a:xfrm>
            <a:off x="1748917" y="3555498"/>
            <a:ext cx="811104" cy="221025"/>
          </a:xfrm>
          <a:prstGeom prst="rect">
            <a:avLst/>
          </a:prstGeom>
          <a:noFill/>
          <a:ln>
            <a:noFill/>
          </a:ln>
        </p:spPr>
      </p:pic>
      <p:pic>
        <p:nvPicPr>
          <p:cNvPr id="350" name="Google Shape;350;p70"/>
          <p:cNvPicPr preferRelativeResize="0"/>
          <p:nvPr/>
        </p:nvPicPr>
        <p:blipFill rotWithShape="1">
          <a:blip r:embed="rId7">
            <a:alphaModFix/>
          </a:blip>
          <a:srcRect b="38629" l="13648" r="13172" t="37565"/>
          <a:stretch/>
        </p:blipFill>
        <p:spPr>
          <a:xfrm>
            <a:off x="843942" y="3851744"/>
            <a:ext cx="1038576" cy="176824"/>
          </a:xfrm>
          <a:prstGeom prst="rect">
            <a:avLst/>
          </a:prstGeom>
          <a:noFill/>
          <a:ln>
            <a:noFill/>
          </a:ln>
        </p:spPr>
      </p:pic>
      <p:pic>
        <p:nvPicPr>
          <p:cNvPr id="351" name="Google Shape;351;p70"/>
          <p:cNvPicPr preferRelativeResize="0"/>
          <p:nvPr/>
        </p:nvPicPr>
        <p:blipFill>
          <a:blip r:embed="rId8">
            <a:alphaModFix/>
          </a:blip>
          <a:stretch>
            <a:fillRect/>
          </a:stretch>
        </p:blipFill>
        <p:spPr>
          <a:xfrm>
            <a:off x="4147525" y="3442426"/>
            <a:ext cx="811101" cy="193903"/>
          </a:xfrm>
          <a:prstGeom prst="rect">
            <a:avLst/>
          </a:prstGeom>
          <a:noFill/>
          <a:ln>
            <a:noFill/>
          </a:ln>
        </p:spPr>
      </p:pic>
      <p:pic>
        <p:nvPicPr>
          <p:cNvPr id="352" name="Google Shape;352;p70"/>
          <p:cNvPicPr preferRelativeResize="0"/>
          <p:nvPr/>
        </p:nvPicPr>
        <p:blipFill>
          <a:blip r:embed="rId9">
            <a:alphaModFix/>
          </a:blip>
          <a:stretch>
            <a:fillRect/>
          </a:stretch>
        </p:blipFill>
        <p:spPr>
          <a:xfrm>
            <a:off x="5068246" y="3429913"/>
            <a:ext cx="418266" cy="218985"/>
          </a:xfrm>
          <a:prstGeom prst="rect">
            <a:avLst/>
          </a:prstGeom>
          <a:noFill/>
          <a:ln>
            <a:noFill/>
          </a:ln>
        </p:spPr>
      </p:pic>
      <p:pic>
        <p:nvPicPr>
          <p:cNvPr id="353" name="Google Shape;353;p70"/>
          <p:cNvPicPr preferRelativeResize="0"/>
          <p:nvPr/>
        </p:nvPicPr>
        <p:blipFill>
          <a:blip r:embed="rId10">
            <a:alphaModFix/>
          </a:blip>
          <a:stretch>
            <a:fillRect/>
          </a:stretch>
        </p:blipFill>
        <p:spPr>
          <a:xfrm>
            <a:off x="5184713" y="3141853"/>
            <a:ext cx="367026" cy="218985"/>
          </a:xfrm>
          <a:prstGeom prst="rect">
            <a:avLst/>
          </a:prstGeom>
          <a:noFill/>
          <a:ln>
            <a:noFill/>
          </a:ln>
        </p:spPr>
      </p:pic>
      <p:pic>
        <p:nvPicPr>
          <p:cNvPr id="354" name="Google Shape;354;p70"/>
          <p:cNvPicPr preferRelativeResize="0"/>
          <p:nvPr/>
        </p:nvPicPr>
        <p:blipFill>
          <a:blip r:embed="rId11">
            <a:alphaModFix/>
          </a:blip>
          <a:stretch>
            <a:fillRect/>
          </a:stretch>
        </p:blipFill>
        <p:spPr>
          <a:xfrm>
            <a:off x="4663125" y="3112247"/>
            <a:ext cx="495987" cy="278227"/>
          </a:xfrm>
          <a:prstGeom prst="rect">
            <a:avLst/>
          </a:prstGeom>
          <a:noFill/>
          <a:ln>
            <a:noFill/>
          </a:ln>
        </p:spPr>
      </p:pic>
      <p:pic>
        <p:nvPicPr>
          <p:cNvPr id="355" name="Google Shape;355;p70"/>
          <p:cNvPicPr preferRelativeResize="0"/>
          <p:nvPr/>
        </p:nvPicPr>
        <p:blipFill>
          <a:blip r:embed="rId12">
            <a:alphaModFix/>
          </a:blip>
          <a:stretch>
            <a:fillRect/>
          </a:stretch>
        </p:blipFill>
        <p:spPr>
          <a:xfrm>
            <a:off x="3994075" y="3192892"/>
            <a:ext cx="654846" cy="116911"/>
          </a:xfrm>
          <a:prstGeom prst="rect">
            <a:avLst/>
          </a:prstGeom>
          <a:noFill/>
          <a:ln>
            <a:noFill/>
          </a:ln>
        </p:spPr>
      </p:pic>
      <p:grpSp>
        <p:nvGrpSpPr>
          <p:cNvPr id="356" name="Google Shape;356;p70"/>
          <p:cNvGrpSpPr/>
          <p:nvPr/>
        </p:nvGrpSpPr>
        <p:grpSpPr>
          <a:xfrm>
            <a:off x="3874579" y="1449584"/>
            <a:ext cx="1792438" cy="670800"/>
            <a:chOff x="3874579" y="1449584"/>
            <a:chExt cx="1792438" cy="670800"/>
          </a:xfrm>
        </p:grpSpPr>
        <p:sp>
          <p:nvSpPr>
            <p:cNvPr id="357" name="Google Shape;357;p70"/>
            <p:cNvSpPr/>
            <p:nvPr/>
          </p:nvSpPr>
          <p:spPr>
            <a:xfrm>
              <a:off x="3916893" y="1449584"/>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70"/>
            <p:cNvSpPr/>
            <p:nvPr/>
          </p:nvSpPr>
          <p:spPr>
            <a:xfrm>
              <a:off x="3874579" y="1449584"/>
              <a:ext cx="670800" cy="670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70"/>
            <p:cNvSpPr txBox="1"/>
            <p:nvPr/>
          </p:nvSpPr>
          <p:spPr>
            <a:xfrm>
              <a:off x="4543517" y="1638297"/>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Cloud Data Platforms</a:t>
              </a:r>
              <a:endParaRPr b="1" sz="1000">
                <a:solidFill>
                  <a:schemeClr val="dk1"/>
                </a:solidFill>
                <a:latin typeface="Source Sans Pro"/>
                <a:ea typeface="Source Sans Pro"/>
                <a:cs typeface="Source Sans Pro"/>
                <a:sym typeface="Source Sans Pro"/>
              </a:endParaRPr>
            </a:p>
          </p:txBody>
        </p:sp>
        <p:pic>
          <p:nvPicPr>
            <p:cNvPr id="360" name="Google Shape;360;p70"/>
            <p:cNvPicPr preferRelativeResize="0"/>
            <p:nvPr/>
          </p:nvPicPr>
          <p:blipFill>
            <a:blip r:embed="rId13">
              <a:alphaModFix/>
            </a:blip>
            <a:stretch>
              <a:fillRect/>
            </a:stretch>
          </p:blipFill>
          <p:spPr>
            <a:xfrm>
              <a:off x="4046164" y="1562392"/>
              <a:ext cx="418250" cy="423753"/>
            </a:xfrm>
            <a:prstGeom prst="rect">
              <a:avLst/>
            </a:prstGeom>
            <a:noFill/>
            <a:ln>
              <a:noFill/>
            </a:ln>
          </p:spPr>
        </p:pic>
      </p:grpSp>
      <p:grpSp>
        <p:nvGrpSpPr>
          <p:cNvPr id="361" name="Google Shape;361;p70"/>
          <p:cNvGrpSpPr/>
          <p:nvPr/>
        </p:nvGrpSpPr>
        <p:grpSpPr>
          <a:xfrm>
            <a:off x="3874579" y="2249596"/>
            <a:ext cx="1792438" cy="670800"/>
            <a:chOff x="3931494" y="2554396"/>
            <a:chExt cx="1792438" cy="670800"/>
          </a:xfrm>
        </p:grpSpPr>
        <p:grpSp>
          <p:nvGrpSpPr>
            <p:cNvPr id="362" name="Google Shape;362;p70"/>
            <p:cNvGrpSpPr/>
            <p:nvPr/>
          </p:nvGrpSpPr>
          <p:grpSpPr>
            <a:xfrm>
              <a:off x="3931494" y="2554396"/>
              <a:ext cx="1792438" cy="670800"/>
              <a:chOff x="4388806" y="3455750"/>
              <a:chExt cx="1792438" cy="670800"/>
            </a:xfrm>
          </p:grpSpPr>
          <p:sp>
            <p:nvSpPr>
              <p:cNvPr id="363" name="Google Shape;363;p70"/>
              <p:cNvSpPr/>
              <p:nvPr/>
            </p:nvSpPr>
            <p:spPr>
              <a:xfrm>
                <a:off x="4431120" y="3455750"/>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0"/>
              <p:cNvSpPr/>
              <p:nvPr/>
            </p:nvSpPr>
            <p:spPr>
              <a:xfrm>
                <a:off x="4388806" y="3455750"/>
                <a:ext cx="670800" cy="670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0"/>
              <p:cNvSpPr txBox="1"/>
              <p:nvPr/>
            </p:nvSpPr>
            <p:spPr>
              <a:xfrm>
                <a:off x="5057744" y="3644464"/>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Cloud Elastic</a:t>
                </a:r>
                <a:endParaRPr b="1" sz="10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Compute</a:t>
                </a:r>
                <a:endParaRPr b="1" sz="1000">
                  <a:solidFill>
                    <a:schemeClr val="dk1"/>
                  </a:solidFill>
                  <a:latin typeface="Source Sans Pro"/>
                  <a:ea typeface="Source Sans Pro"/>
                  <a:cs typeface="Source Sans Pro"/>
                  <a:sym typeface="Source Sans Pro"/>
                </a:endParaRPr>
              </a:p>
            </p:txBody>
          </p:sp>
        </p:grpSp>
        <p:pic>
          <p:nvPicPr>
            <p:cNvPr id="366" name="Google Shape;366;p70"/>
            <p:cNvPicPr preferRelativeResize="0"/>
            <p:nvPr/>
          </p:nvPicPr>
          <p:blipFill>
            <a:blip r:embed="rId14">
              <a:alphaModFix/>
            </a:blip>
            <a:stretch>
              <a:fillRect/>
            </a:stretch>
          </p:blipFill>
          <p:spPr>
            <a:xfrm>
              <a:off x="4023109" y="2688265"/>
              <a:ext cx="495975" cy="434675"/>
            </a:xfrm>
            <a:prstGeom prst="rect">
              <a:avLst/>
            </a:prstGeom>
            <a:noFill/>
            <a:ln>
              <a:noFill/>
            </a:ln>
          </p:spPr>
        </p:pic>
      </p:grpSp>
      <p:pic>
        <p:nvPicPr>
          <p:cNvPr id="367" name="Google Shape;367;p70"/>
          <p:cNvPicPr preferRelativeResize="0"/>
          <p:nvPr/>
        </p:nvPicPr>
        <p:blipFill>
          <a:blip r:embed="rId15">
            <a:alphaModFix/>
          </a:blip>
          <a:stretch>
            <a:fillRect/>
          </a:stretch>
        </p:blipFill>
        <p:spPr>
          <a:xfrm>
            <a:off x="2831523" y="1319316"/>
            <a:ext cx="670800" cy="2178798"/>
          </a:xfrm>
          <a:prstGeom prst="rect">
            <a:avLst/>
          </a:prstGeom>
          <a:noFill/>
          <a:ln>
            <a:noFill/>
          </a:ln>
        </p:spPr>
      </p:pic>
      <p:pic>
        <p:nvPicPr>
          <p:cNvPr id="368" name="Google Shape;368;p70"/>
          <p:cNvPicPr preferRelativeResize="0"/>
          <p:nvPr/>
        </p:nvPicPr>
        <p:blipFill>
          <a:blip r:embed="rId15">
            <a:alphaModFix/>
          </a:blip>
          <a:stretch>
            <a:fillRect/>
          </a:stretch>
        </p:blipFill>
        <p:spPr>
          <a:xfrm>
            <a:off x="5978612" y="1615813"/>
            <a:ext cx="495975" cy="1610958"/>
          </a:xfrm>
          <a:prstGeom prst="rect">
            <a:avLst/>
          </a:prstGeom>
          <a:noFill/>
          <a:ln>
            <a:noFill/>
          </a:ln>
        </p:spPr>
      </p:pic>
      <p:grpSp>
        <p:nvGrpSpPr>
          <p:cNvPr id="369" name="Google Shape;369;p70"/>
          <p:cNvGrpSpPr/>
          <p:nvPr/>
        </p:nvGrpSpPr>
        <p:grpSpPr>
          <a:xfrm>
            <a:off x="807035" y="1047071"/>
            <a:ext cx="1792438" cy="670800"/>
            <a:chOff x="824806" y="1047071"/>
            <a:chExt cx="1792438" cy="670800"/>
          </a:xfrm>
        </p:grpSpPr>
        <p:sp>
          <p:nvSpPr>
            <p:cNvPr id="370" name="Google Shape;370;p70"/>
            <p:cNvSpPr txBox="1"/>
            <p:nvPr/>
          </p:nvSpPr>
          <p:spPr>
            <a:xfrm>
              <a:off x="1493744" y="1235785"/>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latin typeface="Source Sans Pro"/>
                  <a:ea typeface="Source Sans Pro"/>
                  <a:cs typeface="Source Sans Pro"/>
                  <a:sym typeface="Source Sans Pro"/>
                </a:rPr>
                <a:t>Data Lakes</a:t>
              </a:r>
              <a:endParaRPr b="1" sz="1000">
                <a:latin typeface="Source Sans Pro"/>
                <a:ea typeface="Source Sans Pro"/>
                <a:cs typeface="Source Sans Pro"/>
                <a:sym typeface="Source Sans Pro"/>
              </a:endParaRPr>
            </a:p>
          </p:txBody>
        </p:sp>
        <p:sp>
          <p:nvSpPr>
            <p:cNvPr id="371" name="Google Shape;371;p70"/>
            <p:cNvSpPr/>
            <p:nvPr/>
          </p:nvSpPr>
          <p:spPr>
            <a:xfrm>
              <a:off x="867120" y="1047071"/>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70"/>
            <p:cNvSpPr/>
            <p:nvPr/>
          </p:nvSpPr>
          <p:spPr>
            <a:xfrm>
              <a:off x="824806" y="1047071"/>
              <a:ext cx="670800" cy="67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3" name="Google Shape;373;p70"/>
            <p:cNvPicPr preferRelativeResize="0"/>
            <p:nvPr/>
          </p:nvPicPr>
          <p:blipFill>
            <a:blip r:embed="rId16">
              <a:alphaModFix/>
            </a:blip>
            <a:stretch>
              <a:fillRect/>
            </a:stretch>
          </p:blipFill>
          <p:spPr>
            <a:xfrm>
              <a:off x="952001" y="1184611"/>
              <a:ext cx="418250" cy="418250"/>
            </a:xfrm>
            <a:prstGeom prst="rect">
              <a:avLst/>
            </a:prstGeom>
            <a:noFill/>
            <a:ln>
              <a:noFill/>
            </a:ln>
          </p:spPr>
        </p:pic>
        <p:sp>
          <p:nvSpPr>
            <p:cNvPr id="374" name="Google Shape;374;p70"/>
            <p:cNvSpPr txBox="1"/>
            <p:nvPr/>
          </p:nvSpPr>
          <p:spPr>
            <a:xfrm>
              <a:off x="1493744" y="1235785"/>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Data Lakes</a:t>
              </a:r>
              <a:endParaRPr b="1" sz="1000">
                <a:solidFill>
                  <a:schemeClr val="dk1"/>
                </a:solidFill>
                <a:latin typeface="Source Sans Pro"/>
                <a:ea typeface="Source Sans Pro"/>
                <a:cs typeface="Source Sans Pro"/>
                <a:sym typeface="Source Sans Pro"/>
              </a:endParaRPr>
            </a:p>
          </p:txBody>
        </p:sp>
      </p:grpSp>
      <p:sp>
        <p:nvSpPr>
          <p:cNvPr id="375" name="Google Shape;375;p70"/>
          <p:cNvSpPr txBox="1"/>
          <p:nvPr/>
        </p:nvSpPr>
        <p:spPr>
          <a:xfrm>
            <a:off x="7292725" y="1151463"/>
            <a:ext cx="1570500" cy="5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No single view of customers</a:t>
            </a:r>
            <a:endParaRPr b="1">
              <a:solidFill>
                <a:schemeClr val="dk1"/>
              </a:solidFill>
              <a:latin typeface="Source Sans Pro"/>
              <a:ea typeface="Source Sans Pro"/>
              <a:cs typeface="Source Sans Pro"/>
              <a:sym typeface="Source Sans Pro"/>
            </a:endParaRPr>
          </a:p>
        </p:txBody>
      </p:sp>
      <p:sp>
        <p:nvSpPr>
          <p:cNvPr id="376" name="Google Shape;376;p70"/>
          <p:cNvSpPr txBox="1"/>
          <p:nvPr/>
        </p:nvSpPr>
        <p:spPr>
          <a:xfrm>
            <a:off x="7298507" y="2024363"/>
            <a:ext cx="1710300" cy="5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Analytics are incomplete or stale</a:t>
            </a:r>
            <a:endParaRPr b="1">
              <a:solidFill>
                <a:schemeClr val="dk1"/>
              </a:solidFill>
              <a:latin typeface="Source Sans Pro"/>
              <a:ea typeface="Source Sans Pro"/>
              <a:cs typeface="Source Sans Pro"/>
              <a:sym typeface="Source Sans Pro"/>
            </a:endParaRPr>
          </a:p>
        </p:txBody>
      </p:sp>
      <p:sp>
        <p:nvSpPr>
          <p:cNvPr id="377" name="Google Shape;377;p70"/>
          <p:cNvSpPr txBox="1"/>
          <p:nvPr/>
        </p:nvSpPr>
        <p:spPr>
          <a:xfrm>
            <a:off x="7298506" y="2924000"/>
            <a:ext cx="1792500" cy="5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The data in operational systems “can’t be trusted”</a:t>
            </a:r>
            <a:endParaRPr b="1">
              <a:solidFill>
                <a:schemeClr val="dk1"/>
              </a:solidFill>
              <a:latin typeface="Source Sans Pro"/>
              <a:ea typeface="Source Sans Pro"/>
              <a:cs typeface="Source Sans Pro"/>
              <a:sym typeface="Source Sans Pro"/>
            </a:endParaRPr>
          </a:p>
        </p:txBody>
      </p:sp>
      <p:pic>
        <p:nvPicPr>
          <p:cNvPr id="378" name="Google Shape;378;p70"/>
          <p:cNvPicPr preferRelativeResize="0"/>
          <p:nvPr/>
        </p:nvPicPr>
        <p:blipFill>
          <a:blip r:embed="rId17">
            <a:alphaModFix/>
          </a:blip>
          <a:stretch>
            <a:fillRect/>
          </a:stretch>
        </p:blipFill>
        <p:spPr>
          <a:xfrm>
            <a:off x="6623613" y="1168592"/>
            <a:ext cx="623275" cy="474831"/>
          </a:xfrm>
          <a:prstGeom prst="rect">
            <a:avLst/>
          </a:prstGeom>
          <a:noFill/>
          <a:ln>
            <a:noFill/>
          </a:ln>
        </p:spPr>
      </p:pic>
      <p:pic>
        <p:nvPicPr>
          <p:cNvPr id="379" name="Google Shape;379;p70"/>
          <p:cNvPicPr preferRelativeResize="0"/>
          <p:nvPr/>
        </p:nvPicPr>
        <p:blipFill>
          <a:blip r:embed="rId18">
            <a:alphaModFix/>
          </a:blip>
          <a:stretch>
            <a:fillRect/>
          </a:stretch>
        </p:blipFill>
        <p:spPr>
          <a:xfrm>
            <a:off x="6697820" y="2058612"/>
            <a:ext cx="474860" cy="474825"/>
          </a:xfrm>
          <a:prstGeom prst="rect">
            <a:avLst/>
          </a:prstGeom>
          <a:noFill/>
          <a:ln>
            <a:noFill/>
          </a:ln>
        </p:spPr>
      </p:pic>
      <p:pic>
        <p:nvPicPr>
          <p:cNvPr id="380" name="Google Shape;380;p70"/>
          <p:cNvPicPr preferRelativeResize="0"/>
          <p:nvPr/>
        </p:nvPicPr>
        <p:blipFill>
          <a:blip r:embed="rId19">
            <a:alphaModFix/>
          </a:blip>
          <a:stretch>
            <a:fillRect/>
          </a:stretch>
        </p:blipFill>
        <p:spPr>
          <a:xfrm>
            <a:off x="6743218" y="2955679"/>
            <a:ext cx="474875" cy="4748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71"/>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Big Data Isn’t a Problem. Bad </a:t>
            </a:r>
            <a:r>
              <a:rPr lang="en" sz="2400"/>
              <a:t>Data</a:t>
            </a:r>
            <a:r>
              <a:rPr lang="en" sz="2400"/>
              <a:t> Is. </a:t>
            </a:r>
            <a:endParaRPr sz="2400"/>
          </a:p>
        </p:txBody>
      </p:sp>
      <p:grpSp>
        <p:nvGrpSpPr>
          <p:cNvPr id="386" name="Google Shape;386;p71"/>
          <p:cNvGrpSpPr/>
          <p:nvPr/>
        </p:nvGrpSpPr>
        <p:grpSpPr>
          <a:xfrm>
            <a:off x="6924347" y="1178359"/>
            <a:ext cx="1857447" cy="670800"/>
            <a:chOff x="6894847" y="2124850"/>
            <a:chExt cx="1857447" cy="670800"/>
          </a:xfrm>
        </p:grpSpPr>
        <p:sp>
          <p:nvSpPr>
            <p:cNvPr id="387" name="Google Shape;387;p71"/>
            <p:cNvSpPr/>
            <p:nvPr/>
          </p:nvSpPr>
          <p:spPr>
            <a:xfrm>
              <a:off x="6917816" y="2124850"/>
              <a:ext cx="1660446" cy="670788"/>
            </a:xfrm>
            <a:prstGeom prst="flowChartTerminator">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71"/>
            <p:cNvSpPr/>
            <p:nvPr/>
          </p:nvSpPr>
          <p:spPr>
            <a:xfrm>
              <a:off x="6894847" y="2124850"/>
              <a:ext cx="670800" cy="670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1"/>
            <p:cNvSpPr txBox="1"/>
            <p:nvPr/>
          </p:nvSpPr>
          <p:spPr>
            <a:xfrm>
              <a:off x="7628794" y="2313564"/>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DataOps</a:t>
              </a:r>
              <a:endParaRPr b="1" sz="1000">
                <a:solidFill>
                  <a:schemeClr val="dk1"/>
                </a:solidFill>
                <a:latin typeface="Source Sans Pro"/>
                <a:ea typeface="Source Sans Pro"/>
                <a:cs typeface="Source Sans Pro"/>
                <a:sym typeface="Source Sans Pro"/>
              </a:endParaRPr>
            </a:p>
          </p:txBody>
        </p:sp>
        <p:pic>
          <p:nvPicPr>
            <p:cNvPr id="390" name="Google Shape;390;p71"/>
            <p:cNvPicPr preferRelativeResize="0"/>
            <p:nvPr/>
          </p:nvPicPr>
          <p:blipFill>
            <a:blip r:embed="rId3">
              <a:alphaModFix/>
            </a:blip>
            <a:stretch>
              <a:fillRect/>
            </a:stretch>
          </p:blipFill>
          <p:spPr>
            <a:xfrm>
              <a:off x="6978635" y="2356772"/>
              <a:ext cx="499500" cy="221026"/>
            </a:xfrm>
            <a:prstGeom prst="rect">
              <a:avLst/>
            </a:prstGeom>
            <a:noFill/>
            <a:ln>
              <a:noFill/>
            </a:ln>
          </p:spPr>
        </p:pic>
      </p:grpSp>
      <p:pic>
        <p:nvPicPr>
          <p:cNvPr id="391" name="Google Shape;391;p71"/>
          <p:cNvPicPr preferRelativeResize="0"/>
          <p:nvPr/>
        </p:nvPicPr>
        <p:blipFill>
          <a:blip r:embed="rId4">
            <a:alphaModFix/>
          </a:blip>
          <a:stretch>
            <a:fillRect/>
          </a:stretch>
        </p:blipFill>
        <p:spPr>
          <a:xfrm>
            <a:off x="7284708" y="1915232"/>
            <a:ext cx="1136726" cy="423626"/>
          </a:xfrm>
          <a:prstGeom prst="rect">
            <a:avLst/>
          </a:prstGeom>
          <a:noFill/>
          <a:ln>
            <a:noFill/>
          </a:ln>
        </p:spPr>
      </p:pic>
      <p:pic>
        <p:nvPicPr>
          <p:cNvPr id="392" name="Google Shape;392;p71"/>
          <p:cNvPicPr preferRelativeResize="0"/>
          <p:nvPr/>
        </p:nvPicPr>
        <p:blipFill>
          <a:blip r:embed="rId5">
            <a:alphaModFix/>
          </a:blip>
          <a:stretch>
            <a:fillRect/>
          </a:stretch>
        </p:blipFill>
        <p:spPr>
          <a:xfrm>
            <a:off x="7468595" y="2457541"/>
            <a:ext cx="492150" cy="134222"/>
          </a:xfrm>
          <a:prstGeom prst="rect">
            <a:avLst/>
          </a:prstGeom>
          <a:noFill/>
          <a:ln>
            <a:noFill/>
          </a:ln>
        </p:spPr>
      </p:pic>
      <p:pic>
        <p:nvPicPr>
          <p:cNvPr id="393" name="Google Shape;393;p71"/>
          <p:cNvPicPr preferRelativeResize="0"/>
          <p:nvPr/>
        </p:nvPicPr>
        <p:blipFill>
          <a:blip r:embed="rId6">
            <a:alphaModFix/>
          </a:blip>
          <a:stretch>
            <a:fillRect/>
          </a:stretch>
        </p:blipFill>
        <p:spPr>
          <a:xfrm>
            <a:off x="6829813" y="2476580"/>
            <a:ext cx="561463" cy="96161"/>
          </a:xfrm>
          <a:prstGeom prst="rect">
            <a:avLst/>
          </a:prstGeom>
          <a:noFill/>
          <a:ln>
            <a:noFill/>
          </a:ln>
        </p:spPr>
      </p:pic>
      <p:pic>
        <p:nvPicPr>
          <p:cNvPr id="394" name="Google Shape;394;p71"/>
          <p:cNvPicPr preferRelativeResize="0"/>
          <p:nvPr/>
        </p:nvPicPr>
        <p:blipFill>
          <a:blip r:embed="rId7">
            <a:alphaModFix/>
          </a:blip>
          <a:stretch>
            <a:fillRect/>
          </a:stretch>
        </p:blipFill>
        <p:spPr>
          <a:xfrm>
            <a:off x="8007809" y="2404946"/>
            <a:ext cx="217402" cy="211957"/>
          </a:xfrm>
          <a:prstGeom prst="rect">
            <a:avLst/>
          </a:prstGeom>
          <a:noFill/>
          <a:ln>
            <a:noFill/>
          </a:ln>
        </p:spPr>
      </p:pic>
      <p:pic>
        <p:nvPicPr>
          <p:cNvPr id="395" name="Google Shape;395;p71"/>
          <p:cNvPicPr preferRelativeResize="0"/>
          <p:nvPr/>
        </p:nvPicPr>
        <p:blipFill>
          <a:blip r:embed="rId8">
            <a:alphaModFix/>
          </a:blip>
          <a:stretch>
            <a:fillRect/>
          </a:stretch>
        </p:blipFill>
        <p:spPr>
          <a:xfrm>
            <a:off x="8348881" y="2461777"/>
            <a:ext cx="377332" cy="125777"/>
          </a:xfrm>
          <a:prstGeom prst="rect">
            <a:avLst/>
          </a:prstGeom>
          <a:noFill/>
          <a:ln>
            <a:noFill/>
          </a:ln>
        </p:spPr>
      </p:pic>
      <p:pic>
        <p:nvPicPr>
          <p:cNvPr id="396" name="Google Shape;396;p71"/>
          <p:cNvPicPr preferRelativeResize="0"/>
          <p:nvPr/>
        </p:nvPicPr>
        <p:blipFill>
          <a:blip r:embed="rId9">
            <a:alphaModFix/>
          </a:blip>
          <a:stretch>
            <a:fillRect/>
          </a:stretch>
        </p:blipFill>
        <p:spPr>
          <a:xfrm>
            <a:off x="7019841" y="2798320"/>
            <a:ext cx="238000" cy="241295"/>
          </a:xfrm>
          <a:prstGeom prst="rect">
            <a:avLst/>
          </a:prstGeom>
          <a:noFill/>
          <a:ln>
            <a:noFill/>
          </a:ln>
        </p:spPr>
      </p:pic>
      <p:cxnSp>
        <p:nvCxnSpPr>
          <p:cNvPr id="397" name="Google Shape;397;p71"/>
          <p:cNvCxnSpPr/>
          <p:nvPr/>
        </p:nvCxnSpPr>
        <p:spPr>
          <a:xfrm flipH="1" rot="10800000">
            <a:off x="7019825" y="2702538"/>
            <a:ext cx="1666500" cy="7200"/>
          </a:xfrm>
          <a:prstGeom prst="straightConnector1">
            <a:avLst/>
          </a:prstGeom>
          <a:noFill/>
          <a:ln cap="flat" cmpd="sng" w="9525">
            <a:solidFill>
              <a:schemeClr val="dk2"/>
            </a:solidFill>
            <a:prstDash val="solid"/>
            <a:round/>
            <a:headEnd len="med" w="med" type="none"/>
            <a:tailEnd len="med" w="med" type="none"/>
          </a:ln>
        </p:spPr>
      </p:cxnSp>
      <p:pic>
        <p:nvPicPr>
          <p:cNvPr id="398" name="Google Shape;398;p71"/>
          <p:cNvPicPr preferRelativeResize="0"/>
          <p:nvPr/>
        </p:nvPicPr>
        <p:blipFill>
          <a:blip r:embed="rId10">
            <a:alphaModFix/>
          </a:blip>
          <a:stretch>
            <a:fillRect/>
          </a:stretch>
        </p:blipFill>
        <p:spPr>
          <a:xfrm>
            <a:off x="6971901" y="3158637"/>
            <a:ext cx="333875" cy="194334"/>
          </a:xfrm>
          <a:prstGeom prst="rect">
            <a:avLst/>
          </a:prstGeom>
          <a:noFill/>
          <a:ln>
            <a:noFill/>
          </a:ln>
        </p:spPr>
      </p:pic>
      <p:pic>
        <p:nvPicPr>
          <p:cNvPr id="399" name="Google Shape;399;p71"/>
          <p:cNvPicPr preferRelativeResize="0"/>
          <p:nvPr/>
        </p:nvPicPr>
        <p:blipFill>
          <a:blip r:embed="rId11">
            <a:alphaModFix/>
          </a:blip>
          <a:stretch>
            <a:fillRect/>
          </a:stretch>
        </p:blipFill>
        <p:spPr>
          <a:xfrm>
            <a:off x="7001860" y="3487225"/>
            <a:ext cx="217400" cy="323866"/>
          </a:xfrm>
          <a:prstGeom prst="rect">
            <a:avLst/>
          </a:prstGeom>
          <a:noFill/>
          <a:ln>
            <a:noFill/>
          </a:ln>
        </p:spPr>
      </p:pic>
      <p:pic>
        <p:nvPicPr>
          <p:cNvPr id="400" name="Google Shape;400;p71"/>
          <p:cNvPicPr preferRelativeResize="0"/>
          <p:nvPr/>
        </p:nvPicPr>
        <p:blipFill>
          <a:blip r:embed="rId12">
            <a:alphaModFix/>
          </a:blip>
          <a:stretch>
            <a:fillRect/>
          </a:stretch>
        </p:blipFill>
        <p:spPr>
          <a:xfrm>
            <a:off x="6976338" y="3957813"/>
            <a:ext cx="268425" cy="268425"/>
          </a:xfrm>
          <a:prstGeom prst="rect">
            <a:avLst/>
          </a:prstGeom>
          <a:noFill/>
          <a:ln>
            <a:noFill/>
          </a:ln>
        </p:spPr>
      </p:pic>
      <p:pic>
        <p:nvPicPr>
          <p:cNvPr id="401" name="Google Shape;401;p71"/>
          <p:cNvPicPr preferRelativeResize="0"/>
          <p:nvPr/>
        </p:nvPicPr>
        <p:blipFill>
          <a:blip r:embed="rId13">
            <a:alphaModFix/>
          </a:blip>
          <a:stretch>
            <a:fillRect/>
          </a:stretch>
        </p:blipFill>
        <p:spPr>
          <a:xfrm>
            <a:off x="6976341" y="4372976"/>
            <a:ext cx="268425" cy="271582"/>
          </a:xfrm>
          <a:prstGeom prst="rect">
            <a:avLst/>
          </a:prstGeom>
          <a:noFill/>
          <a:ln>
            <a:noFill/>
          </a:ln>
        </p:spPr>
      </p:pic>
      <p:sp>
        <p:nvSpPr>
          <p:cNvPr id="402" name="Google Shape;402;p71"/>
          <p:cNvSpPr txBox="1"/>
          <p:nvPr/>
        </p:nvSpPr>
        <p:spPr>
          <a:xfrm>
            <a:off x="7468600" y="2795396"/>
            <a:ext cx="1038600" cy="26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1000">
                <a:solidFill>
                  <a:schemeClr val="dk1"/>
                </a:solidFill>
                <a:latin typeface="Source Sans Pro"/>
                <a:ea typeface="Source Sans Pro"/>
                <a:cs typeface="Source Sans Pro"/>
                <a:sym typeface="Source Sans Pro"/>
              </a:rPr>
              <a:t>Agile</a:t>
            </a:r>
            <a:endParaRPr b="1" i="1" sz="1000">
              <a:solidFill>
                <a:schemeClr val="dk1"/>
              </a:solidFill>
              <a:latin typeface="Source Sans Pro"/>
              <a:ea typeface="Source Sans Pro"/>
              <a:cs typeface="Source Sans Pro"/>
              <a:sym typeface="Source Sans Pro"/>
            </a:endParaRPr>
          </a:p>
        </p:txBody>
      </p:sp>
      <p:sp>
        <p:nvSpPr>
          <p:cNvPr id="403" name="Google Shape;403;p71"/>
          <p:cNvSpPr txBox="1"/>
          <p:nvPr/>
        </p:nvSpPr>
        <p:spPr>
          <a:xfrm>
            <a:off x="7468600" y="3121546"/>
            <a:ext cx="1038600" cy="26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1000">
                <a:solidFill>
                  <a:schemeClr val="dk1"/>
                </a:solidFill>
                <a:latin typeface="Source Sans Pro"/>
                <a:ea typeface="Source Sans Pro"/>
                <a:cs typeface="Source Sans Pro"/>
                <a:sym typeface="Source Sans Pro"/>
              </a:rPr>
              <a:t>Continuous</a:t>
            </a:r>
            <a:endParaRPr b="1" i="1" sz="1000">
              <a:solidFill>
                <a:schemeClr val="dk1"/>
              </a:solidFill>
              <a:latin typeface="Source Sans Pro"/>
              <a:ea typeface="Source Sans Pro"/>
              <a:cs typeface="Source Sans Pro"/>
              <a:sym typeface="Source Sans Pro"/>
            </a:endParaRPr>
          </a:p>
        </p:txBody>
      </p:sp>
      <p:sp>
        <p:nvSpPr>
          <p:cNvPr id="404" name="Google Shape;404;p71"/>
          <p:cNvSpPr txBox="1"/>
          <p:nvPr/>
        </p:nvSpPr>
        <p:spPr>
          <a:xfrm>
            <a:off x="7468600" y="3510296"/>
            <a:ext cx="1038600" cy="26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1000">
                <a:solidFill>
                  <a:schemeClr val="dk1"/>
                </a:solidFill>
                <a:latin typeface="Source Sans Pro"/>
                <a:ea typeface="Source Sans Pro"/>
                <a:cs typeface="Source Sans Pro"/>
                <a:sym typeface="Source Sans Pro"/>
              </a:rPr>
              <a:t>Collaborative</a:t>
            </a:r>
            <a:endParaRPr b="1" i="1" sz="1000">
              <a:solidFill>
                <a:schemeClr val="dk1"/>
              </a:solidFill>
              <a:latin typeface="Source Sans Pro"/>
              <a:ea typeface="Source Sans Pro"/>
              <a:cs typeface="Source Sans Pro"/>
              <a:sym typeface="Source Sans Pro"/>
            </a:endParaRPr>
          </a:p>
        </p:txBody>
      </p:sp>
      <p:sp>
        <p:nvSpPr>
          <p:cNvPr id="405" name="Google Shape;405;p71"/>
          <p:cNvSpPr txBox="1"/>
          <p:nvPr/>
        </p:nvSpPr>
        <p:spPr>
          <a:xfrm>
            <a:off x="7468600" y="3957775"/>
            <a:ext cx="1605300" cy="26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1000">
                <a:solidFill>
                  <a:schemeClr val="dk1"/>
                </a:solidFill>
                <a:latin typeface="Source Sans Pro"/>
                <a:ea typeface="Source Sans Pro"/>
                <a:cs typeface="Source Sans Pro"/>
                <a:sym typeface="Source Sans Pro"/>
              </a:rPr>
              <a:t>Interoperable / </a:t>
            </a:r>
            <a:br>
              <a:rPr b="1" i="1" lang="en" sz="1000">
                <a:solidFill>
                  <a:schemeClr val="dk1"/>
                </a:solidFill>
                <a:latin typeface="Source Sans Pro"/>
                <a:ea typeface="Source Sans Pro"/>
                <a:cs typeface="Source Sans Pro"/>
                <a:sym typeface="Source Sans Pro"/>
              </a:rPr>
            </a:br>
            <a:r>
              <a:rPr b="1" i="1" lang="en" sz="1000">
                <a:solidFill>
                  <a:schemeClr val="dk1"/>
                </a:solidFill>
                <a:latin typeface="Source Sans Pro"/>
                <a:ea typeface="Source Sans Pro"/>
                <a:cs typeface="Source Sans Pro"/>
                <a:sym typeface="Source Sans Pro"/>
              </a:rPr>
              <a:t>Best of Breed</a:t>
            </a:r>
            <a:endParaRPr b="1" i="1" sz="1000">
              <a:solidFill>
                <a:schemeClr val="dk1"/>
              </a:solidFill>
              <a:latin typeface="Source Sans Pro"/>
              <a:ea typeface="Source Sans Pro"/>
              <a:cs typeface="Source Sans Pro"/>
              <a:sym typeface="Source Sans Pro"/>
            </a:endParaRPr>
          </a:p>
        </p:txBody>
      </p:sp>
      <p:sp>
        <p:nvSpPr>
          <p:cNvPr id="406" name="Google Shape;406;p71"/>
          <p:cNvSpPr txBox="1"/>
          <p:nvPr/>
        </p:nvSpPr>
        <p:spPr>
          <a:xfrm>
            <a:off x="7468600" y="4374500"/>
            <a:ext cx="1371600" cy="26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1000">
                <a:solidFill>
                  <a:schemeClr val="dk1"/>
                </a:solidFill>
                <a:latin typeface="Source Sans Pro"/>
                <a:ea typeface="Source Sans Pro"/>
                <a:cs typeface="Source Sans Pro"/>
                <a:sym typeface="Source Sans Pro"/>
              </a:rPr>
              <a:t>Scale Out/Distributed</a:t>
            </a:r>
            <a:endParaRPr b="1" i="1" sz="1000">
              <a:solidFill>
                <a:schemeClr val="dk1"/>
              </a:solidFill>
              <a:latin typeface="Source Sans Pro"/>
              <a:ea typeface="Source Sans Pro"/>
              <a:cs typeface="Source Sans Pro"/>
              <a:sym typeface="Source Sans Pro"/>
            </a:endParaRPr>
          </a:p>
        </p:txBody>
      </p:sp>
      <p:grpSp>
        <p:nvGrpSpPr>
          <p:cNvPr id="407" name="Google Shape;407;p71"/>
          <p:cNvGrpSpPr/>
          <p:nvPr/>
        </p:nvGrpSpPr>
        <p:grpSpPr>
          <a:xfrm>
            <a:off x="807035" y="2651271"/>
            <a:ext cx="1797793" cy="670800"/>
            <a:chOff x="807035" y="2651271"/>
            <a:chExt cx="1797793" cy="670800"/>
          </a:xfrm>
        </p:grpSpPr>
        <p:sp>
          <p:nvSpPr>
            <p:cNvPr id="408" name="Google Shape;408;p71"/>
            <p:cNvSpPr/>
            <p:nvPr/>
          </p:nvSpPr>
          <p:spPr>
            <a:xfrm>
              <a:off x="848960" y="2651271"/>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71"/>
            <p:cNvSpPr/>
            <p:nvPr/>
          </p:nvSpPr>
          <p:spPr>
            <a:xfrm>
              <a:off x="807035" y="2651271"/>
              <a:ext cx="670800" cy="67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71"/>
            <p:cNvSpPr txBox="1"/>
            <p:nvPr/>
          </p:nvSpPr>
          <p:spPr>
            <a:xfrm>
              <a:off x="1481328" y="2839985"/>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Data Warehouses</a:t>
              </a:r>
              <a:endParaRPr b="1" sz="1000">
                <a:solidFill>
                  <a:schemeClr val="dk1"/>
                </a:solidFill>
                <a:latin typeface="Source Sans Pro"/>
                <a:ea typeface="Source Sans Pro"/>
                <a:cs typeface="Source Sans Pro"/>
                <a:sym typeface="Source Sans Pro"/>
              </a:endParaRPr>
            </a:p>
          </p:txBody>
        </p:sp>
        <p:pic>
          <p:nvPicPr>
            <p:cNvPr id="411" name="Google Shape;411;p71"/>
            <p:cNvPicPr preferRelativeResize="0"/>
            <p:nvPr/>
          </p:nvPicPr>
          <p:blipFill>
            <a:blip r:embed="rId14">
              <a:alphaModFix/>
            </a:blip>
            <a:stretch>
              <a:fillRect/>
            </a:stretch>
          </p:blipFill>
          <p:spPr>
            <a:xfrm>
              <a:off x="1023435" y="2839971"/>
              <a:ext cx="238000" cy="293400"/>
            </a:xfrm>
            <a:prstGeom prst="rect">
              <a:avLst/>
            </a:prstGeom>
            <a:noFill/>
            <a:ln>
              <a:noFill/>
            </a:ln>
          </p:spPr>
        </p:pic>
      </p:grpSp>
      <p:grpSp>
        <p:nvGrpSpPr>
          <p:cNvPr id="412" name="Google Shape;412;p71"/>
          <p:cNvGrpSpPr/>
          <p:nvPr/>
        </p:nvGrpSpPr>
        <p:grpSpPr>
          <a:xfrm>
            <a:off x="807035" y="1849159"/>
            <a:ext cx="1801148" cy="670800"/>
            <a:chOff x="807035" y="2077759"/>
            <a:chExt cx="1801148" cy="670800"/>
          </a:xfrm>
        </p:grpSpPr>
        <p:sp>
          <p:nvSpPr>
            <p:cNvPr id="413" name="Google Shape;413;p71"/>
            <p:cNvSpPr/>
            <p:nvPr/>
          </p:nvSpPr>
          <p:spPr>
            <a:xfrm>
              <a:off x="813853" y="2077759"/>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1"/>
            <p:cNvSpPr/>
            <p:nvPr/>
          </p:nvSpPr>
          <p:spPr>
            <a:xfrm>
              <a:off x="807035" y="2077759"/>
              <a:ext cx="670800" cy="67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71"/>
            <p:cNvSpPr txBox="1"/>
            <p:nvPr/>
          </p:nvSpPr>
          <p:spPr>
            <a:xfrm>
              <a:off x="1484683" y="2266472"/>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Master Data Management</a:t>
              </a:r>
              <a:endParaRPr b="1" sz="1000">
                <a:solidFill>
                  <a:schemeClr val="dk1"/>
                </a:solidFill>
                <a:latin typeface="Source Sans Pro"/>
                <a:ea typeface="Source Sans Pro"/>
                <a:cs typeface="Source Sans Pro"/>
                <a:sym typeface="Source Sans Pro"/>
              </a:endParaRPr>
            </a:p>
          </p:txBody>
        </p:sp>
        <p:pic>
          <p:nvPicPr>
            <p:cNvPr id="416" name="Google Shape;416;p71"/>
            <p:cNvPicPr preferRelativeResize="0"/>
            <p:nvPr/>
          </p:nvPicPr>
          <p:blipFill>
            <a:blip r:embed="rId15">
              <a:alphaModFix/>
            </a:blip>
            <a:stretch>
              <a:fillRect/>
            </a:stretch>
          </p:blipFill>
          <p:spPr>
            <a:xfrm flipH="1">
              <a:off x="972673" y="2263311"/>
              <a:ext cx="333875" cy="299699"/>
            </a:xfrm>
            <a:prstGeom prst="rect">
              <a:avLst/>
            </a:prstGeom>
            <a:noFill/>
            <a:ln>
              <a:noFill/>
            </a:ln>
          </p:spPr>
        </p:pic>
      </p:grpSp>
      <p:pic>
        <p:nvPicPr>
          <p:cNvPr id="417" name="Google Shape;417;p71"/>
          <p:cNvPicPr preferRelativeResize="0"/>
          <p:nvPr/>
        </p:nvPicPr>
        <p:blipFill rotWithShape="1">
          <a:blip r:embed="rId16">
            <a:alphaModFix/>
          </a:blip>
          <a:srcRect b="29230" l="0" r="0" t="21726"/>
          <a:stretch/>
        </p:blipFill>
        <p:spPr>
          <a:xfrm>
            <a:off x="795820" y="3521741"/>
            <a:ext cx="953099" cy="221026"/>
          </a:xfrm>
          <a:prstGeom prst="rect">
            <a:avLst/>
          </a:prstGeom>
          <a:noFill/>
          <a:ln>
            <a:noFill/>
          </a:ln>
        </p:spPr>
      </p:pic>
      <p:pic>
        <p:nvPicPr>
          <p:cNvPr id="418" name="Google Shape;418;p71"/>
          <p:cNvPicPr preferRelativeResize="0"/>
          <p:nvPr/>
        </p:nvPicPr>
        <p:blipFill>
          <a:blip r:embed="rId17">
            <a:alphaModFix/>
          </a:blip>
          <a:stretch>
            <a:fillRect/>
          </a:stretch>
        </p:blipFill>
        <p:spPr>
          <a:xfrm>
            <a:off x="1748917" y="3555498"/>
            <a:ext cx="811104" cy="221025"/>
          </a:xfrm>
          <a:prstGeom prst="rect">
            <a:avLst/>
          </a:prstGeom>
          <a:noFill/>
          <a:ln>
            <a:noFill/>
          </a:ln>
        </p:spPr>
      </p:pic>
      <p:pic>
        <p:nvPicPr>
          <p:cNvPr id="419" name="Google Shape;419;p71"/>
          <p:cNvPicPr preferRelativeResize="0"/>
          <p:nvPr/>
        </p:nvPicPr>
        <p:blipFill rotWithShape="1">
          <a:blip r:embed="rId18">
            <a:alphaModFix/>
          </a:blip>
          <a:srcRect b="38629" l="13648" r="13172" t="37565"/>
          <a:stretch/>
        </p:blipFill>
        <p:spPr>
          <a:xfrm>
            <a:off x="843942" y="3851744"/>
            <a:ext cx="1038576" cy="176824"/>
          </a:xfrm>
          <a:prstGeom prst="rect">
            <a:avLst/>
          </a:prstGeom>
          <a:noFill/>
          <a:ln>
            <a:noFill/>
          </a:ln>
        </p:spPr>
      </p:pic>
      <p:pic>
        <p:nvPicPr>
          <p:cNvPr id="420" name="Google Shape;420;p71"/>
          <p:cNvPicPr preferRelativeResize="0"/>
          <p:nvPr/>
        </p:nvPicPr>
        <p:blipFill>
          <a:blip r:embed="rId19">
            <a:alphaModFix/>
          </a:blip>
          <a:stretch>
            <a:fillRect/>
          </a:stretch>
        </p:blipFill>
        <p:spPr>
          <a:xfrm>
            <a:off x="4147525" y="3442426"/>
            <a:ext cx="811101" cy="193903"/>
          </a:xfrm>
          <a:prstGeom prst="rect">
            <a:avLst/>
          </a:prstGeom>
          <a:noFill/>
          <a:ln>
            <a:noFill/>
          </a:ln>
        </p:spPr>
      </p:pic>
      <p:pic>
        <p:nvPicPr>
          <p:cNvPr id="421" name="Google Shape;421;p71"/>
          <p:cNvPicPr preferRelativeResize="0"/>
          <p:nvPr/>
        </p:nvPicPr>
        <p:blipFill>
          <a:blip r:embed="rId20">
            <a:alphaModFix/>
          </a:blip>
          <a:stretch>
            <a:fillRect/>
          </a:stretch>
        </p:blipFill>
        <p:spPr>
          <a:xfrm>
            <a:off x="5068246" y="3429913"/>
            <a:ext cx="418266" cy="218985"/>
          </a:xfrm>
          <a:prstGeom prst="rect">
            <a:avLst/>
          </a:prstGeom>
          <a:noFill/>
          <a:ln>
            <a:noFill/>
          </a:ln>
        </p:spPr>
      </p:pic>
      <p:pic>
        <p:nvPicPr>
          <p:cNvPr id="422" name="Google Shape;422;p71"/>
          <p:cNvPicPr preferRelativeResize="0"/>
          <p:nvPr/>
        </p:nvPicPr>
        <p:blipFill>
          <a:blip r:embed="rId21">
            <a:alphaModFix/>
          </a:blip>
          <a:stretch>
            <a:fillRect/>
          </a:stretch>
        </p:blipFill>
        <p:spPr>
          <a:xfrm>
            <a:off x="5184713" y="3141853"/>
            <a:ext cx="367026" cy="218985"/>
          </a:xfrm>
          <a:prstGeom prst="rect">
            <a:avLst/>
          </a:prstGeom>
          <a:noFill/>
          <a:ln>
            <a:noFill/>
          </a:ln>
        </p:spPr>
      </p:pic>
      <p:pic>
        <p:nvPicPr>
          <p:cNvPr id="423" name="Google Shape;423;p71"/>
          <p:cNvPicPr preferRelativeResize="0"/>
          <p:nvPr/>
        </p:nvPicPr>
        <p:blipFill>
          <a:blip r:embed="rId22">
            <a:alphaModFix/>
          </a:blip>
          <a:stretch>
            <a:fillRect/>
          </a:stretch>
        </p:blipFill>
        <p:spPr>
          <a:xfrm>
            <a:off x="4663125" y="3112247"/>
            <a:ext cx="495987" cy="278227"/>
          </a:xfrm>
          <a:prstGeom prst="rect">
            <a:avLst/>
          </a:prstGeom>
          <a:noFill/>
          <a:ln>
            <a:noFill/>
          </a:ln>
        </p:spPr>
      </p:pic>
      <p:pic>
        <p:nvPicPr>
          <p:cNvPr id="424" name="Google Shape;424;p71"/>
          <p:cNvPicPr preferRelativeResize="0"/>
          <p:nvPr/>
        </p:nvPicPr>
        <p:blipFill>
          <a:blip r:embed="rId23">
            <a:alphaModFix/>
          </a:blip>
          <a:stretch>
            <a:fillRect/>
          </a:stretch>
        </p:blipFill>
        <p:spPr>
          <a:xfrm>
            <a:off x="3994075" y="3192892"/>
            <a:ext cx="654846" cy="116911"/>
          </a:xfrm>
          <a:prstGeom prst="rect">
            <a:avLst/>
          </a:prstGeom>
          <a:noFill/>
          <a:ln>
            <a:noFill/>
          </a:ln>
        </p:spPr>
      </p:pic>
      <p:grpSp>
        <p:nvGrpSpPr>
          <p:cNvPr id="425" name="Google Shape;425;p71"/>
          <p:cNvGrpSpPr/>
          <p:nvPr/>
        </p:nvGrpSpPr>
        <p:grpSpPr>
          <a:xfrm>
            <a:off x="3874579" y="1449584"/>
            <a:ext cx="1792438" cy="670800"/>
            <a:chOff x="3874579" y="1449584"/>
            <a:chExt cx="1792438" cy="670800"/>
          </a:xfrm>
        </p:grpSpPr>
        <p:sp>
          <p:nvSpPr>
            <p:cNvPr id="426" name="Google Shape;426;p71"/>
            <p:cNvSpPr/>
            <p:nvPr/>
          </p:nvSpPr>
          <p:spPr>
            <a:xfrm>
              <a:off x="3916893" y="1449584"/>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1"/>
            <p:cNvSpPr/>
            <p:nvPr/>
          </p:nvSpPr>
          <p:spPr>
            <a:xfrm>
              <a:off x="3874579" y="1449584"/>
              <a:ext cx="670800" cy="670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71"/>
            <p:cNvSpPr txBox="1"/>
            <p:nvPr/>
          </p:nvSpPr>
          <p:spPr>
            <a:xfrm>
              <a:off x="4543517" y="1638297"/>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Cloud Data Platforms</a:t>
              </a:r>
              <a:endParaRPr b="1" sz="1000">
                <a:solidFill>
                  <a:schemeClr val="dk1"/>
                </a:solidFill>
                <a:latin typeface="Source Sans Pro"/>
                <a:ea typeface="Source Sans Pro"/>
                <a:cs typeface="Source Sans Pro"/>
                <a:sym typeface="Source Sans Pro"/>
              </a:endParaRPr>
            </a:p>
          </p:txBody>
        </p:sp>
        <p:pic>
          <p:nvPicPr>
            <p:cNvPr id="429" name="Google Shape;429;p71"/>
            <p:cNvPicPr preferRelativeResize="0"/>
            <p:nvPr/>
          </p:nvPicPr>
          <p:blipFill>
            <a:blip r:embed="rId24">
              <a:alphaModFix/>
            </a:blip>
            <a:stretch>
              <a:fillRect/>
            </a:stretch>
          </p:blipFill>
          <p:spPr>
            <a:xfrm>
              <a:off x="4046164" y="1562392"/>
              <a:ext cx="418250" cy="423753"/>
            </a:xfrm>
            <a:prstGeom prst="rect">
              <a:avLst/>
            </a:prstGeom>
            <a:noFill/>
            <a:ln>
              <a:noFill/>
            </a:ln>
          </p:spPr>
        </p:pic>
      </p:grpSp>
      <p:grpSp>
        <p:nvGrpSpPr>
          <p:cNvPr id="430" name="Google Shape;430;p71"/>
          <p:cNvGrpSpPr/>
          <p:nvPr/>
        </p:nvGrpSpPr>
        <p:grpSpPr>
          <a:xfrm>
            <a:off x="3874579" y="2249596"/>
            <a:ext cx="1792438" cy="670800"/>
            <a:chOff x="3931494" y="2554396"/>
            <a:chExt cx="1792438" cy="670800"/>
          </a:xfrm>
        </p:grpSpPr>
        <p:grpSp>
          <p:nvGrpSpPr>
            <p:cNvPr id="431" name="Google Shape;431;p71"/>
            <p:cNvGrpSpPr/>
            <p:nvPr/>
          </p:nvGrpSpPr>
          <p:grpSpPr>
            <a:xfrm>
              <a:off x="3931494" y="2554396"/>
              <a:ext cx="1792438" cy="670800"/>
              <a:chOff x="4388806" y="3455750"/>
              <a:chExt cx="1792438" cy="670800"/>
            </a:xfrm>
          </p:grpSpPr>
          <p:sp>
            <p:nvSpPr>
              <p:cNvPr id="432" name="Google Shape;432;p71"/>
              <p:cNvSpPr/>
              <p:nvPr/>
            </p:nvSpPr>
            <p:spPr>
              <a:xfrm>
                <a:off x="4431120" y="3455750"/>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1"/>
              <p:cNvSpPr/>
              <p:nvPr/>
            </p:nvSpPr>
            <p:spPr>
              <a:xfrm>
                <a:off x="4388806" y="3455750"/>
                <a:ext cx="670800" cy="670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71"/>
              <p:cNvSpPr txBox="1"/>
              <p:nvPr/>
            </p:nvSpPr>
            <p:spPr>
              <a:xfrm>
                <a:off x="5057744" y="3644464"/>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Cloud Elastic</a:t>
                </a:r>
                <a:endParaRPr b="1" sz="10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Compute</a:t>
                </a:r>
                <a:endParaRPr b="1" sz="1000">
                  <a:solidFill>
                    <a:schemeClr val="dk1"/>
                  </a:solidFill>
                  <a:latin typeface="Source Sans Pro"/>
                  <a:ea typeface="Source Sans Pro"/>
                  <a:cs typeface="Source Sans Pro"/>
                  <a:sym typeface="Source Sans Pro"/>
                </a:endParaRPr>
              </a:p>
            </p:txBody>
          </p:sp>
        </p:grpSp>
        <p:pic>
          <p:nvPicPr>
            <p:cNvPr id="435" name="Google Shape;435;p71"/>
            <p:cNvPicPr preferRelativeResize="0"/>
            <p:nvPr/>
          </p:nvPicPr>
          <p:blipFill>
            <a:blip r:embed="rId25">
              <a:alphaModFix/>
            </a:blip>
            <a:stretch>
              <a:fillRect/>
            </a:stretch>
          </p:blipFill>
          <p:spPr>
            <a:xfrm>
              <a:off x="4023109" y="2688265"/>
              <a:ext cx="495975" cy="434675"/>
            </a:xfrm>
            <a:prstGeom prst="rect">
              <a:avLst/>
            </a:prstGeom>
            <a:noFill/>
            <a:ln>
              <a:noFill/>
            </a:ln>
          </p:spPr>
        </p:pic>
      </p:grpSp>
      <p:pic>
        <p:nvPicPr>
          <p:cNvPr id="436" name="Google Shape;436;p71"/>
          <p:cNvPicPr preferRelativeResize="0"/>
          <p:nvPr/>
        </p:nvPicPr>
        <p:blipFill>
          <a:blip r:embed="rId26">
            <a:alphaModFix/>
          </a:blip>
          <a:stretch>
            <a:fillRect/>
          </a:stretch>
        </p:blipFill>
        <p:spPr>
          <a:xfrm>
            <a:off x="2831523" y="1319316"/>
            <a:ext cx="670800" cy="2178798"/>
          </a:xfrm>
          <a:prstGeom prst="rect">
            <a:avLst/>
          </a:prstGeom>
          <a:noFill/>
          <a:ln>
            <a:noFill/>
          </a:ln>
        </p:spPr>
      </p:pic>
      <p:pic>
        <p:nvPicPr>
          <p:cNvPr id="437" name="Google Shape;437;p71"/>
          <p:cNvPicPr preferRelativeResize="0"/>
          <p:nvPr/>
        </p:nvPicPr>
        <p:blipFill>
          <a:blip r:embed="rId26">
            <a:alphaModFix/>
          </a:blip>
          <a:stretch>
            <a:fillRect/>
          </a:stretch>
        </p:blipFill>
        <p:spPr>
          <a:xfrm>
            <a:off x="5978612" y="1615813"/>
            <a:ext cx="495975" cy="1610958"/>
          </a:xfrm>
          <a:prstGeom prst="rect">
            <a:avLst/>
          </a:prstGeom>
          <a:noFill/>
          <a:ln>
            <a:noFill/>
          </a:ln>
        </p:spPr>
      </p:pic>
      <p:grpSp>
        <p:nvGrpSpPr>
          <p:cNvPr id="438" name="Google Shape;438;p71"/>
          <p:cNvGrpSpPr/>
          <p:nvPr/>
        </p:nvGrpSpPr>
        <p:grpSpPr>
          <a:xfrm>
            <a:off x="807035" y="1047071"/>
            <a:ext cx="1792438" cy="670800"/>
            <a:chOff x="824806" y="1047071"/>
            <a:chExt cx="1792438" cy="670800"/>
          </a:xfrm>
        </p:grpSpPr>
        <p:sp>
          <p:nvSpPr>
            <p:cNvPr id="439" name="Google Shape;439;p71"/>
            <p:cNvSpPr txBox="1"/>
            <p:nvPr/>
          </p:nvSpPr>
          <p:spPr>
            <a:xfrm>
              <a:off x="1493744" y="1235785"/>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latin typeface="Source Sans Pro"/>
                  <a:ea typeface="Source Sans Pro"/>
                  <a:cs typeface="Source Sans Pro"/>
                  <a:sym typeface="Source Sans Pro"/>
                </a:rPr>
                <a:t>Data Lakes</a:t>
              </a:r>
              <a:endParaRPr b="1" sz="1000">
                <a:latin typeface="Source Sans Pro"/>
                <a:ea typeface="Source Sans Pro"/>
                <a:cs typeface="Source Sans Pro"/>
                <a:sym typeface="Source Sans Pro"/>
              </a:endParaRPr>
            </a:p>
          </p:txBody>
        </p:sp>
        <p:sp>
          <p:nvSpPr>
            <p:cNvPr id="440" name="Google Shape;440;p71"/>
            <p:cNvSpPr/>
            <p:nvPr/>
          </p:nvSpPr>
          <p:spPr>
            <a:xfrm>
              <a:off x="867120" y="1047071"/>
              <a:ext cx="1660446" cy="670788"/>
            </a:xfrm>
            <a:prstGeom prst="flowChartTerminator">
              <a:avLst/>
            </a:prstGeom>
            <a:solidFill>
              <a:srgbClr val="C4C5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1"/>
            <p:cNvSpPr/>
            <p:nvPr/>
          </p:nvSpPr>
          <p:spPr>
            <a:xfrm>
              <a:off x="824806" y="1047071"/>
              <a:ext cx="670800" cy="670800"/>
            </a:xfrm>
            <a:prstGeom prst="ellipse">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2" name="Google Shape;442;p71"/>
            <p:cNvPicPr preferRelativeResize="0"/>
            <p:nvPr/>
          </p:nvPicPr>
          <p:blipFill>
            <a:blip r:embed="rId27">
              <a:alphaModFix/>
            </a:blip>
            <a:stretch>
              <a:fillRect/>
            </a:stretch>
          </p:blipFill>
          <p:spPr>
            <a:xfrm>
              <a:off x="952001" y="1184611"/>
              <a:ext cx="418250" cy="418250"/>
            </a:xfrm>
            <a:prstGeom prst="rect">
              <a:avLst/>
            </a:prstGeom>
            <a:noFill/>
            <a:ln>
              <a:noFill/>
            </a:ln>
          </p:spPr>
        </p:pic>
        <p:sp>
          <p:nvSpPr>
            <p:cNvPr id="443" name="Google Shape;443;p71"/>
            <p:cNvSpPr txBox="1"/>
            <p:nvPr/>
          </p:nvSpPr>
          <p:spPr>
            <a:xfrm>
              <a:off x="1493744" y="1235785"/>
              <a:ext cx="1123500" cy="29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Source Sans Pro"/>
                  <a:ea typeface="Source Sans Pro"/>
                  <a:cs typeface="Source Sans Pro"/>
                  <a:sym typeface="Source Sans Pro"/>
                </a:rPr>
                <a:t>Data Lakes</a:t>
              </a:r>
              <a:endParaRPr b="1" sz="1000">
                <a:solidFill>
                  <a:schemeClr val="dk1"/>
                </a:solidFill>
                <a:latin typeface="Source Sans Pro"/>
                <a:ea typeface="Source Sans Pro"/>
                <a:cs typeface="Source Sans Pro"/>
                <a:sym typeface="Source Sans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2"/>
          <p:cNvSpPr/>
          <p:nvPr/>
        </p:nvSpPr>
        <p:spPr>
          <a:xfrm>
            <a:off x="6022100" y="0"/>
            <a:ext cx="3121500" cy="5143500"/>
          </a:xfrm>
          <a:prstGeom prst="rect">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72"/>
          <p:cNvSpPr txBox="1"/>
          <p:nvPr>
            <p:ph idx="4294967295" type="title"/>
          </p:nvPr>
        </p:nvSpPr>
        <p:spPr>
          <a:xfrm>
            <a:off x="250680" y="214850"/>
            <a:ext cx="55311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Data Mastering: </a:t>
            </a:r>
            <a:r>
              <a:rPr lang="en" sz="2400"/>
              <a:t>Modern </a:t>
            </a:r>
            <a:endParaRPr sz="2400"/>
          </a:p>
          <a:p>
            <a:pPr indent="0" lvl="0" marL="0" rtl="0" algn="ctr">
              <a:spcBef>
                <a:spcPts val="0"/>
              </a:spcBef>
              <a:spcAft>
                <a:spcPts val="0"/>
              </a:spcAft>
              <a:buNone/>
            </a:pPr>
            <a:r>
              <a:rPr lang="en" sz="2400"/>
              <a:t>Alternative</a:t>
            </a:r>
            <a:r>
              <a:rPr lang="en" sz="2400"/>
              <a:t> to MDM</a:t>
            </a:r>
            <a:endParaRPr sz="2400"/>
          </a:p>
        </p:txBody>
      </p:sp>
      <p:sp>
        <p:nvSpPr>
          <p:cNvPr id="450" name="Google Shape;450;p72"/>
          <p:cNvSpPr txBox="1"/>
          <p:nvPr/>
        </p:nvSpPr>
        <p:spPr>
          <a:xfrm>
            <a:off x="489450" y="1212300"/>
            <a:ext cx="5082900" cy="64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Source Sans Pro"/>
                <a:ea typeface="Source Sans Pro"/>
                <a:cs typeface="Source Sans Pro"/>
                <a:sym typeface="Source Sans Pro"/>
              </a:rPr>
              <a:t>Tamr delivers on the unfulfilled promise of master data management with the only cloud-native data mastering solution built for enterprise scale</a:t>
            </a:r>
            <a:r>
              <a:rPr lang="en">
                <a:solidFill>
                  <a:schemeClr val="dk1"/>
                </a:solidFill>
                <a:latin typeface="Source Sans Pro"/>
                <a:ea typeface="Source Sans Pro"/>
                <a:cs typeface="Source Sans Pro"/>
                <a:sym typeface="Source Sans Pro"/>
              </a:rPr>
              <a:t>.</a:t>
            </a:r>
            <a:endParaRPr>
              <a:solidFill>
                <a:schemeClr val="dk1"/>
              </a:solidFill>
              <a:latin typeface="Source Sans Pro"/>
              <a:ea typeface="Source Sans Pro"/>
              <a:cs typeface="Source Sans Pro"/>
              <a:sym typeface="Source Sans Pro"/>
            </a:endParaRPr>
          </a:p>
        </p:txBody>
      </p:sp>
      <p:pic>
        <p:nvPicPr>
          <p:cNvPr id="451" name="Google Shape;451;p72"/>
          <p:cNvPicPr preferRelativeResize="0"/>
          <p:nvPr/>
        </p:nvPicPr>
        <p:blipFill>
          <a:blip r:embed="rId3">
            <a:alphaModFix/>
          </a:blip>
          <a:stretch>
            <a:fillRect/>
          </a:stretch>
        </p:blipFill>
        <p:spPr>
          <a:xfrm>
            <a:off x="903556" y="2215625"/>
            <a:ext cx="637786" cy="436500"/>
          </a:xfrm>
          <a:prstGeom prst="rect">
            <a:avLst/>
          </a:prstGeom>
          <a:noFill/>
          <a:ln>
            <a:noFill/>
          </a:ln>
        </p:spPr>
      </p:pic>
      <p:pic>
        <p:nvPicPr>
          <p:cNvPr id="452" name="Google Shape;452;p72"/>
          <p:cNvPicPr preferRelativeResize="0"/>
          <p:nvPr/>
        </p:nvPicPr>
        <p:blipFill>
          <a:blip r:embed="rId4">
            <a:alphaModFix/>
          </a:blip>
          <a:stretch>
            <a:fillRect/>
          </a:stretch>
        </p:blipFill>
        <p:spPr>
          <a:xfrm>
            <a:off x="2239849" y="2322382"/>
            <a:ext cx="1272072" cy="222982"/>
          </a:xfrm>
          <a:prstGeom prst="rect">
            <a:avLst/>
          </a:prstGeom>
          <a:noFill/>
          <a:ln>
            <a:noFill/>
          </a:ln>
        </p:spPr>
      </p:pic>
      <p:pic>
        <p:nvPicPr>
          <p:cNvPr id="453" name="Google Shape;453;p72"/>
          <p:cNvPicPr preferRelativeResize="0"/>
          <p:nvPr/>
        </p:nvPicPr>
        <p:blipFill>
          <a:blip r:embed="rId5">
            <a:alphaModFix/>
          </a:blip>
          <a:stretch>
            <a:fillRect/>
          </a:stretch>
        </p:blipFill>
        <p:spPr>
          <a:xfrm>
            <a:off x="2623016" y="4028453"/>
            <a:ext cx="786413" cy="225981"/>
          </a:xfrm>
          <a:prstGeom prst="rect">
            <a:avLst/>
          </a:prstGeom>
          <a:noFill/>
          <a:ln>
            <a:noFill/>
          </a:ln>
        </p:spPr>
      </p:pic>
      <p:pic>
        <p:nvPicPr>
          <p:cNvPr id="454" name="Google Shape;454;p72"/>
          <p:cNvPicPr preferRelativeResize="0"/>
          <p:nvPr/>
        </p:nvPicPr>
        <p:blipFill>
          <a:blip r:embed="rId6">
            <a:alphaModFix/>
          </a:blip>
          <a:stretch>
            <a:fillRect/>
          </a:stretch>
        </p:blipFill>
        <p:spPr>
          <a:xfrm>
            <a:off x="887797" y="3396228"/>
            <a:ext cx="832650" cy="173851"/>
          </a:xfrm>
          <a:prstGeom prst="rect">
            <a:avLst/>
          </a:prstGeom>
          <a:noFill/>
          <a:ln>
            <a:noFill/>
          </a:ln>
        </p:spPr>
      </p:pic>
      <p:pic>
        <p:nvPicPr>
          <p:cNvPr id="455" name="Google Shape;455;p72"/>
          <p:cNvPicPr preferRelativeResize="0"/>
          <p:nvPr/>
        </p:nvPicPr>
        <p:blipFill>
          <a:blip r:embed="rId7">
            <a:alphaModFix/>
          </a:blip>
          <a:stretch>
            <a:fillRect/>
          </a:stretch>
        </p:blipFill>
        <p:spPr>
          <a:xfrm>
            <a:off x="4440231" y="4004068"/>
            <a:ext cx="811573" cy="167913"/>
          </a:xfrm>
          <a:prstGeom prst="rect">
            <a:avLst/>
          </a:prstGeom>
          <a:noFill/>
          <a:ln>
            <a:noFill/>
          </a:ln>
        </p:spPr>
      </p:pic>
      <p:pic>
        <p:nvPicPr>
          <p:cNvPr id="456" name="Google Shape;456;p72"/>
          <p:cNvPicPr preferRelativeResize="0"/>
          <p:nvPr/>
        </p:nvPicPr>
        <p:blipFill>
          <a:blip r:embed="rId8">
            <a:alphaModFix/>
          </a:blip>
          <a:stretch>
            <a:fillRect/>
          </a:stretch>
        </p:blipFill>
        <p:spPr>
          <a:xfrm>
            <a:off x="2501979" y="3389709"/>
            <a:ext cx="1059902" cy="202764"/>
          </a:xfrm>
          <a:prstGeom prst="rect">
            <a:avLst/>
          </a:prstGeom>
          <a:noFill/>
          <a:ln>
            <a:noFill/>
          </a:ln>
        </p:spPr>
      </p:pic>
      <p:sp>
        <p:nvSpPr>
          <p:cNvPr id="457" name="Google Shape;457;p72"/>
          <p:cNvSpPr txBox="1"/>
          <p:nvPr/>
        </p:nvSpPr>
        <p:spPr>
          <a:xfrm>
            <a:off x="6289250" y="890100"/>
            <a:ext cx="2587200" cy="91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Tamr’s data mastering solutions are based on </a:t>
            </a:r>
            <a:r>
              <a:rPr b="1" lang="en">
                <a:solidFill>
                  <a:schemeClr val="lt1"/>
                </a:solidFill>
                <a:latin typeface="Source Sans Pro"/>
                <a:ea typeface="Source Sans Pro"/>
                <a:cs typeface="Source Sans Pro"/>
                <a:sym typeface="Source Sans Pro"/>
              </a:rPr>
              <a:t>Turing award winner Mike Stonebraker</a:t>
            </a:r>
            <a:r>
              <a:rPr lang="en">
                <a:solidFill>
                  <a:schemeClr val="lt1"/>
                </a:solidFill>
                <a:latin typeface="Source Sans Pro"/>
                <a:ea typeface="Source Sans Pro"/>
                <a:cs typeface="Source Sans Pro"/>
                <a:sym typeface="Source Sans Pro"/>
              </a:rPr>
              <a:t>’s research at MIT’s Computer Science and AI Lab</a:t>
            </a:r>
            <a:endParaRPr>
              <a:solidFill>
                <a:schemeClr val="lt1"/>
              </a:solidFill>
              <a:latin typeface="Source Sans Pro"/>
              <a:ea typeface="Source Sans Pro"/>
              <a:cs typeface="Source Sans Pro"/>
              <a:sym typeface="Source Sans Pro"/>
            </a:endParaRPr>
          </a:p>
        </p:txBody>
      </p:sp>
      <p:pic>
        <p:nvPicPr>
          <p:cNvPr id="458" name="Google Shape;458;p72"/>
          <p:cNvPicPr preferRelativeResize="0"/>
          <p:nvPr/>
        </p:nvPicPr>
        <p:blipFill rotWithShape="1">
          <a:blip r:embed="rId9">
            <a:alphaModFix/>
          </a:blip>
          <a:srcRect b="26855" l="67325" r="4035" t="18705"/>
          <a:stretch/>
        </p:blipFill>
        <p:spPr>
          <a:xfrm flipH="1">
            <a:off x="6343750" y="2552525"/>
            <a:ext cx="774600" cy="774600"/>
          </a:xfrm>
          <a:prstGeom prst="ellipse">
            <a:avLst/>
          </a:prstGeom>
          <a:noFill/>
          <a:ln>
            <a:noFill/>
          </a:ln>
        </p:spPr>
      </p:pic>
      <p:sp>
        <p:nvSpPr>
          <p:cNvPr id="459" name="Google Shape;459;p72"/>
          <p:cNvSpPr txBox="1"/>
          <p:nvPr/>
        </p:nvSpPr>
        <p:spPr>
          <a:xfrm>
            <a:off x="7219150" y="3726063"/>
            <a:ext cx="16389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Source Sans Pro"/>
                <a:ea typeface="Source Sans Pro"/>
                <a:cs typeface="Source Sans Pro"/>
                <a:sym typeface="Source Sans Pro"/>
              </a:rPr>
              <a:t>Andy Palmer,</a:t>
            </a:r>
            <a:r>
              <a:rPr lang="en" sz="1100">
                <a:solidFill>
                  <a:schemeClr val="lt1"/>
                </a:solidFill>
                <a:latin typeface="Source Sans Pro"/>
                <a:ea typeface="Source Sans Pro"/>
                <a:cs typeface="Source Sans Pro"/>
                <a:sym typeface="Source Sans Pro"/>
              </a:rPr>
              <a:t> </a:t>
            </a:r>
            <a:endParaRPr sz="11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CEO &amp; Co-Founder, Tamr</a:t>
            </a:r>
            <a:endParaRPr sz="1100">
              <a:solidFill>
                <a:schemeClr val="lt1"/>
              </a:solidFill>
              <a:latin typeface="Source Sans Pro"/>
              <a:ea typeface="Source Sans Pro"/>
              <a:cs typeface="Source Sans Pro"/>
              <a:sym typeface="Source Sans Pro"/>
            </a:endParaRPr>
          </a:p>
        </p:txBody>
      </p:sp>
      <p:sp>
        <p:nvSpPr>
          <p:cNvPr id="460" name="Google Shape;460;p72"/>
          <p:cNvSpPr txBox="1"/>
          <p:nvPr/>
        </p:nvSpPr>
        <p:spPr>
          <a:xfrm>
            <a:off x="7219147" y="2657700"/>
            <a:ext cx="1932600" cy="2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Source Sans Pro"/>
                <a:ea typeface="Source Sans Pro"/>
                <a:cs typeface="Source Sans Pro"/>
                <a:sym typeface="Source Sans Pro"/>
              </a:rPr>
              <a:t>Michael Stonebraker,</a:t>
            </a:r>
            <a:r>
              <a:rPr lang="en" sz="1100">
                <a:solidFill>
                  <a:schemeClr val="lt1"/>
                </a:solidFill>
                <a:latin typeface="Source Sans Pro"/>
                <a:ea typeface="Source Sans Pro"/>
                <a:cs typeface="Source Sans Pro"/>
                <a:sym typeface="Source Sans Pro"/>
              </a:rPr>
              <a:t> </a:t>
            </a:r>
            <a:endParaRPr sz="11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1100">
                <a:solidFill>
                  <a:schemeClr val="lt1"/>
                </a:solidFill>
                <a:latin typeface="Source Sans Pro"/>
                <a:ea typeface="Source Sans Pro"/>
                <a:cs typeface="Source Sans Pro"/>
                <a:sym typeface="Source Sans Pro"/>
              </a:rPr>
              <a:t>CTO &amp; Co-Founder, Tamr</a:t>
            </a:r>
            <a:r>
              <a:rPr lang="en" sz="1100">
                <a:solidFill>
                  <a:schemeClr val="lt1"/>
                </a:solidFill>
                <a:latin typeface="Source Sans Pro"/>
                <a:ea typeface="Source Sans Pro"/>
                <a:cs typeface="Source Sans Pro"/>
                <a:sym typeface="Source Sans Pro"/>
              </a:rPr>
              <a:t> </a:t>
            </a:r>
            <a:endParaRPr sz="1100">
              <a:solidFill>
                <a:schemeClr val="lt1"/>
              </a:solidFill>
              <a:latin typeface="Source Sans Pro"/>
              <a:ea typeface="Source Sans Pro"/>
              <a:cs typeface="Source Sans Pro"/>
              <a:sym typeface="Source Sans Pro"/>
            </a:endParaRPr>
          </a:p>
        </p:txBody>
      </p:sp>
      <p:sp>
        <p:nvSpPr>
          <p:cNvPr id="461" name="Google Shape;461;p72"/>
          <p:cNvSpPr/>
          <p:nvPr/>
        </p:nvSpPr>
        <p:spPr>
          <a:xfrm>
            <a:off x="1382588" y="2913525"/>
            <a:ext cx="3191400" cy="390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2" name="Google Shape;462;p72"/>
          <p:cNvPicPr preferRelativeResize="0"/>
          <p:nvPr/>
        </p:nvPicPr>
        <p:blipFill>
          <a:blip r:embed="rId10">
            <a:alphaModFix/>
          </a:blip>
          <a:stretch>
            <a:fillRect/>
          </a:stretch>
        </p:blipFill>
        <p:spPr>
          <a:xfrm>
            <a:off x="887797" y="4012574"/>
            <a:ext cx="859301" cy="230994"/>
          </a:xfrm>
          <a:prstGeom prst="rect">
            <a:avLst/>
          </a:prstGeom>
          <a:noFill/>
          <a:ln>
            <a:noFill/>
          </a:ln>
        </p:spPr>
      </p:pic>
      <p:pic>
        <p:nvPicPr>
          <p:cNvPr id="463" name="Google Shape;463;p72"/>
          <p:cNvPicPr preferRelativeResize="0"/>
          <p:nvPr/>
        </p:nvPicPr>
        <p:blipFill>
          <a:blip r:embed="rId11">
            <a:alphaModFix/>
          </a:blip>
          <a:stretch>
            <a:fillRect/>
          </a:stretch>
        </p:blipFill>
        <p:spPr>
          <a:xfrm>
            <a:off x="4595583" y="3258025"/>
            <a:ext cx="500844" cy="417369"/>
          </a:xfrm>
          <a:prstGeom prst="rect">
            <a:avLst/>
          </a:prstGeom>
          <a:noFill/>
          <a:ln>
            <a:noFill/>
          </a:ln>
        </p:spPr>
      </p:pic>
      <p:pic>
        <p:nvPicPr>
          <p:cNvPr id="464" name="Google Shape;464;p72"/>
          <p:cNvPicPr preferRelativeResize="0"/>
          <p:nvPr/>
        </p:nvPicPr>
        <p:blipFill rotWithShape="1">
          <a:blip r:embed="rId12">
            <a:alphaModFix/>
          </a:blip>
          <a:srcRect b="47149" l="7674" r="13131" t="0"/>
          <a:stretch/>
        </p:blipFill>
        <p:spPr>
          <a:xfrm>
            <a:off x="6324703" y="3553214"/>
            <a:ext cx="812700" cy="813300"/>
          </a:xfrm>
          <a:prstGeom prst="ellipse">
            <a:avLst/>
          </a:prstGeom>
          <a:noFill/>
          <a:ln>
            <a:noFill/>
          </a:ln>
        </p:spPr>
      </p:pic>
      <p:sp>
        <p:nvSpPr>
          <p:cNvPr id="465" name="Google Shape;465;p72"/>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466" name="Google Shape;466;p72"/>
          <p:cNvPicPr preferRelativeResize="0"/>
          <p:nvPr/>
        </p:nvPicPr>
        <p:blipFill>
          <a:blip r:embed="rId13">
            <a:alphaModFix/>
          </a:blip>
          <a:stretch>
            <a:fillRect/>
          </a:stretch>
        </p:blipFill>
        <p:spPr>
          <a:xfrm>
            <a:off x="2424264" y="3361075"/>
            <a:ext cx="1362150" cy="258817"/>
          </a:xfrm>
          <a:prstGeom prst="rect">
            <a:avLst/>
          </a:prstGeom>
          <a:noFill/>
          <a:ln>
            <a:noFill/>
          </a:ln>
        </p:spPr>
      </p:pic>
      <p:pic>
        <p:nvPicPr>
          <p:cNvPr id="467" name="Google Shape;467;p72"/>
          <p:cNvPicPr preferRelativeResize="0"/>
          <p:nvPr/>
        </p:nvPicPr>
        <p:blipFill>
          <a:blip r:embed="rId14">
            <a:alphaModFix/>
          </a:blip>
          <a:stretch>
            <a:fillRect/>
          </a:stretch>
        </p:blipFill>
        <p:spPr>
          <a:xfrm>
            <a:off x="957948" y="2267657"/>
            <a:ext cx="529021" cy="332418"/>
          </a:xfrm>
          <a:prstGeom prst="rect">
            <a:avLst/>
          </a:prstGeom>
          <a:noFill/>
          <a:ln>
            <a:noFill/>
          </a:ln>
        </p:spPr>
      </p:pic>
      <p:pic>
        <p:nvPicPr>
          <p:cNvPr id="468" name="Google Shape;468;p72"/>
          <p:cNvPicPr preferRelativeResize="0"/>
          <p:nvPr/>
        </p:nvPicPr>
        <p:blipFill>
          <a:blip r:embed="rId15">
            <a:alphaModFix/>
          </a:blip>
          <a:stretch>
            <a:fillRect/>
          </a:stretch>
        </p:blipFill>
        <p:spPr>
          <a:xfrm>
            <a:off x="2194812" y="2323934"/>
            <a:ext cx="1362150" cy="219878"/>
          </a:xfrm>
          <a:prstGeom prst="rect">
            <a:avLst/>
          </a:prstGeom>
          <a:noFill/>
          <a:ln>
            <a:noFill/>
          </a:ln>
        </p:spPr>
      </p:pic>
      <p:pic>
        <p:nvPicPr>
          <p:cNvPr id="469" name="Google Shape;469;p72"/>
          <p:cNvPicPr preferRelativeResize="0"/>
          <p:nvPr/>
        </p:nvPicPr>
        <p:blipFill>
          <a:blip r:embed="rId16">
            <a:alphaModFix/>
          </a:blip>
          <a:stretch>
            <a:fillRect/>
          </a:stretch>
        </p:blipFill>
        <p:spPr>
          <a:xfrm>
            <a:off x="4566414" y="3280774"/>
            <a:ext cx="559230" cy="436499"/>
          </a:xfrm>
          <a:prstGeom prst="rect">
            <a:avLst/>
          </a:prstGeom>
          <a:noFill/>
          <a:ln>
            <a:noFill/>
          </a:ln>
        </p:spPr>
      </p:pic>
      <p:pic>
        <p:nvPicPr>
          <p:cNvPr id="470" name="Google Shape;470;p72"/>
          <p:cNvPicPr preferRelativeResize="0"/>
          <p:nvPr/>
        </p:nvPicPr>
        <p:blipFill>
          <a:blip r:embed="rId17">
            <a:alphaModFix/>
          </a:blip>
          <a:stretch>
            <a:fillRect/>
          </a:stretch>
        </p:blipFill>
        <p:spPr>
          <a:xfrm>
            <a:off x="794523" y="4012583"/>
            <a:ext cx="1019175" cy="229294"/>
          </a:xfrm>
          <a:prstGeom prst="rect">
            <a:avLst/>
          </a:prstGeom>
          <a:noFill/>
          <a:ln>
            <a:noFill/>
          </a:ln>
        </p:spPr>
      </p:pic>
      <p:pic>
        <p:nvPicPr>
          <p:cNvPr id="471" name="Google Shape;471;p72"/>
          <p:cNvPicPr preferRelativeResize="0"/>
          <p:nvPr/>
        </p:nvPicPr>
        <p:blipFill>
          <a:blip r:embed="rId18">
            <a:alphaModFix/>
          </a:blip>
          <a:stretch>
            <a:fillRect/>
          </a:stretch>
        </p:blipFill>
        <p:spPr>
          <a:xfrm>
            <a:off x="4283589" y="4055110"/>
            <a:ext cx="1059902" cy="185757"/>
          </a:xfrm>
          <a:prstGeom prst="rect">
            <a:avLst/>
          </a:prstGeom>
          <a:noFill/>
          <a:ln>
            <a:noFill/>
          </a:ln>
        </p:spPr>
      </p:pic>
      <p:pic>
        <p:nvPicPr>
          <p:cNvPr id="472" name="Google Shape;472;p72"/>
          <p:cNvPicPr preferRelativeResize="0"/>
          <p:nvPr/>
        </p:nvPicPr>
        <p:blipFill>
          <a:blip r:embed="rId19">
            <a:alphaModFix/>
          </a:blip>
          <a:stretch>
            <a:fillRect/>
          </a:stretch>
        </p:blipFill>
        <p:spPr>
          <a:xfrm>
            <a:off x="807861" y="3404825"/>
            <a:ext cx="955151" cy="167900"/>
          </a:xfrm>
          <a:prstGeom prst="rect">
            <a:avLst/>
          </a:prstGeom>
          <a:noFill/>
          <a:ln>
            <a:noFill/>
          </a:ln>
        </p:spPr>
      </p:pic>
      <p:pic>
        <p:nvPicPr>
          <p:cNvPr id="473" name="Google Shape;473;p72"/>
          <p:cNvPicPr preferRelativeResize="0"/>
          <p:nvPr/>
        </p:nvPicPr>
        <p:blipFill>
          <a:blip r:embed="rId20">
            <a:alphaModFix/>
          </a:blip>
          <a:stretch>
            <a:fillRect/>
          </a:stretch>
        </p:blipFill>
        <p:spPr>
          <a:xfrm>
            <a:off x="4139075" y="2316600"/>
            <a:ext cx="1019174" cy="291422"/>
          </a:xfrm>
          <a:prstGeom prst="rect">
            <a:avLst/>
          </a:prstGeom>
          <a:noFill/>
          <a:ln>
            <a:noFill/>
          </a:ln>
        </p:spPr>
      </p:pic>
      <p:pic>
        <p:nvPicPr>
          <p:cNvPr id="474" name="Google Shape;474;p72"/>
          <p:cNvPicPr preferRelativeResize="0"/>
          <p:nvPr/>
        </p:nvPicPr>
        <p:blipFill>
          <a:blip r:embed="rId21">
            <a:alphaModFix/>
          </a:blip>
          <a:stretch>
            <a:fillRect/>
          </a:stretch>
        </p:blipFill>
        <p:spPr>
          <a:xfrm>
            <a:off x="2405650" y="4000975"/>
            <a:ext cx="1362172" cy="2952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3"/>
          <p:cNvSpPr txBox="1"/>
          <p:nvPr>
            <p:ph idx="4294967295" type="title"/>
          </p:nvPr>
        </p:nvSpPr>
        <p:spPr>
          <a:xfrm>
            <a:off x="28275" y="274775"/>
            <a:ext cx="91158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Data Mastering Drives Analytical and Operational Outcomes</a:t>
            </a:r>
            <a:endParaRPr sz="2400"/>
          </a:p>
        </p:txBody>
      </p:sp>
      <p:sp>
        <p:nvSpPr>
          <p:cNvPr id="480" name="Google Shape;480;p73"/>
          <p:cNvSpPr txBox="1"/>
          <p:nvPr/>
        </p:nvSpPr>
        <p:spPr>
          <a:xfrm>
            <a:off x="1994274" y="1287549"/>
            <a:ext cx="11565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Curation</a:t>
            </a:r>
            <a:endParaRPr b="1">
              <a:solidFill>
                <a:schemeClr val="dk1"/>
              </a:solidFill>
              <a:latin typeface="Source Sans Pro"/>
              <a:ea typeface="Source Sans Pro"/>
              <a:cs typeface="Source Sans Pro"/>
              <a:sym typeface="Source Sans Pro"/>
            </a:endParaRPr>
          </a:p>
        </p:txBody>
      </p:sp>
      <p:sp>
        <p:nvSpPr>
          <p:cNvPr id="481" name="Google Shape;481;p73"/>
          <p:cNvSpPr txBox="1"/>
          <p:nvPr/>
        </p:nvSpPr>
        <p:spPr>
          <a:xfrm>
            <a:off x="4685364" y="1287125"/>
            <a:ext cx="12309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Enrichment </a:t>
            </a:r>
            <a:endParaRPr b="1">
              <a:solidFill>
                <a:schemeClr val="dk1"/>
              </a:solidFill>
              <a:latin typeface="Source Sans Pro"/>
              <a:ea typeface="Source Sans Pro"/>
              <a:cs typeface="Source Sans Pro"/>
              <a:sym typeface="Source Sans Pro"/>
            </a:endParaRPr>
          </a:p>
        </p:txBody>
      </p:sp>
      <p:sp>
        <p:nvSpPr>
          <p:cNvPr id="482" name="Google Shape;482;p73"/>
          <p:cNvSpPr txBox="1"/>
          <p:nvPr/>
        </p:nvSpPr>
        <p:spPr>
          <a:xfrm>
            <a:off x="6176371" y="1254999"/>
            <a:ext cx="1084200" cy="59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Publishing</a:t>
            </a:r>
            <a:endParaRPr b="1">
              <a:solidFill>
                <a:schemeClr val="dk1"/>
              </a:solidFill>
              <a:latin typeface="Source Sans Pro"/>
              <a:ea typeface="Source Sans Pro"/>
              <a:cs typeface="Source Sans Pro"/>
              <a:sym typeface="Source Sans Pro"/>
            </a:endParaRPr>
          </a:p>
        </p:txBody>
      </p:sp>
      <p:sp>
        <p:nvSpPr>
          <p:cNvPr id="483" name="Google Shape;483;p73"/>
          <p:cNvSpPr txBox="1"/>
          <p:nvPr/>
        </p:nvSpPr>
        <p:spPr>
          <a:xfrm>
            <a:off x="3295150" y="1348149"/>
            <a:ext cx="970200" cy="40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Feedback</a:t>
            </a:r>
            <a:endParaRPr b="1">
              <a:solidFill>
                <a:schemeClr val="dk1"/>
              </a:solidFill>
              <a:latin typeface="Source Sans Pro"/>
              <a:ea typeface="Source Sans Pro"/>
              <a:cs typeface="Source Sans Pro"/>
              <a:sym typeface="Source Sans Pro"/>
            </a:endParaRPr>
          </a:p>
        </p:txBody>
      </p:sp>
      <p:grpSp>
        <p:nvGrpSpPr>
          <p:cNvPr id="484" name="Google Shape;484;p73"/>
          <p:cNvGrpSpPr/>
          <p:nvPr/>
        </p:nvGrpSpPr>
        <p:grpSpPr>
          <a:xfrm>
            <a:off x="9550" y="1166900"/>
            <a:ext cx="9040000" cy="3362575"/>
            <a:chOff x="9550" y="1166900"/>
            <a:chExt cx="9040000" cy="3362575"/>
          </a:xfrm>
        </p:grpSpPr>
        <p:pic>
          <p:nvPicPr>
            <p:cNvPr id="485" name="Google Shape;485;p73"/>
            <p:cNvPicPr preferRelativeResize="0"/>
            <p:nvPr/>
          </p:nvPicPr>
          <p:blipFill rotWithShape="1">
            <a:blip r:embed="rId3">
              <a:alphaModFix/>
            </a:blip>
            <a:srcRect b="17225" l="0" r="0" t="0"/>
            <a:stretch/>
          </p:blipFill>
          <p:spPr>
            <a:xfrm>
              <a:off x="9550" y="1617438"/>
              <a:ext cx="1718525" cy="2275625"/>
            </a:xfrm>
            <a:prstGeom prst="rect">
              <a:avLst/>
            </a:prstGeom>
            <a:noFill/>
            <a:ln>
              <a:noFill/>
            </a:ln>
          </p:spPr>
        </p:pic>
        <p:sp>
          <p:nvSpPr>
            <p:cNvPr id="486" name="Google Shape;486;p73"/>
            <p:cNvSpPr/>
            <p:nvPr/>
          </p:nvSpPr>
          <p:spPr>
            <a:xfrm>
              <a:off x="1825775" y="1166900"/>
              <a:ext cx="5434800" cy="3176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87" name="Google Shape;487;p73"/>
            <p:cNvSpPr/>
            <p:nvPr/>
          </p:nvSpPr>
          <p:spPr>
            <a:xfrm>
              <a:off x="6980875" y="1939400"/>
              <a:ext cx="391800" cy="185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3"/>
            <p:cNvSpPr/>
            <p:nvPr/>
          </p:nvSpPr>
          <p:spPr>
            <a:xfrm>
              <a:off x="2184975" y="2075000"/>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a:t>
              </a:r>
              <a:endParaRPr i="0" sz="1000" u="none" cap="none" strike="noStrike">
                <a:solidFill>
                  <a:srgbClr val="FFFFFF"/>
                </a:solidFill>
                <a:highlight>
                  <a:schemeClr val="accent1"/>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Mtn. View</a:t>
              </a:r>
              <a:endParaRPr i="0" sz="10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 US</a:t>
              </a:r>
              <a:endParaRPr i="0" sz="1000" u="none" cap="none" strike="noStrike">
                <a:solidFill>
                  <a:schemeClr val="dk1"/>
                </a:solidFill>
                <a:latin typeface="Source Sans Pro"/>
                <a:ea typeface="Source Sans Pro"/>
                <a:cs typeface="Source Sans Pro"/>
                <a:sym typeface="Source Sans Pro"/>
              </a:endParaRPr>
            </a:p>
          </p:txBody>
        </p:sp>
        <p:sp>
          <p:nvSpPr>
            <p:cNvPr id="489" name="Google Shape;489;p73"/>
            <p:cNvSpPr/>
            <p:nvPr/>
          </p:nvSpPr>
          <p:spPr>
            <a:xfrm>
              <a:off x="2185050" y="2635550"/>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 Inc.</a:t>
              </a:r>
              <a:endParaRPr i="0" sz="100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Palo Alto</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a:t>
              </a:r>
              <a:endParaRPr sz="1000">
                <a:solidFill>
                  <a:schemeClr val="dk1"/>
                </a:solidFill>
                <a:latin typeface="Source Sans Pro"/>
                <a:ea typeface="Source Sans Pro"/>
                <a:cs typeface="Source Sans Pro"/>
                <a:sym typeface="Source Sans Pro"/>
              </a:endParaRPr>
            </a:p>
          </p:txBody>
        </p:sp>
        <p:sp>
          <p:nvSpPr>
            <p:cNvPr id="490" name="Google Shape;490;p73"/>
            <p:cNvSpPr/>
            <p:nvPr/>
          </p:nvSpPr>
          <p:spPr>
            <a:xfrm>
              <a:off x="4510913" y="1985800"/>
              <a:ext cx="1596000" cy="17901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 Inc.</a:t>
              </a:r>
              <a:endParaRPr i="0" sz="100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1600 Amphitheatre Parkway</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Mountain View</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 94043</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(650) 253-0000</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www.about.goo</a:t>
              </a:r>
              <a:r>
                <a:rPr lang="en" sz="1000">
                  <a:solidFill>
                    <a:schemeClr val="dk1"/>
                  </a:solidFill>
                  <a:latin typeface="Source Sans Pro"/>
                  <a:ea typeface="Source Sans Pro"/>
                  <a:cs typeface="Source Sans Pro"/>
                  <a:sym typeface="Source Sans Pro"/>
                </a:rPr>
                <a:t>gle.com</a:t>
              </a:r>
              <a:endParaRPr sz="1000">
                <a:solidFill>
                  <a:schemeClr val="dk1"/>
                </a:solidFill>
                <a:latin typeface="Source Sans Pro"/>
                <a:ea typeface="Source Sans Pro"/>
                <a:cs typeface="Source Sans Pro"/>
                <a:sym typeface="Source Sans Pro"/>
              </a:endParaRPr>
            </a:p>
          </p:txBody>
        </p:sp>
        <p:sp>
          <p:nvSpPr>
            <p:cNvPr id="491" name="Google Shape;491;p73"/>
            <p:cNvSpPr/>
            <p:nvPr/>
          </p:nvSpPr>
          <p:spPr>
            <a:xfrm>
              <a:off x="2207800" y="3965725"/>
              <a:ext cx="4521900" cy="530400"/>
            </a:xfrm>
            <a:prstGeom prst="roundRect">
              <a:avLst>
                <a:gd fmla="val 16667" name="adj"/>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92" name="Google Shape;492;p73"/>
            <p:cNvSpPr/>
            <p:nvPr/>
          </p:nvSpPr>
          <p:spPr>
            <a:xfrm>
              <a:off x="1559575" y="1774300"/>
              <a:ext cx="459600" cy="2108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73"/>
            <p:cNvSpPr/>
            <p:nvPr/>
          </p:nvSpPr>
          <p:spPr>
            <a:xfrm>
              <a:off x="6260084" y="2120257"/>
              <a:ext cx="879300" cy="394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latin typeface="Source Sans Pro"/>
                  <a:ea typeface="Source Sans Pro"/>
                  <a:cs typeface="Source Sans Pro"/>
                  <a:sym typeface="Source Sans Pro"/>
                </a:rPr>
                <a:t>Analytic </a:t>
              </a:r>
              <a:br>
                <a:rPr b="1" lang="en" sz="1100">
                  <a:solidFill>
                    <a:schemeClr val="dk1"/>
                  </a:solidFill>
                  <a:latin typeface="Source Sans Pro"/>
                  <a:ea typeface="Source Sans Pro"/>
                  <a:cs typeface="Source Sans Pro"/>
                  <a:sym typeface="Source Sans Pro"/>
                </a:rPr>
              </a:br>
              <a:r>
                <a:rPr b="1" lang="en" sz="1100">
                  <a:solidFill>
                    <a:schemeClr val="dk1"/>
                  </a:solidFill>
                  <a:latin typeface="Source Sans Pro"/>
                  <a:ea typeface="Source Sans Pro"/>
                  <a:cs typeface="Source Sans Pro"/>
                  <a:sym typeface="Source Sans Pro"/>
                </a:rPr>
                <a:t>Stores</a:t>
              </a:r>
              <a:endParaRPr b="1" i="0" sz="1100" cap="none" strike="noStrike">
                <a:solidFill>
                  <a:schemeClr val="dk1"/>
                </a:solidFill>
                <a:latin typeface="Source Sans Pro"/>
                <a:ea typeface="Source Sans Pro"/>
                <a:cs typeface="Source Sans Pro"/>
                <a:sym typeface="Source Sans Pro"/>
              </a:endParaRPr>
            </a:p>
          </p:txBody>
        </p:sp>
        <p:sp>
          <p:nvSpPr>
            <p:cNvPr id="494" name="Google Shape;494;p73"/>
            <p:cNvSpPr/>
            <p:nvPr/>
          </p:nvSpPr>
          <p:spPr>
            <a:xfrm>
              <a:off x="6190950" y="3186825"/>
              <a:ext cx="1038900" cy="394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latin typeface="Source Sans Pro"/>
                  <a:ea typeface="Source Sans Pro"/>
                  <a:cs typeface="Source Sans Pro"/>
                  <a:sym typeface="Source Sans Pro"/>
                </a:rPr>
                <a:t>Operational Stores</a:t>
              </a:r>
              <a:endParaRPr b="1" i="0" sz="1100" u="none" cap="none" strike="noStrike">
                <a:solidFill>
                  <a:schemeClr val="dk1"/>
                </a:solidFill>
                <a:latin typeface="Source Sans Pro"/>
                <a:ea typeface="Source Sans Pro"/>
                <a:cs typeface="Source Sans Pro"/>
                <a:sym typeface="Source Sans Pro"/>
              </a:endParaRPr>
            </a:p>
          </p:txBody>
        </p:sp>
        <p:sp>
          <p:nvSpPr>
            <p:cNvPr id="495" name="Google Shape;495;p73"/>
            <p:cNvSpPr/>
            <p:nvPr/>
          </p:nvSpPr>
          <p:spPr>
            <a:xfrm>
              <a:off x="2185050" y="3213675"/>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Alphabet</a:t>
              </a:r>
              <a:endParaRPr sz="1000">
                <a:solidFill>
                  <a:srgbClr val="FFFFFF"/>
                </a:solidFill>
                <a:latin typeface="Source Sans Pro"/>
                <a:ea typeface="Source Sans Pro"/>
                <a:cs typeface="Source Sans Pro"/>
                <a:sym typeface="Source Sans Pro"/>
              </a:endParaRPr>
            </a:p>
          </p:txBody>
        </p:sp>
        <p:pic>
          <p:nvPicPr>
            <p:cNvPr id="496" name="Google Shape;496;p73"/>
            <p:cNvPicPr preferRelativeResize="0"/>
            <p:nvPr/>
          </p:nvPicPr>
          <p:blipFill rotWithShape="1">
            <a:blip r:embed="rId4">
              <a:alphaModFix/>
            </a:blip>
            <a:srcRect b="59261" l="0" r="50899" t="29618"/>
            <a:stretch/>
          </p:blipFill>
          <p:spPr>
            <a:xfrm>
              <a:off x="3040025" y="2773300"/>
              <a:ext cx="459600" cy="209474"/>
            </a:xfrm>
            <a:prstGeom prst="rect">
              <a:avLst/>
            </a:prstGeom>
            <a:noFill/>
            <a:ln>
              <a:noFill/>
            </a:ln>
          </p:spPr>
        </p:pic>
        <p:sp>
          <p:nvSpPr>
            <p:cNvPr id="497" name="Google Shape;497;p73"/>
            <p:cNvSpPr txBox="1"/>
            <p:nvPr/>
          </p:nvSpPr>
          <p:spPr>
            <a:xfrm>
              <a:off x="2911100" y="3944175"/>
              <a:ext cx="3970800" cy="58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Source Sans Pro"/>
                  <a:ea typeface="Source Sans Pro"/>
                  <a:cs typeface="Source Sans Pro"/>
                  <a:sym typeface="Source Sans Pro"/>
                </a:rPr>
                <a:t>Data Mastering: Human-guided machine learning</a:t>
              </a:r>
              <a:endParaRPr b="1" sz="1200">
                <a:solidFill>
                  <a:schemeClr val="lt1"/>
                </a:solidFill>
                <a:latin typeface="Source Sans Pro"/>
                <a:ea typeface="Source Sans Pro"/>
                <a:cs typeface="Source Sans Pro"/>
                <a:sym typeface="Source Sans Pro"/>
              </a:endParaRPr>
            </a:p>
          </p:txBody>
        </p:sp>
        <p:pic>
          <p:nvPicPr>
            <p:cNvPr id="498" name="Google Shape;498;p73"/>
            <p:cNvPicPr preferRelativeResize="0"/>
            <p:nvPr/>
          </p:nvPicPr>
          <p:blipFill>
            <a:blip r:embed="rId5">
              <a:alphaModFix/>
            </a:blip>
            <a:stretch>
              <a:fillRect/>
            </a:stretch>
          </p:blipFill>
          <p:spPr>
            <a:xfrm>
              <a:off x="3073850" y="2157812"/>
              <a:ext cx="391928" cy="275635"/>
            </a:xfrm>
            <a:prstGeom prst="rect">
              <a:avLst/>
            </a:prstGeom>
            <a:noFill/>
            <a:ln>
              <a:noFill/>
            </a:ln>
          </p:spPr>
        </p:pic>
        <p:pic>
          <p:nvPicPr>
            <p:cNvPr id="499" name="Google Shape;499;p73"/>
            <p:cNvPicPr preferRelativeResize="0"/>
            <p:nvPr/>
          </p:nvPicPr>
          <p:blipFill rotWithShape="1">
            <a:blip r:embed="rId6">
              <a:alphaModFix/>
            </a:blip>
            <a:srcRect b="42453" l="0" r="0" t="41068"/>
            <a:stretch/>
          </p:blipFill>
          <p:spPr>
            <a:xfrm>
              <a:off x="2972700" y="2804594"/>
              <a:ext cx="594220" cy="146899"/>
            </a:xfrm>
            <a:prstGeom prst="rect">
              <a:avLst/>
            </a:prstGeom>
            <a:noFill/>
            <a:ln>
              <a:noFill/>
            </a:ln>
          </p:spPr>
        </p:pic>
        <p:pic>
          <p:nvPicPr>
            <p:cNvPr id="500" name="Google Shape;500;p73"/>
            <p:cNvPicPr preferRelativeResize="0"/>
            <p:nvPr/>
          </p:nvPicPr>
          <p:blipFill>
            <a:blip r:embed="rId7">
              <a:alphaModFix/>
            </a:blip>
            <a:stretch>
              <a:fillRect/>
            </a:stretch>
          </p:blipFill>
          <p:spPr>
            <a:xfrm>
              <a:off x="3187351" y="3326550"/>
              <a:ext cx="247076" cy="242573"/>
            </a:xfrm>
            <a:prstGeom prst="rect">
              <a:avLst/>
            </a:prstGeom>
            <a:noFill/>
            <a:ln>
              <a:noFill/>
            </a:ln>
          </p:spPr>
        </p:pic>
        <p:pic>
          <p:nvPicPr>
            <p:cNvPr id="501" name="Google Shape;501;p73"/>
            <p:cNvPicPr preferRelativeResize="0"/>
            <p:nvPr/>
          </p:nvPicPr>
          <p:blipFill>
            <a:blip r:embed="rId8">
              <a:alphaModFix/>
            </a:blip>
            <a:stretch>
              <a:fillRect/>
            </a:stretch>
          </p:blipFill>
          <p:spPr>
            <a:xfrm>
              <a:off x="7096556" y="1986244"/>
              <a:ext cx="247075" cy="802511"/>
            </a:xfrm>
            <a:prstGeom prst="rect">
              <a:avLst/>
            </a:prstGeom>
            <a:noFill/>
            <a:ln>
              <a:noFill/>
            </a:ln>
          </p:spPr>
        </p:pic>
        <p:pic>
          <p:nvPicPr>
            <p:cNvPr id="502" name="Google Shape;502;p73"/>
            <p:cNvPicPr preferRelativeResize="0"/>
            <p:nvPr/>
          </p:nvPicPr>
          <p:blipFill>
            <a:blip r:embed="rId8">
              <a:alphaModFix/>
            </a:blip>
            <a:stretch>
              <a:fillRect/>
            </a:stretch>
          </p:blipFill>
          <p:spPr>
            <a:xfrm>
              <a:off x="7135218" y="2982969"/>
              <a:ext cx="247075" cy="802511"/>
            </a:xfrm>
            <a:prstGeom prst="rect">
              <a:avLst/>
            </a:prstGeom>
            <a:noFill/>
            <a:ln>
              <a:noFill/>
            </a:ln>
          </p:spPr>
        </p:pic>
        <p:pic>
          <p:nvPicPr>
            <p:cNvPr id="503" name="Google Shape;503;p73"/>
            <p:cNvPicPr preferRelativeResize="0"/>
            <p:nvPr/>
          </p:nvPicPr>
          <p:blipFill>
            <a:blip r:embed="rId8">
              <a:alphaModFix/>
            </a:blip>
            <a:stretch>
              <a:fillRect/>
            </a:stretch>
          </p:blipFill>
          <p:spPr>
            <a:xfrm>
              <a:off x="4034475" y="1921770"/>
              <a:ext cx="247075" cy="1790199"/>
            </a:xfrm>
            <a:prstGeom prst="rect">
              <a:avLst/>
            </a:prstGeom>
            <a:noFill/>
            <a:ln>
              <a:noFill/>
            </a:ln>
          </p:spPr>
        </p:pic>
        <p:pic>
          <p:nvPicPr>
            <p:cNvPr id="504" name="Google Shape;504;p73"/>
            <p:cNvPicPr preferRelativeResize="0"/>
            <p:nvPr/>
          </p:nvPicPr>
          <p:blipFill>
            <a:blip r:embed="rId8">
              <a:alphaModFix/>
            </a:blip>
            <a:stretch>
              <a:fillRect/>
            </a:stretch>
          </p:blipFill>
          <p:spPr>
            <a:xfrm>
              <a:off x="1718525" y="2152812"/>
              <a:ext cx="247050" cy="1503475"/>
            </a:xfrm>
            <a:prstGeom prst="rect">
              <a:avLst/>
            </a:prstGeom>
            <a:noFill/>
            <a:ln>
              <a:noFill/>
            </a:ln>
          </p:spPr>
        </p:pic>
        <p:pic>
          <p:nvPicPr>
            <p:cNvPr id="505" name="Google Shape;505;p73"/>
            <p:cNvPicPr preferRelativeResize="0"/>
            <p:nvPr/>
          </p:nvPicPr>
          <p:blipFill rotWithShape="1">
            <a:blip r:embed="rId9">
              <a:alphaModFix/>
            </a:blip>
            <a:srcRect b="0" l="0" r="0" t="0"/>
            <a:stretch/>
          </p:blipFill>
          <p:spPr>
            <a:xfrm>
              <a:off x="2731098" y="4146822"/>
              <a:ext cx="179999" cy="179999"/>
            </a:xfrm>
            <a:prstGeom prst="rect">
              <a:avLst/>
            </a:prstGeom>
            <a:noFill/>
            <a:ln>
              <a:noFill/>
            </a:ln>
          </p:spPr>
        </p:pic>
        <p:pic>
          <p:nvPicPr>
            <p:cNvPr id="506" name="Google Shape;506;p73"/>
            <p:cNvPicPr preferRelativeResize="0"/>
            <p:nvPr/>
          </p:nvPicPr>
          <p:blipFill>
            <a:blip r:embed="rId10">
              <a:alphaModFix/>
            </a:blip>
            <a:stretch>
              <a:fillRect/>
            </a:stretch>
          </p:blipFill>
          <p:spPr>
            <a:xfrm>
              <a:off x="7416225" y="1637224"/>
              <a:ext cx="1633325" cy="2382259"/>
            </a:xfrm>
            <a:prstGeom prst="rect">
              <a:avLst/>
            </a:prstGeom>
            <a:noFill/>
            <a:ln>
              <a:noFill/>
            </a:ln>
          </p:spPr>
        </p:pic>
      </p:grpSp>
      <p:sp>
        <p:nvSpPr>
          <p:cNvPr id="507" name="Google Shape;507;p73"/>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4"/>
          <p:cNvSpPr txBox="1"/>
          <p:nvPr>
            <p:ph idx="4294967295" type="title"/>
          </p:nvPr>
        </p:nvSpPr>
        <p:spPr>
          <a:xfrm>
            <a:off x="28275" y="274775"/>
            <a:ext cx="91158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Data Mastering Drives Analytical and Operational Outcomes</a:t>
            </a:r>
            <a:endParaRPr sz="2400"/>
          </a:p>
        </p:txBody>
      </p:sp>
      <p:sp>
        <p:nvSpPr>
          <p:cNvPr id="513" name="Google Shape;513;p74"/>
          <p:cNvSpPr txBox="1"/>
          <p:nvPr/>
        </p:nvSpPr>
        <p:spPr>
          <a:xfrm>
            <a:off x="1994274" y="1287549"/>
            <a:ext cx="11565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Curation</a:t>
            </a:r>
            <a:endParaRPr b="1">
              <a:solidFill>
                <a:schemeClr val="dk1"/>
              </a:solidFill>
              <a:latin typeface="Source Sans Pro"/>
              <a:ea typeface="Source Sans Pro"/>
              <a:cs typeface="Source Sans Pro"/>
              <a:sym typeface="Source Sans Pro"/>
            </a:endParaRPr>
          </a:p>
        </p:txBody>
      </p:sp>
      <p:sp>
        <p:nvSpPr>
          <p:cNvPr id="514" name="Google Shape;514;p74"/>
          <p:cNvSpPr txBox="1"/>
          <p:nvPr/>
        </p:nvSpPr>
        <p:spPr>
          <a:xfrm>
            <a:off x="4685364" y="1287125"/>
            <a:ext cx="12309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Enrichment </a:t>
            </a:r>
            <a:endParaRPr b="1">
              <a:solidFill>
                <a:schemeClr val="dk1"/>
              </a:solidFill>
              <a:latin typeface="Source Sans Pro"/>
              <a:ea typeface="Source Sans Pro"/>
              <a:cs typeface="Source Sans Pro"/>
              <a:sym typeface="Source Sans Pro"/>
            </a:endParaRPr>
          </a:p>
        </p:txBody>
      </p:sp>
      <p:sp>
        <p:nvSpPr>
          <p:cNvPr id="515" name="Google Shape;515;p74"/>
          <p:cNvSpPr txBox="1"/>
          <p:nvPr/>
        </p:nvSpPr>
        <p:spPr>
          <a:xfrm>
            <a:off x="6176371" y="1254999"/>
            <a:ext cx="1084200" cy="59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Publishing</a:t>
            </a:r>
            <a:endParaRPr b="1">
              <a:solidFill>
                <a:schemeClr val="dk1"/>
              </a:solidFill>
              <a:latin typeface="Source Sans Pro"/>
              <a:ea typeface="Source Sans Pro"/>
              <a:cs typeface="Source Sans Pro"/>
              <a:sym typeface="Source Sans Pro"/>
            </a:endParaRPr>
          </a:p>
        </p:txBody>
      </p:sp>
      <p:sp>
        <p:nvSpPr>
          <p:cNvPr id="516" name="Google Shape;516;p74"/>
          <p:cNvSpPr txBox="1"/>
          <p:nvPr/>
        </p:nvSpPr>
        <p:spPr>
          <a:xfrm>
            <a:off x="3295150" y="1348149"/>
            <a:ext cx="970200" cy="40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Feedback</a:t>
            </a:r>
            <a:endParaRPr b="1">
              <a:solidFill>
                <a:schemeClr val="dk1"/>
              </a:solidFill>
              <a:latin typeface="Source Sans Pro"/>
              <a:ea typeface="Source Sans Pro"/>
              <a:cs typeface="Source Sans Pro"/>
              <a:sym typeface="Source Sans Pro"/>
            </a:endParaRPr>
          </a:p>
        </p:txBody>
      </p:sp>
      <p:grpSp>
        <p:nvGrpSpPr>
          <p:cNvPr id="517" name="Google Shape;517;p74"/>
          <p:cNvGrpSpPr/>
          <p:nvPr/>
        </p:nvGrpSpPr>
        <p:grpSpPr>
          <a:xfrm>
            <a:off x="9550" y="1166900"/>
            <a:ext cx="9040000" cy="3329225"/>
            <a:chOff x="9550" y="1166900"/>
            <a:chExt cx="9040000" cy="3329225"/>
          </a:xfrm>
        </p:grpSpPr>
        <p:pic>
          <p:nvPicPr>
            <p:cNvPr id="518" name="Google Shape;518;p74"/>
            <p:cNvPicPr preferRelativeResize="0"/>
            <p:nvPr/>
          </p:nvPicPr>
          <p:blipFill rotWithShape="1">
            <a:blip r:embed="rId3">
              <a:alphaModFix/>
            </a:blip>
            <a:srcRect b="17225" l="0" r="0" t="0"/>
            <a:stretch/>
          </p:blipFill>
          <p:spPr>
            <a:xfrm>
              <a:off x="9550" y="1617438"/>
              <a:ext cx="1718525" cy="2275625"/>
            </a:xfrm>
            <a:prstGeom prst="rect">
              <a:avLst/>
            </a:prstGeom>
            <a:noFill/>
            <a:ln>
              <a:noFill/>
            </a:ln>
          </p:spPr>
        </p:pic>
        <p:sp>
          <p:nvSpPr>
            <p:cNvPr id="519" name="Google Shape;519;p74"/>
            <p:cNvSpPr/>
            <p:nvPr/>
          </p:nvSpPr>
          <p:spPr>
            <a:xfrm>
              <a:off x="1825775" y="1166900"/>
              <a:ext cx="5434800" cy="3176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20" name="Google Shape;520;p74"/>
            <p:cNvSpPr/>
            <p:nvPr/>
          </p:nvSpPr>
          <p:spPr>
            <a:xfrm>
              <a:off x="6980875" y="1939400"/>
              <a:ext cx="391800" cy="185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4"/>
            <p:cNvSpPr/>
            <p:nvPr/>
          </p:nvSpPr>
          <p:spPr>
            <a:xfrm>
              <a:off x="2184975" y="2075000"/>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a:t>
              </a:r>
              <a:endParaRPr i="0" sz="1000" u="none" cap="none" strike="noStrike">
                <a:solidFill>
                  <a:srgbClr val="FFFFFF"/>
                </a:solidFill>
                <a:highlight>
                  <a:schemeClr val="accent1"/>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Mtn. View</a:t>
              </a:r>
              <a:endParaRPr i="0" sz="10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 US</a:t>
              </a:r>
              <a:endParaRPr i="0" sz="1000" u="none" cap="none" strike="noStrike">
                <a:solidFill>
                  <a:schemeClr val="dk1"/>
                </a:solidFill>
                <a:latin typeface="Source Sans Pro"/>
                <a:ea typeface="Source Sans Pro"/>
                <a:cs typeface="Source Sans Pro"/>
                <a:sym typeface="Source Sans Pro"/>
              </a:endParaRPr>
            </a:p>
          </p:txBody>
        </p:sp>
        <p:sp>
          <p:nvSpPr>
            <p:cNvPr id="522" name="Google Shape;522;p74"/>
            <p:cNvSpPr/>
            <p:nvPr/>
          </p:nvSpPr>
          <p:spPr>
            <a:xfrm>
              <a:off x="2185050" y="2635550"/>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 Inc.</a:t>
              </a:r>
              <a:endParaRPr i="0" sz="100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Palo Alto</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a:t>
              </a:r>
              <a:endParaRPr sz="1000">
                <a:solidFill>
                  <a:schemeClr val="dk1"/>
                </a:solidFill>
                <a:latin typeface="Source Sans Pro"/>
                <a:ea typeface="Source Sans Pro"/>
                <a:cs typeface="Source Sans Pro"/>
                <a:sym typeface="Source Sans Pro"/>
              </a:endParaRPr>
            </a:p>
          </p:txBody>
        </p:sp>
        <p:sp>
          <p:nvSpPr>
            <p:cNvPr id="523" name="Google Shape;523;p74"/>
            <p:cNvSpPr/>
            <p:nvPr/>
          </p:nvSpPr>
          <p:spPr>
            <a:xfrm>
              <a:off x="4510913" y="1985800"/>
              <a:ext cx="1596000" cy="17901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 Inc.</a:t>
              </a:r>
              <a:endParaRPr i="0" sz="100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1600 Amphitheatre Parkway</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Mountain View</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 94043</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(650) 253-0000</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www.about.google.com</a:t>
              </a:r>
              <a:endParaRPr sz="1000">
                <a:solidFill>
                  <a:schemeClr val="dk1"/>
                </a:solidFill>
                <a:latin typeface="Source Sans Pro"/>
                <a:ea typeface="Source Sans Pro"/>
                <a:cs typeface="Source Sans Pro"/>
                <a:sym typeface="Source Sans Pro"/>
              </a:endParaRPr>
            </a:p>
          </p:txBody>
        </p:sp>
        <p:sp>
          <p:nvSpPr>
            <p:cNvPr id="524" name="Google Shape;524;p74"/>
            <p:cNvSpPr/>
            <p:nvPr/>
          </p:nvSpPr>
          <p:spPr>
            <a:xfrm>
              <a:off x="2207800" y="3965725"/>
              <a:ext cx="4521900" cy="530400"/>
            </a:xfrm>
            <a:prstGeom prst="roundRect">
              <a:avLst>
                <a:gd fmla="val 16667" name="adj"/>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25" name="Google Shape;525;p74"/>
            <p:cNvSpPr/>
            <p:nvPr/>
          </p:nvSpPr>
          <p:spPr>
            <a:xfrm>
              <a:off x="1559575" y="1774300"/>
              <a:ext cx="459600" cy="2108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4"/>
            <p:cNvSpPr/>
            <p:nvPr/>
          </p:nvSpPr>
          <p:spPr>
            <a:xfrm>
              <a:off x="6260084" y="2120257"/>
              <a:ext cx="879300" cy="394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latin typeface="Source Sans Pro"/>
                  <a:ea typeface="Source Sans Pro"/>
                  <a:cs typeface="Source Sans Pro"/>
                  <a:sym typeface="Source Sans Pro"/>
                </a:rPr>
                <a:t>Analytic </a:t>
              </a:r>
              <a:br>
                <a:rPr b="1" lang="en" sz="1100">
                  <a:solidFill>
                    <a:schemeClr val="dk1"/>
                  </a:solidFill>
                  <a:latin typeface="Source Sans Pro"/>
                  <a:ea typeface="Source Sans Pro"/>
                  <a:cs typeface="Source Sans Pro"/>
                  <a:sym typeface="Source Sans Pro"/>
                </a:rPr>
              </a:br>
              <a:r>
                <a:rPr b="1" lang="en" sz="1100">
                  <a:solidFill>
                    <a:schemeClr val="dk1"/>
                  </a:solidFill>
                  <a:latin typeface="Source Sans Pro"/>
                  <a:ea typeface="Source Sans Pro"/>
                  <a:cs typeface="Source Sans Pro"/>
                  <a:sym typeface="Source Sans Pro"/>
                </a:rPr>
                <a:t>Stores</a:t>
              </a:r>
              <a:endParaRPr b="1" i="0" sz="1100" cap="none" strike="noStrike">
                <a:solidFill>
                  <a:schemeClr val="dk1"/>
                </a:solidFill>
                <a:latin typeface="Source Sans Pro"/>
                <a:ea typeface="Source Sans Pro"/>
                <a:cs typeface="Source Sans Pro"/>
                <a:sym typeface="Source Sans Pro"/>
              </a:endParaRPr>
            </a:p>
          </p:txBody>
        </p:sp>
        <p:sp>
          <p:nvSpPr>
            <p:cNvPr id="527" name="Google Shape;527;p74"/>
            <p:cNvSpPr/>
            <p:nvPr/>
          </p:nvSpPr>
          <p:spPr>
            <a:xfrm>
              <a:off x="6190950" y="3186825"/>
              <a:ext cx="1038900" cy="394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latin typeface="Source Sans Pro"/>
                  <a:ea typeface="Source Sans Pro"/>
                  <a:cs typeface="Source Sans Pro"/>
                  <a:sym typeface="Source Sans Pro"/>
                </a:rPr>
                <a:t>Operational Stores</a:t>
              </a:r>
              <a:endParaRPr b="1" i="0" sz="1100" u="none" cap="none" strike="noStrike">
                <a:solidFill>
                  <a:schemeClr val="dk1"/>
                </a:solidFill>
                <a:latin typeface="Source Sans Pro"/>
                <a:ea typeface="Source Sans Pro"/>
                <a:cs typeface="Source Sans Pro"/>
                <a:sym typeface="Source Sans Pro"/>
              </a:endParaRPr>
            </a:p>
          </p:txBody>
        </p:sp>
        <p:sp>
          <p:nvSpPr>
            <p:cNvPr id="528" name="Google Shape;528;p74"/>
            <p:cNvSpPr/>
            <p:nvPr/>
          </p:nvSpPr>
          <p:spPr>
            <a:xfrm>
              <a:off x="2185050" y="3213675"/>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Alphabet</a:t>
              </a:r>
              <a:endParaRPr sz="1000">
                <a:solidFill>
                  <a:srgbClr val="FFFFFF"/>
                </a:solidFill>
                <a:latin typeface="Source Sans Pro"/>
                <a:ea typeface="Source Sans Pro"/>
                <a:cs typeface="Source Sans Pro"/>
                <a:sym typeface="Source Sans Pro"/>
              </a:endParaRPr>
            </a:p>
          </p:txBody>
        </p:sp>
        <p:pic>
          <p:nvPicPr>
            <p:cNvPr id="529" name="Google Shape;529;p74"/>
            <p:cNvPicPr preferRelativeResize="0"/>
            <p:nvPr/>
          </p:nvPicPr>
          <p:blipFill rotWithShape="1">
            <a:blip r:embed="rId4">
              <a:alphaModFix/>
            </a:blip>
            <a:srcRect b="59261" l="0" r="50899" t="29618"/>
            <a:stretch/>
          </p:blipFill>
          <p:spPr>
            <a:xfrm>
              <a:off x="3040025" y="2773300"/>
              <a:ext cx="459600" cy="209474"/>
            </a:xfrm>
            <a:prstGeom prst="rect">
              <a:avLst/>
            </a:prstGeom>
            <a:noFill/>
            <a:ln>
              <a:noFill/>
            </a:ln>
          </p:spPr>
        </p:pic>
        <p:sp>
          <p:nvSpPr>
            <p:cNvPr id="530" name="Google Shape;530;p74"/>
            <p:cNvSpPr txBox="1"/>
            <p:nvPr/>
          </p:nvSpPr>
          <p:spPr>
            <a:xfrm>
              <a:off x="2404975" y="3791800"/>
              <a:ext cx="3970800" cy="5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Source Sans Pro"/>
                  <a:ea typeface="Source Sans Pro"/>
                  <a:cs typeface="Source Sans Pro"/>
                  <a:sym typeface="Source Sans Pro"/>
                </a:rPr>
                <a:t>Tamr Core</a:t>
              </a:r>
              <a:endParaRPr b="1" sz="1200">
                <a:solidFill>
                  <a:schemeClr val="lt1"/>
                </a:solidFill>
                <a:latin typeface="Source Sans Pro"/>
                <a:ea typeface="Source Sans Pro"/>
                <a:cs typeface="Source Sans Pro"/>
                <a:sym typeface="Source Sans Pro"/>
              </a:endParaRPr>
            </a:p>
          </p:txBody>
        </p:sp>
        <p:pic>
          <p:nvPicPr>
            <p:cNvPr id="531" name="Google Shape;531;p74"/>
            <p:cNvPicPr preferRelativeResize="0"/>
            <p:nvPr/>
          </p:nvPicPr>
          <p:blipFill>
            <a:blip r:embed="rId5">
              <a:alphaModFix/>
            </a:blip>
            <a:stretch>
              <a:fillRect/>
            </a:stretch>
          </p:blipFill>
          <p:spPr>
            <a:xfrm>
              <a:off x="3073850" y="2157812"/>
              <a:ext cx="391928" cy="275635"/>
            </a:xfrm>
            <a:prstGeom prst="rect">
              <a:avLst/>
            </a:prstGeom>
            <a:noFill/>
            <a:ln>
              <a:noFill/>
            </a:ln>
          </p:spPr>
        </p:pic>
        <p:pic>
          <p:nvPicPr>
            <p:cNvPr id="532" name="Google Shape;532;p74"/>
            <p:cNvPicPr preferRelativeResize="0"/>
            <p:nvPr/>
          </p:nvPicPr>
          <p:blipFill rotWithShape="1">
            <a:blip r:embed="rId6">
              <a:alphaModFix/>
            </a:blip>
            <a:srcRect b="42453" l="0" r="0" t="41068"/>
            <a:stretch/>
          </p:blipFill>
          <p:spPr>
            <a:xfrm>
              <a:off x="2972700" y="2804594"/>
              <a:ext cx="594220" cy="146899"/>
            </a:xfrm>
            <a:prstGeom prst="rect">
              <a:avLst/>
            </a:prstGeom>
            <a:noFill/>
            <a:ln>
              <a:noFill/>
            </a:ln>
          </p:spPr>
        </p:pic>
        <p:pic>
          <p:nvPicPr>
            <p:cNvPr id="533" name="Google Shape;533;p74"/>
            <p:cNvPicPr preferRelativeResize="0"/>
            <p:nvPr/>
          </p:nvPicPr>
          <p:blipFill>
            <a:blip r:embed="rId7">
              <a:alphaModFix/>
            </a:blip>
            <a:stretch>
              <a:fillRect/>
            </a:stretch>
          </p:blipFill>
          <p:spPr>
            <a:xfrm>
              <a:off x="3187351" y="3326550"/>
              <a:ext cx="247076" cy="242573"/>
            </a:xfrm>
            <a:prstGeom prst="rect">
              <a:avLst/>
            </a:prstGeom>
            <a:noFill/>
            <a:ln>
              <a:noFill/>
            </a:ln>
          </p:spPr>
        </p:pic>
        <p:pic>
          <p:nvPicPr>
            <p:cNvPr id="534" name="Google Shape;534;p74"/>
            <p:cNvPicPr preferRelativeResize="0"/>
            <p:nvPr/>
          </p:nvPicPr>
          <p:blipFill>
            <a:blip r:embed="rId8">
              <a:alphaModFix/>
            </a:blip>
            <a:stretch>
              <a:fillRect/>
            </a:stretch>
          </p:blipFill>
          <p:spPr>
            <a:xfrm>
              <a:off x="7096556" y="1986244"/>
              <a:ext cx="247075" cy="802511"/>
            </a:xfrm>
            <a:prstGeom prst="rect">
              <a:avLst/>
            </a:prstGeom>
            <a:noFill/>
            <a:ln>
              <a:noFill/>
            </a:ln>
          </p:spPr>
        </p:pic>
        <p:pic>
          <p:nvPicPr>
            <p:cNvPr id="535" name="Google Shape;535;p74"/>
            <p:cNvPicPr preferRelativeResize="0"/>
            <p:nvPr/>
          </p:nvPicPr>
          <p:blipFill>
            <a:blip r:embed="rId8">
              <a:alphaModFix/>
            </a:blip>
            <a:stretch>
              <a:fillRect/>
            </a:stretch>
          </p:blipFill>
          <p:spPr>
            <a:xfrm>
              <a:off x="7135218" y="2982969"/>
              <a:ext cx="247075" cy="802511"/>
            </a:xfrm>
            <a:prstGeom prst="rect">
              <a:avLst/>
            </a:prstGeom>
            <a:noFill/>
            <a:ln>
              <a:noFill/>
            </a:ln>
          </p:spPr>
        </p:pic>
        <p:pic>
          <p:nvPicPr>
            <p:cNvPr id="536" name="Google Shape;536;p74"/>
            <p:cNvPicPr preferRelativeResize="0"/>
            <p:nvPr/>
          </p:nvPicPr>
          <p:blipFill>
            <a:blip r:embed="rId8">
              <a:alphaModFix/>
            </a:blip>
            <a:stretch>
              <a:fillRect/>
            </a:stretch>
          </p:blipFill>
          <p:spPr>
            <a:xfrm>
              <a:off x="4034475" y="1921770"/>
              <a:ext cx="247075" cy="1790199"/>
            </a:xfrm>
            <a:prstGeom prst="rect">
              <a:avLst/>
            </a:prstGeom>
            <a:noFill/>
            <a:ln>
              <a:noFill/>
            </a:ln>
          </p:spPr>
        </p:pic>
        <p:pic>
          <p:nvPicPr>
            <p:cNvPr id="537" name="Google Shape;537;p74"/>
            <p:cNvPicPr preferRelativeResize="0"/>
            <p:nvPr/>
          </p:nvPicPr>
          <p:blipFill>
            <a:blip r:embed="rId8">
              <a:alphaModFix/>
            </a:blip>
            <a:stretch>
              <a:fillRect/>
            </a:stretch>
          </p:blipFill>
          <p:spPr>
            <a:xfrm>
              <a:off x="1718525" y="2152812"/>
              <a:ext cx="247050" cy="1503475"/>
            </a:xfrm>
            <a:prstGeom prst="rect">
              <a:avLst/>
            </a:prstGeom>
            <a:noFill/>
            <a:ln>
              <a:noFill/>
            </a:ln>
          </p:spPr>
        </p:pic>
        <p:pic>
          <p:nvPicPr>
            <p:cNvPr id="538" name="Google Shape;538;p74"/>
            <p:cNvPicPr preferRelativeResize="0"/>
            <p:nvPr/>
          </p:nvPicPr>
          <p:blipFill rotWithShape="1">
            <a:blip r:embed="rId9">
              <a:alphaModFix/>
            </a:blip>
            <a:srcRect b="0" l="0" r="0" t="0"/>
            <a:stretch/>
          </p:blipFill>
          <p:spPr>
            <a:xfrm>
              <a:off x="3690248" y="3994447"/>
              <a:ext cx="179999" cy="179999"/>
            </a:xfrm>
            <a:prstGeom prst="rect">
              <a:avLst/>
            </a:prstGeom>
            <a:noFill/>
            <a:ln>
              <a:noFill/>
            </a:ln>
          </p:spPr>
        </p:pic>
        <p:pic>
          <p:nvPicPr>
            <p:cNvPr id="539" name="Google Shape;539;p74"/>
            <p:cNvPicPr preferRelativeResize="0"/>
            <p:nvPr/>
          </p:nvPicPr>
          <p:blipFill>
            <a:blip r:embed="rId10">
              <a:alphaModFix/>
            </a:blip>
            <a:stretch>
              <a:fillRect/>
            </a:stretch>
          </p:blipFill>
          <p:spPr>
            <a:xfrm>
              <a:off x="7416225" y="1637224"/>
              <a:ext cx="1633325" cy="2382259"/>
            </a:xfrm>
            <a:prstGeom prst="rect">
              <a:avLst/>
            </a:prstGeom>
            <a:noFill/>
            <a:ln>
              <a:noFill/>
            </a:ln>
          </p:spPr>
        </p:pic>
      </p:grpSp>
      <p:sp>
        <p:nvSpPr>
          <p:cNvPr id="540" name="Google Shape;540;p74"/>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41" name="Google Shape;541;p74"/>
          <p:cNvPicPr preferRelativeResize="0"/>
          <p:nvPr/>
        </p:nvPicPr>
        <p:blipFill>
          <a:blip r:embed="rId11">
            <a:alphaModFix/>
          </a:blip>
          <a:stretch>
            <a:fillRect/>
          </a:stretch>
        </p:blipFill>
        <p:spPr>
          <a:xfrm>
            <a:off x="3295138" y="4201140"/>
            <a:ext cx="367026" cy="218985"/>
          </a:xfrm>
          <a:prstGeom prst="rect">
            <a:avLst/>
          </a:prstGeom>
          <a:noFill/>
          <a:ln>
            <a:noFill/>
          </a:ln>
        </p:spPr>
      </p:pic>
      <p:pic>
        <p:nvPicPr>
          <p:cNvPr id="542" name="Google Shape;542;p74"/>
          <p:cNvPicPr preferRelativeResize="0"/>
          <p:nvPr/>
        </p:nvPicPr>
        <p:blipFill>
          <a:blip r:embed="rId12">
            <a:alphaModFix/>
          </a:blip>
          <a:stretch>
            <a:fillRect/>
          </a:stretch>
        </p:blipFill>
        <p:spPr>
          <a:xfrm>
            <a:off x="4189400" y="4171535"/>
            <a:ext cx="495987" cy="278227"/>
          </a:xfrm>
          <a:prstGeom prst="rect">
            <a:avLst/>
          </a:prstGeom>
          <a:noFill/>
          <a:ln>
            <a:noFill/>
          </a:ln>
        </p:spPr>
      </p:pic>
      <p:pic>
        <p:nvPicPr>
          <p:cNvPr id="543" name="Google Shape;543;p74"/>
          <p:cNvPicPr preferRelativeResize="0"/>
          <p:nvPr/>
        </p:nvPicPr>
        <p:blipFill>
          <a:blip r:embed="rId13">
            <a:alphaModFix/>
          </a:blip>
          <a:stretch>
            <a:fillRect/>
          </a:stretch>
        </p:blipFill>
        <p:spPr>
          <a:xfrm>
            <a:off x="5212600" y="4252179"/>
            <a:ext cx="654846" cy="1169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5"/>
          <p:cNvSpPr txBox="1"/>
          <p:nvPr>
            <p:ph idx="4294967295" type="title"/>
          </p:nvPr>
        </p:nvSpPr>
        <p:spPr>
          <a:xfrm>
            <a:off x="28275" y="274775"/>
            <a:ext cx="91158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Data Mastering Drives Analytical and Operational Outcomes</a:t>
            </a:r>
            <a:endParaRPr sz="2400"/>
          </a:p>
        </p:txBody>
      </p:sp>
      <p:sp>
        <p:nvSpPr>
          <p:cNvPr id="549" name="Google Shape;549;p75"/>
          <p:cNvSpPr txBox="1"/>
          <p:nvPr/>
        </p:nvSpPr>
        <p:spPr>
          <a:xfrm>
            <a:off x="1994274" y="1287549"/>
            <a:ext cx="11565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Curation</a:t>
            </a:r>
            <a:endParaRPr b="1">
              <a:solidFill>
                <a:schemeClr val="dk1"/>
              </a:solidFill>
              <a:latin typeface="Source Sans Pro"/>
              <a:ea typeface="Source Sans Pro"/>
              <a:cs typeface="Source Sans Pro"/>
              <a:sym typeface="Source Sans Pro"/>
            </a:endParaRPr>
          </a:p>
        </p:txBody>
      </p:sp>
      <p:sp>
        <p:nvSpPr>
          <p:cNvPr id="550" name="Google Shape;550;p75"/>
          <p:cNvSpPr txBox="1"/>
          <p:nvPr/>
        </p:nvSpPr>
        <p:spPr>
          <a:xfrm>
            <a:off x="4685364" y="1287125"/>
            <a:ext cx="12309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Enrichment </a:t>
            </a:r>
            <a:endParaRPr b="1">
              <a:solidFill>
                <a:schemeClr val="dk1"/>
              </a:solidFill>
              <a:latin typeface="Source Sans Pro"/>
              <a:ea typeface="Source Sans Pro"/>
              <a:cs typeface="Source Sans Pro"/>
              <a:sym typeface="Source Sans Pro"/>
            </a:endParaRPr>
          </a:p>
        </p:txBody>
      </p:sp>
      <p:sp>
        <p:nvSpPr>
          <p:cNvPr id="551" name="Google Shape;551;p75"/>
          <p:cNvSpPr txBox="1"/>
          <p:nvPr/>
        </p:nvSpPr>
        <p:spPr>
          <a:xfrm>
            <a:off x="6176371" y="1254999"/>
            <a:ext cx="1084200" cy="59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Publishing</a:t>
            </a:r>
            <a:endParaRPr b="1">
              <a:solidFill>
                <a:schemeClr val="dk1"/>
              </a:solidFill>
              <a:latin typeface="Source Sans Pro"/>
              <a:ea typeface="Source Sans Pro"/>
              <a:cs typeface="Source Sans Pro"/>
              <a:sym typeface="Source Sans Pro"/>
            </a:endParaRPr>
          </a:p>
        </p:txBody>
      </p:sp>
      <p:sp>
        <p:nvSpPr>
          <p:cNvPr id="552" name="Google Shape;552;p75"/>
          <p:cNvSpPr txBox="1"/>
          <p:nvPr/>
        </p:nvSpPr>
        <p:spPr>
          <a:xfrm>
            <a:off x="3295150" y="1348149"/>
            <a:ext cx="970200" cy="409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Feedback</a:t>
            </a:r>
            <a:endParaRPr b="1">
              <a:solidFill>
                <a:schemeClr val="dk1"/>
              </a:solidFill>
              <a:latin typeface="Source Sans Pro"/>
              <a:ea typeface="Source Sans Pro"/>
              <a:cs typeface="Source Sans Pro"/>
              <a:sym typeface="Source Sans Pro"/>
            </a:endParaRPr>
          </a:p>
        </p:txBody>
      </p:sp>
      <p:grpSp>
        <p:nvGrpSpPr>
          <p:cNvPr id="553" name="Google Shape;553;p75"/>
          <p:cNvGrpSpPr/>
          <p:nvPr/>
        </p:nvGrpSpPr>
        <p:grpSpPr>
          <a:xfrm>
            <a:off x="9550" y="1166900"/>
            <a:ext cx="9040000" cy="3329225"/>
            <a:chOff x="9550" y="1166900"/>
            <a:chExt cx="9040000" cy="3329225"/>
          </a:xfrm>
        </p:grpSpPr>
        <p:pic>
          <p:nvPicPr>
            <p:cNvPr id="554" name="Google Shape;554;p75"/>
            <p:cNvPicPr preferRelativeResize="0"/>
            <p:nvPr/>
          </p:nvPicPr>
          <p:blipFill rotWithShape="1">
            <a:blip r:embed="rId3">
              <a:alphaModFix/>
            </a:blip>
            <a:srcRect b="17225" l="0" r="0" t="0"/>
            <a:stretch/>
          </p:blipFill>
          <p:spPr>
            <a:xfrm>
              <a:off x="9550" y="1617438"/>
              <a:ext cx="1718525" cy="2275625"/>
            </a:xfrm>
            <a:prstGeom prst="rect">
              <a:avLst/>
            </a:prstGeom>
            <a:noFill/>
            <a:ln>
              <a:noFill/>
            </a:ln>
          </p:spPr>
        </p:pic>
        <p:sp>
          <p:nvSpPr>
            <p:cNvPr id="555" name="Google Shape;555;p75"/>
            <p:cNvSpPr/>
            <p:nvPr/>
          </p:nvSpPr>
          <p:spPr>
            <a:xfrm>
              <a:off x="1825775" y="1166900"/>
              <a:ext cx="5434800" cy="3176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56" name="Google Shape;556;p75"/>
            <p:cNvSpPr/>
            <p:nvPr/>
          </p:nvSpPr>
          <p:spPr>
            <a:xfrm>
              <a:off x="6980875" y="1939400"/>
              <a:ext cx="391800" cy="185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75"/>
            <p:cNvSpPr/>
            <p:nvPr/>
          </p:nvSpPr>
          <p:spPr>
            <a:xfrm>
              <a:off x="2184975" y="2075000"/>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a:t>
              </a:r>
              <a:endParaRPr i="0" sz="1000" u="none" cap="none" strike="noStrike">
                <a:solidFill>
                  <a:srgbClr val="FFFFFF"/>
                </a:solidFill>
                <a:highlight>
                  <a:schemeClr val="accent1"/>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Mtn. View</a:t>
              </a:r>
              <a:endParaRPr i="0" sz="10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 US</a:t>
              </a:r>
              <a:endParaRPr i="0" sz="1000" u="none" cap="none" strike="noStrike">
                <a:solidFill>
                  <a:schemeClr val="dk1"/>
                </a:solidFill>
                <a:latin typeface="Source Sans Pro"/>
                <a:ea typeface="Source Sans Pro"/>
                <a:cs typeface="Source Sans Pro"/>
                <a:sym typeface="Source Sans Pro"/>
              </a:endParaRPr>
            </a:p>
          </p:txBody>
        </p:sp>
        <p:sp>
          <p:nvSpPr>
            <p:cNvPr id="558" name="Google Shape;558;p75"/>
            <p:cNvSpPr/>
            <p:nvPr/>
          </p:nvSpPr>
          <p:spPr>
            <a:xfrm>
              <a:off x="2185050" y="2635550"/>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 Inc.</a:t>
              </a:r>
              <a:endParaRPr i="0" sz="100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Palo Alto</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a:t>
              </a:r>
              <a:endParaRPr sz="1000">
                <a:solidFill>
                  <a:schemeClr val="dk1"/>
                </a:solidFill>
                <a:latin typeface="Source Sans Pro"/>
                <a:ea typeface="Source Sans Pro"/>
                <a:cs typeface="Source Sans Pro"/>
                <a:sym typeface="Source Sans Pro"/>
              </a:endParaRPr>
            </a:p>
          </p:txBody>
        </p:sp>
        <p:sp>
          <p:nvSpPr>
            <p:cNvPr id="559" name="Google Shape;559;p75"/>
            <p:cNvSpPr/>
            <p:nvPr/>
          </p:nvSpPr>
          <p:spPr>
            <a:xfrm>
              <a:off x="4510913" y="1985800"/>
              <a:ext cx="1596000" cy="17901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Google Inc.</a:t>
              </a:r>
              <a:endParaRPr i="0" sz="100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1600 Amphitheatre Parkway</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Mountain View</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CA 94043</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(650) 253-0000</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1000">
                  <a:solidFill>
                    <a:schemeClr val="dk1"/>
                  </a:solidFill>
                  <a:latin typeface="Source Sans Pro"/>
                  <a:ea typeface="Source Sans Pro"/>
                  <a:cs typeface="Source Sans Pro"/>
                  <a:sym typeface="Source Sans Pro"/>
                </a:rPr>
                <a:t>www.about.google.com</a:t>
              </a:r>
              <a:endParaRPr sz="1000">
                <a:solidFill>
                  <a:schemeClr val="dk1"/>
                </a:solidFill>
                <a:latin typeface="Source Sans Pro"/>
                <a:ea typeface="Source Sans Pro"/>
                <a:cs typeface="Source Sans Pro"/>
                <a:sym typeface="Source Sans Pro"/>
              </a:endParaRPr>
            </a:p>
          </p:txBody>
        </p:sp>
        <p:sp>
          <p:nvSpPr>
            <p:cNvPr id="560" name="Google Shape;560;p75"/>
            <p:cNvSpPr/>
            <p:nvPr/>
          </p:nvSpPr>
          <p:spPr>
            <a:xfrm>
              <a:off x="2207800" y="3965725"/>
              <a:ext cx="4521900" cy="530400"/>
            </a:xfrm>
            <a:prstGeom prst="roundRect">
              <a:avLst>
                <a:gd fmla="val 16667" name="adj"/>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61" name="Google Shape;561;p75"/>
            <p:cNvSpPr/>
            <p:nvPr/>
          </p:nvSpPr>
          <p:spPr>
            <a:xfrm>
              <a:off x="1559575" y="1774300"/>
              <a:ext cx="459600" cy="2108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5"/>
            <p:cNvSpPr/>
            <p:nvPr/>
          </p:nvSpPr>
          <p:spPr>
            <a:xfrm>
              <a:off x="6260084" y="2120257"/>
              <a:ext cx="879300" cy="394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latin typeface="Source Sans Pro"/>
                  <a:ea typeface="Source Sans Pro"/>
                  <a:cs typeface="Source Sans Pro"/>
                  <a:sym typeface="Source Sans Pro"/>
                </a:rPr>
                <a:t>Analytic </a:t>
              </a:r>
              <a:br>
                <a:rPr b="1" lang="en" sz="1100">
                  <a:solidFill>
                    <a:schemeClr val="dk1"/>
                  </a:solidFill>
                  <a:latin typeface="Source Sans Pro"/>
                  <a:ea typeface="Source Sans Pro"/>
                  <a:cs typeface="Source Sans Pro"/>
                  <a:sym typeface="Source Sans Pro"/>
                </a:rPr>
              </a:br>
              <a:r>
                <a:rPr b="1" lang="en" sz="1100">
                  <a:solidFill>
                    <a:schemeClr val="dk1"/>
                  </a:solidFill>
                  <a:latin typeface="Source Sans Pro"/>
                  <a:ea typeface="Source Sans Pro"/>
                  <a:cs typeface="Source Sans Pro"/>
                  <a:sym typeface="Source Sans Pro"/>
                </a:rPr>
                <a:t>Stores</a:t>
              </a:r>
              <a:endParaRPr b="1" i="0" sz="1100" cap="none" strike="noStrike">
                <a:solidFill>
                  <a:schemeClr val="dk1"/>
                </a:solidFill>
                <a:latin typeface="Source Sans Pro"/>
                <a:ea typeface="Source Sans Pro"/>
                <a:cs typeface="Source Sans Pro"/>
                <a:sym typeface="Source Sans Pro"/>
              </a:endParaRPr>
            </a:p>
          </p:txBody>
        </p:sp>
        <p:sp>
          <p:nvSpPr>
            <p:cNvPr id="563" name="Google Shape;563;p75"/>
            <p:cNvSpPr/>
            <p:nvPr/>
          </p:nvSpPr>
          <p:spPr>
            <a:xfrm>
              <a:off x="6190950" y="3186825"/>
              <a:ext cx="1038900" cy="394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latin typeface="Source Sans Pro"/>
                  <a:ea typeface="Source Sans Pro"/>
                  <a:cs typeface="Source Sans Pro"/>
                  <a:sym typeface="Source Sans Pro"/>
                </a:rPr>
                <a:t>Operational Stores</a:t>
              </a:r>
              <a:endParaRPr b="1" i="0" sz="1100" u="none" cap="none" strike="noStrike">
                <a:solidFill>
                  <a:schemeClr val="dk1"/>
                </a:solidFill>
                <a:latin typeface="Source Sans Pro"/>
                <a:ea typeface="Source Sans Pro"/>
                <a:cs typeface="Source Sans Pro"/>
                <a:sym typeface="Source Sans Pro"/>
              </a:endParaRPr>
            </a:p>
          </p:txBody>
        </p:sp>
        <p:sp>
          <p:nvSpPr>
            <p:cNvPr id="564" name="Google Shape;564;p75"/>
            <p:cNvSpPr/>
            <p:nvPr/>
          </p:nvSpPr>
          <p:spPr>
            <a:xfrm>
              <a:off x="2185050" y="3213675"/>
              <a:ext cx="1392600" cy="4674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rgbClr val="FFFFFF"/>
                  </a:solidFill>
                  <a:highlight>
                    <a:schemeClr val="accent1"/>
                  </a:highlight>
                  <a:latin typeface="Source Sans Pro"/>
                  <a:ea typeface="Source Sans Pro"/>
                  <a:cs typeface="Source Sans Pro"/>
                  <a:sym typeface="Source Sans Pro"/>
                </a:rPr>
                <a:t>Alphabet</a:t>
              </a:r>
              <a:endParaRPr sz="1000">
                <a:solidFill>
                  <a:srgbClr val="FFFFFF"/>
                </a:solidFill>
                <a:latin typeface="Source Sans Pro"/>
                <a:ea typeface="Source Sans Pro"/>
                <a:cs typeface="Source Sans Pro"/>
                <a:sym typeface="Source Sans Pro"/>
              </a:endParaRPr>
            </a:p>
          </p:txBody>
        </p:sp>
        <p:pic>
          <p:nvPicPr>
            <p:cNvPr id="565" name="Google Shape;565;p75"/>
            <p:cNvPicPr preferRelativeResize="0"/>
            <p:nvPr/>
          </p:nvPicPr>
          <p:blipFill rotWithShape="1">
            <a:blip r:embed="rId4">
              <a:alphaModFix/>
            </a:blip>
            <a:srcRect b="59261" l="0" r="50899" t="29618"/>
            <a:stretch/>
          </p:blipFill>
          <p:spPr>
            <a:xfrm>
              <a:off x="3040025" y="2773300"/>
              <a:ext cx="459600" cy="209474"/>
            </a:xfrm>
            <a:prstGeom prst="rect">
              <a:avLst/>
            </a:prstGeom>
            <a:noFill/>
            <a:ln>
              <a:noFill/>
            </a:ln>
          </p:spPr>
        </p:pic>
        <p:sp>
          <p:nvSpPr>
            <p:cNvPr id="566" name="Google Shape;566;p75"/>
            <p:cNvSpPr txBox="1"/>
            <p:nvPr/>
          </p:nvSpPr>
          <p:spPr>
            <a:xfrm>
              <a:off x="2404975" y="3791800"/>
              <a:ext cx="3970800" cy="5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Source Sans Pro"/>
                  <a:ea typeface="Source Sans Pro"/>
                  <a:cs typeface="Source Sans Pro"/>
                  <a:sym typeface="Source Sans Pro"/>
                </a:rPr>
                <a:t>Tamr</a:t>
              </a:r>
              <a:endParaRPr b="1" sz="1200">
                <a:solidFill>
                  <a:schemeClr val="lt1"/>
                </a:solidFill>
                <a:latin typeface="Source Sans Pro"/>
                <a:ea typeface="Source Sans Pro"/>
                <a:cs typeface="Source Sans Pro"/>
                <a:sym typeface="Source Sans Pro"/>
              </a:endParaRPr>
            </a:p>
          </p:txBody>
        </p:sp>
        <p:pic>
          <p:nvPicPr>
            <p:cNvPr id="567" name="Google Shape;567;p75"/>
            <p:cNvPicPr preferRelativeResize="0"/>
            <p:nvPr/>
          </p:nvPicPr>
          <p:blipFill>
            <a:blip r:embed="rId5">
              <a:alphaModFix/>
            </a:blip>
            <a:stretch>
              <a:fillRect/>
            </a:stretch>
          </p:blipFill>
          <p:spPr>
            <a:xfrm>
              <a:off x="3073850" y="2157812"/>
              <a:ext cx="391928" cy="275635"/>
            </a:xfrm>
            <a:prstGeom prst="rect">
              <a:avLst/>
            </a:prstGeom>
            <a:noFill/>
            <a:ln>
              <a:noFill/>
            </a:ln>
          </p:spPr>
        </p:pic>
        <p:pic>
          <p:nvPicPr>
            <p:cNvPr id="568" name="Google Shape;568;p75"/>
            <p:cNvPicPr preferRelativeResize="0"/>
            <p:nvPr/>
          </p:nvPicPr>
          <p:blipFill rotWithShape="1">
            <a:blip r:embed="rId6">
              <a:alphaModFix/>
            </a:blip>
            <a:srcRect b="42453" l="0" r="0" t="41068"/>
            <a:stretch/>
          </p:blipFill>
          <p:spPr>
            <a:xfrm>
              <a:off x="2972700" y="2804594"/>
              <a:ext cx="594220" cy="146899"/>
            </a:xfrm>
            <a:prstGeom prst="rect">
              <a:avLst/>
            </a:prstGeom>
            <a:noFill/>
            <a:ln>
              <a:noFill/>
            </a:ln>
          </p:spPr>
        </p:pic>
        <p:pic>
          <p:nvPicPr>
            <p:cNvPr id="569" name="Google Shape;569;p75"/>
            <p:cNvPicPr preferRelativeResize="0"/>
            <p:nvPr/>
          </p:nvPicPr>
          <p:blipFill>
            <a:blip r:embed="rId7">
              <a:alphaModFix/>
            </a:blip>
            <a:stretch>
              <a:fillRect/>
            </a:stretch>
          </p:blipFill>
          <p:spPr>
            <a:xfrm>
              <a:off x="3187351" y="3326550"/>
              <a:ext cx="247076" cy="242573"/>
            </a:xfrm>
            <a:prstGeom prst="rect">
              <a:avLst/>
            </a:prstGeom>
            <a:noFill/>
            <a:ln>
              <a:noFill/>
            </a:ln>
          </p:spPr>
        </p:pic>
        <p:pic>
          <p:nvPicPr>
            <p:cNvPr id="570" name="Google Shape;570;p75"/>
            <p:cNvPicPr preferRelativeResize="0"/>
            <p:nvPr/>
          </p:nvPicPr>
          <p:blipFill>
            <a:blip r:embed="rId8">
              <a:alphaModFix/>
            </a:blip>
            <a:stretch>
              <a:fillRect/>
            </a:stretch>
          </p:blipFill>
          <p:spPr>
            <a:xfrm>
              <a:off x="7096556" y="1986244"/>
              <a:ext cx="247075" cy="802511"/>
            </a:xfrm>
            <a:prstGeom prst="rect">
              <a:avLst/>
            </a:prstGeom>
            <a:noFill/>
            <a:ln>
              <a:noFill/>
            </a:ln>
          </p:spPr>
        </p:pic>
        <p:pic>
          <p:nvPicPr>
            <p:cNvPr id="571" name="Google Shape;571;p75"/>
            <p:cNvPicPr preferRelativeResize="0"/>
            <p:nvPr/>
          </p:nvPicPr>
          <p:blipFill>
            <a:blip r:embed="rId8">
              <a:alphaModFix/>
            </a:blip>
            <a:stretch>
              <a:fillRect/>
            </a:stretch>
          </p:blipFill>
          <p:spPr>
            <a:xfrm>
              <a:off x="7135218" y="2982969"/>
              <a:ext cx="247075" cy="802511"/>
            </a:xfrm>
            <a:prstGeom prst="rect">
              <a:avLst/>
            </a:prstGeom>
            <a:noFill/>
            <a:ln>
              <a:noFill/>
            </a:ln>
          </p:spPr>
        </p:pic>
        <p:pic>
          <p:nvPicPr>
            <p:cNvPr id="572" name="Google Shape;572;p75"/>
            <p:cNvPicPr preferRelativeResize="0"/>
            <p:nvPr/>
          </p:nvPicPr>
          <p:blipFill>
            <a:blip r:embed="rId8">
              <a:alphaModFix/>
            </a:blip>
            <a:stretch>
              <a:fillRect/>
            </a:stretch>
          </p:blipFill>
          <p:spPr>
            <a:xfrm>
              <a:off x="4034475" y="1921770"/>
              <a:ext cx="247075" cy="1790199"/>
            </a:xfrm>
            <a:prstGeom prst="rect">
              <a:avLst/>
            </a:prstGeom>
            <a:noFill/>
            <a:ln>
              <a:noFill/>
            </a:ln>
          </p:spPr>
        </p:pic>
        <p:pic>
          <p:nvPicPr>
            <p:cNvPr id="573" name="Google Shape;573;p75"/>
            <p:cNvPicPr preferRelativeResize="0"/>
            <p:nvPr/>
          </p:nvPicPr>
          <p:blipFill>
            <a:blip r:embed="rId8">
              <a:alphaModFix/>
            </a:blip>
            <a:stretch>
              <a:fillRect/>
            </a:stretch>
          </p:blipFill>
          <p:spPr>
            <a:xfrm>
              <a:off x="1718525" y="2152812"/>
              <a:ext cx="247050" cy="1503475"/>
            </a:xfrm>
            <a:prstGeom prst="rect">
              <a:avLst/>
            </a:prstGeom>
            <a:noFill/>
            <a:ln>
              <a:noFill/>
            </a:ln>
          </p:spPr>
        </p:pic>
        <p:pic>
          <p:nvPicPr>
            <p:cNvPr id="574" name="Google Shape;574;p75"/>
            <p:cNvPicPr preferRelativeResize="0"/>
            <p:nvPr/>
          </p:nvPicPr>
          <p:blipFill rotWithShape="1">
            <a:blip r:embed="rId9">
              <a:alphaModFix/>
            </a:blip>
            <a:srcRect b="0" l="0" r="0" t="0"/>
            <a:stretch/>
          </p:blipFill>
          <p:spPr>
            <a:xfrm>
              <a:off x="4009398" y="3994447"/>
              <a:ext cx="179999" cy="179999"/>
            </a:xfrm>
            <a:prstGeom prst="rect">
              <a:avLst/>
            </a:prstGeom>
            <a:noFill/>
            <a:ln>
              <a:noFill/>
            </a:ln>
          </p:spPr>
        </p:pic>
        <p:pic>
          <p:nvPicPr>
            <p:cNvPr id="575" name="Google Shape;575;p75"/>
            <p:cNvPicPr preferRelativeResize="0"/>
            <p:nvPr/>
          </p:nvPicPr>
          <p:blipFill>
            <a:blip r:embed="rId10">
              <a:alphaModFix/>
            </a:blip>
            <a:stretch>
              <a:fillRect/>
            </a:stretch>
          </p:blipFill>
          <p:spPr>
            <a:xfrm>
              <a:off x="7416225" y="1637224"/>
              <a:ext cx="1633325" cy="2382259"/>
            </a:xfrm>
            <a:prstGeom prst="rect">
              <a:avLst/>
            </a:prstGeom>
            <a:noFill/>
            <a:ln>
              <a:noFill/>
            </a:ln>
          </p:spPr>
        </p:pic>
      </p:grpSp>
      <p:sp>
        <p:nvSpPr>
          <p:cNvPr id="576" name="Google Shape;576;p75"/>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77" name="Google Shape;577;p75"/>
          <p:cNvPicPr preferRelativeResize="0"/>
          <p:nvPr/>
        </p:nvPicPr>
        <p:blipFill>
          <a:blip r:embed="rId11">
            <a:alphaModFix/>
          </a:blip>
          <a:stretch>
            <a:fillRect/>
          </a:stretch>
        </p:blipFill>
        <p:spPr>
          <a:xfrm>
            <a:off x="4189400" y="4171535"/>
            <a:ext cx="495987" cy="2782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6"/>
          <p:cNvSpPr txBox="1"/>
          <p:nvPr/>
        </p:nvSpPr>
        <p:spPr>
          <a:xfrm>
            <a:off x="1098663" y="1729275"/>
            <a:ext cx="7206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Source Sans Pro"/>
                <a:ea typeface="Source Sans Pro"/>
                <a:cs typeface="Source Sans Pro"/>
                <a:sym typeface="Source Sans Pro"/>
              </a:rPr>
              <a:t>Dozens of data silos, hundreds of attributes, millions of records, changing business requirements, and manual reconciliation rules-based processes. Humans alone can’t keep up to provide a single </a:t>
            </a:r>
            <a:r>
              <a:rPr lang="en" sz="1200">
                <a:solidFill>
                  <a:schemeClr val="dk1"/>
                </a:solidFill>
                <a:latin typeface="Source Sans Pro"/>
                <a:ea typeface="Source Sans Pro"/>
                <a:cs typeface="Source Sans Pro"/>
                <a:sym typeface="Source Sans Pro"/>
              </a:rPr>
              <a:t>customer view. </a:t>
            </a:r>
            <a:endParaRPr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1200">
                <a:solidFill>
                  <a:schemeClr val="dk1"/>
                </a:solidFill>
                <a:latin typeface="Source Sans Pro"/>
                <a:ea typeface="Source Sans Pro"/>
                <a:cs typeface="Source Sans Pro"/>
                <a:sym typeface="Source Sans Pro"/>
              </a:rPr>
              <a:t>Tamr’s solutions offer a </a:t>
            </a:r>
            <a:r>
              <a:rPr b="1" lang="en" sz="1200">
                <a:solidFill>
                  <a:schemeClr val="dk1"/>
                </a:solidFill>
                <a:latin typeface="Source Sans Pro"/>
                <a:ea typeface="Source Sans Pro"/>
                <a:cs typeface="Source Sans Pro"/>
                <a:sym typeface="Source Sans Pro"/>
              </a:rPr>
              <a:t>90% reduction in manual development and curation processes</a:t>
            </a:r>
            <a:r>
              <a:rPr lang="en" sz="1200">
                <a:solidFill>
                  <a:schemeClr val="dk1"/>
                </a:solidFill>
                <a:latin typeface="Source Sans Pro"/>
                <a:ea typeface="Source Sans Pro"/>
                <a:cs typeface="Source Sans Pro"/>
                <a:sym typeface="Source Sans Pro"/>
              </a:rPr>
              <a:t>.</a:t>
            </a:r>
            <a:endParaRPr sz="1200">
              <a:solidFill>
                <a:schemeClr val="dk1"/>
              </a:solidFill>
              <a:latin typeface="Source Sans Pro"/>
              <a:ea typeface="Source Sans Pro"/>
              <a:cs typeface="Source Sans Pro"/>
              <a:sym typeface="Source Sans Pro"/>
            </a:endParaRPr>
          </a:p>
        </p:txBody>
      </p:sp>
      <p:sp>
        <p:nvSpPr>
          <p:cNvPr id="583" name="Google Shape;583;p76"/>
          <p:cNvSpPr/>
          <p:nvPr/>
        </p:nvSpPr>
        <p:spPr>
          <a:xfrm>
            <a:off x="2492213" y="3142863"/>
            <a:ext cx="6220800" cy="390000"/>
          </a:xfrm>
          <a:prstGeom prst="rightArrow">
            <a:avLst>
              <a:gd fmla="val 50000" name="adj1"/>
              <a:gd fmla="val 50000" name="adj2"/>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6"/>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Solutions to Accelerate Outcomes at Unprecedented Scale</a:t>
            </a:r>
            <a:endParaRPr sz="2400"/>
          </a:p>
        </p:txBody>
      </p:sp>
      <p:sp>
        <p:nvSpPr>
          <p:cNvPr id="585" name="Google Shape;585;p76"/>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6" name="Google Shape;586;p76"/>
          <p:cNvSpPr/>
          <p:nvPr/>
        </p:nvSpPr>
        <p:spPr>
          <a:xfrm>
            <a:off x="619000" y="939598"/>
            <a:ext cx="7861500" cy="597600"/>
          </a:xfrm>
          <a:prstGeom prst="rect">
            <a:avLst/>
          </a:prstGeom>
          <a:gradFill>
            <a:gsLst>
              <a:gs pos="0">
                <a:schemeClr val="accent1"/>
              </a:gs>
              <a:gs pos="10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6"/>
          <p:cNvSpPr txBox="1"/>
          <p:nvPr/>
        </p:nvSpPr>
        <p:spPr>
          <a:xfrm>
            <a:off x="2441950" y="964825"/>
            <a:ext cx="4215600" cy="54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Source Sans Pro"/>
                <a:ea typeface="Source Sans Pro"/>
                <a:cs typeface="Source Sans Pro"/>
                <a:sym typeface="Source Sans Pro"/>
              </a:rPr>
              <a:t>Drive Growth, Reduce Risk, and Lower Costs</a:t>
            </a:r>
            <a:endParaRPr b="1">
              <a:solidFill>
                <a:srgbClr val="FFFFFF"/>
              </a:solidFill>
              <a:latin typeface="Source Sans Pro"/>
              <a:ea typeface="Source Sans Pro"/>
              <a:cs typeface="Source Sans Pro"/>
              <a:sym typeface="Source Sans Pro"/>
            </a:endParaRPr>
          </a:p>
        </p:txBody>
      </p:sp>
      <p:sp>
        <p:nvSpPr>
          <p:cNvPr id="588" name="Google Shape;588;p76"/>
          <p:cNvSpPr/>
          <p:nvPr/>
        </p:nvSpPr>
        <p:spPr>
          <a:xfrm>
            <a:off x="584338" y="3913263"/>
            <a:ext cx="7861500" cy="544800"/>
          </a:xfrm>
          <a:prstGeom prst="roundRect">
            <a:avLst>
              <a:gd fmla="val 2118"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6"/>
          <p:cNvSpPr txBox="1"/>
          <p:nvPr/>
        </p:nvSpPr>
        <p:spPr>
          <a:xfrm>
            <a:off x="3458338" y="3990663"/>
            <a:ext cx="2469000" cy="39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Cloud Migration</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Mergers &amp; Acquisitions </a:t>
            </a:r>
            <a:endParaRPr b="1" sz="1200">
              <a:solidFill>
                <a:schemeClr val="dk1"/>
              </a:solidFill>
              <a:latin typeface="Source Sans Pro"/>
              <a:ea typeface="Source Sans Pro"/>
              <a:cs typeface="Source Sans Pro"/>
              <a:sym typeface="Source Sans Pro"/>
            </a:endParaRPr>
          </a:p>
        </p:txBody>
      </p:sp>
      <p:pic>
        <p:nvPicPr>
          <p:cNvPr id="590" name="Google Shape;590;p76"/>
          <p:cNvPicPr preferRelativeResize="0"/>
          <p:nvPr/>
        </p:nvPicPr>
        <p:blipFill>
          <a:blip r:embed="rId3">
            <a:alphaModFix/>
          </a:blip>
          <a:stretch>
            <a:fillRect/>
          </a:stretch>
        </p:blipFill>
        <p:spPr>
          <a:xfrm>
            <a:off x="3153125" y="4023050"/>
            <a:ext cx="305225" cy="325250"/>
          </a:xfrm>
          <a:prstGeom prst="rect">
            <a:avLst/>
          </a:prstGeom>
          <a:noFill/>
          <a:ln>
            <a:noFill/>
          </a:ln>
        </p:spPr>
      </p:pic>
      <p:sp>
        <p:nvSpPr>
          <p:cNvPr id="591" name="Google Shape;591;p76"/>
          <p:cNvSpPr/>
          <p:nvPr/>
        </p:nvSpPr>
        <p:spPr>
          <a:xfrm>
            <a:off x="584266" y="2911863"/>
            <a:ext cx="1828800" cy="842700"/>
          </a:xfrm>
          <a:prstGeom prst="roundRect">
            <a:avLst>
              <a:gd fmla="val 2118" name="adj"/>
            </a:avLst>
          </a:prstGeom>
          <a:no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6"/>
          <p:cNvSpPr txBox="1"/>
          <p:nvPr/>
        </p:nvSpPr>
        <p:spPr>
          <a:xfrm>
            <a:off x="584276" y="3300250"/>
            <a:ext cx="1828800" cy="3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Customer </a:t>
            </a:r>
            <a:br>
              <a:rPr b="1" lang="en" sz="1200">
                <a:solidFill>
                  <a:schemeClr val="dk1"/>
                </a:solidFill>
                <a:latin typeface="Source Sans Pro"/>
                <a:ea typeface="Source Sans Pro"/>
                <a:cs typeface="Source Sans Pro"/>
                <a:sym typeface="Source Sans Pro"/>
              </a:rPr>
            </a:br>
            <a:r>
              <a:rPr b="1" lang="en" sz="1200">
                <a:solidFill>
                  <a:schemeClr val="dk1"/>
                </a:solidFill>
                <a:latin typeface="Source Sans Pro"/>
                <a:ea typeface="Source Sans Pro"/>
                <a:cs typeface="Source Sans Pro"/>
                <a:sym typeface="Source Sans Pro"/>
              </a:rPr>
              <a:t>Data Mastering</a:t>
            </a:r>
            <a:endParaRPr b="1" sz="1200">
              <a:solidFill>
                <a:schemeClr val="dk1"/>
              </a:solidFill>
              <a:latin typeface="Source Sans Pro"/>
              <a:ea typeface="Source Sans Pro"/>
              <a:cs typeface="Source Sans Pro"/>
              <a:sym typeface="Source Sans Pro"/>
            </a:endParaRPr>
          </a:p>
        </p:txBody>
      </p:sp>
      <p:grpSp>
        <p:nvGrpSpPr>
          <p:cNvPr id="593" name="Google Shape;593;p76"/>
          <p:cNvGrpSpPr/>
          <p:nvPr/>
        </p:nvGrpSpPr>
        <p:grpSpPr>
          <a:xfrm>
            <a:off x="2595150" y="2911850"/>
            <a:ext cx="1828838" cy="842700"/>
            <a:chOff x="2186088" y="2509475"/>
            <a:chExt cx="1828838" cy="842700"/>
          </a:xfrm>
        </p:grpSpPr>
        <p:sp>
          <p:nvSpPr>
            <p:cNvPr id="594" name="Google Shape;594;p76"/>
            <p:cNvSpPr/>
            <p:nvPr/>
          </p:nvSpPr>
          <p:spPr>
            <a:xfrm>
              <a:off x="2186125" y="2509475"/>
              <a:ext cx="1828800" cy="842700"/>
            </a:xfrm>
            <a:prstGeom prst="roundRect">
              <a:avLst>
                <a:gd fmla="val 2118" name="adj"/>
              </a:avLst>
            </a:prstGeom>
            <a:solidFill>
              <a:srgbClr val="FFFFFF"/>
            </a:solid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6"/>
            <p:cNvSpPr txBox="1"/>
            <p:nvPr/>
          </p:nvSpPr>
          <p:spPr>
            <a:xfrm>
              <a:off x="2186088" y="2897875"/>
              <a:ext cx="1828800" cy="3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Supplier </a:t>
              </a:r>
              <a:br>
                <a:rPr b="1" lang="en" sz="1200">
                  <a:solidFill>
                    <a:schemeClr val="dk1"/>
                  </a:solidFill>
                  <a:latin typeface="Source Sans Pro"/>
                  <a:ea typeface="Source Sans Pro"/>
                  <a:cs typeface="Source Sans Pro"/>
                  <a:sym typeface="Source Sans Pro"/>
                </a:rPr>
              </a:br>
              <a:r>
                <a:rPr b="1" lang="en" sz="1200">
                  <a:solidFill>
                    <a:schemeClr val="dk1"/>
                  </a:solidFill>
                  <a:latin typeface="Source Sans Pro"/>
                  <a:ea typeface="Source Sans Pro"/>
                  <a:cs typeface="Source Sans Pro"/>
                  <a:sym typeface="Source Sans Pro"/>
                </a:rPr>
                <a:t>Data Mastering</a:t>
              </a:r>
              <a:endParaRPr b="1" sz="1200">
                <a:solidFill>
                  <a:schemeClr val="dk1"/>
                </a:solidFill>
                <a:latin typeface="Source Sans Pro"/>
                <a:ea typeface="Source Sans Pro"/>
                <a:cs typeface="Source Sans Pro"/>
                <a:sym typeface="Source Sans Pro"/>
              </a:endParaRPr>
            </a:p>
          </p:txBody>
        </p:sp>
      </p:grpSp>
      <p:grpSp>
        <p:nvGrpSpPr>
          <p:cNvPr id="596" name="Google Shape;596;p76"/>
          <p:cNvGrpSpPr/>
          <p:nvPr/>
        </p:nvGrpSpPr>
        <p:grpSpPr>
          <a:xfrm>
            <a:off x="4606111" y="2911850"/>
            <a:ext cx="1828801" cy="842700"/>
            <a:chOff x="2186124" y="2509475"/>
            <a:chExt cx="1828801" cy="842700"/>
          </a:xfrm>
        </p:grpSpPr>
        <p:sp>
          <p:nvSpPr>
            <p:cNvPr id="597" name="Google Shape;597;p76"/>
            <p:cNvSpPr/>
            <p:nvPr/>
          </p:nvSpPr>
          <p:spPr>
            <a:xfrm>
              <a:off x="2186125" y="2509475"/>
              <a:ext cx="1828800" cy="842700"/>
            </a:xfrm>
            <a:prstGeom prst="roundRect">
              <a:avLst>
                <a:gd fmla="val 2118" name="adj"/>
              </a:avLst>
            </a:prstGeom>
            <a:solidFill>
              <a:srgbClr val="FFFFFF"/>
            </a:solid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6"/>
            <p:cNvSpPr txBox="1"/>
            <p:nvPr/>
          </p:nvSpPr>
          <p:spPr>
            <a:xfrm>
              <a:off x="2186124" y="2897875"/>
              <a:ext cx="1828800" cy="3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Products, Parts, Materials Mastering</a:t>
              </a:r>
              <a:endParaRPr b="1" sz="1200">
                <a:solidFill>
                  <a:schemeClr val="dk1"/>
                </a:solidFill>
                <a:latin typeface="Source Sans Pro"/>
                <a:ea typeface="Source Sans Pro"/>
                <a:cs typeface="Source Sans Pro"/>
                <a:sym typeface="Source Sans Pro"/>
              </a:endParaRPr>
            </a:p>
          </p:txBody>
        </p:sp>
      </p:grpSp>
      <p:grpSp>
        <p:nvGrpSpPr>
          <p:cNvPr id="599" name="Google Shape;599;p76"/>
          <p:cNvGrpSpPr/>
          <p:nvPr/>
        </p:nvGrpSpPr>
        <p:grpSpPr>
          <a:xfrm>
            <a:off x="6617013" y="2911850"/>
            <a:ext cx="1828800" cy="842700"/>
            <a:chOff x="2186125" y="2509475"/>
            <a:chExt cx="1828800" cy="842700"/>
          </a:xfrm>
        </p:grpSpPr>
        <p:sp>
          <p:nvSpPr>
            <p:cNvPr id="600" name="Google Shape;600;p76"/>
            <p:cNvSpPr/>
            <p:nvPr/>
          </p:nvSpPr>
          <p:spPr>
            <a:xfrm>
              <a:off x="2186125" y="2509475"/>
              <a:ext cx="1828800" cy="842700"/>
            </a:xfrm>
            <a:prstGeom prst="roundRect">
              <a:avLst>
                <a:gd fmla="val 2118" name="adj"/>
              </a:avLst>
            </a:prstGeom>
            <a:solidFill>
              <a:srgbClr val="FFFFFF"/>
            </a:solid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6"/>
            <p:cNvSpPr txBox="1"/>
            <p:nvPr/>
          </p:nvSpPr>
          <p:spPr>
            <a:xfrm>
              <a:off x="2673325" y="2897875"/>
              <a:ext cx="854400" cy="3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Spend </a:t>
              </a:r>
              <a:br>
                <a:rPr b="1" lang="en" sz="1200">
                  <a:solidFill>
                    <a:schemeClr val="dk1"/>
                  </a:solidFill>
                  <a:latin typeface="Source Sans Pro"/>
                  <a:ea typeface="Source Sans Pro"/>
                  <a:cs typeface="Source Sans Pro"/>
                  <a:sym typeface="Source Sans Pro"/>
                </a:rPr>
              </a:br>
              <a:r>
                <a:rPr b="1" lang="en" sz="1200">
                  <a:solidFill>
                    <a:schemeClr val="dk1"/>
                  </a:solidFill>
                  <a:latin typeface="Source Sans Pro"/>
                  <a:ea typeface="Source Sans Pro"/>
                  <a:cs typeface="Source Sans Pro"/>
                  <a:sym typeface="Source Sans Pro"/>
                </a:rPr>
                <a:t>Analytics</a:t>
              </a:r>
              <a:endParaRPr b="1" sz="1200">
                <a:solidFill>
                  <a:schemeClr val="dk1"/>
                </a:solidFill>
                <a:latin typeface="Source Sans Pro"/>
                <a:ea typeface="Source Sans Pro"/>
                <a:cs typeface="Source Sans Pro"/>
                <a:sym typeface="Source Sans Pro"/>
              </a:endParaRPr>
            </a:p>
          </p:txBody>
        </p:sp>
      </p:grpSp>
      <p:pic>
        <p:nvPicPr>
          <p:cNvPr id="602" name="Google Shape;602;p76"/>
          <p:cNvPicPr preferRelativeResize="0"/>
          <p:nvPr/>
        </p:nvPicPr>
        <p:blipFill>
          <a:blip r:embed="rId4">
            <a:alphaModFix/>
          </a:blip>
          <a:stretch>
            <a:fillRect/>
          </a:stretch>
        </p:blipFill>
        <p:spPr>
          <a:xfrm>
            <a:off x="5360012" y="2963650"/>
            <a:ext cx="321008" cy="292500"/>
          </a:xfrm>
          <a:prstGeom prst="rect">
            <a:avLst/>
          </a:prstGeom>
          <a:noFill/>
          <a:ln>
            <a:noFill/>
          </a:ln>
        </p:spPr>
      </p:pic>
      <p:pic>
        <p:nvPicPr>
          <p:cNvPr id="603" name="Google Shape;603;p76"/>
          <p:cNvPicPr preferRelativeResize="0"/>
          <p:nvPr/>
        </p:nvPicPr>
        <p:blipFill>
          <a:blip r:embed="rId5">
            <a:alphaModFix/>
          </a:blip>
          <a:stretch>
            <a:fillRect/>
          </a:stretch>
        </p:blipFill>
        <p:spPr>
          <a:xfrm>
            <a:off x="3327550" y="2985975"/>
            <a:ext cx="363969" cy="292501"/>
          </a:xfrm>
          <a:prstGeom prst="rect">
            <a:avLst/>
          </a:prstGeom>
          <a:noFill/>
          <a:ln>
            <a:noFill/>
          </a:ln>
        </p:spPr>
      </p:pic>
      <p:sp>
        <p:nvSpPr>
          <p:cNvPr id="604" name="Google Shape;604;p76"/>
          <p:cNvSpPr/>
          <p:nvPr/>
        </p:nvSpPr>
        <p:spPr>
          <a:xfrm rot="5400000">
            <a:off x="1541688" y="2383284"/>
            <a:ext cx="317700" cy="221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5" name="Google Shape;605;p76"/>
          <p:cNvPicPr preferRelativeResize="0"/>
          <p:nvPr/>
        </p:nvPicPr>
        <p:blipFill>
          <a:blip r:embed="rId6">
            <a:alphaModFix/>
          </a:blip>
          <a:stretch>
            <a:fillRect/>
          </a:stretch>
        </p:blipFill>
        <p:spPr>
          <a:xfrm>
            <a:off x="7409473" y="2988925"/>
            <a:ext cx="243900" cy="241957"/>
          </a:xfrm>
          <a:prstGeom prst="rect">
            <a:avLst/>
          </a:prstGeom>
          <a:noFill/>
          <a:ln>
            <a:noFill/>
          </a:ln>
        </p:spPr>
      </p:pic>
      <p:pic>
        <p:nvPicPr>
          <p:cNvPr id="606" name="Google Shape;606;p76"/>
          <p:cNvPicPr preferRelativeResize="0"/>
          <p:nvPr/>
        </p:nvPicPr>
        <p:blipFill>
          <a:blip r:embed="rId7">
            <a:alphaModFix/>
          </a:blip>
          <a:stretch>
            <a:fillRect/>
          </a:stretch>
        </p:blipFill>
        <p:spPr>
          <a:xfrm>
            <a:off x="1385696" y="3008292"/>
            <a:ext cx="243900" cy="247867"/>
          </a:xfrm>
          <a:prstGeom prst="rect">
            <a:avLst/>
          </a:prstGeom>
          <a:noFill/>
          <a:ln>
            <a:noFill/>
          </a:ln>
        </p:spPr>
      </p:pic>
      <p:sp>
        <p:nvSpPr>
          <p:cNvPr id="607" name="Google Shape;607;p76"/>
          <p:cNvSpPr/>
          <p:nvPr/>
        </p:nvSpPr>
        <p:spPr>
          <a:xfrm>
            <a:off x="505025" y="2819700"/>
            <a:ext cx="1987200" cy="10047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7"/>
          <p:cNvSpPr/>
          <p:nvPr/>
        </p:nvSpPr>
        <p:spPr>
          <a:xfrm>
            <a:off x="114700" y="4752100"/>
            <a:ext cx="1723800" cy="29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77"/>
          <p:cNvSpPr/>
          <p:nvPr/>
        </p:nvSpPr>
        <p:spPr>
          <a:xfrm>
            <a:off x="196500" y="3494225"/>
            <a:ext cx="8778300" cy="1474500"/>
          </a:xfrm>
          <a:prstGeom prst="roundRect">
            <a:avLst>
              <a:gd fmla="val 16667" name="adj"/>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7"/>
          <p:cNvSpPr/>
          <p:nvPr/>
        </p:nvSpPr>
        <p:spPr>
          <a:xfrm>
            <a:off x="196500" y="807575"/>
            <a:ext cx="8778300" cy="970500"/>
          </a:xfrm>
          <a:prstGeom prst="roundRect">
            <a:avLst>
              <a:gd fmla="val 16667" name="adj"/>
            </a:avLst>
          </a:prstGeom>
          <a:noFill/>
          <a:ln cap="flat" cmpd="sng" w="9525">
            <a:solidFill>
              <a:srgbClr val="F2F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7"/>
          <p:cNvSpPr txBox="1"/>
          <p:nvPr>
            <p:ph idx="4294967295" type="title"/>
          </p:nvPr>
        </p:nvSpPr>
        <p:spPr>
          <a:xfrm>
            <a:off x="-7875" y="250975"/>
            <a:ext cx="9144000" cy="58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Font typeface="Source Sans Pro"/>
              <a:buNone/>
            </a:pPr>
            <a:r>
              <a:rPr lang="en" sz="2400"/>
              <a:t>Customer Data: Choose Your Own Adventure</a:t>
            </a:r>
            <a:endParaRPr sz="2400"/>
          </a:p>
        </p:txBody>
      </p:sp>
      <p:sp>
        <p:nvSpPr>
          <p:cNvPr id="616" name="Google Shape;616;p77"/>
          <p:cNvSpPr/>
          <p:nvPr/>
        </p:nvSpPr>
        <p:spPr>
          <a:xfrm>
            <a:off x="5370261" y="3763471"/>
            <a:ext cx="2970000" cy="5823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chemeClr val="lt1"/>
                </a:solidFill>
                <a:latin typeface="Source Sans Pro"/>
                <a:ea typeface="Source Sans Pro"/>
                <a:cs typeface="Source Sans Pro"/>
                <a:sym typeface="Source Sans Pro"/>
              </a:rPr>
              <a:t>Unlimited Silos</a:t>
            </a:r>
            <a:endParaRPr b="1" sz="1300">
              <a:solidFill>
                <a:schemeClr val="lt1"/>
              </a:solidFill>
            </a:endParaRPr>
          </a:p>
          <a:p>
            <a:pPr indent="0" lvl="0" marL="0" marR="0" rtl="0" algn="ctr">
              <a:lnSpc>
                <a:spcPct val="100000"/>
              </a:lnSpc>
              <a:spcBef>
                <a:spcPts val="0"/>
              </a:spcBef>
              <a:spcAft>
                <a:spcPts val="0"/>
              </a:spcAft>
              <a:buClr>
                <a:srgbClr val="000000"/>
              </a:buClr>
              <a:buSzPts val="1100"/>
              <a:buFont typeface="Arial"/>
              <a:buNone/>
            </a:pPr>
            <a:r>
              <a:rPr i="0" lang="en" sz="1200" u="none" cap="none" strike="noStrike">
                <a:solidFill>
                  <a:srgbClr val="FFFFFF"/>
                </a:solidFill>
                <a:latin typeface="Source Sans Pro"/>
                <a:ea typeface="Source Sans Pro"/>
                <a:cs typeface="Source Sans Pro"/>
                <a:sym typeface="Source Sans Pro"/>
              </a:rPr>
              <a:t>Disjointed customer views, multiplied across analytics applications </a:t>
            </a:r>
            <a:endParaRPr i="0" sz="1200" u="none" cap="none" strike="noStrike">
              <a:solidFill>
                <a:srgbClr val="FFFFFF"/>
              </a:solidFill>
              <a:latin typeface="Source Sans Pro"/>
              <a:ea typeface="Source Sans Pro"/>
              <a:cs typeface="Source Sans Pro"/>
              <a:sym typeface="Source Sans Pro"/>
            </a:endParaRPr>
          </a:p>
        </p:txBody>
      </p:sp>
      <p:pic>
        <p:nvPicPr>
          <p:cNvPr id="617" name="Google Shape;617;p77"/>
          <p:cNvPicPr preferRelativeResize="0"/>
          <p:nvPr/>
        </p:nvPicPr>
        <p:blipFill rotWithShape="1">
          <a:blip r:embed="rId3">
            <a:alphaModFix/>
          </a:blip>
          <a:srcRect b="0" l="0" r="0" t="0"/>
          <a:stretch/>
        </p:blipFill>
        <p:spPr>
          <a:xfrm>
            <a:off x="6606671" y="4474621"/>
            <a:ext cx="177121" cy="207359"/>
          </a:xfrm>
          <a:prstGeom prst="rect">
            <a:avLst/>
          </a:prstGeom>
          <a:noFill/>
          <a:ln>
            <a:noFill/>
          </a:ln>
        </p:spPr>
      </p:pic>
      <p:sp>
        <p:nvSpPr>
          <p:cNvPr id="618" name="Google Shape;618;p77"/>
          <p:cNvSpPr txBox="1"/>
          <p:nvPr/>
        </p:nvSpPr>
        <p:spPr>
          <a:xfrm>
            <a:off x="4952252" y="900875"/>
            <a:ext cx="989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chemeClr val="dk1"/>
                </a:solidFill>
                <a:latin typeface="Source Sans Pro"/>
                <a:ea typeface="Source Sans Pro"/>
                <a:cs typeface="Source Sans Pro"/>
                <a:sym typeface="Source Sans Pro"/>
              </a:rPr>
              <a:t>ATT</a:t>
            </a:r>
            <a:endParaRPr i="0" sz="7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800"/>
              <a:buFont typeface="Arial"/>
              <a:buNone/>
            </a:pPr>
            <a:r>
              <a:rPr i="0" lang="en" sz="700" u="none" cap="none" strike="noStrike">
                <a:solidFill>
                  <a:schemeClr val="dk1"/>
                </a:solidFill>
                <a:latin typeface="Source Sans Pro"/>
                <a:ea typeface="Source Sans Pro"/>
                <a:cs typeface="Source Sans Pro"/>
                <a:sym typeface="Source Sans Pro"/>
              </a:rPr>
              <a:t>Dallas, Texas</a:t>
            </a:r>
            <a:endParaRPr i="0" sz="7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800"/>
              <a:buFont typeface="Arial"/>
              <a:buNone/>
            </a:pPr>
            <a:r>
              <a:rPr i="0" lang="en" sz="700" u="none" cap="none" strike="noStrike">
                <a:solidFill>
                  <a:schemeClr val="dk1"/>
                </a:solidFill>
                <a:latin typeface="Source Sans Pro"/>
                <a:ea typeface="Source Sans Pro"/>
                <a:cs typeface="Source Sans Pro"/>
                <a:sym typeface="Source Sans Pro"/>
              </a:rPr>
              <a:t>Website: null</a:t>
            </a:r>
            <a:endParaRPr i="0" sz="700" u="none" cap="none" strike="noStrike">
              <a:solidFill>
                <a:schemeClr val="dk1"/>
              </a:solidFill>
              <a:latin typeface="Source Sans Pro"/>
              <a:ea typeface="Source Sans Pro"/>
              <a:cs typeface="Source Sans Pro"/>
              <a:sym typeface="Source Sans Pro"/>
            </a:endParaRPr>
          </a:p>
        </p:txBody>
      </p:sp>
      <p:sp>
        <p:nvSpPr>
          <p:cNvPr id="619" name="Google Shape;619;p77"/>
          <p:cNvSpPr txBox="1"/>
          <p:nvPr/>
        </p:nvSpPr>
        <p:spPr>
          <a:xfrm>
            <a:off x="3078199" y="1119515"/>
            <a:ext cx="1537800" cy="292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00"/>
              <a:buFont typeface="Arial"/>
              <a:buNone/>
            </a:pPr>
            <a:r>
              <a:rPr b="1" i="0" lang="en" sz="1300" u="none" cap="none" strike="noStrike">
                <a:solidFill>
                  <a:schemeClr val="dk1"/>
                </a:solidFill>
                <a:latin typeface="Source Sans Pro"/>
                <a:ea typeface="Source Sans Pro"/>
                <a:cs typeface="Source Sans Pro"/>
                <a:sym typeface="Source Sans Pro"/>
              </a:rPr>
              <a:t>Quality</a:t>
            </a:r>
            <a:endParaRPr b="1" i="0" sz="1300" u="none" cap="none" strike="noStrike">
              <a:solidFill>
                <a:schemeClr val="dk1"/>
              </a:solidFill>
              <a:latin typeface="Source Sans Pro"/>
              <a:ea typeface="Source Sans Pro"/>
              <a:cs typeface="Source Sans Pro"/>
              <a:sym typeface="Source Sans Pro"/>
            </a:endParaRPr>
          </a:p>
        </p:txBody>
      </p:sp>
      <p:sp>
        <p:nvSpPr>
          <p:cNvPr id="620" name="Google Shape;620;p77"/>
          <p:cNvSpPr txBox="1"/>
          <p:nvPr/>
        </p:nvSpPr>
        <p:spPr>
          <a:xfrm>
            <a:off x="4921343" y="1296272"/>
            <a:ext cx="989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chemeClr val="dk1"/>
                </a:solidFill>
                <a:latin typeface="Source Sans Pro"/>
                <a:ea typeface="Source Sans Pro"/>
                <a:cs typeface="Source Sans Pro"/>
                <a:sym typeface="Source Sans Pro"/>
              </a:rPr>
              <a:t>AT  &amp;  T</a:t>
            </a:r>
            <a:endParaRPr i="0" sz="7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800"/>
              <a:buFont typeface="Arial"/>
              <a:buNone/>
            </a:pPr>
            <a:r>
              <a:rPr i="0" lang="en" sz="700" u="none" cap="none" strike="noStrike">
                <a:solidFill>
                  <a:schemeClr val="dk1"/>
                </a:solidFill>
                <a:latin typeface="Source Sans Pro"/>
                <a:ea typeface="Source Sans Pro"/>
                <a:cs typeface="Source Sans Pro"/>
                <a:sym typeface="Source Sans Pro"/>
              </a:rPr>
              <a:t>208 Akard St, Dallas</a:t>
            </a:r>
            <a:endParaRPr i="0" sz="7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800"/>
              <a:buFont typeface="Arial"/>
              <a:buNone/>
            </a:pPr>
            <a:r>
              <a:rPr i="0" lang="en" sz="700" u="none" cap="none" strike="noStrike">
                <a:solidFill>
                  <a:schemeClr val="dk1"/>
                </a:solidFill>
                <a:latin typeface="Source Sans Pro"/>
                <a:ea typeface="Source Sans Pro"/>
                <a:cs typeface="Source Sans Pro"/>
                <a:sym typeface="Source Sans Pro"/>
              </a:rPr>
              <a:t>Bellsouth.com </a:t>
            </a:r>
            <a:endParaRPr i="0" sz="700" u="none" cap="none" strike="noStrike">
              <a:solidFill>
                <a:schemeClr val="dk1"/>
              </a:solidFill>
              <a:latin typeface="Source Sans Pro"/>
              <a:ea typeface="Source Sans Pro"/>
              <a:cs typeface="Source Sans Pro"/>
              <a:sym typeface="Source Sans Pro"/>
            </a:endParaRPr>
          </a:p>
        </p:txBody>
      </p:sp>
      <p:pic>
        <p:nvPicPr>
          <p:cNvPr id="621" name="Google Shape;621;p77"/>
          <p:cNvPicPr preferRelativeResize="0"/>
          <p:nvPr/>
        </p:nvPicPr>
        <p:blipFill rotWithShape="1">
          <a:blip r:embed="rId4">
            <a:alphaModFix/>
          </a:blip>
          <a:srcRect b="0" l="0" r="0" t="0"/>
          <a:stretch/>
        </p:blipFill>
        <p:spPr>
          <a:xfrm>
            <a:off x="4685983" y="1307941"/>
            <a:ext cx="294209" cy="364136"/>
          </a:xfrm>
          <a:prstGeom prst="rect">
            <a:avLst/>
          </a:prstGeom>
          <a:noFill/>
          <a:ln>
            <a:noFill/>
          </a:ln>
        </p:spPr>
      </p:pic>
      <p:pic>
        <p:nvPicPr>
          <p:cNvPr id="622" name="Google Shape;622;p77"/>
          <p:cNvPicPr preferRelativeResize="0"/>
          <p:nvPr/>
        </p:nvPicPr>
        <p:blipFill rotWithShape="1">
          <a:blip r:embed="rId4">
            <a:alphaModFix/>
          </a:blip>
          <a:srcRect b="0" l="0" r="0" t="0"/>
          <a:stretch/>
        </p:blipFill>
        <p:spPr>
          <a:xfrm>
            <a:off x="4711107" y="907410"/>
            <a:ext cx="294209" cy="364136"/>
          </a:xfrm>
          <a:prstGeom prst="rect">
            <a:avLst/>
          </a:prstGeom>
          <a:noFill/>
          <a:ln>
            <a:noFill/>
          </a:ln>
        </p:spPr>
      </p:pic>
      <p:pic>
        <p:nvPicPr>
          <p:cNvPr descr="Image result for x mark no background" id="623" name="Google Shape;623;p77"/>
          <p:cNvPicPr preferRelativeResize="0"/>
          <p:nvPr/>
        </p:nvPicPr>
        <p:blipFill rotWithShape="1">
          <a:blip r:embed="rId5">
            <a:alphaModFix/>
          </a:blip>
          <a:srcRect b="0" l="0" r="0" t="0"/>
          <a:stretch/>
        </p:blipFill>
        <p:spPr>
          <a:xfrm>
            <a:off x="4768942" y="1145797"/>
            <a:ext cx="216000" cy="216000"/>
          </a:xfrm>
          <a:prstGeom prst="rect">
            <a:avLst/>
          </a:prstGeom>
          <a:noFill/>
          <a:ln>
            <a:noFill/>
          </a:ln>
        </p:spPr>
      </p:pic>
      <p:sp>
        <p:nvSpPr>
          <p:cNvPr id="624" name="Google Shape;624;p77"/>
          <p:cNvSpPr txBox="1"/>
          <p:nvPr/>
        </p:nvSpPr>
        <p:spPr>
          <a:xfrm>
            <a:off x="7643948" y="1063716"/>
            <a:ext cx="476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chemeClr val="dk1"/>
                </a:solidFill>
                <a:latin typeface="Source Sans Pro"/>
                <a:ea typeface="Source Sans Pro"/>
                <a:cs typeface="Source Sans Pro"/>
                <a:sym typeface="Source Sans Pro"/>
              </a:rPr>
              <a:t>?</a:t>
            </a:r>
            <a:endParaRPr b="1" i="0" sz="2400" u="none" cap="none" strike="noStrike">
              <a:solidFill>
                <a:schemeClr val="dk1"/>
              </a:solidFill>
              <a:latin typeface="Source Sans Pro"/>
              <a:ea typeface="Source Sans Pro"/>
              <a:cs typeface="Source Sans Pro"/>
              <a:sym typeface="Source Sans Pro"/>
            </a:endParaRPr>
          </a:p>
        </p:txBody>
      </p:sp>
      <p:sp>
        <p:nvSpPr>
          <p:cNvPr id="625" name="Google Shape;625;p77"/>
          <p:cNvSpPr txBox="1"/>
          <p:nvPr/>
        </p:nvSpPr>
        <p:spPr>
          <a:xfrm>
            <a:off x="5831956" y="1091745"/>
            <a:ext cx="1537800" cy="492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00"/>
              <a:buFont typeface="Arial"/>
              <a:buNone/>
            </a:pPr>
            <a:r>
              <a:rPr b="1" i="0" lang="en" sz="1300" u="none" cap="none" strike="noStrike">
                <a:solidFill>
                  <a:schemeClr val="dk1"/>
                </a:solidFill>
                <a:latin typeface="Source Sans Pro"/>
                <a:ea typeface="Source Sans Pro"/>
                <a:cs typeface="Source Sans Pro"/>
                <a:sym typeface="Source Sans Pro"/>
              </a:rPr>
              <a:t>Relationship </a:t>
            </a:r>
            <a:endParaRPr b="0" i="0" sz="13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900"/>
              <a:buFont typeface="Arial"/>
              <a:buNone/>
            </a:pPr>
            <a:r>
              <a:rPr b="1" i="0" lang="en" sz="1300" u="none" cap="none" strike="noStrike">
                <a:solidFill>
                  <a:schemeClr val="dk1"/>
                </a:solidFill>
                <a:latin typeface="Source Sans Pro"/>
                <a:ea typeface="Source Sans Pro"/>
                <a:cs typeface="Source Sans Pro"/>
                <a:sym typeface="Source Sans Pro"/>
              </a:rPr>
              <a:t>Mapping</a:t>
            </a:r>
            <a:endParaRPr b="1" i="0" sz="1300" u="none" cap="none" strike="noStrike">
              <a:solidFill>
                <a:schemeClr val="dk1"/>
              </a:solidFill>
              <a:latin typeface="Source Sans Pro"/>
              <a:ea typeface="Source Sans Pro"/>
              <a:cs typeface="Source Sans Pro"/>
              <a:sym typeface="Source Sans Pro"/>
            </a:endParaRPr>
          </a:p>
        </p:txBody>
      </p:sp>
      <p:sp>
        <p:nvSpPr>
          <p:cNvPr id="626" name="Google Shape;626;p77"/>
          <p:cNvSpPr txBox="1"/>
          <p:nvPr/>
        </p:nvSpPr>
        <p:spPr>
          <a:xfrm>
            <a:off x="1639325" y="1152950"/>
            <a:ext cx="989100" cy="2769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00"/>
              <a:buFont typeface="Arial"/>
              <a:buNone/>
            </a:pPr>
            <a:r>
              <a:rPr b="1" i="0" lang="en" sz="1200" u="none" cap="none" strike="noStrike">
                <a:solidFill>
                  <a:schemeClr val="dk1"/>
                </a:solidFill>
                <a:latin typeface="Source Sans Pro"/>
                <a:ea typeface="Source Sans Pro"/>
                <a:cs typeface="Source Sans Pro"/>
                <a:sym typeface="Source Sans Pro"/>
              </a:rPr>
              <a:t>Unification</a:t>
            </a:r>
            <a:r>
              <a:rPr b="1" i="0" lang="en" sz="1100" u="none" cap="none" strike="noStrike">
                <a:solidFill>
                  <a:schemeClr val="dk1"/>
                </a:solidFill>
                <a:latin typeface="Source Sans Pro"/>
                <a:ea typeface="Source Sans Pro"/>
                <a:cs typeface="Source Sans Pro"/>
                <a:sym typeface="Source Sans Pro"/>
              </a:rPr>
              <a:t> </a:t>
            </a:r>
            <a:endParaRPr b="1" i="0" sz="1100" u="none" cap="none" strike="noStrike">
              <a:solidFill>
                <a:schemeClr val="dk1"/>
              </a:solidFill>
              <a:latin typeface="Source Sans Pro"/>
              <a:ea typeface="Source Sans Pro"/>
              <a:cs typeface="Source Sans Pro"/>
              <a:sym typeface="Source Sans Pro"/>
            </a:endParaRPr>
          </a:p>
        </p:txBody>
      </p:sp>
      <p:sp>
        <p:nvSpPr>
          <p:cNvPr id="627" name="Google Shape;627;p77"/>
          <p:cNvSpPr txBox="1"/>
          <p:nvPr/>
        </p:nvSpPr>
        <p:spPr>
          <a:xfrm>
            <a:off x="221741" y="994424"/>
            <a:ext cx="12615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 u="none" cap="none" strike="noStrike">
                <a:solidFill>
                  <a:schemeClr val="dk1"/>
                </a:solidFill>
                <a:latin typeface="Source Sans Pro"/>
                <a:ea typeface="Source Sans Pro"/>
                <a:cs typeface="Source Sans Pro"/>
                <a:sym typeface="Source Sans Pro"/>
              </a:rPr>
              <a:t>CORE DATA CHALLENGES</a:t>
            </a:r>
            <a:endParaRPr b="1" i="0" u="none" cap="none" strike="noStrike">
              <a:solidFill>
                <a:schemeClr val="dk1"/>
              </a:solidFill>
              <a:latin typeface="Source Sans Pro"/>
              <a:ea typeface="Source Sans Pro"/>
              <a:cs typeface="Source Sans Pro"/>
              <a:sym typeface="Source Sans Pro"/>
            </a:endParaRPr>
          </a:p>
        </p:txBody>
      </p:sp>
      <p:sp>
        <p:nvSpPr>
          <p:cNvPr id="628" name="Google Shape;628;p77"/>
          <p:cNvSpPr/>
          <p:nvPr/>
        </p:nvSpPr>
        <p:spPr>
          <a:xfrm>
            <a:off x="1258062" y="3776396"/>
            <a:ext cx="2970000" cy="4623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 sz="1300" u="none" cap="none" strike="noStrike">
                <a:solidFill>
                  <a:schemeClr val="lt1"/>
                </a:solidFill>
                <a:latin typeface="Source Sans Pro"/>
                <a:ea typeface="Source Sans Pro"/>
                <a:cs typeface="Source Sans Pro"/>
                <a:sym typeface="Source Sans Pro"/>
              </a:rPr>
              <a:t>1 out of 3 </a:t>
            </a:r>
            <a:r>
              <a:rPr b="1" lang="en" sz="1300">
                <a:solidFill>
                  <a:schemeClr val="lt1"/>
                </a:solidFill>
                <a:latin typeface="Source Sans Pro"/>
                <a:ea typeface="Source Sans Pro"/>
                <a:cs typeface="Source Sans Pro"/>
                <a:sym typeface="Source Sans Pro"/>
              </a:rPr>
              <a:t>isn</a:t>
            </a:r>
            <a:r>
              <a:rPr b="1" i="0" lang="en" sz="1300" u="none" cap="none" strike="noStrike">
                <a:solidFill>
                  <a:schemeClr val="lt1"/>
                </a:solidFill>
                <a:latin typeface="Source Sans Pro"/>
                <a:ea typeface="Source Sans Pro"/>
                <a:cs typeface="Source Sans Pro"/>
                <a:sym typeface="Source Sans Pro"/>
              </a:rPr>
              <a:t>’t </a:t>
            </a:r>
            <a:r>
              <a:rPr b="1" lang="en" sz="1300">
                <a:solidFill>
                  <a:schemeClr val="lt1"/>
                </a:solidFill>
                <a:latin typeface="Source Sans Pro"/>
                <a:ea typeface="Source Sans Pro"/>
                <a:cs typeface="Source Sans Pro"/>
                <a:sym typeface="Source Sans Pro"/>
              </a:rPr>
              <a:t>terrible</a:t>
            </a:r>
            <a:r>
              <a:rPr b="1" lang="en" sz="1300">
                <a:solidFill>
                  <a:schemeClr val="lt1"/>
                </a:solidFill>
              </a:rPr>
              <a:t> </a:t>
            </a:r>
            <a:endParaRPr b="1" sz="1300">
              <a:solidFill>
                <a:schemeClr val="lt1"/>
              </a:solidFill>
            </a:endParaRPr>
          </a:p>
          <a:p>
            <a:pPr indent="0" lvl="0" marL="0" marR="0" rtl="0" algn="ctr">
              <a:lnSpc>
                <a:spcPct val="100000"/>
              </a:lnSpc>
              <a:spcBef>
                <a:spcPts val="0"/>
              </a:spcBef>
              <a:spcAft>
                <a:spcPts val="0"/>
              </a:spcAft>
              <a:buClr>
                <a:srgbClr val="000000"/>
              </a:buClr>
              <a:buSzPts val="1100"/>
              <a:buFont typeface="Arial"/>
              <a:buNone/>
            </a:pPr>
            <a:r>
              <a:rPr i="0" lang="en" sz="1200" u="none" cap="none" strike="noStrike">
                <a:solidFill>
                  <a:schemeClr val="lt1"/>
                </a:solidFill>
                <a:latin typeface="Source Sans Pro"/>
                <a:ea typeface="Source Sans Pro"/>
                <a:cs typeface="Source Sans Pro"/>
                <a:sym typeface="Source Sans Pro"/>
              </a:rPr>
              <a:t>Unified but couldn’t meet the quality and classification needs of the business</a:t>
            </a:r>
            <a:endParaRPr i="0" sz="1200" u="none" cap="none" strike="noStrike">
              <a:solidFill>
                <a:schemeClr val="lt1"/>
              </a:solidFill>
              <a:latin typeface="Source Sans Pro"/>
              <a:ea typeface="Source Sans Pro"/>
              <a:cs typeface="Source Sans Pro"/>
              <a:sym typeface="Source Sans Pro"/>
            </a:endParaRPr>
          </a:p>
        </p:txBody>
      </p:sp>
      <p:sp>
        <p:nvSpPr>
          <p:cNvPr id="629" name="Google Shape;629;p77"/>
          <p:cNvSpPr txBox="1"/>
          <p:nvPr/>
        </p:nvSpPr>
        <p:spPr>
          <a:xfrm>
            <a:off x="221753" y="4030575"/>
            <a:ext cx="9891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 u="none" cap="none" strike="noStrike">
                <a:solidFill>
                  <a:schemeClr val="lt1"/>
                </a:solidFill>
                <a:latin typeface="Source Sans Pro"/>
                <a:ea typeface="Source Sans Pro"/>
                <a:cs typeface="Source Sans Pro"/>
                <a:sym typeface="Source Sans Pro"/>
              </a:rPr>
              <a:t>RESULT</a:t>
            </a:r>
            <a:endParaRPr b="1" i="0" u="none" cap="none" strike="noStrike">
              <a:solidFill>
                <a:schemeClr val="lt1"/>
              </a:solidFill>
              <a:latin typeface="Source Sans Pro"/>
              <a:ea typeface="Source Sans Pro"/>
              <a:cs typeface="Source Sans Pro"/>
              <a:sym typeface="Source Sans Pro"/>
            </a:endParaRPr>
          </a:p>
        </p:txBody>
      </p:sp>
      <p:pic>
        <p:nvPicPr>
          <p:cNvPr id="630" name="Google Shape;630;p77"/>
          <p:cNvPicPr preferRelativeResize="0"/>
          <p:nvPr/>
        </p:nvPicPr>
        <p:blipFill rotWithShape="1">
          <a:blip r:embed="rId6">
            <a:alphaModFix/>
          </a:blip>
          <a:srcRect b="0" l="0" r="0" t="0"/>
          <a:stretch/>
        </p:blipFill>
        <p:spPr>
          <a:xfrm>
            <a:off x="2767099" y="1162751"/>
            <a:ext cx="216000" cy="282118"/>
          </a:xfrm>
          <a:prstGeom prst="rect">
            <a:avLst/>
          </a:prstGeom>
          <a:solidFill>
            <a:schemeClr val="lt1"/>
          </a:solidFill>
          <a:ln cap="flat" cmpd="sng" w="9525">
            <a:solidFill>
              <a:schemeClr val="lt1"/>
            </a:solidFill>
            <a:prstDash val="solid"/>
            <a:round/>
            <a:headEnd len="sm" w="sm" type="none"/>
            <a:tailEnd len="sm" w="sm" type="none"/>
          </a:ln>
        </p:spPr>
      </p:pic>
      <p:pic>
        <p:nvPicPr>
          <p:cNvPr id="631" name="Google Shape;631;p77"/>
          <p:cNvPicPr preferRelativeResize="0"/>
          <p:nvPr/>
        </p:nvPicPr>
        <p:blipFill rotWithShape="1">
          <a:blip r:embed="rId6">
            <a:alphaModFix/>
          </a:blip>
          <a:srcRect b="0" l="0" r="0" t="0"/>
          <a:stretch/>
        </p:blipFill>
        <p:spPr>
          <a:xfrm>
            <a:off x="2945611" y="1057777"/>
            <a:ext cx="216000" cy="282118"/>
          </a:xfrm>
          <a:prstGeom prst="rect">
            <a:avLst/>
          </a:prstGeom>
          <a:solidFill>
            <a:schemeClr val="lt1"/>
          </a:solidFill>
          <a:ln cap="flat" cmpd="sng" w="9525">
            <a:solidFill>
              <a:schemeClr val="lt1"/>
            </a:solidFill>
            <a:prstDash val="solid"/>
            <a:round/>
            <a:headEnd len="sm" w="sm" type="none"/>
            <a:tailEnd len="sm" w="sm" type="none"/>
          </a:ln>
        </p:spPr>
      </p:pic>
      <p:pic>
        <p:nvPicPr>
          <p:cNvPr id="632" name="Google Shape;632;p77"/>
          <p:cNvPicPr preferRelativeResize="0"/>
          <p:nvPr/>
        </p:nvPicPr>
        <p:blipFill rotWithShape="1">
          <a:blip r:embed="rId6">
            <a:alphaModFix/>
          </a:blip>
          <a:srcRect b="0" l="0" r="0" t="0"/>
          <a:stretch/>
        </p:blipFill>
        <p:spPr>
          <a:xfrm>
            <a:off x="3060350" y="1209847"/>
            <a:ext cx="216000" cy="282118"/>
          </a:xfrm>
          <a:prstGeom prst="rect">
            <a:avLst/>
          </a:prstGeom>
          <a:solidFill>
            <a:schemeClr val="lt1"/>
          </a:solidFill>
          <a:ln cap="flat" cmpd="sng" w="9525">
            <a:solidFill>
              <a:schemeClr val="lt1"/>
            </a:solidFill>
            <a:prstDash val="solid"/>
            <a:round/>
            <a:headEnd len="sm" w="sm" type="none"/>
            <a:tailEnd len="sm" w="sm" type="none"/>
          </a:ln>
        </p:spPr>
      </p:pic>
      <p:pic>
        <p:nvPicPr>
          <p:cNvPr id="633" name="Google Shape;633;p77"/>
          <p:cNvPicPr preferRelativeResize="0"/>
          <p:nvPr/>
        </p:nvPicPr>
        <p:blipFill rotWithShape="1">
          <a:blip r:embed="rId6">
            <a:alphaModFix/>
          </a:blip>
          <a:srcRect b="0" l="0" r="0" t="0"/>
          <a:stretch/>
        </p:blipFill>
        <p:spPr>
          <a:xfrm>
            <a:off x="3136024" y="972741"/>
            <a:ext cx="216000" cy="282118"/>
          </a:xfrm>
          <a:prstGeom prst="rect">
            <a:avLst/>
          </a:prstGeom>
          <a:solidFill>
            <a:schemeClr val="lt1"/>
          </a:solidFill>
          <a:ln cap="flat" cmpd="sng" w="9525">
            <a:solidFill>
              <a:schemeClr val="lt1"/>
            </a:solidFill>
            <a:prstDash val="solid"/>
            <a:round/>
            <a:headEnd len="sm" w="sm" type="none"/>
            <a:tailEnd len="sm" w="sm" type="none"/>
          </a:ln>
        </p:spPr>
      </p:pic>
      <p:pic>
        <p:nvPicPr>
          <p:cNvPr id="634" name="Google Shape;634;p77"/>
          <p:cNvPicPr preferRelativeResize="0"/>
          <p:nvPr/>
        </p:nvPicPr>
        <p:blipFill rotWithShape="1">
          <a:blip r:embed="rId6">
            <a:alphaModFix/>
          </a:blip>
          <a:srcRect b="0" l="0" r="0" t="0"/>
          <a:stretch/>
        </p:blipFill>
        <p:spPr>
          <a:xfrm>
            <a:off x="3250763" y="1152948"/>
            <a:ext cx="216000" cy="282118"/>
          </a:xfrm>
          <a:prstGeom prst="rect">
            <a:avLst/>
          </a:prstGeom>
          <a:solidFill>
            <a:schemeClr val="lt1"/>
          </a:solidFill>
          <a:ln cap="flat" cmpd="sng" w="9525">
            <a:solidFill>
              <a:schemeClr val="lt1"/>
            </a:solidFill>
            <a:prstDash val="solid"/>
            <a:round/>
            <a:headEnd len="sm" w="sm" type="none"/>
            <a:tailEnd len="sm" w="sm" type="none"/>
          </a:ln>
        </p:spPr>
      </p:pic>
      <p:pic>
        <p:nvPicPr>
          <p:cNvPr descr="Image result for analytics application icon" id="635" name="Google Shape;635;p77"/>
          <p:cNvPicPr preferRelativeResize="0"/>
          <p:nvPr/>
        </p:nvPicPr>
        <p:blipFill rotWithShape="1">
          <a:blip r:embed="rId7">
            <a:alphaModFix/>
          </a:blip>
          <a:srcRect b="0" l="0" r="0" t="0"/>
          <a:stretch/>
        </p:blipFill>
        <p:spPr>
          <a:xfrm>
            <a:off x="6305474" y="4460222"/>
            <a:ext cx="236161" cy="236157"/>
          </a:xfrm>
          <a:prstGeom prst="rect">
            <a:avLst/>
          </a:prstGeom>
          <a:noFill/>
          <a:ln>
            <a:noFill/>
          </a:ln>
        </p:spPr>
      </p:pic>
      <p:pic>
        <p:nvPicPr>
          <p:cNvPr id="636" name="Google Shape;636;p77"/>
          <p:cNvPicPr preferRelativeResize="0"/>
          <p:nvPr/>
        </p:nvPicPr>
        <p:blipFill>
          <a:blip r:embed="rId8">
            <a:alphaModFix/>
          </a:blip>
          <a:stretch>
            <a:fillRect/>
          </a:stretch>
        </p:blipFill>
        <p:spPr>
          <a:xfrm>
            <a:off x="7700048" y="864531"/>
            <a:ext cx="216000" cy="219509"/>
          </a:xfrm>
          <a:prstGeom prst="rect">
            <a:avLst/>
          </a:prstGeom>
          <a:noFill/>
          <a:ln>
            <a:noFill/>
          </a:ln>
        </p:spPr>
      </p:pic>
      <p:pic>
        <p:nvPicPr>
          <p:cNvPr id="637" name="Google Shape;637;p77"/>
          <p:cNvPicPr preferRelativeResize="0"/>
          <p:nvPr/>
        </p:nvPicPr>
        <p:blipFill>
          <a:blip r:embed="rId8">
            <a:alphaModFix/>
          </a:blip>
          <a:stretch>
            <a:fillRect/>
          </a:stretch>
        </p:blipFill>
        <p:spPr>
          <a:xfrm>
            <a:off x="7992198" y="1054606"/>
            <a:ext cx="216000" cy="219509"/>
          </a:xfrm>
          <a:prstGeom prst="rect">
            <a:avLst/>
          </a:prstGeom>
          <a:noFill/>
          <a:ln>
            <a:noFill/>
          </a:ln>
        </p:spPr>
      </p:pic>
      <p:pic>
        <p:nvPicPr>
          <p:cNvPr id="638" name="Google Shape;638;p77"/>
          <p:cNvPicPr preferRelativeResize="0"/>
          <p:nvPr/>
        </p:nvPicPr>
        <p:blipFill>
          <a:blip r:embed="rId8">
            <a:alphaModFix/>
          </a:blip>
          <a:stretch>
            <a:fillRect/>
          </a:stretch>
        </p:blipFill>
        <p:spPr>
          <a:xfrm>
            <a:off x="7952873" y="1368506"/>
            <a:ext cx="216000" cy="219509"/>
          </a:xfrm>
          <a:prstGeom prst="rect">
            <a:avLst/>
          </a:prstGeom>
          <a:noFill/>
          <a:ln>
            <a:noFill/>
          </a:ln>
        </p:spPr>
      </p:pic>
      <p:pic>
        <p:nvPicPr>
          <p:cNvPr id="639" name="Google Shape;639;p77"/>
          <p:cNvPicPr preferRelativeResize="0"/>
          <p:nvPr/>
        </p:nvPicPr>
        <p:blipFill>
          <a:blip r:embed="rId8">
            <a:alphaModFix/>
          </a:blip>
          <a:stretch>
            <a:fillRect/>
          </a:stretch>
        </p:blipFill>
        <p:spPr>
          <a:xfrm>
            <a:off x="7601998" y="1449056"/>
            <a:ext cx="216000" cy="219509"/>
          </a:xfrm>
          <a:prstGeom prst="rect">
            <a:avLst/>
          </a:prstGeom>
          <a:noFill/>
          <a:ln>
            <a:noFill/>
          </a:ln>
        </p:spPr>
      </p:pic>
      <p:pic>
        <p:nvPicPr>
          <p:cNvPr id="640" name="Google Shape;640;p77"/>
          <p:cNvPicPr preferRelativeResize="0"/>
          <p:nvPr/>
        </p:nvPicPr>
        <p:blipFill>
          <a:blip r:embed="rId8">
            <a:alphaModFix/>
          </a:blip>
          <a:stretch>
            <a:fillRect/>
          </a:stretch>
        </p:blipFill>
        <p:spPr>
          <a:xfrm>
            <a:off x="7398848" y="1158756"/>
            <a:ext cx="216000" cy="219509"/>
          </a:xfrm>
          <a:prstGeom prst="rect">
            <a:avLst/>
          </a:prstGeom>
          <a:noFill/>
          <a:ln>
            <a:noFill/>
          </a:ln>
        </p:spPr>
      </p:pic>
      <p:cxnSp>
        <p:nvCxnSpPr>
          <p:cNvPr id="641" name="Google Shape;641;p77"/>
          <p:cNvCxnSpPr/>
          <p:nvPr/>
        </p:nvCxnSpPr>
        <p:spPr>
          <a:xfrm>
            <a:off x="4915700" y="3689475"/>
            <a:ext cx="0" cy="1032300"/>
          </a:xfrm>
          <a:prstGeom prst="straightConnector1">
            <a:avLst/>
          </a:prstGeom>
          <a:noFill/>
          <a:ln cap="flat" cmpd="sng" w="19050">
            <a:solidFill>
              <a:schemeClr val="dk2"/>
            </a:solidFill>
            <a:prstDash val="dot"/>
            <a:round/>
            <a:headEnd len="sm" w="sm" type="none"/>
            <a:tailEnd len="sm" w="sm" type="none"/>
          </a:ln>
        </p:spPr>
      </p:cxnSp>
      <p:cxnSp>
        <p:nvCxnSpPr>
          <p:cNvPr id="642" name="Google Shape;642;p77"/>
          <p:cNvCxnSpPr/>
          <p:nvPr/>
        </p:nvCxnSpPr>
        <p:spPr>
          <a:xfrm>
            <a:off x="4661850" y="3765675"/>
            <a:ext cx="0" cy="1032300"/>
          </a:xfrm>
          <a:prstGeom prst="straightConnector1">
            <a:avLst/>
          </a:prstGeom>
          <a:noFill/>
          <a:ln cap="flat" cmpd="sng" w="19050">
            <a:solidFill>
              <a:schemeClr val="lt1"/>
            </a:solidFill>
            <a:prstDash val="dot"/>
            <a:round/>
            <a:headEnd len="sm" w="sm" type="none"/>
            <a:tailEnd len="sm" w="sm" type="none"/>
          </a:ln>
        </p:spPr>
      </p:cxnSp>
      <p:pic>
        <p:nvPicPr>
          <p:cNvPr id="643" name="Google Shape;643;p77"/>
          <p:cNvPicPr preferRelativeResize="0"/>
          <p:nvPr/>
        </p:nvPicPr>
        <p:blipFill>
          <a:blip r:embed="rId9">
            <a:alphaModFix/>
          </a:blip>
          <a:stretch>
            <a:fillRect/>
          </a:stretch>
        </p:blipFill>
        <p:spPr>
          <a:xfrm>
            <a:off x="2480759" y="4340362"/>
            <a:ext cx="711842" cy="572234"/>
          </a:xfrm>
          <a:prstGeom prst="rect">
            <a:avLst/>
          </a:prstGeom>
          <a:noFill/>
          <a:ln>
            <a:noFill/>
          </a:ln>
        </p:spPr>
      </p:pic>
      <p:pic>
        <p:nvPicPr>
          <p:cNvPr id="644" name="Google Shape;644;p77"/>
          <p:cNvPicPr preferRelativeResize="0"/>
          <p:nvPr/>
        </p:nvPicPr>
        <p:blipFill>
          <a:blip r:embed="rId9">
            <a:alphaModFix/>
          </a:blip>
          <a:stretch>
            <a:fillRect/>
          </a:stretch>
        </p:blipFill>
        <p:spPr>
          <a:xfrm>
            <a:off x="2127298" y="4340364"/>
            <a:ext cx="652248" cy="524326"/>
          </a:xfrm>
          <a:prstGeom prst="rect">
            <a:avLst/>
          </a:prstGeom>
          <a:noFill/>
          <a:ln>
            <a:noFill/>
          </a:ln>
        </p:spPr>
      </p:pic>
      <p:pic>
        <p:nvPicPr>
          <p:cNvPr descr="Image result for analytics application icon" id="645" name="Google Shape;645;p77"/>
          <p:cNvPicPr preferRelativeResize="0"/>
          <p:nvPr/>
        </p:nvPicPr>
        <p:blipFill rotWithShape="1">
          <a:blip r:embed="rId7">
            <a:alphaModFix/>
          </a:blip>
          <a:srcRect b="0" l="0" r="0" t="0"/>
          <a:stretch/>
        </p:blipFill>
        <p:spPr>
          <a:xfrm>
            <a:off x="6848849" y="4474622"/>
            <a:ext cx="236161" cy="236157"/>
          </a:xfrm>
          <a:prstGeom prst="rect">
            <a:avLst/>
          </a:prstGeom>
          <a:noFill/>
          <a:ln>
            <a:noFill/>
          </a:ln>
        </p:spPr>
      </p:pic>
      <p:pic>
        <p:nvPicPr>
          <p:cNvPr id="646" name="Google Shape;646;p77"/>
          <p:cNvPicPr preferRelativeResize="0"/>
          <p:nvPr/>
        </p:nvPicPr>
        <p:blipFill rotWithShape="1">
          <a:blip r:embed="rId3">
            <a:alphaModFix/>
          </a:blip>
          <a:srcRect b="0" l="0" r="0" t="0"/>
          <a:stretch/>
        </p:blipFill>
        <p:spPr>
          <a:xfrm>
            <a:off x="7150046" y="4474621"/>
            <a:ext cx="177121" cy="207359"/>
          </a:xfrm>
          <a:prstGeom prst="rect">
            <a:avLst/>
          </a:prstGeom>
          <a:noFill/>
          <a:ln>
            <a:noFill/>
          </a:ln>
        </p:spPr>
      </p:pic>
      <p:pic>
        <p:nvPicPr>
          <p:cNvPr descr="Image result for analytics application icon" id="647" name="Google Shape;647;p77"/>
          <p:cNvPicPr preferRelativeResize="0"/>
          <p:nvPr/>
        </p:nvPicPr>
        <p:blipFill rotWithShape="1">
          <a:blip r:embed="rId7">
            <a:alphaModFix/>
          </a:blip>
          <a:srcRect b="0" l="0" r="0" t="0"/>
          <a:stretch/>
        </p:blipFill>
        <p:spPr>
          <a:xfrm>
            <a:off x="7392224" y="4474622"/>
            <a:ext cx="236161" cy="236157"/>
          </a:xfrm>
          <a:prstGeom prst="rect">
            <a:avLst/>
          </a:prstGeom>
          <a:noFill/>
          <a:ln>
            <a:noFill/>
          </a:ln>
        </p:spPr>
      </p:pic>
      <p:sp>
        <p:nvSpPr>
          <p:cNvPr id="648" name="Google Shape;648;p77"/>
          <p:cNvSpPr/>
          <p:nvPr/>
        </p:nvSpPr>
        <p:spPr>
          <a:xfrm>
            <a:off x="2460700" y="3243390"/>
            <a:ext cx="417000" cy="4227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77"/>
          <p:cNvSpPr/>
          <p:nvPr/>
        </p:nvSpPr>
        <p:spPr>
          <a:xfrm>
            <a:off x="6727521" y="3235325"/>
            <a:ext cx="417000" cy="4227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77"/>
          <p:cNvSpPr/>
          <p:nvPr/>
        </p:nvSpPr>
        <p:spPr>
          <a:xfrm>
            <a:off x="196500" y="1925700"/>
            <a:ext cx="8778300" cy="1416600"/>
          </a:xfrm>
          <a:prstGeom prst="roundRect">
            <a:avLst>
              <a:gd fmla="val 16667" name="adj"/>
            </a:avLst>
          </a:prstGeom>
          <a:solidFill>
            <a:srgbClr val="F2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7"/>
          <p:cNvSpPr txBox="1"/>
          <p:nvPr/>
        </p:nvSpPr>
        <p:spPr>
          <a:xfrm>
            <a:off x="5261395" y="2627923"/>
            <a:ext cx="20037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Source Sans Pro"/>
                <a:ea typeface="Source Sans Pro"/>
                <a:cs typeface="Source Sans Pro"/>
                <a:sym typeface="Source Sans Pro"/>
              </a:rPr>
              <a:t>Marketing</a:t>
            </a:r>
            <a:r>
              <a:rPr b="1" i="0" lang="en" sz="900" u="none" cap="none" strike="noStrike">
                <a:solidFill>
                  <a:schemeClr val="dk1"/>
                </a:solidFill>
                <a:latin typeface="Source Sans Pro"/>
                <a:ea typeface="Source Sans Pro"/>
                <a:cs typeface="Source Sans Pro"/>
                <a:sym typeface="Source Sans Pro"/>
              </a:rPr>
              <a:t> </a:t>
            </a:r>
            <a:r>
              <a:rPr b="0" i="0" lang="en" sz="900" u="none" cap="none" strike="noStrike">
                <a:solidFill>
                  <a:schemeClr val="dk1"/>
                </a:solidFill>
                <a:latin typeface="Source Sans Pro"/>
                <a:ea typeface="Source Sans Pro"/>
                <a:cs typeface="Source Sans Pro"/>
                <a:sym typeface="Source Sans Pro"/>
              </a:rPr>
              <a:t>Customer Data Platforms </a:t>
            </a:r>
            <a:r>
              <a:rPr b="1" i="0" lang="en" sz="900" u="none" cap="none" strike="noStrike">
                <a:solidFill>
                  <a:schemeClr val="dk1"/>
                </a:solidFill>
                <a:latin typeface="Source Sans Pro"/>
                <a:ea typeface="Source Sans Pro"/>
                <a:cs typeface="Source Sans Pro"/>
                <a:sym typeface="Source Sans Pro"/>
              </a:rPr>
              <a:t> </a:t>
            </a:r>
            <a:endParaRPr b="0" i="0" sz="900" u="none" cap="none" strike="noStrike">
              <a:solidFill>
                <a:schemeClr val="dk1"/>
              </a:solidFill>
              <a:latin typeface="Source Sans Pro"/>
              <a:ea typeface="Source Sans Pro"/>
              <a:cs typeface="Source Sans Pro"/>
              <a:sym typeface="Source Sans Pro"/>
            </a:endParaRPr>
          </a:p>
        </p:txBody>
      </p:sp>
      <p:sp>
        <p:nvSpPr>
          <p:cNvPr id="652" name="Google Shape;652;p77"/>
          <p:cNvSpPr txBox="1"/>
          <p:nvPr/>
        </p:nvSpPr>
        <p:spPr>
          <a:xfrm>
            <a:off x="5276688" y="2328997"/>
            <a:ext cx="22491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100" u="none" cap="none" strike="noStrike">
                <a:solidFill>
                  <a:schemeClr val="dk1"/>
                </a:solidFill>
                <a:latin typeface="Source Sans Pro"/>
                <a:ea typeface="Source Sans Pro"/>
                <a:cs typeface="Source Sans Pro"/>
                <a:sym typeface="Source Sans Pro"/>
              </a:rPr>
              <a:t>Sales</a:t>
            </a:r>
            <a:r>
              <a:rPr b="1" i="0" lang="en" sz="900" u="none" cap="none" strike="noStrike">
                <a:solidFill>
                  <a:schemeClr val="dk1"/>
                </a:solidFill>
                <a:latin typeface="Source Sans Pro"/>
                <a:ea typeface="Source Sans Pro"/>
                <a:cs typeface="Source Sans Pro"/>
                <a:sym typeface="Source Sans Pro"/>
              </a:rPr>
              <a:t> </a:t>
            </a:r>
            <a:r>
              <a:rPr b="0" i="0" lang="en" sz="900" u="none" cap="none" strike="noStrike">
                <a:solidFill>
                  <a:schemeClr val="dk1"/>
                </a:solidFill>
                <a:latin typeface="Source Sans Pro"/>
                <a:ea typeface="Source Sans Pro"/>
                <a:cs typeface="Source Sans Pro"/>
                <a:sym typeface="Source Sans Pro"/>
              </a:rPr>
              <a:t>CRM plugins &amp; one-off cleans</a:t>
            </a:r>
            <a:endParaRPr>
              <a:solidFill>
                <a:schemeClr val="dk1"/>
              </a:solidFill>
            </a:endParaRPr>
          </a:p>
        </p:txBody>
      </p:sp>
      <p:sp>
        <p:nvSpPr>
          <p:cNvPr id="653" name="Google Shape;653;p77"/>
          <p:cNvSpPr txBox="1"/>
          <p:nvPr/>
        </p:nvSpPr>
        <p:spPr>
          <a:xfrm>
            <a:off x="5276700" y="2926863"/>
            <a:ext cx="16851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000" u="none" cap="none" strike="noStrike">
                <a:solidFill>
                  <a:schemeClr val="dk1"/>
                </a:solidFill>
                <a:latin typeface="Source Sans Pro"/>
                <a:ea typeface="Source Sans Pro"/>
                <a:cs typeface="Source Sans Pro"/>
                <a:sym typeface="Source Sans Pro"/>
              </a:rPr>
              <a:t>Finance &amp; Risk </a:t>
            </a:r>
            <a:r>
              <a:rPr b="0" i="0" lang="en" sz="1000" u="none" cap="none" strike="noStrike">
                <a:solidFill>
                  <a:schemeClr val="dk1"/>
                </a:solidFill>
                <a:latin typeface="Source Sans Pro"/>
                <a:ea typeface="Source Sans Pro"/>
                <a:cs typeface="Source Sans Pro"/>
                <a:sym typeface="Source Sans Pro"/>
              </a:rPr>
              <a:t>ERP integrations &amp; migrations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Source Sans Pro"/>
                <a:ea typeface="Source Sans Pro"/>
                <a:cs typeface="Source Sans Pro"/>
                <a:sym typeface="Source Sans Pro"/>
              </a:rPr>
              <a:t>  </a:t>
            </a:r>
            <a:endParaRPr b="0" i="0" sz="900" u="none" cap="none" strike="noStrike">
              <a:solidFill>
                <a:srgbClr val="000000"/>
              </a:solidFill>
              <a:latin typeface="Arial"/>
              <a:ea typeface="Arial"/>
              <a:cs typeface="Arial"/>
              <a:sym typeface="Arial"/>
            </a:endParaRPr>
          </a:p>
        </p:txBody>
      </p:sp>
      <p:sp>
        <p:nvSpPr>
          <p:cNvPr id="654" name="Google Shape;654;p77"/>
          <p:cNvSpPr txBox="1"/>
          <p:nvPr/>
        </p:nvSpPr>
        <p:spPr>
          <a:xfrm>
            <a:off x="1698856" y="2745009"/>
            <a:ext cx="1113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 sz="1100" u="none" cap="none" strike="noStrike">
                <a:solidFill>
                  <a:schemeClr val="dk1"/>
                </a:solidFill>
                <a:latin typeface="Source Sans Pro"/>
                <a:ea typeface="Source Sans Pro"/>
                <a:cs typeface="Source Sans Pro"/>
                <a:sym typeface="Source Sans Pro"/>
              </a:rPr>
              <a:t>Rules-based MDM</a:t>
            </a:r>
            <a:endParaRPr b="1" i="0" sz="1100" u="none" cap="none" strike="noStrike">
              <a:solidFill>
                <a:schemeClr val="dk1"/>
              </a:solidFill>
              <a:latin typeface="Source Sans Pro"/>
              <a:ea typeface="Source Sans Pro"/>
              <a:cs typeface="Source Sans Pro"/>
              <a:sym typeface="Source Sans Pro"/>
            </a:endParaRPr>
          </a:p>
        </p:txBody>
      </p:sp>
      <p:sp>
        <p:nvSpPr>
          <p:cNvPr id="655" name="Google Shape;655;p77"/>
          <p:cNvSpPr txBox="1"/>
          <p:nvPr/>
        </p:nvSpPr>
        <p:spPr>
          <a:xfrm>
            <a:off x="1698856" y="2320896"/>
            <a:ext cx="9063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 sz="1100" u="none" cap="none" strike="noStrike">
                <a:solidFill>
                  <a:schemeClr val="dk1"/>
                </a:solidFill>
                <a:latin typeface="Source Sans Pro"/>
                <a:ea typeface="Source Sans Pro"/>
                <a:cs typeface="Source Sans Pro"/>
                <a:sym typeface="Source Sans Pro"/>
              </a:rPr>
              <a:t>Data Lakes</a:t>
            </a:r>
            <a:endParaRPr b="1" i="0" sz="1100" u="none" cap="none" strike="noStrike">
              <a:solidFill>
                <a:schemeClr val="dk1"/>
              </a:solidFill>
              <a:latin typeface="Source Sans Pro"/>
              <a:ea typeface="Source Sans Pro"/>
              <a:cs typeface="Source Sans Pro"/>
              <a:sym typeface="Source Sans Pro"/>
            </a:endParaRPr>
          </a:p>
        </p:txBody>
      </p:sp>
      <p:sp>
        <p:nvSpPr>
          <p:cNvPr id="656" name="Google Shape;656;p77"/>
          <p:cNvSpPr txBox="1"/>
          <p:nvPr/>
        </p:nvSpPr>
        <p:spPr>
          <a:xfrm>
            <a:off x="1192602" y="1976363"/>
            <a:ext cx="32640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 sz="1300" u="none" cap="none" strike="noStrike">
                <a:solidFill>
                  <a:schemeClr val="dk1"/>
                </a:solidFill>
                <a:latin typeface="Source Sans Pro"/>
                <a:ea typeface="Source Sans Pro"/>
                <a:cs typeface="Source Sans Pro"/>
                <a:sym typeface="Source Sans Pro"/>
              </a:rPr>
              <a:t>Enterprise Swampland</a:t>
            </a:r>
            <a:endParaRPr b="1" i="0" sz="1300" u="none" cap="none" strike="noStrike">
              <a:solidFill>
                <a:schemeClr val="dk1"/>
              </a:solidFill>
              <a:latin typeface="Source Sans Pro"/>
              <a:ea typeface="Source Sans Pro"/>
              <a:cs typeface="Source Sans Pro"/>
              <a:sym typeface="Source Sans Pro"/>
            </a:endParaRPr>
          </a:p>
        </p:txBody>
      </p:sp>
      <p:sp>
        <p:nvSpPr>
          <p:cNvPr id="657" name="Google Shape;657;p77"/>
          <p:cNvSpPr txBox="1"/>
          <p:nvPr/>
        </p:nvSpPr>
        <p:spPr>
          <a:xfrm>
            <a:off x="2736049" y="2295263"/>
            <a:ext cx="1617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 sz="1100" u="none" cap="none" strike="noStrike">
                <a:solidFill>
                  <a:schemeClr val="dk1"/>
                </a:solidFill>
                <a:latin typeface="Source Sans Pro"/>
                <a:ea typeface="Source Sans Pro"/>
                <a:cs typeface="Source Sans Pro"/>
                <a:sym typeface="Source Sans Pro"/>
              </a:rPr>
              <a:t>Remained data swamps</a:t>
            </a:r>
            <a:endParaRPr b="0" i="0" sz="1100" u="none" cap="none" strike="noStrike">
              <a:solidFill>
                <a:schemeClr val="dk1"/>
              </a:solidFill>
              <a:latin typeface="Source Sans Pro"/>
              <a:ea typeface="Source Sans Pro"/>
              <a:cs typeface="Source Sans Pro"/>
              <a:sym typeface="Source Sans Pro"/>
            </a:endParaRPr>
          </a:p>
        </p:txBody>
      </p:sp>
      <p:sp>
        <p:nvSpPr>
          <p:cNvPr id="658" name="Google Shape;658;p77"/>
          <p:cNvSpPr txBox="1"/>
          <p:nvPr/>
        </p:nvSpPr>
        <p:spPr>
          <a:xfrm>
            <a:off x="2730252" y="2724250"/>
            <a:ext cx="16851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 sz="1100" u="none" cap="none" strike="noStrike">
                <a:solidFill>
                  <a:schemeClr val="dk1"/>
                </a:solidFill>
                <a:latin typeface="Source Sans Pro"/>
                <a:ea typeface="Source Sans Pro"/>
                <a:cs typeface="Source Sans Pro"/>
                <a:sym typeface="Source Sans Pro"/>
              </a:rPr>
              <a:t>Failed to meet flexibility &amp; accuracy needs</a:t>
            </a:r>
            <a:endParaRPr b="0" i="0" sz="1100" u="none" cap="none" strike="noStrike">
              <a:solidFill>
                <a:schemeClr val="dk1"/>
              </a:solidFill>
              <a:latin typeface="Source Sans Pro"/>
              <a:ea typeface="Source Sans Pro"/>
              <a:cs typeface="Source Sans Pro"/>
              <a:sym typeface="Source Sans Pro"/>
            </a:endParaRPr>
          </a:p>
        </p:txBody>
      </p:sp>
      <p:cxnSp>
        <p:nvCxnSpPr>
          <p:cNvPr id="659" name="Google Shape;659;p77"/>
          <p:cNvCxnSpPr/>
          <p:nvPr/>
        </p:nvCxnSpPr>
        <p:spPr>
          <a:xfrm>
            <a:off x="4657275" y="2092938"/>
            <a:ext cx="0" cy="1032300"/>
          </a:xfrm>
          <a:prstGeom prst="straightConnector1">
            <a:avLst/>
          </a:prstGeom>
          <a:noFill/>
          <a:ln cap="flat" cmpd="sng" w="19050">
            <a:solidFill>
              <a:schemeClr val="dk2"/>
            </a:solidFill>
            <a:prstDash val="dot"/>
            <a:round/>
            <a:headEnd len="sm" w="sm" type="none"/>
            <a:tailEnd len="sm" w="sm" type="none"/>
          </a:ln>
        </p:spPr>
      </p:cxnSp>
      <p:sp>
        <p:nvSpPr>
          <p:cNvPr id="660" name="Google Shape;660;p77"/>
          <p:cNvSpPr txBox="1"/>
          <p:nvPr/>
        </p:nvSpPr>
        <p:spPr>
          <a:xfrm>
            <a:off x="4884801" y="2017838"/>
            <a:ext cx="40347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 sz="1300" u="none" cap="none" strike="noStrike">
                <a:solidFill>
                  <a:schemeClr val="dk1"/>
                </a:solidFill>
                <a:latin typeface="Source Sans Pro"/>
                <a:ea typeface="Source Sans Pro"/>
                <a:cs typeface="Source Sans Pro"/>
                <a:sym typeface="Source Sans Pro"/>
              </a:rPr>
              <a:t>Departmental Wild Wild West</a:t>
            </a:r>
            <a:endParaRPr b="1" i="0" sz="1300" u="none" cap="none" strike="noStrike">
              <a:solidFill>
                <a:schemeClr val="dk1"/>
              </a:solidFill>
              <a:latin typeface="Source Sans Pro"/>
              <a:ea typeface="Source Sans Pro"/>
              <a:cs typeface="Source Sans Pro"/>
              <a:sym typeface="Source Sans Pro"/>
            </a:endParaRPr>
          </a:p>
        </p:txBody>
      </p:sp>
      <p:sp>
        <p:nvSpPr>
          <p:cNvPr id="661" name="Google Shape;661;p77"/>
          <p:cNvSpPr txBox="1"/>
          <p:nvPr/>
        </p:nvSpPr>
        <p:spPr>
          <a:xfrm>
            <a:off x="7278624" y="3014868"/>
            <a:ext cx="15177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chemeClr val="dk1"/>
                </a:solidFill>
                <a:latin typeface="Source Sans Pro"/>
                <a:ea typeface="Source Sans Pro"/>
                <a:cs typeface="Source Sans Pro"/>
                <a:sym typeface="Source Sans Pro"/>
              </a:rPr>
              <a:t>Restricted data structure</a:t>
            </a:r>
            <a:endParaRPr b="0" i="0" sz="1000" u="none" cap="none" strike="noStrike">
              <a:solidFill>
                <a:schemeClr val="dk1"/>
              </a:solidFill>
              <a:latin typeface="Source Sans Pro"/>
              <a:ea typeface="Source Sans Pro"/>
              <a:cs typeface="Source Sans Pro"/>
              <a:sym typeface="Source Sans Pro"/>
            </a:endParaRPr>
          </a:p>
        </p:txBody>
      </p:sp>
      <p:sp>
        <p:nvSpPr>
          <p:cNvPr id="662" name="Google Shape;662;p77"/>
          <p:cNvSpPr txBox="1"/>
          <p:nvPr/>
        </p:nvSpPr>
        <p:spPr>
          <a:xfrm>
            <a:off x="7281921" y="2328997"/>
            <a:ext cx="14055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chemeClr val="dk1"/>
                </a:solidFill>
                <a:latin typeface="Source Sans Pro"/>
                <a:ea typeface="Source Sans Pro"/>
                <a:cs typeface="Source Sans Pro"/>
                <a:sym typeface="Source Sans Pro"/>
              </a:rPr>
              <a:t>Governance nightmare</a:t>
            </a:r>
            <a:endParaRPr b="0" i="0" sz="1000" u="none" cap="none" strike="noStrike">
              <a:solidFill>
                <a:schemeClr val="dk1"/>
              </a:solidFill>
              <a:latin typeface="Arial"/>
              <a:ea typeface="Arial"/>
              <a:cs typeface="Arial"/>
              <a:sym typeface="Arial"/>
            </a:endParaRPr>
          </a:p>
        </p:txBody>
      </p:sp>
      <p:sp>
        <p:nvSpPr>
          <p:cNvPr id="663" name="Google Shape;663;p77"/>
          <p:cNvSpPr txBox="1"/>
          <p:nvPr/>
        </p:nvSpPr>
        <p:spPr>
          <a:xfrm>
            <a:off x="7278624" y="2637261"/>
            <a:ext cx="1584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 sz="1000" u="none" cap="none" strike="noStrike">
                <a:solidFill>
                  <a:schemeClr val="dk1"/>
                </a:solidFill>
                <a:latin typeface="Source Sans Pro"/>
                <a:ea typeface="Source Sans Pro"/>
                <a:cs typeface="Source Sans Pro"/>
                <a:sym typeface="Source Sans Pro"/>
              </a:rPr>
              <a:t>Duplicate, inaccurate records</a:t>
            </a:r>
            <a:endParaRPr b="0" i="0" sz="1000" u="none" cap="none" strike="noStrike">
              <a:solidFill>
                <a:schemeClr val="dk1"/>
              </a:solidFill>
              <a:latin typeface="Arial"/>
              <a:ea typeface="Arial"/>
              <a:cs typeface="Arial"/>
              <a:sym typeface="Arial"/>
            </a:endParaRPr>
          </a:p>
        </p:txBody>
      </p:sp>
      <p:pic>
        <p:nvPicPr>
          <p:cNvPr descr="Image result for data lake icon" id="664" name="Google Shape;664;p77"/>
          <p:cNvPicPr preferRelativeResize="0"/>
          <p:nvPr/>
        </p:nvPicPr>
        <p:blipFill rotWithShape="1">
          <a:blip r:embed="rId10">
            <a:alphaModFix/>
          </a:blip>
          <a:srcRect b="0" l="0" r="0" t="0"/>
          <a:stretch/>
        </p:blipFill>
        <p:spPr>
          <a:xfrm>
            <a:off x="1293387" y="2294787"/>
            <a:ext cx="288000" cy="288000"/>
          </a:xfrm>
          <a:prstGeom prst="rect">
            <a:avLst/>
          </a:prstGeom>
          <a:noFill/>
          <a:ln>
            <a:noFill/>
          </a:ln>
        </p:spPr>
      </p:pic>
      <p:pic>
        <p:nvPicPr>
          <p:cNvPr descr="Image result for if then rules" id="665" name="Google Shape;665;p77"/>
          <p:cNvPicPr preferRelativeResize="0"/>
          <p:nvPr/>
        </p:nvPicPr>
        <p:blipFill rotWithShape="1">
          <a:blip r:embed="rId11">
            <a:alphaModFix/>
          </a:blip>
          <a:srcRect b="38824" l="52" r="14023" t="6324"/>
          <a:stretch/>
        </p:blipFill>
        <p:spPr>
          <a:xfrm>
            <a:off x="1183087" y="2712628"/>
            <a:ext cx="489417" cy="393404"/>
          </a:xfrm>
          <a:prstGeom prst="rect">
            <a:avLst/>
          </a:prstGeom>
          <a:noFill/>
          <a:ln>
            <a:noFill/>
          </a:ln>
        </p:spPr>
      </p:pic>
      <p:sp>
        <p:nvSpPr>
          <p:cNvPr id="666" name="Google Shape;666;p77"/>
          <p:cNvSpPr txBox="1"/>
          <p:nvPr/>
        </p:nvSpPr>
        <p:spPr>
          <a:xfrm>
            <a:off x="369649" y="2455188"/>
            <a:ext cx="6933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 u="none" cap="none" strike="noStrike">
                <a:solidFill>
                  <a:schemeClr val="dk1"/>
                </a:solidFill>
                <a:latin typeface="Source Sans Pro"/>
                <a:ea typeface="Source Sans Pro"/>
                <a:cs typeface="Source Sans Pro"/>
                <a:sym typeface="Source Sans Pro"/>
              </a:rPr>
              <a:t>PATH</a:t>
            </a:r>
            <a:endParaRPr b="1" i="0" u="none" cap="none" strike="noStrike">
              <a:solidFill>
                <a:schemeClr val="dk1"/>
              </a:solidFill>
              <a:latin typeface="Source Sans Pro"/>
              <a:ea typeface="Source Sans Pro"/>
              <a:cs typeface="Source Sans Pro"/>
              <a:sym typeface="Source Sans Pro"/>
            </a:endParaRPr>
          </a:p>
        </p:txBody>
      </p:sp>
      <p:pic>
        <p:nvPicPr>
          <p:cNvPr id="667" name="Google Shape;667;p77"/>
          <p:cNvPicPr preferRelativeResize="0"/>
          <p:nvPr/>
        </p:nvPicPr>
        <p:blipFill>
          <a:blip r:embed="rId12">
            <a:alphaModFix/>
          </a:blip>
          <a:stretch>
            <a:fillRect/>
          </a:stretch>
        </p:blipFill>
        <p:spPr>
          <a:xfrm>
            <a:off x="4960900" y="2284673"/>
            <a:ext cx="294225" cy="294225"/>
          </a:xfrm>
          <a:prstGeom prst="rect">
            <a:avLst/>
          </a:prstGeom>
          <a:noFill/>
          <a:ln>
            <a:noFill/>
          </a:ln>
        </p:spPr>
      </p:pic>
      <p:pic>
        <p:nvPicPr>
          <p:cNvPr id="668" name="Google Shape;668;p77"/>
          <p:cNvPicPr preferRelativeResize="0"/>
          <p:nvPr/>
        </p:nvPicPr>
        <p:blipFill>
          <a:blip r:embed="rId13">
            <a:alphaModFix/>
          </a:blip>
          <a:stretch>
            <a:fillRect/>
          </a:stretch>
        </p:blipFill>
        <p:spPr>
          <a:xfrm>
            <a:off x="4960903" y="2661261"/>
            <a:ext cx="294225" cy="294225"/>
          </a:xfrm>
          <a:prstGeom prst="rect">
            <a:avLst/>
          </a:prstGeom>
          <a:noFill/>
          <a:ln>
            <a:noFill/>
          </a:ln>
        </p:spPr>
      </p:pic>
      <p:pic>
        <p:nvPicPr>
          <p:cNvPr id="669" name="Google Shape;669;p77"/>
          <p:cNvPicPr preferRelativeResize="0"/>
          <p:nvPr/>
        </p:nvPicPr>
        <p:blipFill>
          <a:blip r:embed="rId14">
            <a:alphaModFix/>
          </a:blip>
          <a:stretch>
            <a:fillRect/>
          </a:stretch>
        </p:blipFill>
        <p:spPr>
          <a:xfrm>
            <a:off x="4960900" y="3058435"/>
            <a:ext cx="294225" cy="1498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78"/>
          <p:cNvSpPr/>
          <p:nvPr/>
        </p:nvSpPr>
        <p:spPr>
          <a:xfrm>
            <a:off x="523425" y="985100"/>
            <a:ext cx="7884600" cy="27045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8"/>
          <p:cNvSpPr/>
          <p:nvPr/>
        </p:nvSpPr>
        <p:spPr>
          <a:xfrm>
            <a:off x="3058275" y="4132404"/>
            <a:ext cx="2814900" cy="369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8"/>
          <p:cNvSpPr/>
          <p:nvPr/>
        </p:nvSpPr>
        <p:spPr>
          <a:xfrm>
            <a:off x="5824288" y="1313049"/>
            <a:ext cx="2183400" cy="2037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677" name="Google Shape;677;p78"/>
          <p:cNvSpPr/>
          <p:nvPr/>
        </p:nvSpPr>
        <p:spPr>
          <a:xfrm>
            <a:off x="1138488" y="1313049"/>
            <a:ext cx="2183400" cy="2037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Source Sans Pro"/>
              <a:ea typeface="Source Sans Pro"/>
              <a:cs typeface="Source Sans Pro"/>
              <a:sym typeface="Source Sans Pro"/>
            </a:endParaRPr>
          </a:p>
        </p:txBody>
      </p:sp>
      <p:sp>
        <p:nvSpPr>
          <p:cNvPr id="678" name="Google Shape;678;p78"/>
          <p:cNvSpPr/>
          <p:nvPr/>
        </p:nvSpPr>
        <p:spPr>
          <a:xfrm>
            <a:off x="-58450" y="4561550"/>
            <a:ext cx="1983300" cy="420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8"/>
          <p:cNvSpPr txBox="1"/>
          <p:nvPr>
            <p:ph idx="4294967295" type="title"/>
          </p:nvPr>
        </p:nvSpPr>
        <p:spPr>
          <a:xfrm>
            <a:off x="0" y="228600"/>
            <a:ext cx="9144000" cy="58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Font typeface="Source Sans Pro"/>
              <a:buNone/>
            </a:pPr>
            <a:r>
              <a:rPr lang="en" sz="2400"/>
              <a:t>Tamr Masters Data for How You Manage Customers</a:t>
            </a:r>
            <a:endParaRPr sz="2400"/>
          </a:p>
        </p:txBody>
      </p:sp>
      <p:sp>
        <p:nvSpPr>
          <p:cNvPr id="680" name="Google Shape;680;p78"/>
          <p:cNvSpPr/>
          <p:nvPr/>
        </p:nvSpPr>
        <p:spPr>
          <a:xfrm>
            <a:off x="3489288" y="1313049"/>
            <a:ext cx="2183400" cy="2037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Source Sans Pro"/>
              <a:ea typeface="Source Sans Pro"/>
              <a:cs typeface="Source Sans Pro"/>
              <a:sym typeface="Source Sans Pro"/>
            </a:endParaRPr>
          </a:p>
        </p:txBody>
      </p:sp>
      <p:sp>
        <p:nvSpPr>
          <p:cNvPr id="681" name="Google Shape;681;p78"/>
          <p:cNvSpPr txBox="1"/>
          <p:nvPr/>
        </p:nvSpPr>
        <p:spPr>
          <a:xfrm>
            <a:off x="1330187" y="1435609"/>
            <a:ext cx="1800000" cy="1231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 u="none" cap="none" strike="noStrike">
                <a:solidFill>
                  <a:schemeClr val="dk1"/>
                </a:solidFill>
                <a:latin typeface="Source Sans Pro"/>
                <a:ea typeface="Source Sans Pro"/>
                <a:cs typeface="Source Sans Pro"/>
                <a:sym typeface="Source Sans Pro"/>
              </a:rPr>
              <a:t>Tamr ID</a:t>
            </a:r>
            <a:endParaRPr b="1" i="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rPr lang="en" sz="1200">
                <a:solidFill>
                  <a:schemeClr val="dk1"/>
                </a:solidFill>
                <a:latin typeface="Source Sans Pro"/>
                <a:ea typeface="Source Sans Pro"/>
                <a:cs typeface="Source Sans Pro"/>
                <a:sym typeface="Source Sans Pro"/>
              </a:rPr>
              <a:t>Persistent ID that gives a connected, golden record view of customers across systems</a:t>
            </a:r>
            <a:endParaRPr sz="12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100"/>
              <a:buFont typeface="Arial"/>
              <a:buNone/>
            </a:pPr>
            <a:r>
              <a:t/>
            </a:r>
            <a:endParaRPr b="1" sz="1200">
              <a:solidFill>
                <a:schemeClr val="dk1"/>
              </a:solidFill>
              <a:latin typeface="Source Sans Pro"/>
              <a:ea typeface="Source Sans Pro"/>
              <a:cs typeface="Source Sans Pro"/>
              <a:sym typeface="Source Sans Pro"/>
            </a:endParaRPr>
          </a:p>
        </p:txBody>
      </p:sp>
      <p:sp>
        <p:nvSpPr>
          <p:cNvPr id="682" name="Google Shape;682;p78"/>
          <p:cNvSpPr txBox="1"/>
          <p:nvPr/>
        </p:nvSpPr>
        <p:spPr>
          <a:xfrm>
            <a:off x="3673082" y="1424709"/>
            <a:ext cx="1800000" cy="124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 u="none" cap="none" strike="noStrike">
                <a:solidFill>
                  <a:schemeClr val="dk1"/>
                </a:solidFill>
                <a:latin typeface="Source Sans Pro"/>
                <a:ea typeface="Source Sans Pro"/>
                <a:cs typeface="Source Sans Pro"/>
                <a:sym typeface="Source Sans Pro"/>
              </a:rPr>
              <a:t>Hierarchy Mastering</a:t>
            </a:r>
            <a:endParaRPr b="1" i="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rPr lang="en" sz="1200">
                <a:solidFill>
                  <a:schemeClr val="dk1"/>
                </a:solidFill>
                <a:latin typeface="Source Sans Pro"/>
                <a:ea typeface="Source Sans Pro"/>
                <a:cs typeface="Source Sans Pro"/>
                <a:sym typeface="Source Sans Pro"/>
              </a:rPr>
              <a:t>Customer classification flexibility, from sites to regions to corporate structure</a:t>
            </a:r>
            <a:endParaRPr sz="12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100"/>
              <a:buFont typeface="Arial"/>
              <a:buNone/>
            </a:pPr>
            <a:r>
              <a:t/>
            </a:r>
            <a:endParaRPr b="1" sz="1300">
              <a:solidFill>
                <a:schemeClr val="dk1"/>
              </a:solidFill>
              <a:latin typeface="Source Sans Pro"/>
              <a:ea typeface="Source Sans Pro"/>
              <a:cs typeface="Source Sans Pro"/>
              <a:sym typeface="Source Sans Pro"/>
            </a:endParaRPr>
          </a:p>
        </p:txBody>
      </p:sp>
      <p:sp>
        <p:nvSpPr>
          <p:cNvPr id="683" name="Google Shape;683;p78"/>
          <p:cNvSpPr txBox="1"/>
          <p:nvPr/>
        </p:nvSpPr>
        <p:spPr>
          <a:xfrm>
            <a:off x="5964887" y="1435838"/>
            <a:ext cx="1882200" cy="124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u="none" cap="none" strike="noStrike">
                <a:solidFill>
                  <a:schemeClr val="dk1"/>
                </a:solidFill>
                <a:latin typeface="Source Sans Pro"/>
                <a:ea typeface="Source Sans Pro"/>
                <a:cs typeface="Source Sans Pro"/>
                <a:sym typeface="Source Sans Pro"/>
              </a:rPr>
              <a:t>Enrichment</a:t>
            </a:r>
            <a:endParaRPr b="1" i="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rPr lang="en" sz="1200">
                <a:solidFill>
                  <a:schemeClr val="dk1"/>
                </a:solidFill>
                <a:latin typeface="Source Sans Pro"/>
                <a:ea typeface="Source Sans Pro"/>
                <a:cs typeface="Source Sans Pro"/>
                <a:sym typeface="Source Sans Pro"/>
              </a:rPr>
              <a:t>Built-in capability to enhance &amp; verify key customer information through third party sources</a:t>
            </a:r>
            <a:endParaRPr sz="12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None/>
            </a:pPr>
            <a:r>
              <a:rPr b="1" i="0" lang="en" sz="1300" u="none" cap="none" strike="noStrike">
                <a:solidFill>
                  <a:schemeClr val="dk1"/>
                </a:solidFill>
                <a:latin typeface="Source Sans Pro"/>
                <a:ea typeface="Source Sans Pro"/>
                <a:cs typeface="Source Sans Pro"/>
                <a:sym typeface="Source Sans Pro"/>
              </a:rPr>
              <a:t> </a:t>
            </a:r>
            <a:endParaRPr b="0" i="0" sz="1300" u="none" cap="none" strike="noStrike">
              <a:solidFill>
                <a:srgbClr val="000000"/>
              </a:solidFill>
              <a:latin typeface="Arial"/>
              <a:ea typeface="Arial"/>
              <a:cs typeface="Arial"/>
              <a:sym typeface="Arial"/>
            </a:endParaRPr>
          </a:p>
        </p:txBody>
      </p:sp>
      <p:sp>
        <p:nvSpPr>
          <p:cNvPr id="684" name="Google Shape;684;p78"/>
          <p:cNvSpPr txBox="1"/>
          <p:nvPr/>
        </p:nvSpPr>
        <p:spPr>
          <a:xfrm>
            <a:off x="396305" y="-1316452"/>
            <a:ext cx="4208100" cy="328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200" u="none" cap="none" strike="noStrike">
                <a:solidFill>
                  <a:schemeClr val="lt1"/>
                </a:solidFill>
                <a:latin typeface="Source Sans Pro"/>
                <a:ea typeface="Source Sans Pro"/>
                <a:cs typeface="Source Sans Pro"/>
                <a:sym typeface="Source Sans Pro"/>
              </a:rPr>
              <a:t>Human-Guided Machine Learning</a:t>
            </a:r>
            <a:endParaRPr b="1" i="0" sz="1200" u="none" cap="none" strike="noStrike">
              <a:solidFill>
                <a:schemeClr val="lt1"/>
              </a:solidFill>
              <a:latin typeface="Source Sans Pro"/>
              <a:ea typeface="Source Sans Pro"/>
              <a:cs typeface="Source Sans Pro"/>
              <a:sym typeface="Source Sans Pro"/>
            </a:endParaRPr>
          </a:p>
        </p:txBody>
      </p:sp>
      <p:pic>
        <p:nvPicPr>
          <p:cNvPr id="685" name="Google Shape;685;p78"/>
          <p:cNvPicPr preferRelativeResize="0"/>
          <p:nvPr/>
        </p:nvPicPr>
        <p:blipFill rotWithShape="1">
          <a:blip r:embed="rId3">
            <a:alphaModFix/>
          </a:blip>
          <a:srcRect b="0" l="0" r="0" t="0"/>
          <a:stretch/>
        </p:blipFill>
        <p:spPr>
          <a:xfrm>
            <a:off x="6617425" y="2667099"/>
            <a:ext cx="597131" cy="479860"/>
          </a:xfrm>
          <a:prstGeom prst="rect">
            <a:avLst/>
          </a:prstGeom>
          <a:noFill/>
          <a:ln>
            <a:noFill/>
          </a:ln>
        </p:spPr>
      </p:pic>
      <p:sp>
        <p:nvSpPr>
          <p:cNvPr id="686" name="Google Shape;686;p78"/>
          <p:cNvSpPr/>
          <p:nvPr/>
        </p:nvSpPr>
        <p:spPr>
          <a:xfrm>
            <a:off x="609625" y="4031257"/>
            <a:ext cx="2463300" cy="800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rtl="0" algn="ctr">
              <a:spcBef>
                <a:spcPts val="0"/>
              </a:spcBef>
              <a:spcAft>
                <a:spcPts val="0"/>
              </a:spcAft>
              <a:buClr>
                <a:srgbClr val="000000"/>
              </a:buClr>
              <a:buSzPts val="1000"/>
              <a:buFont typeface="Arial"/>
              <a:buNone/>
            </a:pPr>
            <a:r>
              <a:t/>
            </a:r>
            <a:endParaRPr sz="11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Source Sans Pro"/>
                <a:ea typeface="Source Sans Pro"/>
                <a:cs typeface="Source Sans Pro"/>
                <a:sym typeface="Source Sans Pro"/>
              </a:rPr>
              <a:t> </a:t>
            </a:r>
            <a:endParaRPr/>
          </a:p>
        </p:txBody>
      </p:sp>
      <p:sp>
        <p:nvSpPr>
          <p:cNvPr id="687" name="Google Shape;687;p78"/>
          <p:cNvSpPr/>
          <p:nvPr/>
        </p:nvSpPr>
        <p:spPr>
          <a:xfrm>
            <a:off x="3188125" y="4031131"/>
            <a:ext cx="2463300" cy="800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rtl="0" algn="l">
              <a:spcBef>
                <a:spcPts val="0"/>
              </a:spcBef>
              <a:spcAft>
                <a:spcPts val="0"/>
              </a:spcAft>
              <a:buClr>
                <a:srgbClr val="000000"/>
              </a:buClr>
              <a:buSzPts val="1000"/>
              <a:buFont typeface="Arial"/>
              <a:buNone/>
            </a:pPr>
            <a:r>
              <a:t/>
            </a:r>
            <a:endParaRPr b="1" sz="1100">
              <a:solidFill>
                <a:schemeClr val="dk1"/>
              </a:solidFill>
              <a:latin typeface="Source Sans Pro"/>
              <a:ea typeface="Source Sans Pro"/>
              <a:cs typeface="Source Sans Pro"/>
              <a:sym typeface="Source Sans Pro"/>
            </a:endParaRPr>
          </a:p>
        </p:txBody>
      </p:sp>
      <p:sp>
        <p:nvSpPr>
          <p:cNvPr id="688" name="Google Shape;688;p78"/>
          <p:cNvSpPr/>
          <p:nvPr/>
        </p:nvSpPr>
        <p:spPr>
          <a:xfrm>
            <a:off x="5766625" y="4030654"/>
            <a:ext cx="2676300" cy="800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rtl="0" algn="ctr">
              <a:spcBef>
                <a:spcPts val="0"/>
              </a:spcBef>
              <a:spcAft>
                <a:spcPts val="0"/>
              </a:spcAft>
              <a:buClr>
                <a:srgbClr val="000000"/>
              </a:buClr>
              <a:buSzPts val="1000"/>
              <a:buFont typeface="Arial"/>
              <a:buNone/>
            </a:pPr>
            <a:r>
              <a:t/>
            </a:r>
            <a:endParaRPr sz="11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100"/>
              <a:buFont typeface="Arial"/>
              <a:buNone/>
            </a:pPr>
            <a:r>
              <a:t/>
            </a:r>
            <a:endParaRPr b="1" sz="1100">
              <a:solidFill>
                <a:schemeClr val="dk1"/>
              </a:solidFill>
              <a:latin typeface="Source Sans Pro"/>
              <a:ea typeface="Source Sans Pro"/>
              <a:cs typeface="Source Sans Pro"/>
              <a:sym typeface="Source Sans Pro"/>
            </a:endParaRPr>
          </a:p>
        </p:txBody>
      </p:sp>
      <p:sp>
        <p:nvSpPr>
          <p:cNvPr id="689" name="Google Shape;689;p78"/>
          <p:cNvSpPr txBox="1"/>
          <p:nvPr/>
        </p:nvSpPr>
        <p:spPr>
          <a:xfrm>
            <a:off x="609625" y="4038029"/>
            <a:ext cx="2463300" cy="785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rgbClr val="000000"/>
              </a:buClr>
              <a:buSzPts val="1100"/>
              <a:buFont typeface="Arial"/>
              <a:buNone/>
            </a:pPr>
            <a:r>
              <a:rPr b="1" lang="en" sz="1200">
                <a:solidFill>
                  <a:schemeClr val="dk1"/>
                </a:solidFill>
                <a:latin typeface="Source Sans Pro"/>
                <a:ea typeface="Source Sans Pro"/>
                <a:cs typeface="Source Sans Pro"/>
                <a:sym typeface="Source Sans Pro"/>
              </a:rPr>
              <a:t>Improved Match Accuracy</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rPr lang="en" sz="1100">
                <a:solidFill>
                  <a:schemeClr val="dk1"/>
                </a:solidFill>
                <a:latin typeface="Source Sans Pro"/>
                <a:ea typeface="Source Sans Pro"/>
                <a:cs typeface="Source Sans Pro"/>
                <a:sym typeface="Source Sans Pro"/>
              </a:rPr>
              <a:t>Increased trust in the accuracy of customer data through human guided ML </a:t>
            </a:r>
            <a:endParaRPr sz="1200">
              <a:solidFill>
                <a:schemeClr val="dk1"/>
              </a:solidFill>
              <a:latin typeface="Source Sans Pro"/>
              <a:ea typeface="Source Sans Pro"/>
              <a:cs typeface="Source Sans Pro"/>
              <a:sym typeface="Source Sans Pro"/>
            </a:endParaRPr>
          </a:p>
        </p:txBody>
      </p:sp>
      <p:sp>
        <p:nvSpPr>
          <p:cNvPr id="690" name="Google Shape;690;p78"/>
          <p:cNvSpPr txBox="1"/>
          <p:nvPr/>
        </p:nvSpPr>
        <p:spPr>
          <a:xfrm>
            <a:off x="3188125" y="4041354"/>
            <a:ext cx="2463300" cy="8004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rgbClr val="000000"/>
              </a:buClr>
              <a:buSzPts val="1000"/>
              <a:buFont typeface="Arial"/>
              <a:buNone/>
            </a:pPr>
            <a:r>
              <a:rPr lang="en" sz="1200">
                <a:solidFill>
                  <a:schemeClr val="dk1"/>
                </a:solidFill>
                <a:latin typeface="Source Sans Pro"/>
                <a:ea typeface="Source Sans Pro"/>
                <a:cs typeface="Source Sans Pro"/>
                <a:sym typeface="Source Sans Pro"/>
              </a:rPr>
              <a:t> </a:t>
            </a:r>
            <a:r>
              <a:rPr b="1" lang="en" sz="1200">
                <a:solidFill>
                  <a:schemeClr val="dk1"/>
                </a:solidFill>
                <a:latin typeface="Source Sans Pro"/>
                <a:ea typeface="Source Sans Pro"/>
                <a:cs typeface="Source Sans Pro"/>
                <a:sym typeface="Source Sans Pro"/>
              </a:rPr>
              <a:t>Lower Total Cost of Ownership</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rPr lang="en" sz="1100">
                <a:solidFill>
                  <a:schemeClr val="dk1"/>
                </a:solidFill>
                <a:latin typeface="Source Sans Pro"/>
                <a:ea typeface="Source Sans Pro"/>
                <a:cs typeface="Source Sans Pro"/>
                <a:sym typeface="Source Sans Pro"/>
              </a:rPr>
              <a:t>90% reduction in manual effort vs. rules based approaches</a:t>
            </a:r>
            <a:endParaRPr b="1" sz="1100">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t/>
            </a:r>
            <a:endParaRPr sz="1200">
              <a:solidFill>
                <a:schemeClr val="dk1"/>
              </a:solidFill>
              <a:latin typeface="Source Sans Pro"/>
              <a:ea typeface="Source Sans Pro"/>
              <a:cs typeface="Source Sans Pro"/>
              <a:sym typeface="Source Sans Pro"/>
            </a:endParaRPr>
          </a:p>
        </p:txBody>
      </p:sp>
      <p:sp>
        <p:nvSpPr>
          <p:cNvPr id="691" name="Google Shape;691;p78"/>
          <p:cNvSpPr txBox="1"/>
          <p:nvPr/>
        </p:nvSpPr>
        <p:spPr>
          <a:xfrm>
            <a:off x="5766625" y="4055704"/>
            <a:ext cx="2676300" cy="615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rgbClr val="000000"/>
              </a:buClr>
              <a:buSzPts val="1100"/>
              <a:buFont typeface="Arial"/>
              <a:buNone/>
            </a:pPr>
            <a:r>
              <a:rPr b="1" lang="en" sz="1200">
                <a:solidFill>
                  <a:schemeClr val="dk1"/>
                </a:solidFill>
                <a:latin typeface="Source Sans Pro"/>
                <a:ea typeface="Source Sans Pro"/>
                <a:cs typeface="Source Sans Pro"/>
                <a:sym typeface="Source Sans Pro"/>
              </a:rPr>
              <a:t>Scale &amp; Flexibility as Needs Change</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Clr>
                <a:srgbClr val="000000"/>
              </a:buClr>
              <a:buSzPts val="1000"/>
              <a:buFont typeface="Arial"/>
              <a:buNone/>
            </a:pPr>
            <a:r>
              <a:rPr lang="en" sz="1100">
                <a:solidFill>
                  <a:schemeClr val="dk1"/>
                </a:solidFill>
                <a:latin typeface="Source Sans Pro"/>
                <a:ea typeface="Source Sans Pro"/>
                <a:cs typeface="Source Sans Pro"/>
                <a:sym typeface="Source Sans Pro"/>
              </a:rPr>
              <a:t>Built to be Interoperable with a cloud-first, best of breed approach to architecture</a:t>
            </a:r>
            <a:endParaRPr b="1" sz="1100">
              <a:solidFill>
                <a:schemeClr val="dk1"/>
              </a:solidFill>
              <a:latin typeface="Source Sans Pro"/>
              <a:ea typeface="Source Sans Pro"/>
              <a:cs typeface="Source Sans Pro"/>
              <a:sym typeface="Source Sans Pro"/>
            </a:endParaRPr>
          </a:p>
        </p:txBody>
      </p:sp>
      <p:pic>
        <p:nvPicPr>
          <p:cNvPr id="692" name="Google Shape;692;p78"/>
          <p:cNvPicPr preferRelativeResize="0"/>
          <p:nvPr/>
        </p:nvPicPr>
        <p:blipFill>
          <a:blip r:embed="rId4">
            <a:alphaModFix/>
          </a:blip>
          <a:stretch>
            <a:fillRect/>
          </a:stretch>
        </p:blipFill>
        <p:spPr>
          <a:xfrm>
            <a:off x="2009638" y="2672710"/>
            <a:ext cx="405676" cy="468628"/>
          </a:xfrm>
          <a:prstGeom prst="rect">
            <a:avLst/>
          </a:prstGeom>
          <a:noFill/>
          <a:ln>
            <a:noFill/>
          </a:ln>
        </p:spPr>
      </p:pic>
      <p:pic>
        <p:nvPicPr>
          <p:cNvPr id="693" name="Google Shape;693;p78"/>
          <p:cNvPicPr preferRelativeResize="0"/>
          <p:nvPr/>
        </p:nvPicPr>
        <p:blipFill rotWithShape="1">
          <a:blip r:embed="rId5">
            <a:alphaModFix/>
          </a:blip>
          <a:srcRect b="0" l="5705" r="9528" t="0"/>
          <a:stretch/>
        </p:blipFill>
        <p:spPr>
          <a:xfrm>
            <a:off x="3543737" y="2407300"/>
            <a:ext cx="2058699" cy="904524"/>
          </a:xfrm>
          <a:prstGeom prst="rect">
            <a:avLst/>
          </a:prstGeom>
          <a:noFill/>
          <a:ln>
            <a:noFill/>
          </a:ln>
        </p:spPr>
      </p:pic>
      <p:sp>
        <p:nvSpPr>
          <p:cNvPr id="694" name="Google Shape;694;p78"/>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695" name="Google Shape;695;p78"/>
          <p:cNvGrpSpPr/>
          <p:nvPr/>
        </p:nvGrpSpPr>
        <p:grpSpPr>
          <a:xfrm>
            <a:off x="2172263" y="3485425"/>
            <a:ext cx="4602100" cy="369300"/>
            <a:chOff x="1636125" y="-564175"/>
            <a:chExt cx="4602100" cy="369300"/>
          </a:xfrm>
        </p:grpSpPr>
        <p:sp>
          <p:nvSpPr>
            <p:cNvPr id="696" name="Google Shape;696;p78"/>
            <p:cNvSpPr/>
            <p:nvPr/>
          </p:nvSpPr>
          <p:spPr>
            <a:xfrm>
              <a:off x="1636125" y="-543925"/>
              <a:ext cx="4525800" cy="328800"/>
            </a:xfrm>
            <a:prstGeom prst="roundRect">
              <a:avLst>
                <a:gd fmla="val 16667" name="adj"/>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8"/>
            <p:cNvSpPr txBox="1"/>
            <p:nvPr/>
          </p:nvSpPr>
          <p:spPr>
            <a:xfrm>
              <a:off x="2122825" y="-564175"/>
              <a:ext cx="4115400" cy="369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Source Sans Pro"/>
                  <a:ea typeface="Source Sans Pro"/>
                  <a:cs typeface="Source Sans Pro"/>
                  <a:sym typeface="Source Sans Pro"/>
                </a:rPr>
                <a:t>Human-Guided Machine Learning</a:t>
              </a:r>
              <a:endParaRPr>
                <a:latin typeface="Source Sans Pro"/>
                <a:ea typeface="Source Sans Pro"/>
                <a:cs typeface="Source Sans Pro"/>
                <a:sym typeface="Source Sans Pro"/>
              </a:endParaRPr>
            </a:p>
          </p:txBody>
        </p:sp>
        <p:pic>
          <p:nvPicPr>
            <p:cNvPr id="698" name="Google Shape;698;p78"/>
            <p:cNvPicPr preferRelativeResize="0"/>
            <p:nvPr/>
          </p:nvPicPr>
          <p:blipFill rotWithShape="1">
            <a:blip r:embed="rId6">
              <a:alphaModFix/>
            </a:blip>
            <a:srcRect b="0" l="0" r="0" t="0"/>
            <a:stretch/>
          </p:blipFill>
          <p:spPr>
            <a:xfrm>
              <a:off x="2797360" y="-469528"/>
              <a:ext cx="179999" cy="179999"/>
            </a:xfrm>
            <a:prstGeom prst="rect">
              <a:avLst/>
            </a:prstGeom>
            <a:noFill/>
            <a:ln>
              <a:noFill/>
            </a:ln>
          </p:spPr>
        </p:pic>
      </p:grpSp>
      <p:sp>
        <p:nvSpPr>
          <p:cNvPr id="699" name="Google Shape;699;p78"/>
          <p:cNvSpPr txBox="1"/>
          <p:nvPr/>
        </p:nvSpPr>
        <p:spPr>
          <a:xfrm>
            <a:off x="2369663" y="813900"/>
            <a:ext cx="4115400" cy="369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Source Sans Pro"/>
                <a:ea typeface="Source Sans Pro"/>
                <a:cs typeface="Source Sans Pro"/>
                <a:sym typeface="Source Sans Pro"/>
              </a:rPr>
              <a:t>Human-Guided Machine Learning</a:t>
            </a:r>
            <a:endParaRPr>
              <a:latin typeface="Source Sans Pro"/>
              <a:ea typeface="Source Sans Pro"/>
              <a:cs typeface="Source Sans Pro"/>
              <a:sym typeface="Source Sans Pro"/>
            </a:endParaRPr>
          </a:p>
        </p:txBody>
      </p:sp>
      <p:grpSp>
        <p:nvGrpSpPr>
          <p:cNvPr id="700" name="Google Shape;700;p78"/>
          <p:cNvGrpSpPr/>
          <p:nvPr/>
        </p:nvGrpSpPr>
        <p:grpSpPr>
          <a:xfrm>
            <a:off x="2125213" y="813900"/>
            <a:ext cx="4525900" cy="369300"/>
            <a:chOff x="1559925" y="-564175"/>
            <a:chExt cx="4525900" cy="369300"/>
          </a:xfrm>
        </p:grpSpPr>
        <p:sp>
          <p:nvSpPr>
            <p:cNvPr id="701" name="Google Shape;701;p78"/>
            <p:cNvSpPr/>
            <p:nvPr/>
          </p:nvSpPr>
          <p:spPr>
            <a:xfrm>
              <a:off x="1559925" y="-543925"/>
              <a:ext cx="4525800" cy="328800"/>
            </a:xfrm>
            <a:prstGeom prst="roundRect">
              <a:avLst>
                <a:gd fmla="val 16667" name="adj"/>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8"/>
            <p:cNvSpPr txBox="1"/>
            <p:nvPr/>
          </p:nvSpPr>
          <p:spPr>
            <a:xfrm>
              <a:off x="1970425" y="-564175"/>
              <a:ext cx="4115400" cy="369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Source Sans Pro"/>
                  <a:ea typeface="Source Sans Pro"/>
                  <a:cs typeface="Source Sans Pro"/>
                  <a:sym typeface="Source Sans Pro"/>
                </a:rPr>
                <a:t>360° View of  Organizational Customers</a:t>
              </a:r>
              <a:endParaRPr>
                <a:latin typeface="Source Sans Pro"/>
                <a:ea typeface="Source Sans Pro"/>
                <a:cs typeface="Source Sans Pro"/>
                <a:sym typeface="Source Sans Pr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9"/>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Source Sans Pro"/>
                <a:ea typeface="Source Sans Pro"/>
                <a:cs typeface="Source Sans Pro"/>
                <a:sym typeface="Source Sans Pro"/>
              </a:rPr>
              <a:t>Delivering Business Outcomes</a:t>
            </a:r>
            <a:endParaRPr b="1" sz="2400">
              <a:latin typeface="Source Sans Pro"/>
              <a:ea typeface="Source Sans Pro"/>
              <a:cs typeface="Source Sans Pro"/>
              <a:sym typeface="Source Sans Pro"/>
            </a:endParaRPr>
          </a:p>
        </p:txBody>
      </p:sp>
      <p:sp>
        <p:nvSpPr>
          <p:cNvPr id="708" name="Google Shape;708;p79"/>
          <p:cNvSpPr txBox="1"/>
          <p:nvPr/>
        </p:nvSpPr>
        <p:spPr>
          <a:xfrm>
            <a:off x="984963" y="1422063"/>
            <a:ext cx="1395000" cy="5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Financial Services</a:t>
            </a:r>
            <a:endParaRPr b="1" sz="1200">
              <a:solidFill>
                <a:schemeClr val="dk1"/>
              </a:solidFill>
              <a:latin typeface="Source Sans Pro"/>
              <a:ea typeface="Source Sans Pro"/>
              <a:cs typeface="Source Sans Pro"/>
              <a:sym typeface="Source Sans Pro"/>
            </a:endParaRPr>
          </a:p>
        </p:txBody>
      </p:sp>
      <p:sp>
        <p:nvSpPr>
          <p:cNvPr id="709" name="Google Shape;709;p79"/>
          <p:cNvSpPr txBox="1"/>
          <p:nvPr/>
        </p:nvSpPr>
        <p:spPr>
          <a:xfrm>
            <a:off x="4918981" y="1426464"/>
            <a:ext cx="1461600" cy="5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Manufacturing</a:t>
            </a:r>
            <a:endParaRPr b="1" sz="1200">
              <a:solidFill>
                <a:schemeClr val="dk1"/>
              </a:solidFill>
              <a:latin typeface="Source Sans Pro"/>
              <a:ea typeface="Source Sans Pro"/>
              <a:cs typeface="Source Sans Pro"/>
              <a:sym typeface="Source Sans Pro"/>
            </a:endParaRPr>
          </a:p>
        </p:txBody>
      </p:sp>
      <p:sp>
        <p:nvSpPr>
          <p:cNvPr id="710" name="Google Shape;710;p79"/>
          <p:cNvSpPr txBox="1"/>
          <p:nvPr/>
        </p:nvSpPr>
        <p:spPr>
          <a:xfrm>
            <a:off x="6901898" y="1433181"/>
            <a:ext cx="1303200" cy="5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Entertainment</a:t>
            </a:r>
            <a:endParaRPr b="1" sz="1200">
              <a:solidFill>
                <a:schemeClr val="dk1"/>
              </a:solidFill>
              <a:latin typeface="Source Sans Pro"/>
              <a:ea typeface="Source Sans Pro"/>
              <a:cs typeface="Source Sans Pro"/>
              <a:sym typeface="Source Sans Pro"/>
            </a:endParaRPr>
          </a:p>
        </p:txBody>
      </p:sp>
      <p:sp>
        <p:nvSpPr>
          <p:cNvPr id="711" name="Google Shape;711;p79"/>
          <p:cNvSpPr txBox="1"/>
          <p:nvPr/>
        </p:nvSpPr>
        <p:spPr>
          <a:xfrm>
            <a:off x="0" y="917950"/>
            <a:ext cx="9144000" cy="39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Source Sans Pro"/>
                <a:ea typeface="Source Sans Pro"/>
                <a:cs typeface="Source Sans Pro"/>
                <a:sym typeface="Source Sans Pro"/>
              </a:rPr>
              <a:t>Leveraging mastered customer data to </a:t>
            </a:r>
            <a:r>
              <a:rPr b="1" lang="en" sz="1600">
                <a:solidFill>
                  <a:schemeClr val="dk1"/>
                </a:solidFill>
                <a:latin typeface="Source Sans Pro"/>
                <a:ea typeface="Source Sans Pro"/>
                <a:cs typeface="Source Sans Pro"/>
                <a:sym typeface="Source Sans Pro"/>
              </a:rPr>
              <a:t>drive growth</a:t>
            </a:r>
            <a:r>
              <a:rPr lang="en" sz="1600">
                <a:solidFill>
                  <a:schemeClr val="dk1"/>
                </a:solidFill>
                <a:latin typeface="Source Sans Pro"/>
                <a:ea typeface="Source Sans Pro"/>
                <a:cs typeface="Source Sans Pro"/>
                <a:sym typeface="Source Sans Pro"/>
              </a:rPr>
              <a:t>, </a:t>
            </a:r>
            <a:r>
              <a:rPr b="1" lang="en" sz="1600">
                <a:solidFill>
                  <a:schemeClr val="dk1"/>
                </a:solidFill>
                <a:latin typeface="Source Sans Pro"/>
                <a:ea typeface="Source Sans Pro"/>
                <a:cs typeface="Source Sans Pro"/>
                <a:sym typeface="Source Sans Pro"/>
              </a:rPr>
              <a:t>reduce risk</a:t>
            </a:r>
            <a:r>
              <a:rPr lang="en" sz="1600">
                <a:solidFill>
                  <a:schemeClr val="dk1"/>
                </a:solidFill>
                <a:latin typeface="Source Sans Pro"/>
                <a:ea typeface="Source Sans Pro"/>
                <a:cs typeface="Source Sans Pro"/>
                <a:sym typeface="Source Sans Pro"/>
              </a:rPr>
              <a:t>, and </a:t>
            </a:r>
            <a:r>
              <a:rPr b="1" lang="en" sz="1600">
                <a:solidFill>
                  <a:schemeClr val="dk1"/>
                </a:solidFill>
                <a:latin typeface="Source Sans Pro"/>
                <a:ea typeface="Source Sans Pro"/>
                <a:cs typeface="Source Sans Pro"/>
                <a:sym typeface="Source Sans Pro"/>
              </a:rPr>
              <a:t>lower spend</a:t>
            </a:r>
            <a:r>
              <a:rPr lang="en" sz="1600">
                <a:solidFill>
                  <a:schemeClr val="dk1"/>
                </a:solidFill>
                <a:latin typeface="Source Sans Pro"/>
                <a:ea typeface="Source Sans Pro"/>
                <a:cs typeface="Source Sans Pro"/>
                <a:sym typeface="Source Sans Pro"/>
              </a:rPr>
              <a:t>.</a:t>
            </a:r>
            <a:endParaRPr sz="1600">
              <a:solidFill>
                <a:schemeClr val="dk1"/>
              </a:solidFill>
              <a:latin typeface="Source Sans Pro"/>
              <a:ea typeface="Source Sans Pro"/>
              <a:cs typeface="Source Sans Pro"/>
              <a:sym typeface="Source Sans Pro"/>
            </a:endParaRPr>
          </a:p>
        </p:txBody>
      </p:sp>
      <p:sp>
        <p:nvSpPr>
          <p:cNvPr id="712" name="Google Shape;712;p79"/>
          <p:cNvSpPr/>
          <p:nvPr/>
        </p:nvSpPr>
        <p:spPr>
          <a:xfrm>
            <a:off x="4872958" y="2776159"/>
            <a:ext cx="1553700" cy="115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b="1" i="0" lang="en" sz="1200" u="none" cap="none" strike="noStrike">
                <a:solidFill>
                  <a:schemeClr val="dk1"/>
                </a:solidFill>
                <a:latin typeface="Source Sans Pro"/>
                <a:ea typeface="Source Sans Pro"/>
                <a:cs typeface="Source Sans Pro"/>
                <a:sym typeface="Source Sans Pro"/>
              </a:rPr>
              <a:t>Customer </a:t>
            </a:r>
            <a:r>
              <a:rPr b="1" lang="en" sz="1200">
                <a:solidFill>
                  <a:schemeClr val="dk1"/>
                </a:solidFill>
                <a:latin typeface="Source Sans Pro"/>
                <a:ea typeface="Source Sans Pro"/>
                <a:cs typeface="Source Sans Pro"/>
                <a:sym typeface="Source Sans Pro"/>
              </a:rPr>
              <a:t>360</a:t>
            </a:r>
            <a:endParaRPr sz="12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Font typeface="Arial"/>
              <a:buNone/>
            </a:pPr>
            <a:r>
              <a:rPr lang="en" sz="1000">
                <a:solidFill>
                  <a:schemeClr val="dk1"/>
                </a:solidFill>
                <a:latin typeface="Source Sans Pro"/>
                <a:ea typeface="Source Sans Pro"/>
                <a:cs typeface="Source Sans Pro"/>
                <a:sym typeface="Source Sans Pro"/>
              </a:rPr>
              <a:t>Unified</a:t>
            </a:r>
            <a:r>
              <a:rPr i="0" lang="en" sz="1000" u="none" cap="none" strike="noStrike">
                <a:solidFill>
                  <a:schemeClr val="dk1"/>
                </a:solidFill>
                <a:latin typeface="Source Sans Pro"/>
                <a:ea typeface="Source Sans Pro"/>
                <a:cs typeface="Source Sans Pro"/>
                <a:sym typeface="Source Sans Pro"/>
              </a:rPr>
              <a:t> buyer profiles across dealership systems in 30+</a:t>
            </a:r>
            <a:r>
              <a:rPr lang="en" sz="1000">
                <a:solidFill>
                  <a:schemeClr val="dk1"/>
                </a:solidFill>
                <a:latin typeface="Source Sans Pro"/>
                <a:ea typeface="Source Sans Pro"/>
                <a:cs typeface="Source Sans Pro"/>
                <a:sym typeface="Source Sans Pro"/>
              </a:rPr>
              <a:t> </a:t>
            </a:r>
            <a:r>
              <a:rPr i="0" lang="en" sz="1000" u="none" cap="none" strike="noStrike">
                <a:solidFill>
                  <a:schemeClr val="dk1"/>
                </a:solidFill>
                <a:latin typeface="Source Sans Pro"/>
                <a:ea typeface="Source Sans Pro"/>
                <a:cs typeface="Source Sans Pro"/>
                <a:sym typeface="Source Sans Pro"/>
              </a:rPr>
              <a:t>geo</a:t>
            </a:r>
            <a:r>
              <a:rPr lang="en" sz="1000">
                <a:solidFill>
                  <a:schemeClr val="dk1"/>
                </a:solidFill>
                <a:latin typeface="Source Sans Pro"/>
                <a:ea typeface="Source Sans Pro"/>
                <a:cs typeface="Source Sans Pro"/>
                <a:sym typeface="Source Sans Pro"/>
              </a:rPr>
              <a:t>s to improve customer experience.</a:t>
            </a:r>
            <a:endParaRPr sz="1000">
              <a:solidFill>
                <a:schemeClr val="dk1"/>
              </a:solidFill>
              <a:latin typeface="Source Sans Pro"/>
              <a:ea typeface="Source Sans Pro"/>
              <a:cs typeface="Source Sans Pro"/>
              <a:sym typeface="Source Sans Pro"/>
            </a:endParaRPr>
          </a:p>
        </p:txBody>
      </p:sp>
      <p:pic>
        <p:nvPicPr>
          <p:cNvPr id="713" name="Google Shape;713;p79"/>
          <p:cNvPicPr preferRelativeResize="0"/>
          <p:nvPr/>
        </p:nvPicPr>
        <p:blipFill>
          <a:blip r:embed="rId3">
            <a:alphaModFix/>
          </a:blip>
          <a:stretch>
            <a:fillRect/>
          </a:stretch>
        </p:blipFill>
        <p:spPr>
          <a:xfrm>
            <a:off x="5351793" y="2233366"/>
            <a:ext cx="596000" cy="455532"/>
          </a:xfrm>
          <a:prstGeom prst="rect">
            <a:avLst/>
          </a:prstGeom>
          <a:noFill/>
          <a:ln>
            <a:noFill/>
          </a:ln>
        </p:spPr>
      </p:pic>
      <p:pic>
        <p:nvPicPr>
          <p:cNvPr id="714" name="Google Shape;714;p79"/>
          <p:cNvPicPr preferRelativeResize="0"/>
          <p:nvPr/>
        </p:nvPicPr>
        <p:blipFill>
          <a:blip r:embed="rId4">
            <a:alphaModFix/>
          </a:blip>
          <a:stretch>
            <a:fillRect/>
          </a:stretch>
        </p:blipFill>
        <p:spPr>
          <a:xfrm>
            <a:off x="7182988" y="2264045"/>
            <a:ext cx="741020" cy="373499"/>
          </a:xfrm>
          <a:prstGeom prst="rect">
            <a:avLst/>
          </a:prstGeom>
          <a:noFill/>
          <a:ln>
            <a:noFill/>
          </a:ln>
        </p:spPr>
      </p:pic>
      <p:sp>
        <p:nvSpPr>
          <p:cNvPr id="715" name="Google Shape;715;p79"/>
          <p:cNvSpPr/>
          <p:nvPr/>
        </p:nvSpPr>
        <p:spPr>
          <a:xfrm>
            <a:off x="6822698" y="2776159"/>
            <a:ext cx="1461600" cy="65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b="1" lang="en" sz="1200">
                <a:solidFill>
                  <a:schemeClr val="dk1"/>
                </a:solidFill>
                <a:latin typeface="Source Sans Pro"/>
                <a:ea typeface="Source Sans Pro"/>
                <a:cs typeface="Source Sans Pro"/>
                <a:sym typeface="Source Sans Pro"/>
              </a:rPr>
              <a:t>Client Experience</a:t>
            </a:r>
            <a:endParaRPr sz="1200">
              <a:solidFill>
                <a:schemeClr val="dk1"/>
              </a:solidFill>
              <a:latin typeface="Source Sans Pro"/>
              <a:ea typeface="Source Sans Pro"/>
              <a:cs typeface="Source Sans Pro"/>
              <a:sym typeface="Source Sans Pro"/>
            </a:endParaRPr>
          </a:p>
          <a:p>
            <a:pPr indent="0" lvl="0" marL="0" rtl="0" algn="ctr">
              <a:lnSpc>
                <a:spcPct val="100000"/>
              </a:lnSpc>
              <a:spcBef>
                <a:spcPts val="0"/>
              </a:spcBef>
              <a:spcAft>
                <a:spcPts val="0"/>
              </a:spcAft>
              <a:buClr>
                <a:srgbClr val="000000"/>
              </a:buClr>
              <a:buSzPts val="1100"/>
              <a:buFont typeface="Arial"/>
              <a:buNone/>
            </a:pPr>
            <a:r>
              <a:rPr lang="en" sz="1000">
                <a:solidFill>
                  <a:schemeClr val="dk1"/>
                </a:solidFill>
                <a:latin typeface="Source Sans Pro"/>
                <a:ea typeface="Source Sans Pro"/>
                <a:cs typeface="Source Sans Pro"/>
                <a:sym typeface="Source Sans Pro"/>
              </a:rPr>
              <a:t>Connect internal client data with external datasets to uncover talent opportunities. </a:t>
            </a:r>
            <a:endParaRPr sz="1000">
              <a:solidFill>
                <a:schemeClr val="dk1"/>
              </a:solidFill>
              <a:latin typeface="Source Sans Pro"/>
              <a:ea typeface="Source Sans Pro"/>
              <a:cs typeface="Source Sans Pro"/>
              <a:sym typeface="Source Sans Pro"/>
            </a:endParaRPr>
          </a:p>
        </p:txBody>
      </p:sp>
      <p:sp>
        <p:nvSpPr>
          <p:cNvPr id="716" name="Google Shape;716;p79"/>
          <p:cNvSpPr/>
          <p:nvPr/>
        </p:nvSpPr>
        <p:spPr>
          <a:xfrm rot="5400000">
            <a:off x="1489075" y="4243372"/>
            <a:ext cx="317700" cy="221100"/>
          </a:xfrm>
          <a:prstGeom prst="triangle">
            <a:avLst>
              <a:gd fmla="val 50000" name="adj"/>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9"/>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8" name="Google Shape;718;p79"/>
          <p:cNvPicPr preferRelativeResize="0"/>
          <p:nvPr/>
        </p:nvPicPr>
        <p:blipFill rotWithShape="1">
          <a:blip r:embed="rId5">
            <a:alphaModFix/>
          </a:blip>
          <a:srcRect b="39370" l="0" r="0" t="36049"/>
          <a:stretch/>
        </p:blipFill>
        <p:spPr>
          <a:xfrm>
            <a:off x="829413" y="2283701"/>
            <a:ext cx="1553700" cy="381912"/>
          </a:xfrm>
          <a:prstGeom prst="rect">
            <a:avLst/>
          </a:prstGeom>
          <a:noFill/>
          <a:ln>
            <a:noFill/>
          </a:ln>
        </p:spPr>
      </p:pic>
      <p:sp>
        <p:nvSpPr>
          <p:cNvPr id="719" name="Google Shape;719;p79"/>
          <p:cNvSpPr txBox="1"/>
          <p:nvPr/>
        </p:nvSpPr>
        <p:spPr>
          <a:xfrm>
            <a:off x="3010535" y="1422061"/>
            <a:ext cx="1461600" cy="58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High Tech</a:t>
            </a:r>
            <a:endParaRPr b="1" sz="1200">
              <a:solidFill>
                <a:schemeClr val="dk1"/>
              </a:solidFill>
              <a:latin typeface="Source Sans Pro"/>
              <a:ea typeface="Source Sans Pro"/>
              <a:cs typeface="Source Sans Pro"/>
              <a:sym typeface="Source Sans Pro"/>
            </a:endParaRPr>
          </a:p>
        </p:txBody>
      </p:sp>
      <p:sp>
        <p:nvSpPr>
          <p:cNvPr id="720" name="Google Shape;720;p79"/>
          <p:cNvSpPr/>
          <p:nvPr/>
        </p:nvSpPr>
        <p:spPr>
          <a:xfrm>
            <a:off x="2855887" y="2776159"/>
            <a:ext cx="1770900" cy="82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b="1" lang="en" sz="1200">
                <a:solidFill>
                  <a:schemeClr val="dk1"/>
                </a:solidFill>
                <a:latin typeface="Source Sans Pro"/>
                <a:ea typeface="Source Sans Pro"/>
                <a:cs typeface="Source Sans Pro"/>
                <a:sym typeface="Source Sans Pro"/>
              </a:rPr>
              <a:t>Distributor Mastering</a:t>
            </a:r>
            <a:endParaRPr sz="12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Font typeface="Arial"/>
              <a:buNone/>
            </a:pPr>
            <a:r>
              <a:rPr lang="en" sz="1000">
                <a:solidFill>
                  <a:schemeClr val="dk1"/>
                </a:solidFill>
                <a:latin typeface="Source Sans Pro"/>
                <a:ea typeface="Source Sans Pro"/>
                <a:cs typeface="Source Sans Pro"/>
                <a:sym typeface="Source Sans Pro"/>
              </a:rPr>
              <a:t>Improved sales pipeline velocity by generating unique, comprehensive records for global distributors.</a:t>
            </a:r>
            <a:endParaRPr sz="1000">
              <a:solidFill>
                <a:schemeClr val="dk1"/>
              </a:solidFill>
              <a:latin typeface="Source Sans Pro"/>
              <a:ea typeface="Source Sans Pro"/>
              <a:cs typeface="Source Sans Pro"/>
              <a:sym typeface="Source Sans Pro"/>
            </a:endParaRPr>
          </a:p>
        </p:txBody>
      </p:sp>
      <p:pic>
        <p:nvPicPr>
          <p:cNvPr id="721" name="Google Shape;721;p79"/>
          <p:cNvPicPr preferRelativeResize="0"/>
          <p:nvPr/>
        </p:nvPicPr>
        <p:blipFill rotWithShape="1">
          <a:blip r:embed="rId6">
            <a:alphaModFix/>
          </a:blip>
          <a:srcRect b="33432" l="0" r="0" t="31728"/>
          <a:stretch/>
        </p:blipFill>
        <p:spPr>
          <a:xfrm>
            <a:off x="3180348" y="2279567"/>
            <a:ext cx="1121977" cy="390900"/>
          </a:xfrm>
          <a:prstGeom prst="rect">
            <a:avLst/>
          </a:prstGeom>
          <a:noFill/>
          <a:ln>
            <a:noFill/>
          </a:ln>
        </p:spPr>
      </p:pic>
      <p:sp>
        <p:nvSpPr>
          <p:cNvPr id="722" name="Google Shape;722;p79"/>
          <p:cNvSpPr txBox="1"/>
          <p:nvPr/>
        </p:nvSpPr>
        <p:spPr>
          <a:xfrm>
            <a:off x="1983200" y="3991600"/>
            <a:ext cx="6113400" cy="6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Tamr’s dedicated domain experts accelerate time-to-value and increase adoption across the enterprise.</a:t>
            </a:r>
            <a:endParaRPr sz="1800">
              <a:solidFill>
                <a:schemeClr val="dk1"/>
              </a:solidFill>
              <a:latin typeface="Source Sans Pro"/>
              <a:ea typeface="Source Sans Pro"/>
              <a:cs typeface="Source Sans Pro"/>
              <a:sym typeface="Source Sans Pro"/>
            </a:endParaRPr>
          </a:p>
        </p:txBody>
      </p:sp>
      <p:cxnSp>
        <p:nvCxnSpPr>
          <p:cNvPr id="723" name="Google Shape;723;p79"/>
          <p:cNvCxnSpPr/>
          <p:nvPr/>
        </p:nvCxnSpPr>
        <p:spPr>
          <a:xfrm flipH="1" rot="10800000">
            <a:off x="972150" y="2004100"/>
            <a:ext cx="7199700" cy="600"/>
          </a:xfrm>
          <a:prstGeom prst="straightConnector1">
            <a:avLst/>
          </a:prstGeom>
          <a:noFill/>
          <a:ln cap="flat" cmpd="sng" w="9525">
            <a:solidFill>
              <a:schemeClr val="dk1"/>
            </a:solidFill>
            <a:prstDash val="dot"/>
            <a:round/>
            <a:headEnd len="med" w="med" type="none"/>
            <a:tailEnd len="med" w="med" type="none"/>
          </a:ln>
        </p:spPr>
      </p:cxnSp>
      <p:sp>
        <p:nvSpPr>
          <p:cNvPr id="724" name="Google Shape;724;p79"/>
          <p:cNvSpPr txBox="1"/>
          <p:nvPr/>
        </p:nvSpPr>
        <p:spPr>
          <a:xfrm>
            <a:off x="529275" y="2776159"/>
            <a:ext cx="2154000" cy="82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b="1" lang="en" sz="1200">
                <a:solidFill>
                  <a:schemeClr val="dk1"/>
                </a:solidFill>
                <a:latin typeface="Source Sans Pro"/>
                <a:ea typeface="Source Sans Pro"/>
                <a:cs typeface="Source Sans Pro"/>
                <a:sym typeface="Source Sans Pro"/>
              </a:rPr>
              <a:t>KYC / AML</a:t>
            </a:r>
            <a:endParaRPr b="1" sz="1200">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Font typeface="Arial"/>
              <a:buNone/>
            </a:pPr>
            <a:r>
              <a:rPr lang="en" sz="1000">
                <a:solidFill>
                  <a:schemeClr val="dk1"/>
                </a:solidFill>
                <a:latin typeface="Source Sans Pro"/>
                <a:ea typeface="Source Sans Pro"/>
                <a:cs typeface="Source Sans Pro"/>
                <a:sym typeface="Source Sans Pro"/>
              </a:rPr>
              <a:t>Lowered risk and streamlined compliance reporting by matching millions of customer records across 30 data sources in under 6 mos. </a:t>
            </a:r>
            <a:endParaRPr sz="1300">
              <a:solidFill>
                <a:schemeClr val="dk1"/>
              </a:solidFill>
              <a:latin typeface="Source Sans Pro"/>
              <a:ea typeface="Source Sans Pro"/>
              <a:cs typeface="Source Sans Pro"/>
              <a:sym typeface="Source Sans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80"/>
          <p:cNvSpPr txBox="1"/>
          <p:nvPr>
            <p:ph type="title"/>
          </p:nvPr>
        </p:nvSpPr>
        <p:spPr>
          <a:xfrm>
            <a:off x="548700" y="219450"/>
            <a:ext cx="8046600" cy="58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Font typeface="Source Sans Pro"/>
              <a:buNone/>
            </a:pPr>
            <a:r>
              <a:rPr lang="en" sz="2400"/>
              <a:t>Steps To Deliver Customer </a:t>
            </a:r>
            <a:r>
              <a:rPr lang="en" sz="2400"/>
              <a:t>Success</a:t>
            </a:r>
            <a:endParaRPr sz="2400"/>
          </a:p>
        </p:txBody>
      </p:sp>
      <p:grpSp>
        <p:nvGrpSpPr>
          <p:cNvPr id="730" name="Google Shape;730;p80"/>
          <p:cNvGrpSpPr/>
          <p:nvPr/>
        </p:nvGrpSpPr>
        <p:grpSpPr>
          <a:xfrm>
            <a:off x="285458" y="993777"/>
            <a:ext cx="8573129" cy="550973"/>
            <a:chOff x="472499" y="1076446"/>
            <a:chExt cx="7841516" cy="504000"/>
          </a:xfrm>
        </p:grpSpPr>
        <p:sp>
          <p:nvSpPr>
            <p:cNvPr id="731" name="Google Shape;731;p80"/>
            <p:cNvSpPr/>
            <p:nvPr/>
          </p:nvSpPr>
          <p:spPr>
            <a:xfrm>
              <a:off x="1444615" y="1076446"/>
              <a:ext cx="6869400" cy="504000"/>
            </a:xfrm>
            <a:prstGeom prst="rect">
              <a:avLst/>
            </a:prstGeom>
            <a:solidFill>
              <a:srgbClr val="F2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Understand the </a:t>
              </a:r>
              <a:r>
                <a:rPr b="1" i="0" lang="en" sz="1200" u="none" cap="none" strike="noStrike">
                  <a:solidFill>
                    <a:schemeClr val="dk1"/>
                  </a:solidFill>
                  <a:latin typeface="Source Sans Pro"/>
                  <a:ea typeface="Source Sans Pro"/>
                  <a:cs typeface="Source Sans Pro"/>
                  <a:sym typeface="Source Sans Pro"/>
                </a:rPr>
                <a:t>strategic priorities for the business </a:t>
              </a:r>
              <a:r>
                <a:rPr b="0" i="0" lang="en" sz="1200" u="none" cap="none" strike="noStrike">
                  <a:solidFill>
                    <a:schemeClr val="dk1"/>
                  </a:solidFill>
                  <a:latin typeface="Source Sans Pro"/>
                  <a:ea typeface="Source Sans Pro"/>
                  <a:cs typeface="Source Sans Pro"/>
                  <a:sym typeface="Source Sans Pro"/>
                </a:rPr>
                <a:t>for data mastering </a:t>
              </a:r>
              <a:endParaRPr/>
            </a:p>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and how Tamr aligns to those goals to </a:t>
              </a:r>
              <a:r>
                <a:rPr b="1" i="0" lang="en" sz="1200" u="none" cap="none" strike="noStrike">
                  <a:solidFill>
                    <a:schemeClr val="dk1"/>
                  </a:solidFill>
                  <a:latin typeface="Source Sans Pro"/>
                  <a:ea typeface="Source Sans Pro"/>
                  <a:cs typeface="Source Sans Pro"/>
                  <a:sym typeface="Source Sans Pro"/>
                </a:rPr>
                <a:t>deliver value</a:t>
              </a:r>
              <a:endParaRPr/>
            </a:p>
          </p:txBody>
        </p:sp>
        <p:sp>
          <p:nvSpPr>
            <p:cNvPr id="732" name="Google Shape;732;p80"/>
            <p:cNvSpPr/>
            <p:nvPr/>
          </p:nvSpPr>
          <p:spPr>
            <a:xfrm rot="-5400000">
              <a:off x="923467" y="625477"/>
              <a:ext cx="504000" cy="1405936"/>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80"/>
          <p:cNvGrpSpPr/>
          <p:nvPr/>
        </p:nvGrpSpPr>
        <p:grpSpPr>
          <a:xfrm>
            <a:off x="285460" y="3878063"/>
            <a:ext cx="8573070" cy="550973"/>
            <a:chOff x="472501" y="3714834"/>
            <a:chExt cx="7841462" cy="504000"/>
          </a:xfrm>
        </p:grpSpPr>
        <p:sp>
          <p:nvSpPr>
            <p:cNvPr id="734" name="Google Shape;734;p80"/>
            <p:cNvSpPr/>
            <p:nvPr/>
          </p:nvSpPr>
          <p:spPr>
            <a:xfrm>
              <a:off x="3710763" y="3714834"/>
              <a:ext cx="4603200" cy="504000"/>
            </a:xfrm>
            <a:prstGeom prst="rect">
              <a:avLst/>
            </a:prstGeom>
            <a:solidFill>
              <a:srgbClr val="F2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Commercial terms are made, reviewed </a:t>
              </a:r>
              <a:endParaRPr/>
            </a:p>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and executed. </a:t>
              </a:r>
              <a:r>
                <a:rPr b="1" i="0" lang="en" sz="1200" u="none" cap="none" strike="noStrike">
                  <a:solidFill>
                    <a:schemeClr val="dk1"/>
                  </a:solidFill>
                  <a:latin typeface="Source Sans Pro"/>
                  <a:ea typeface="Source Sans Pro"/>
                  <a:cs typeface="Source Sans Pro"/>
                  <a:sym typeface="Source Sans Pro"/>
                </a:rPr>
                <a:t>Implementation begins</a:t>
              </a:r>
              <a:endParaRPr b="1" i="0" sz="1200" u="none" cap="none" strike="noStrike">
                <a:solidFill>
                  <a:schemeClr val="dk1"/>
                </a:solidFill>
                <a:latin typeface="Source Sans Pro"/>
                <a:ea typeface="Source Sans Pro"/>
                <a:cs typeface="Source Sans Pro"/>
                <a:sym typeface="Source Sans Pro"/>
              </a:endParaRPr>
            </a:p>
          </p:txBody>
        </p:sp>
        <p:sp>
          <p:nvSpPr>
            <p:cNvPr id="735" name="Google Shape;735;p80"/>
            <p:cNvSpPr/>
            <p:nvPr/>
          </p:nvSpPr>
          <p:spPr>
            <a:xfrm rot="-5400000">
              <a:off x="3272942" y="3263866"/>
              <a:ext cx="504000" cy="1405936"/>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0"/>
            <p:cNvSpPr/>
            <p:nvPr/>
          </p:nvSpPr>
          <p:spPr>
            <a:xfrm rot="5400000">
              <a:off x="1567801" y="2620134"/>
              <a:ext cx="502800" cy="2693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737" name="Google Shape;737;p80"/>
          <p:cNvGrpSpPr/>
          <p:nvPr/>
        </p:nvGrpSpPr>
        <p:grpSpPr>
          <a:xfrm>
            <a:off x="285458" y="1570635"/>
            <a:ext cx="8573129" cy="550973"/>
            <a:chOff x="472499" y="1604123"/>
            <a:chExt cx="7841516" cy="504000"/>
          </a:xfrm>
        </p:grpSpPr>
        <p:sp>
          <p:nvSpPr>
            <p:cNvPr id="738" name="Google Shape;738;p80"/>
            <p:cNvSpPr/>
            <p:nvPr/>
          </p:nvSpPr>
          <p:spPr>
            <a:xfrm>
              <a:off x="1444615" y="1604123"/>
              <a:ext cx="6869400" cy="504000"/>
            </a:xfrm>
            <a:prstGeom prst="rect">
              <a:avLst/>
            </a:prstGeom>
            <a:solidFill>
              <a:srgbClr val="F2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1200">
                  <a:solidFill>
                    <a:schemeClr val="dk1"/>
                  </a:solidFill>
                  <a:latin typeface="Source Sans Pro"/>
                  <a:ea typeface="Source Sans Pro"/>
                  <a:cs typeface="Source Sans Pro"/>
                  <a:sym typeface="Source Sans Pro"/>
                </a:rPr>
                <a:t>Align on</a:t>
              </a:r>
              <a:r>
                <a:rPr b="0" i="0" lang="en" sz="1200" u="none" cap="none" strike="noStrike">
                  <a:solidFill>
                    <a:schemeClr val="dk1"/>
                  </a:solidFill>
                  <a:latin typeface="Source Sans Pro"/>
                  <a:ea typeface="Source Sans Pro"/>
                  <a:cs typeface="Source Sans Pro"/>
                  <a:sym typeface="Source Sans Pro"/>
                </a:rPr>
                <a:t> how Tamr’s solutions – technology, architecture, </a:t>
              </a:r>
              <a:endParaRPr/>
            </a:p>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use cases and demo – </a:t>
              </a:r>
              <a:r>
                <a:rPr lang="en" sz="1200">
                  <a:solidFill>
                    <a:schemeClr val="dk1"/>
                  </a:solidFill>
                  <a:latin typeface="Source Sans Pro"/>
                  <a:ea typeface="Source Sans Pro"/>
                  <a:cs typeface="Source Sans Pro"/>
                  <a:sym typeface="Source Sans Pro"/>
                </a:rPr>
                <a:t>can be applied</a:t>
              </a:r>
              <a:r>
                <a:rPr b="1" i="0" lang="en" sz="1200" u="none" cap="none" strike="noStrike">
                  <a:solidFill>
                    <a:schemeClr val="dk1"/>
                  </a:solidFill>
                  <a:latin typeface="Source Sans Pro"/>
                  <a:ea typeface="Source Sans Pro"/>
                  <a:cs typeface="Source Sans Pro"/>
                  <a:sym typeface="Source Sans Pro"/>
                </a:rPr>
                <a:t> to solve the core challenge</a:t>
              </a:r>
              <a:endParaRPr b="1" i="0" sz="1200" u="none" cap="none" strike="noStrike">
                <a:solidFill>
                  <a:schemeClr val="dk1"/>
                </a:solidFill>
                <a:latin typeface="Source Sans Pro"/>
                <a:ea typeface="Source Sans Pro"/>
                <a:cs typeface="Source Sans Pro"/>
                <a:sym typeface="Source Sans Pro"/>
              </a:endParaRPr>
            </a:p>
          </p:txBody>
        </p:sp>
        <p:sp>
          <p:nvSpPr>
            <p:cNvPr id="739" name="Google Shape;739;p80"/>
            <p:cNvSpPr/>
            <p:nvPr/>
          </p:nvSpPr>
          <p:spPr>
            <a:xfrm rot="-5400000">
              <a:off x="1393362" y="1153154"/>
              <a:ext cx="504000" cy="1405936"/>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80"/>
            <p:cNvSpPr/>
            <p:nvPr/>
          </p:nvSpPr>
          <p:spPr>
            <a:xfrm rot="5400000">
              <a:off x="925199" y="1152023"/>
              <a:ext cx="502800" cy="1408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741" name="Google Shape;741;p80"/>
          <p:cNvGrpSpPr/>
          <p:nvPr/>
        </p:nvGrpSpPr>
        <p:grpSpPr>
          <a:xfrm>
            <a:off x="285458" y="2147493"/>
            <a:ext cx="8573151" cy="550973"/>
            <a:chOff x="472499" y="2131799"/>
            <a:chExt cx="7841536" cy="504000"/>
          </a:xfrm>
        </p:grpSpPr>
        <p:sp>
          <p:nvSpPr>
            <p:cNvPr id="742" name="Google Shape;742;p80"/>
            <p:cNvSpPr/>
            <p:nvPr/>
          </p:nvSpPr>
          <p:spPr>
            <a:xfrm>
              <a:off x="1954635" y="2131799"/>
              <a:ext cx="6359400" cy="504000"/>
            </a:xfrm>
            <a:prstGeom prst="rect">
              <a:avLst/>
            </a:prstGeom>
            <a:solidFill>
              <a:srgbClr val="F2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Outline of the </a:t>
              </a:r>
              <a:r>
                <a:rPr b="1" i="0" lang="en" sz="1200" u="none" cap="none" strike="noStrike">
                  <a:solidFill>
                    <a:schemeClr val="dk1"/>
                  </a:solidFill>
                  <a:latin typeface="Source Sans Pro"/>
                  <a:ea typeface="Source Sans Pro"/>
                  <a:cs typeface="Source Sans Pro"/>
                  <a:sym typeface="Source Sans Pro"/>
                </a:rPr>
                <a:t>quantified business impact </a:t>
              </a:r>
              <a:r>
                <a:rPr b="0" i="0" lang="en" sz="1200" u="none" cap="none" strike="noStrike">
                  <a:solidFill>
                    <a:schemeClr val="dk1"/>
                  </a:solidFill>
                  <a:latin typeface="Source Sans Pro"/>
                  <a:ea typeface="Source Sans Pro"/>
                  <a:cs typeface="Source Sans Pro"/>
                  <a:sym typeface="Source Sans Pro"/>
                </a:rPr>
                <a:t>of solving your challenges</a:t>
              </a:r>
              <a:endParaRPr b="0" i="0" sz="1200" u="none" cap="none" strike="noStrike">
                <a:solidFill>
                  <a:schemeClr val="dk1"/>
                </a:solidFill>
                <a:latin typeface="Source Sans Pro"/>
                <a:ea typeface="Source Sans Pro"/>
                <a:cs typeface="Source Sans Pro"/>
                <a:sym typeface="Source Sans Pro"/>
              </a:endParaRPr>
            </a:p>
          </p:txBody>
        </p:sp>
        <p:sp>
          <p:nvSpPr>
            <p:cNvPr id="743" name="Google Shape;743;p80"/>
            <p:cNvSpPr/>
            <p:nvPr/>
          </p:nvSpPr>
          <p:spPr>
            <a:xfrm rot="-5400000">
              <a:off x="1863257" y="1680831"/>
              <a:ext cx="504000" cy="1405936"/>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80"/>
            <p:cNvSpPr/>
            <p:nvPr/>
          </p:nvSpPr>
          <p:spPr>
            <a:xfrm rot="5400000">
              <a:off x="925199" y="1679699"/>
              <a:ext cx="502800" cy="1408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745" name="Google Shape;745;p80"/>
          <p:cNvGrpSpPr/>
          <p:nvPr/>
        </p:nvGrpSpPr>
        <p:grpSpPr>
          <a:xfrm>
            <a:off x="285323" y="2724352"/>
            <a:ext cx="8573359" cy="550973"/>
            <a:chOff x="472375" y="2659477"/>
            <a:chExt cx="7841726" cy="504000"/>
          </a:xfrm>
        </p:grpSpPr>
        <p:sp>
          <p:nvSpPr>
            <p:cNvPr id="746" name="Google Shape;746;p80"/>
            <p:cNvSpPr/>
            <p:nvPr/>
          </p:nvSpPr>
          <p:spPr>
            <a:xfrm>
              <a:off x="2818701" y="2659477"/>
              <a:ext cx="5495400" cy="504000"/>
            </a:xfrm>
            <a:prstGeom prst="rect">
              <a:avLst/>
            </a:prstGeom>
            <a:solidFill>
              <a:srgbClr val="F2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Carry out a </a:t>
              </a:r>
              <a:r>
                <a:rPr b="1" i="0" lang="en" sz="1200" u="none" cap="none" strike="noStrike">
                  <a:solidFill>
                    <a:schemeClr val="dk1"/>
                  </a:solidFill>
                  <a:latin typeface="Source Sans Pro"/>
                  <a:ea typeface="Source Sans Pro"/>
                  <a:cs typeface="Source Sans Pro"/>
                  <a:sym typeface="Source Sans Pro"/>
                </a:rPr>
                <a:t>technical </a:t>
              </a:r>
              <a:r>
                <a:rPr b="1" lang="en" sz="1200">
                  <a:solidFill>
                    <a:schemeClr val="dk1"/>
                  </a:solidFill>
                  <a:latin typeface="Source Sans Pro"/>
                  <a:ea typeface="Source Sans Pro"/>
                  <a:cs typeface="Source Sans Pro"/>
                  <a:sym typeface="Source Sans Pro"/>
                </a:rPr>
                <a:t>proof point </a:t>
              </a:r>
              <a:r>
                <a:rPr b="0" i="0" lang="en" sz="1200" u="none" cap="none" strike="noStrike">
                  <a:solidFill>
                    <a:schemeClr val="dk1"/>
                  </a:solidFill>
                  <a:latin typeface="Source Sans Pro"/>
                  <a:ea typeface="Source Sans Pro"/>
                  <a:cs typeface="Source Sans Pro"/>
                  <a:sym typeface="Source Sans Pro"/>
                </a:rPr>
                <a:t>to show Tamr’s </a:t>
              </a:r>
              <a:r>
                <a:rPr b="1" i="0" lang="en" sz="1200" u="none" cap="none" strike="noStrike">
                  <a:solidFill>
                    <a:schemeClr val="dk1"/>
                  </a:solidFill>
                  <a:latin typeface="Source Sans Pro"/>
                  <a:ea typeface="Source Sans Pro"/>
                  <a:cs typeface="Source Sans Pro"/>
                  <a:sym typeface="Source Sans Pro"/>
                </a:rPr>
                <a:t>impact on your data</a:t>
              </a:r>
              <a:endParaRPr b="1" i="0" sz="1200" u="none" cap="none" strike="noStrike">
                <a:solidFill>
                  <a:schemeClr val="dk1"/>
                </a:solidFill>
                <a:latin typeface="Source Sans Pro"/>
                <a:ea typeface="Source Sans Pro"/>
                <a:cs typeface="Source Sans Pro"/>
                <a:sym typeface="Source Sans Pro"/>
              </a:endParaRPr>
            </a:p>
          </p:txBody>
        </p:sp>
        <p:sp>
          <p:nvSpPr>
            <p:cNvPr id="747" name="Google Shape;747;p80"/>
            <p:cNvSpPr/>
            <p:nvPr/>
          </p:nvSpPr>
          <p:spPr>
            <a:xfrm rot="-5400000">
              <a:off x="2333152" y="2208509"/>
              <a:ext cx="504000" cy="1405936"/>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80"/>
            <p:cNvSpPr/>
            <p:nvPr/>
          </p:nvSpPr>
          <p:spPr>
            <a:xfrm rot="5400000">
              <a:off x="1188175" y="1944277"/>
              <a:ext cx="502800" cy="1934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749" name="Google Shape;749;p80"/>
          <p:cNvGrpSpPr/>
          <p:nvPr/>
        </p:nvGrpSpPr>
        <p:grpSpPr>
          <a:xfrm>
            <a:off x="285351" y="3301210"/>
            <a:ext cx="8573220" cy="550973"/>
            <a:chOff x="472400" y="3187160"/>
            <a:chExt cx="7841599" cy="504000"/>
          </a:xfrm>
        </p:grpSpPr>
        <p:sp>
          <p:nvSpPr>
            <p:cNvPr id="750" name="Google Shape;750;p80"/>
            <p:cNvSpPr/>
            <p:nvPr/>
          </p:nvSpPr>
          <p:spPr>
            <a:xfrm>
              <a:off x="3060699" y="3187160"/>
              <a:ext cx="5253300" cy="504000"/>
            </a:xfrm>
            <a:prstGeom prst="rect">
              <a:avLst/>
            </a:prstGeom>
            <a:solidFill>
              <a:srgbClr val="F2F3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chemeClr val="dk1"/>
                  </a:solidFill>
                  <a:latin typeface="Source Sans Pro"/>
                  <a:ea typeface="Source Sans Pro"/>
                  <a:cs typeface="Source Sans Pro"/>
                  <a:sym typeface="Source Sans Pro"/>
                </a:rPr>
                <a:t>Business and technical results </a:t>
              </a:r>
              <a:r>
                <a:rPr b="0" i="0" lang="en" sz="1200" u="none" cap="none" strike="noStrike">
                  <a:solidFill>
                    <a:schemeClr val="dk1"/>
                  </a:solidFill>
                  <a:latin typeface="Source Sans Pro"/>
                  <a:ea typeface="Source Sans Pro"/>
                  <a:cs typeface="Source Sans Pro"/>
                  <a:sym typeface="Source Sans Pro"/>
                </a:rPr>
                <a:t>are presented</a:t>
              </a:r>
              <a:endParaRPr/>
            </a:p>
            <a:p>
              <a:pPr indent="0" lvl="0" marL="0" marR="0" rtl="0" algn="ctr">
                <a:lnSpc>
                  <a:spcPct val="100000"/>
                </a:lnSpc>
                <a:spcBef>
                  <a:spcPts val="0"/>
                </a:spcBef>
                <a:spcAft>
                  <a:spcPts val="0"/>
                </a:spcAft>
                <a:buNone/>
              </a:pPr>
              <a:r>
                <a:rPr b="0" i="0" lang="en" sz="1200" u="none" cap="none" strike="noStrike">
                  <a:solidFill>
                    <a:schemeClr val="dk1"/>
                  </a:solidFill>
                  <a:latin typeface="Source Sans Pro"/>
                  <a:ea typeface="Source Sans Pro"/>
                  <a:cs typeface="Source Sans Pro"/>
                  <a:sym typeface="Source Sans Pro"/>
                </a:rPr>
                <a:t> to the key decision makers</a:t>
              </a:r>
              <a:endParaRPr b="0" i="0" sz="1200" u="none" cap="none" strike="noStrike">
                <a:solidFill>
                  <a:schemeClr val="dk1"/>
                </a:solidFill>
                <a:latin typeface="Source Sans Pro"/>
                <a:ea typeface="Source Sans Pro"/>
                <a:cs typeface="Source Sans Pro"/>
                <a:sym typeface="Source Sans Pro"/>
              </a:endParaRPr>
            </a:p>
          </p:txBody>
        </p:sp>
        <p:sp>
          <p:nvSpPr>
            <p:cNvPr id="751" name="Google Shape;751;p80"/>
            <p:cNvSpPr/>
            <p:nvPr/>
          </p:nvSpPr>
          <p:spPr>
            <a:xfrm rot="-5400000">
              <a:off x="2803047" y="2736192"/>
              <a:ext cx="504000" cy="1405936"/>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0"/>
            <p:cNvSpPr/>
            <p:nvPr/>
          </p:nvSpPr>
          <p:spPr>
            <a:xfrm rot="5400000">
              <a:off x="1274450" y="2385710"/>
              <a:ext cx="502800" cy="2106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sp>
        <p:nvSpPr>
          <p:cNvPr id="753" name="Google Shape;753;p80"/>
          <p:cNvSpPr txBox="1"/>
          <p:nvPr/>
        </p:nvSpPr>
        <p:spPr>
          <a:xfrm>
            <a:off x="368722" y="993826"/>
            <a:ext cx="1229633" cy="55099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 sz="1200">
                <a:solidFill>
                  <a:schemeClr val="lt1"/>
                </a:solidFill>
                <a:latin typeface="Source Sans Pro"/>
                <a:ea typeface="Source Sans Pro"/>
                <a:cs typeface="Source Sans Pro"/>
                <a:sym typeface="Source Sans Pro"/>
              </a:rPr>
              <a:t>Discovery</a:t>
            </a:r>
            <a:endParaRPr b="1" i="0" sz="1200" u="none" cap="none" strike="noStrike">
              <a:solidFill>
                <a:schemeClr val="lt1"/>
              </a:solidFill>
              <a:latin typeface="Source Sans Pro"/>
              <a:ea typeface="Source Sans Pro"/>
              <a:cs typeface="Source Sans Pro"/>
              <a:sym typeface="Source Sans Pro"/>
            </a:endParaRPr>
          </a:p>
        </p:txBody>
      </p:sp>
      <p:sp>
        <p:nvSpPr>
          <p:cNvPr id="754" name="Google Shape;754;p80"/>
          <p:cNvSpPr txBox="1"/>
          <p:nvPr/>
        </p:nvSpPr>
        <p:spPr>
          <a:xfrm>
            <a:off x="368724" y="1571851"/>
            <a:ext cx="1567138" cy="55099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chemeClr val="lt1"/>
                </a:solidFill>
                <a:latin typeface="Source Sans Pro"/>
                <a:ea typeface="Source Sans Pro"/>
                <a:cs typeface="Source Sans Pro"/>
                <a:sym typeface="Source Sans Pro"/>
              </a:rPr>
              <a:t>Solution Design</a:t>
            </a:r>
            <a:endParaRPr b="1" i="0" sz="1200" u="none" cap="none" strike="noStrike">
              <a:solidFill>
                <a:schemeClr val="lt1"/>
              </a:solidFill>
              <a:latin typeface="Source Sans Pro"/>
              <a:ea typeface="Source Sans Pro"/>
              <a:cs typeface="Source Sans Pro"/>
              <a:sym typeface="Source Sans Pro"/>
            </a:endParaRPr>
          </a:p>
        </p:txBody>
      </p:sp>
      <p:sp>
        <p:nvSpPr>
          <p:cNvPr id="755" name="Google Shape;755;p80"/>
          <p:cNvSpPr txBox="1"/>
          <p:nvPr/>
        </p:nvSpPr>
        <p:spPr>
          <a:xfrm>
            <a:off x="368715" y="2149916"/>
            <a:ext cx="1889138" cy="55099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chemeClr val="lt1"/>
                </a:solidFill>
                <a:latin typeface="Source Sans Pro"/>
                <a:ea typeface="Source Sans Pro"/>
                <a:cs typeface="Source Sans Pro"/>
                <a:sym typeface="Source Sans Pro"/>
              </a:rPr>
              <a:t>Preliminary Business Case</a:t>
            </a:r>
            <a:endParaRPr b="1" i="0" sz="1200" u="none" cap="none" strike="noStrike">
              <a:solidFill>
                <a:schemeClr val="lt1"/>
              </a:solidFill>
              <a:latin typeface="Source Sans Pro"/>
              <a:ea typeface="Source Sans Pro"/>
              <a:cs typeface="Source Sans Pro"/>
              <a:sym typeface="Source Sans Pro"/>
            </a:endParaRPr>
          </a:p>
        </p:txBody>
      </p:sp>
      <p:sp>
        <p:nvSpPr>
          <p:cNvPr id="756" name="Google Shape;756;p80"/>
          <p:cNvSpPr txBox="1"/>
          <p:nvPr/>
        </p:nvSpPr>
        <p:spPr>
          <a:xfrm>
            <a:off x="368732" y="2727953"/>
            <a:ext cx="2374208" cy="55099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chemeClr val="lt1"/>
                </a:solidFill>
                <a:latin typeface="Source Sans Pro"/>
                <a:ea typeface="Source Sans Pro"/>
                <a:cs typeface="Source Sans Pro"/>
                <a:sym typeface="Source Sans Pro"/>
              </a:rPr>
              <a:t>Technical Scoping</a:t>
            </a:r>
            <a:endParaRPr b="1" i="0" sz="1200" u="none" cap="none" strike="noStrike">
              <a:solidFill>
                <a:schemeClr val="lt1"/>
              </a:solidFill>
              <a:latin typeface="Source Sans Pro"/>
              <a:ea typeface="Source Sans Pro"/>
              <a:cs typeface="Source Sans Pro"/>
              <a:sym typeface="Source Sans Pro"/>
            </a:endParaRPr>
          </a:p>
        </p:txBody>
      </p:sp>
      <p:sp>
        <p:nvSpPr>
          <p:cNvPr id="757" name="Google Shape;757;p80"/>
          <p:cNvSpPr txBox="1"/>
          <p:nvPr/>
        </p:nvSpPr>
        <p:spPr>
          <a:xfrm>
            <a:off x="368730" y="3306009"/>
            <a:ext cx="2873126" cy="55099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chemeClr val="lt1"/>
                </a:solidFill>
                <a:latin typeface="Source Sans Pro"/>
                <a:ea typeface="Source Sans Pro"/>
                <a:cs typeface="Source Sans Pro"/>
                <a:sym typeface="Source Sans Pro"/>
              </a:rPr>
              <a:t>Business Value &amp; Technical Results Presentation </a:t>
            </a:r>
            <a:endParaRPr b="1" i="0" sz="1200" u="none" cap="none" strike="noStrike">
              <a:solidFill>
                <a:schemeClr val="lt1"/>
              </a:solidFill>
              <a:latin typeface="Source Sans Pro"/>
              <a:ea typeface="Source Sans Pro"/>
              <a:cs typeface="Source Sans Pro"/>
              <a:sym typeface="Source Sans Pro"/>
            </a:endParaRPr>
          </a:p>
        </p:txBody>
      </p:sp>
      <p:sp>
        <p:nvSpPr>
          <p:cNvPr id="758" name="Google Shape;758;p80"/>
          <p:cNvSpPr txBox="1"/>
          <p:nvPr/>
        </p:nvSpPr>
        <p:spPr>
          <a:xfrm>
            <a:off x="368714" y="3884054"/>
            <a:ext cx="3518783" cy="55099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200" u="none" cap="none" strike="noStrike">
                <a:solidFill>
                  <a:schemeClr val="lt1"/>
                </a:solidFill>
                <a:latin typeface="Source Sans Pro"/>
                <a:ea typeface="Source Sans Pro"/>
                <a:cs typeface="Source Sans Pro"/>
                <a:sym typeface="Source Sans Pro"/>
              </a:rPr>
              <a:t>Finalize Proposal</a:t>
            </a:r>
            <a:endParaRPr b="1" i="0" sz="1200" u="none" cap="none" strike="noStrike">
              <a:solidFill>
                <a:schemeClr val="lt1"/>
              </a:solidFill>
              <a:latin typeface="Source Sans Pro"/>
              <a:ea typeface="Source Sans Pro"/>
              <a:cs typeface="Source Sans Pro"/>
              <a:sym typeface="Source Sans Pro"/>
            </a:endParaRPr>
          </a:p>
        </p:txBody>
      </p:sp>
      <p:sp>
        <p:nvSpPr>
          <p:cNvPr id="759" name="Google Shape;759;p80"/>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81"/>
          <p:cNvSpPr txBox="1"/>
          <p:nvPr>
            <p:ph type="title"/>
          </p:nvPr>
        </p:nvSpPr>
        <p:spPr>
          <a:xfrm>
            <a:off x="545200" y="1627625"/>
            <a:ext cx="80502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latin typeface="Source Sans Pro"/>
                <a:ea typeface="Source Sans Pro"/>
                <a:cs typeface="Source Sans Pro"/>
                <a:sym typeface="Source Sans Pro"/>
              </a:rPr>
              <a:t>Appendix</a:t>
            </a:r>
            <a:endParaRPr b="1">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pic>
        <p:nvPicPr>
          <p:cNvPr id="769" name="Google Shape;769;p82"/>
          <p:cNvPicPr preferRelativeResize="0"/>
          <p:nvPr/>
        </p:nvPicPr>
        <p:blipFill rotWithShape="1">
          <a:blip r:embed="rId3">
            <a:alphaModFix/>
          </a:blip>
          <a:srcRect b="0" l="0" r="0" t="0"/>
          <a:stretch/>
        </p:blipFill>
        <p:spPr>
          <a:xfrm>
            <a:off x="0" y="-9836"/>
            <a:ext cx="3513964" cy="5153336"/>
          </a:xfrm>
          <a:prstGeom prst="rect">
            <a:avLst/>
          </a:prstGeom>
          <a:noFill/>
          <a:ln>
            <a:noFill/>
          </a:ln>
        </p:spPr>
      </p:pic>
      <p:pic>
        <p:nvPicPr>
          <p:cNvPr descr="Enterprise IT Software Reviews | Gartner Peer Insights" id="770" name="Google Shape;770;p82"/>
          <p:cNvPicPr preferRelativeResize="0"/>
          <p:nvPr/>
        </p:nvPicPr>
        <p:blipFill rotWithShape="1">
          <a:blip r:embed="rId4">
            <a:alphaModFix/>
          </a:blip>
          <a:srcRect b="0" l="0" r="0" t="0"/>
          <a:stretch/>
        </p:blipFill>
        <p:spPr>
          <a:xfrm>
            <a:off x="636512" y="813798"/>
            <a:ext cx="2340001" cy="704063"/>
          </a:xfrm>
          <a:prstGeom prst="rect">
            <a:avLst/>
          </a:prstGeom>
          <a:noFill/>
          <a:ln>
            <a:noFill/>
          </a:ln>
        </p:spPr>
      </p:pic>
      <p:pic>
        <p:nvPicPr>
          <p:cNvPr id="771" name="Google Shape;771;p82"/>
          <p:cNvPicPr preferRelativeResize="0"/>
          <p:nvPr/>
        </p:nvPicPr>
        <p:blipFill rotWithShape="1">
          <a:blip r:embed="rId5">
            <a:alphaModFix/>
          </a:blip>
          <a:srcRect b="0" l="0" r="0" t="0"/>
          <a:stretch/>
        </p:blipFill>
        <p:spPr>
          <a:xfrm>
            <a:off x="960512" y="3608232"/>
            <a:ext cx="1692000" cy="593334"/>
          </a:xfrm>
          <a:prstGeom prst="rect">
            <a:avLst/>
          </a:prstGeom>
          <a:noFill/>
          <a:ln>
            <a:noFill/>
          </a:ln>
        </p:spPr>
      </p:pic>
      <p:grpSp>
        <p:nvGrpSpPr>
          <p:cNvPr id="772" name="Google Shape;772;p82"/>
          <p:cNvGrpSpPr/>
          <p:nvPr/>
        </p:nvGrpSpPr>
        <p:grpSpPr>
          <a:xfrm>
            <a:off x="341245" y="1984177"/>
            <a:ext cx="2930535" cy="1175126"/>
            <a:chOff x="341245" y="2218723"/>
            <a:chExt cx="2930535" cy="1175126"/>
          </a:xfrm>
        </p:grpSpPr>
        <p:grpSp>
          <p:nvGrpSpPr>
            <p:cNvPr id="773" name="Google Shape;773;p82"/>
            <p:cNvGrpSpPr/>
            <p:nvPr/>
          </p:nvGrpSpPr>
          <p:grpSpPr>
            <a:xfrm>
              <a:off x="341245" y="2218723"/>
              <a:ext cx="2930535" cy="538438"/>
              <a:chOff x="341245" y="2218723"/>
              <a:chExt cx="2930535" cy="538438"/>
            </a:xfrm>
          </p:grpSpPr>
          <p:sp>
            <p:nvSpPr>
              <p:cNvPr id="774" name="Google Shape;774;p82"/>
              <p:cNvSpPr/>
              <p:nvPr/>
            </p:nvSpPr>
            <p:spPr>
              <a:xfrm>
                <a:off x="341245" y="2218723"/>
                <a:ext cx="576000" cy="528600"/>
              </a:xfrm>
              <a:prstGeom prst="star5">
                <a:avLst>
                  <a:gd fmla="val 19098" name="adj"/>
                  <a:gd fmla="val 105146" name="hf"/>
                  <a:gd fmla="val 110557" name="vf"/>
                </a:avLst>
              </a:prstGeom>
              <a:solidFill>
                <a:srgbClr val="F2C7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5" name="Google Shape;775;p82"/>
              <p:cNvSpPr/>
              <p:nvPr/>
            </p:nvSpPr>
            <p:spPr>
              <a:xfrm>
                <a:off x="2695780" y="2218723"/>
                <a:ext cx="576000" cy="528600"/>
              </a:xfrm>
              <a:prstGeom prst="star5">
                <a:avLst>
                  <a:gd fmla="val 19098" name="adj"/>
                  <a:gd fmla="val 105146" name="hf"/>
                  <a:gd fmla="val 110557" name="vf"/>
                </a:avLst>
              </a:prstGeom>
              <a:solidFill>
                <a:srgbClr val="F2C7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6" name="Google Shape;776;p82"/>
              <p:cNvSpPr/>
              <p:nvPr/>
            </p:nvSpPr>
            <p:spPr>
              <a:xfrm>
                <a:off x="929879" y="2228561"/>
                <a:ext cx="576000" cy="528600"/>
              </a:xfrm>
              <a:prstGeom prst="star5">
                <a:avLst>
                  <a:gd fmla="val 19098" name="adj"/>
                  <a:gd fmla="val 105146" name="hf"/>
                  <a:gd fmla="val 110557" name="vf"/>
                </a:avLst>
              </a:prstGeom>
              <a:solidFill>
                <a:srgbClr val="F2C7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7" name="Google Shape;777;p82"/>
              <p:cNvSpPr/>
              <p:nvPr/>
            </p:nvSpPr>
            <p:spPr>
              <a:xfrm>
                <a:off x="2107147" y="2226947"/>
                <a:ext cx="576000" cy="528600"/>
              </a:xfrm>
              <a:prstGeom prst="star5">
                <a:avLst>
                  <a:gd fmla="val 19098" name="adj"/>
                  <a:gd fmla="val 105146" name="hf"/>
                  <a:gd fmla="val 110557" name="vf"/>
                </a:avLst>
              </a:prstGeom>
              <a:solidFill>
                <a:srgbClr val="F2C7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8" name="Google Shape;778;p82"/>
              <p:cNvSpPr/>
              <p:nvPr/>
            </p:nvSpPr>
            <p:spPr>
              <a:xfrm>
                <a:off x="1518513" y="2226815"/>
                <a:ext cx="576000" cy="528600"/>
              </a:xfrm>
              <a:prstGeom prst="star5">
                <a:avLst>
                  <a:gd fmla="val 19098" name="adj"/>
                  <a:gd fmla="val 105146" name="hf"/>
                  <a:gd fmla="val 110557" name="vf"/>
                </a:avLst>
              </a:prstGeom>
              <a:solidFill>
                <a:srgbClr val="F2C71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779" name="Google Shape;779;p82"/>
            <p:cNvSpPr txBox="1"/>
            <p:nvPr/>
          </p:nvSpPr>
          <p:spPr>
            <a:xfrm>
              <a:off x="586612" y="2893732"/>
              <a:ext cx="9000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500" u="none" cap="none" strike="noStrike">
                  <a:solidFill>
                    <a:schemeClr val="lt1"/>
                  </a:solidFill>
                  <a:latin typeface="Source Sans Pro"/>
                  <a:ea typeface="Source Sans Pro"/>
                  <a:cs typeface="Source Sans Pro"/>
                  <a:sym typeface="Source Sans Pro"/>
                </a:rPr>
                <a:t>4.9</a:t>
              </a:r>
              <a:endParaRPr b="1" i="0" sz="2500" u="none" cap="none" strike="noStrike">
                <a:solidFill>
                  <a:schemeClr val="lt1"/>
                </a:solidFill>
                <a:latin typeface="Source Sans Pro"/>
                <a:ea typeface="Source Sans Pro"/>
                <a:cs typeface="Source Sans Pro"/>
                <a:sym typeface="Source Sans Pro"/>
              </a:endParaRPr>
            </a:p>
          </p:txBody>
        </p:sp>
        <p:sp>
          <p:nvSpPr>
            <p:cNvPr id="780" name="Google Shape;780;p82"/>
            <p:cNvSpPr txBox="1"/>
            <p:nvPr/>
          </p:nvSpPr>
          <p:spPr>
            <a:xfrm>
              <a:off x="1124173" y="2870649"/>
              <a:ext cx="2103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1400" u="none" cap="none" strike="noStrike">
                  <a:solidFill>
                    <a:schemeClr val="lt1"/>
                  </a:solidFill>
                  <a:latin typeface="Source Sans Pro"/>
                  <a:ea typeface="Source Sans Pro"/>
                  <a:cs typeface="Source Sans Pro"/>
                  <a:sym typeface="Source Sans Pro"/>
                </a:rPr>
                <a:t>Master Data Management Solutions</a:t>
              </a:r>
              <a:endParaRPr b="1" i="0" sz="1400" u="none" cap="none" strike="noStrike">
                <a:solidFill>
                  <a:schemeClr val="lt1"/>
                </a:solidFill>
                <a:latin typeface="Source Sans Pro"/>
                <a:ea typeface="Source Sans Pro"/>
                <a:cs typeface="Source Sans Pro"/>
                <a:sym typeface="Source Sans Pro"/>
              </a:endParaRPr>
            </a:p>
          </p:txBody>
        </p:sp>
      </p:grpSp>
      <p:sp>
        <p:nvSpPr>
          <p:cNvPr id="781" name="Google Shape;781;p82"/>
          <p:cNvSpPr txBox="1"/>
          <p:nvPr/>
        </p:nvSpPr>
        <p:spPr>
          <a:xfrm>
            <a:off x="3513965" y="307356"/>
            <a:ext cx="5630100" cy="58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 sz="2800" u="none" cap="none" strike="noStrike">
                <a:solidFill>
                  <a:schemeClr val="dk1"/>
                </a:solidFill>
                <a:latin typeface="Source Sans Pro"/>
                <a:ea typeface="Source Sans Pro"/>
                <a:cs typeface="Source Sans Pro"/>
                <a:sym typeface="Source Sans Pro"/>
              </a:rPr>
              <a:t>“Accomplished what no </a:t>
            </a:r>
            <a:endParaRPr>
              <a:solidFill>
                <a:schemeClr val="dk1"/>
              </a:solidFill>
            </a:endParaRPr>
          </a:p>
          <a:p>
            <a:pPr indent="0" lvl="0" marL="0" marR="0" rtl="0" algn="ctr">
              <a:lnSpc>
                <a:spcPct val="100000"/>
              </a:lnSpc>
              <a:spcBef>
                <a:spcPts val="0"/>
              </a:spcBef>
              <a:spcAft>
                <a:spcPts val="0"/>
              </a:spcAft>
              <a:buNone/>
            </a:pPr>
            <a:r>
              <a:rPr b="1" i="0" lang="en" sz="2800" u="none" cap="none" strike="noStrike">
                <a:solidFill>
                  <a:schemeClr val="dk1"/>
                </a:solidFill>
                <a:latin typeface="Source Sans Pro"/>
                <a:ea typeface="Source Sans Pro"/>
                <a:cs typeface="Source Sans Pro"/>
                <a:sym typeface="Source Sans Pro"/>
              </a:rPr>
              <a:t>other tool could”</a:t>
            </a:r>
            <a:endParaRPr>
              <a:solidFill>
                <a:schemeClr val="dk1"/>
              </a:solidFill>
            </a:endParaRPr>
          </a:p>
        </p:txBody>
      </p:sp>
      <p:sp>
        <p:nvSpPr>
          <p:cNvPr id="782" name="Google Shape;782;p82"/>
          <p:cNvSpPr txBox="1"/>
          <p:nvPr/>
        </p:nvSpPr>
        <p:spPr>
          <a:xfrm>
            <a:off x="3633606" y="1472777"/>
            <a:ext cx="4792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 sz="1600">
                <a:solidFill>
                  <a:schemeClr val="dk1"/>
                </a:solidFill>
                <a:latin typeface="Source Sans Pro"/>
                <a:ea typeface="Source Sans Pro"/>
                <a:cs typeface="Source Sans Pro"/>
                <a:sym typeface="Source Sans Pro"/>
              </a:rPr>
              <a:t>C</a:t>
            </a:r>
            <a:r>
              <a:rPr b="0" i="0" lang="en" sz="1600" u="none" cap="none" strike="noStrike">
                <a:solidFill>
                  <a:schemeClr val="dk1"/>
                </a:solidFill>
                <a:latin typeface="Source Sans Pro"/>
                <a:ea typeface="Source Sans Pro"/>
                <a:cs typeface="Source Sans Pro"/>
                <a:sym typeface="Source Sans Pro"/>
              </a:rPr>
              <a:t>ustomer</a:t>
            </a:r>
            <a:r>
              <a:rPr lang="en" sz="1600">
                <a:solidFill>
                  <a:schemeClr val="dk1"/>
                </a:solidFill>
                <a:latin typeface="Source Sans Pro"/>
                <a:ea typeface="Source Sans Pro"/>
                <a:cs typeface="Source Sans Pro"/>
                <a:sym typeface="Source Sans Pro"/>
              </a:rPr>
              <a:t> reviews</a:t>
            </a:r>
            <a:r>
              <a:rPr b="0" i="0" lang="en" sz="1600" u="none" cap="none" strike="noStrike">
                <a:solidFill>
                  <a:schemeClr val="dk1"/>
                </a:solidFill>
                <a:latin typeface="Source Sans Pro"/>
                <a:ea typeface="Source Sans Pro"/>
                <a:cs typeface="Source Sans Pro"/>
                <a:sym typeface="Source Sans Pro"/>
              </a:rPr>
              <a:t>:</a:t>
            </a:r>
            <a:endParaRPr>
              <a:solidFill>
                <a:schemeClr val="dk1"/>
              </a:solidFill>
            </a:endParaRPr>
          </a:p>
        </p:txBody>
      </p:sp>
      <p:sp>
        <p:nvSpPr>
          <p:cNvPr id="783" name="Google Shape;783;p82"/>
          <p:cNvSpPr/>
          <p:nvPr/>
        </p:nvSpPr>
        <p:spPr>
          <a:xfrm>
            <a:off x="5324616" y="4132441"/>
            <a:ext cx="3666900" cy="648900"/>
          </a:xfrm>
          <a:prstGeom prst="wedgeRoundRectCallout">
            <a:avLst>
              <a:gd fmla="val 20907" name="adj1"/>
              <a:gd fmla="val 74795" name="adj2"/>
              <a:gd fmla="val 0" name="adj3"/>
            </a:avLst>
          </a:prstGeom>
          <a:noFill/>
          <a:ln cap="flat" cmpd="sng" w="38100">
            <a:solidFill>
              <a:srgbClr val="343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 sz="1300" u="none" cap="none" strike="noStrike">
                <a:solidFill>
                  <a:schemeClr val="dk1"/>
                </a:solidFill>
                <a:latin typeface="Source Sans Pro"/>
                <a:ea typeface="Source Sans Pro"/>
                <a:cs typeface="Source Sans Pro"/>
                <a:sym typeface="Source Sans Pro"/>
              </a:rPr>
              <a:t>A sophisticated AI platform that also leverages human smarts to tackle big data mastering</a:t>
            </a:r>
            <a:endParaRPr>
              <a:solidFill>
                <a:schemeClr val="dk1"/>
              </a:solidFill>
            </a:endParaRPr>
          </a:p>
        </p:txBody>
      </p:sp>
      <p:sp>
        <p:nvSpPr>
          <p:cNvPr id="784" name="Google Shape;784;p82"/>
          <p:cNvSpPr/>
          <p:nvPr/>
        </p:nvSpPr>
        <p:spPr>
          <a:xfrm>
            <a:off x="3710374" y="4132441"/>
            <a:ext cx="1435800" cy="648900"/>
          </a:xfrm>
          <a:prstGeom prst="wedgeRoundRectCallout">
            <a:avLst>
              <a:gd fmla="val 21321" name="adj1"/>
              <a:gd fmla="val 81288" name="adj2"/>
              <a:gd fmla="val 0" name="adj3"/>
            </a:avLst>
          </a:prstGeom>
          <a:noFill/>
          <a:ln cap="flat" cmpd="sng" w="38100">
            <a:solidFill>
              <a:srgbClr val="343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 sz="1300" u="none" cap="none" strike="noStrike">
                <a:solidFill>
                  <a:schemeClr val="dk1"/>
                </a:solidFill>
                <a:latin typeface="Source Sans Pro"/>
                <a:ea typeface="Source Sans Pro"/>
                <a:cs typeface="Source Sans Pro"/>
                <a:sym typeface="Source Sans Pro"/>
              </a:rPr>
              <a:t>The product is best in class</a:t>
            </a:r>
            <a:endParaRPr b="0" i="0" sz="1300" u="none" cap="none" strike="noStrike">
              <a:solidFill>
                <a:schemeClr val="dk1"/>
              </a:solidFill>
              <a:latin typeface="Source Sans Pro"/>
              <a:ea typeface="Source Sans Pro"/>
              <a:cs typeface="Source Sans Pro"/>
              <a:sym typeface="Source Sans Pro"/>
            </a:endParaRPr>
          </a:p>
        </p:txBody>
      </p:sp>
      <p:sp>
        <p:nvSpPr>
          <p:cNvPr id="785" name="Google Shape;785;p82"/>
          <p:cNvSpPr/>
          <p:nvPr/>
        </p:nvSpPr>
        <p:spPr>
          <a:xfrm>
            <a:off x="3710374" y="2830444"/>
            <a:ext cx="2169300" cy="1001700"/>
          </a:xfrm>
          <a:prstGeom prst="wedgeRoundRectCallout">
            <a:avLst>
              <a:gd fmla="val 19690" name="adj1"/>
              <a:gd fmla="val 67502" name="adj2"/>
              <a:gd fmla="val 0" name="adj3"/>
            </a:avLst>
          </a:prstGeom>
          <a:noFill/>
          <a:ln cap="flat" cmpd="sng" w="38100">
            <a:solidFill>
              <a:srgbClr val="343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300" u="none" cap="none" strike="noStrike">
                <a:solidFill>
                  <a:schemeClr val="dk1"/>
                </a:solidFill>
                <a:latin typeface="Source Sans Pro"/>
                <a:ea typeface="Source Sans Pro"/>
                <a:cs typeface="Source Sans Pro"/>
                <a:sym typeface="Source Sans Pro"/>
              </a:rPr>
              <a:t>Excellent UI and workflow + human-in-the loop ML = Happy Customer</a:t>
            </a:r>
            <a:endParaRPr>
              <a:solidFill>
                <a:schemeClr val="dk1"/>
              </a:solidFill>
            </a:endParaRPr>
          </a:p>
        </p:txBody>
      </p:sp>
      <p:sp>
        <p:nvSpPr>
          <p:cNvPr id="786" name="Google Shape;786;p82"/>
          <p:cNvSpPr/>
          <p:nvPr/>
        </p:nvSpPr>
        <p:spPr>
          <a:xfrm>
            <a:off x="3710374" y="1892642"/>
            <a:ext cx="5187600" cy="650100"/>
          </a:xfrm>
          <a:prstGeom prst="wedgeRoundRectCallout">
            <a:avLst>
              <a:gd fmla="val 21020" name="adj1"/>
              <a:gd fmla="val 75418" name="adj2"/>
              <a:gd fmla="val 0" name="adj3"/>
            </a:avLst>
          </a:prstGeom>
          <a:noFill/>
          <a:ln cap="flat" cmpd="sng" w="38100">
            <a:solidFill>
              <a:srgbClr val="343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300" u="none" cap="none" strike="noStrike">
                <a:solidFill>
                  <a:schemeClr val="dk1"/>
                </a:solidFill>
                <a:latin typeface="Source Sans Pro"/>
                <a:ea typeface="Source Sans Pro"/>
                <a:cs typeface="Source Sans Pro"/>
                <a:sym typeface="Source Sans Pro"/>
              </a:rPr>
              <a:t>Excellent overall experience. Truly easy to integrate and expand. I really enjoyed the </a:t>
            </a:r>
            <a:r>
              <a:rPr lang="en" sz="1300">
                <a:solidFill>
                  <a:schemeClr val="dk1"/>
                </a:solidFill>
                <a:latin typeface="Source Sans Pro"/>
                <a:ea typeface="Source Sans Pro"/>
                <a:cs typeface="Source Sans Pro"/>
                <a:sym typeface="Source Sans Pro"/>
              </a:rPr>
              <a:t>teamwork</a:t>
            </a:r>
            <a:r>
              <a:rPr b="0" i="0" lang="en" sz="1300" u="none" cap="none" strike="noStrike">
                <a:solidFill>
                  <a:schemeClr val="dk1"/>
                </a:solidFill>
                <a:latin typeface="Source Sans Pro"/>
                <a:ea typeface="Source Sans Pro"/>
                <a:cs typeface="Source Sans Pro"/>
                <a:sym typeface="Source Sans Pro"/>
              </a:rPr>
              <a:t> and collaboration. A+</a:t>
            </a:r>
            <a:endParaRPr>
              <a:solidFill>
                <a:schemeClr val="dk1"/>
              </a:solidFill>
            </a:endParaRPr>
          </a:p>
        </p:txBody>
      </p:sp>
      <p:sp>
        <p:nvSpPr>
          <p:cNvPr id="787" name="Google Shape;787;p82"/>
          <p:cNvSpPr txBox="1"/>
          <p:nvPr/>
        </p:nvSpPr>
        <p:spPr>
          <a:xfrm>
            <a:off x="2263989" y="6885930"/>
            <a:ext cx="75318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424242"/>
                </a:solidFill>
                <a:latin typeface="Roboto"/>
                <a:ea typeface="Roboto"/>
                <a:cs typeface="Roboto"/>
                <a:sym typeface="Roboto"/>
              </a:rPr>
              <a:t>very positive experience in data unification, data cleansing and golden records mastering at scale in short period of time.</a:t>
            </a:r>
            <a:endParaRPr b="0" i="0" sz="1400" u="none" cap="none" strike="noStrike">
              <a:solidFill>
                <a:srgbClr val="000000"/>
              </a:solidFill>
              <a:latin typeface="Arial"/>
              <a:ea typeface="Arial"/>
              <a:cs typeface="Arial"/>
              <a:sym typeface="Arial"/>
            </a:endParaRPr>
          </a:p>
        </p:txBody>
      </p:sp>
      <p:sp>
        <p:nvSpPr>
          <p:cNvPr id="788" name="Google Shape;788;p82"/>
          <p:cNvSpPr/>
          <p:nvPr/>
        </p:nvSpPr>
        <p:spPr>
          <a:xfrm>
            <a:off x="6049829" y="2821245"/>
            <a:ext cx="2848200" cy="1001700"/>
          </a:xfrm>
          <a:prstGeom prst="wedgeRoundRectCallout">
            <a:avLst>
              <a:gd fmla="val 20468" name="adj1"/>
              <a:gd fmla="val 67871" name="adj2"/>
              <a:gd fmla="val 0" name="adj3"/>
            </a:avLst>
          </a:prstGeom>
          <a:noFill/>
          <a:ln cap="flat" cmpd="sng" w="38100">
            <a:solidFill>
              <a:srgbClr val="343A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0" i="0" lang="en" sz="1300" u="none" cap="none" strike="noStrike">
                <a:solidFill>
                  <a:schemeClr val="dk1"/>
                </a:solidFill>
                <a:latin typeface="Source Sans Pro"/>
                <a:ea typeface="Source Sans Pro"/>
                <a:cs typeface="Source Sans Pro"/>
                <a:sym typeface="Source Sans Pro"/>
              </a:rPr>
              <a:t>Very positive experience in data unification, data cleansing and golden records mastering at scale in short period of time</a:t>
            </a:r>
            <a:endParaRPr b="0" i="0" sz="1300" u="none" cap="none" strike="noStrike">
              <a:solidFill>
                <a:schemeClr val="dk1"/>
              </a:solidFill>
              <a:latin typeface="Source Sans Pro"/>
              <a:ea typeface="Source Sans Pro"/>
              <a:cs typeface="Source Sans Pro"/>
              <a:sym typeface="Source Sans Pro"/>
            </a:endParaRPr>
          </a:p>
        </p:txBody>
      </p:sp>
      <p:sp>
        <p:nvSpPr>
          <p:cNvPr id="789" name="Google Shape;789;p82"/>
          <p:cNvSpPr txBox="1"/>
          <p:nvPr/>
        </p:nvSpPr>
        <p:spPr>
          <a:xfrm>
            <a:off x="3659014" y="4888051"/>
            <a:ext cx="15207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900" u="none" cap="none" strike="noStrike">
                <a:solidFill>
                  <a:schemeClr val="dk1"/>
                </a:solidFill>
                <a:latin typeface="Source Sans Pro"/>
                <a:ea typeface="Source Sans Pro"/>
                <a:cs typeface="Source Sans Pro"/>
                <a:sym typeface="Source Sans Pro"/>
              </a:rPr>
              <a:t>August 2021</a:t>
            </a:r>
            <a:endParaRPr b="0" i="0" sz="900" u="none" cap="none" strike="noStrike">
              <a:solidFill>
                <a:schemeClr val="dk1"/>
              </a:solidFill>
              <a:latin typeface="Source Sans Pro"/>
              <a:ea typeface="Source Sans Pro"/>
              <a:cs typeface="Source Sans Pro"/>
              <a:sym typeface="Source Sans Pro"/>
            </a:endParaRPr>
          </a:p>
        </p:txBody>
      </p:sp>
      <p:sp>
        <p:nvSpPr>
          <p:cNvPr id="790" name="Google Shape;790;p82"/>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2"/>
                </a:solidFill>
              </a:rPr>
              <a:t>‹#›</a:t>
            </a:fld>
            <a:endParaRPr>
              <a:solidFill>
                <a:schemeClr val="l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83"/>
          <p:cNvSpPr txBox="1"/>
          <p:nvPr>
            <p:ph type="title"/>
          </p:nvPr>
        </p:nvSpPr>
        <p:spPr>
          <a:xfrm>
            <a:off x="548700" y="219450"/>
            <a:ext cx="8046600" cy="43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Next-Gen Cloud-Native Data Mastering</a:t>
            </a:r>
            <a:endParaRPr sz="2400"/>
          </a:p>
        </p:txBody>
      </p:sp>
      <p:pic>
        <p:nvPicPr>
          <p:cNvPr id="796" name="Google Shape;796;p83"/>
          <p:cNvPicPr preferRelativeResize="0"/>
          <p:nvPr/>
        </p:nvPicPr>
        <p:blipFill>
          <a:blip r:embed="rId3">
            <a:alphaModFix/>
          </a:blip>
          <a:stretch>
            <a:fillRect/>
          </a:stretch>
        </p:blipFill>
        <p:spPr>
          <a:xfrm>
            <a:off x="3957275" y="837150"/>
            <a:ext cx="749072" cy="241200"/>
          </a:xfrm>
          <a:prstGeom prst="rect">
            <a:avLst/>
          </a:prstGeom>
          <a:noFill/>
          <a:ln>
            <a:noFill/>
          </a:ln>
        </p:spPr>
      </p:pic>
      <p:sp>
        <p:nvSpPr>
          <p:cNvPr id="797" name="Google Shape;797;p83"/>
          <p:cNvSpPr txBox="1"/>
          <p:nvPr/>
        </p:nvSpPr>
        <p:spPr>
          <a:xfrm>
            <a:off x="240900" y="2951200"/>
            <a:ext cx="1084200" cy="738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200">
                <a:solidFill>
                  <a:schemeClr val="dk1"/>
                </a:solidFill>
                <a:latin typeface="Source Sans Pro"/>
                <a:ea typeface="Source Sans Pro"/>
                <a:cs typeface="Source Sans Pro"/>
                <a:sym typeface="Source Sans Pro"/>
              </a:rPr>
              <a:t>Data Mastering Platform</a:t>
            </a:r>
            <a:endParaRPr b="1" sz="1200">
              <a:solidFill>
                <a:schemeClr val="dk1"/>
              </a:solidFill>
              <a:latin typeface="Source Sans Pro"/>
              <a:ea typeface="Source Sans Pro"/>
              <a:cs typeface="Source Sans Pro"/>
              <a:sym typeface="Source Sans Pro"/>
            </a:endParaRPr>
          </a:p>
        </p:txBody>
      </p:sp>
      <p:sp>
        <p:nvSpPr>
          <p:cNvPr id="798" name="Google Shape;798;p83"/>
          <p:cNvSpPr txBox="1"/>
          <p:nvPr/>
        </p:nvSpPr>
        <p:spPr>
          <a:xfrm>
            <a:off x="392700" y="1200025"/>
            <a:ext cx="932400" cy="738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200">
                <a:solidFill>
                  <a:schemeClr val="dk1"/>
                </a:solidFill>
                <a:latin typeface="Source Sans Pro"/>
                <a:ea typeface="Source Sans Pro"/>
                <a:cs typeface="Source Sans Pro"/>
                <a:sym typeface="Source Sans Pro"/>
              </a:rPr>
              <a:t>Data Mastering Solutions</a:t>
            </a:r>
            <a:endParaRPr b="1" sz="1200">
              <a:solidFill>
                <a:schemeClr val="dk1"/>
              </a:solidFill>
              <a:latin typeface="Source Sans Pro"/>
              <a:ea typeface="Source Sans Pro"/>
              <a:cs typeface="Source Sans Pro"/>
              <a:sym typeface="Source Sans Pro"/>
            </a:endParaRPr>
          </a:p>
        </p:txBody>
      </p:sp>
      <p:pic>
        <p:nvPicPr>
          <p:cNvPr id="799" name="Google Shape;799;p83"/>
          <p:cNvPicPr preferRelativeResize="0"/>
          <p:nvPr/>
        </p:nvPicPr>
        <p:blipFill rotWithShape="1">
          <a:blip r:embed="rId4">
            <a:alphaModFix/>
          </a:blip>
          <a:srcRect b="0" l="0" r="0" t="0"/>
          <a:stretch/>
        </p:blipFill>
        <p:spPr>
          <a:xfrm>
            <a:off x="5381038" y="4320436"/>
            <a:ext cx="1235517" cy="199428"/>
          </a:xfrm>
          <a:prstGeom prst="rect">
            <a:avLst/>
          </a:prstGeom>
          <a:noFill/>
          <a:ln>
            <a:noFill/>
          </a:ln>
        </p:spPr>
      </p:pic>
      <p:pic>
        <p:nvPicPr>
          <p:cNvPr id="800" name="Google Shape;800;p83"/>
          <p:cNvPicPr preferRelativeResize="0"/>
          <p:nvPr/>
        </p:nvPicPr>
        <p:blipFill>
          <a:blip r:embed="rId5">
            <a:alphaModFix/>
          </a:blip>
          <a:stretch>
            <a:fillRect/>
          </a:stretch>
        </p:blipFill>
        <p:spPr>
          <a:xfrm>
            <a:off x="2242483" y="4300960"/>
            <a:ext cx="401891" cy="241122"/>
          </a:xfrm>
          <a:prstGeom prst="rect">
            <a:avLst/>
          </a:prstGeom>
          <a:noFill/>
          <a:ln>
            <a:noFill/>
          </a:ln>
        </p:spPr>
      </p:pic>
      <p:pic>
        <p:nvPicPr>
          <p:cNvPr id="801" name="Google Shape;801;p83"/>
          <p:cNvPicPr preferRelativeResize="0"/>
          <p:nvPr/>
        </p:nvPicPr>
        <p:blipFill>
          <a:blip r:embed="rId6">
            <a:alphaModFix/>
          </a:blip>
          <a:stretch>
            <a:fillRect/>
          </a:stretch>
        </p:blipFill>
        <p:spPr>
          <a:xfrm>
            <a:off x="3799497" y="4299589"/>
            <a:ext cx="843242" cy="241118"/>
          </a:xfrm>
          <a:prstGeom prst="rect">
            <a:avLst/>
          </a:prstGeom>
          <a:noFill/>
          <a:ln>
            <a:noFill/>
          </a:ln>
        </p:spPr>
      </p:pic>
      <p:sp>
        <p:nvSpPr>
          <p:cNvPr id="802" name="Google Shape;802;p83"/>
          <p:cNvSpPr txBox="1"/>
          <p:nvPr/>
        </p:nvSpPr>
        <p:spPr>
          <a:xfrm>
            <a:off x="1417729" y="3359963"/>
            <a:ext cx="1668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Source Sans Pro"/>
                <a:ea typeface="Source Sans Pro"/>
                <a:cs typeface="Source Sans Pro"/>
                <a:sym typeface="Source Sans Pro"/>
              </a:rPr>
              <a:t>Map schemas, generate golden records, categorize &amp; transform data</a:t>
            </a:r>
            <a:endParaRPr sz="1000">
              <a:solidFill>
                <a:schemeClr val="lt1"/>
              </a:solidFill>
              <a:latin typeface="Source Sans Pro"/>
              <a:ea typeface="Source Sans Pro"/>
              <a:cs typeface="Source Sans Pro"/>
              <a:sym typeface="Source Sans Pro"/>
            </a:endParaRPr>
          </a:p>
        </p:txBody>
      </p:sp>
      <p:sp>
        <p:nvSpPr>
          <p:cNvPr id="803" name="Google Shape;803;p83"/>
          <p:cNvSpPr txBox="1"/>
          <p:nvPr/>
        </p:nvSpPr>
        <p:spPr>
          <a:xfrm>
            <a:off x="3272774" y="3359963"/>
            <a:ext cx="16683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Source Sans Pro"/>
                <a:ea typeface="Source Sans Pro"/>
                <a:cs typeface="Source Sans Pro"/>
                <a:sym typeface="Source Sans Pro"/>
              </a:rPr>
              <a:t>Engage SMEs with </a:t>
            </a:r>
            <a:br>
              <a:rPr lang="en" sz="1000">
                <a:solidFill>
                  <a:schemeClr val="lt1"/>
                </a:solidFill>
                <a:latin typeface="Source Sans Pro"/>
                <a:ea typeface="Source Sans Pro"/>
                <a:cs typeface="Source Sans Pro"/>
                <a:sym typeface="Source Sans Pro"/>
              </a:rPr>
            </a:br>
            <a:r>
              <a:rPr lang="en" sz="1000">
                <a:solidFill>
                  <a:schemeClr val="lt1"/>
                </a:solidFill>
                <a:latin typeface="Source Sans Pro"/>
                <a:ea typeface="Source Sans Pro"/>
                <a:cs typeface="Source Sans Pro"/>
                <a:sym typeface="Source Sans Pro"/>
              </a:rPr>
              <a:t>intuitive feedback </a:t>
            </a:r>
            <a:br>
              <a:rPr lang="en" sz="1000">
                <a:solidFill>
                  <a:schemeClr val="lt1"/>
                </a:solidFill>
                <a:latin typeface="Source Sans Pro"/>
                <a:ea typeface="Source Sans Pro"/>
                <a:cs typeface="Source Sans Pro"/>
                <a:sym typeface="Source Sans Pro"/>
              </a:rPr>
            </a:br>
            <a:r>
              <a:rPr lang="en" sz="1000">
                <a:solidFill>
                  <a:schemeClr val="lt1"/>
                </a:solidFill>
                <a:latin typeface="Source Sans Pro"/>
                <a:ea typeface="Source Sans Pro"/>
                <a:cs typeface="Source Sans Pro"/>
                <a:sym typeface="Source Sans Pro"/>
              </a:rPr>
              <a:t>workflows for ML</a:t>
            </a:r>
            <a:endParaRPr sz="10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1000">
              <a:solidFill>
                <a:schemeClr val="lt1"/>
              </a:solidFill>
              <a:latin typeface="Source Sans Pro"/>
              <a:ea typeface="Source Sans Pro"/>
              <a:cs typeface="Source Sans Pro"/>
              <a:sym typeface="Source Sans Pro"/>
            </a:endParaRPr>
          </a:p>
        </p:txBody>
      </p:sp>
      <p:sp>
        <p:nvSpPr>
          <p:cNvPr id="804" name="Google Shape;804;p83"/>
          <p:cNvSpPr txBox="1"/>
          <p:nvPr/>
        </p:nvSpPr>
        <p:spPr>
          <a:xfrm>
            <a:off x="5272063" y="3359963"/>
            <a:ext cx="14466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Source Sans Pro"/>
                <a:ea typeface="Source Sans Pro"/>
                <a:cs typeface="Source Sans Pro"/>
                <a:sym typeface="Source Sans Pro"/>
              </a:rPr>
              <a:t>Integrated data enrichment from third party sources</a:t>
            </a:r>
            <a:endParaRPr sz="10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1000">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sz="1000">
              <a:solidFill>
                <a:schemeClr val="lt1"/>
              </a:solidFill>
              <a:latin typeface="Source Sans Pro"/>
              <a:ea typeface="Source Sans Pro"/>
              <a:cs typeface="Source Sans Pro"/>
              <a:sym typeface="Source Sans Pro"/>
            </a:endParaRPr>
          </a:p>
        </p:txBody>
      </p:sp>
      <p:pic>
        <p:nvPicPr>
          <p:cNvPr id="805" name="Google Shape;805;p83"/>
          <p:cNvPicPr preferRelativeResize="0"/>
          <p:nvPr/>
        </p:nvPicPr>
        <p:blipFill>
          <a:blip r:embed="rId7">
            <a:alphaModFix/>
          </a:blip>
          <a:stretch>
            <a:fillRect/>
          </a:stretch>
        </p:blipFill>
        <p:spPr>
          <a:xfrm>
            <a:off x="1228575" y="1151225"/>
            <a:ext cx="6351481" cy="3009152"/>
          </a:xfrm>
          <a:prstGeom prst="rect">
            <a:avLst/>
          </a:prstGeom>
          <a:noFill/>
          <a:ln>
            <a:noFill/>
          </a:ln>
        </p:spPr>
      </p:pic>
      <p:sp>
        <p:nvSpPr>
          <p:cNvPr id="806" name="Google Shape;806;p83"/>
          <p:cNvSpPr txBox="1"/>
          <p:nvPr/>
        </p:nvSpPr>
        <p:spPr>
          <a:xfrm>
            <a:off x="1649900" y="3401568"/>
            <a:ext cx="1504200" cy="6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50">
                <a:solidFill>
                  <a:schemeClr val="lt1"/>
                </a:solidFill>
                <a:latin typeface="Source Sans Pro"/>
                <a:ea typeface="Source Sans Pro"/>
                <a:cs typeface="Source Sans Pro"/>
                <a:sym typeface="Source Sans Pro"/>
              </a:rPr>
              <a:t>Map schemas, generate golden records, categorize &amp; transform data</a:t>
            </a:r>
            <a:endParaRPr sz="950">
              <a:solidFill>
                <a:schemeClr val="lt1"/>
              </a:solidFill>
              <a:latin typeface="Source Sans Pro"/>
              <a:ea typeface="Source Sans Pro"/>
              <a:cs typeface="Source Sans Pro"/>
              <a:sym typeface="Source Sans Pro"/>
            </a:endParaRPr>
          </a:p>
        </p:txBody>
      </p:sp>
      <p:sp>
        <p:nvSpPr>
          <p:cNvPr id="807" name="Google Shape;807;p83"/>
          <p:cNvSpPr txBox="1"/>
          <p:nvPr/>
        </p:nvSpPr>
        <p:spPr>
          <a:xfrm>
            <a:off x="3078030" y="3401568"/>
            <a:ext cx="1235700" cy="6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50">
                <a:solidFill>
                  <a:schemeClr val="lt1"/>
                </a:solidFill>
                <a:latin typeface="Source Sans Pro"/>
                <a:ea typeface="Source Sans Pro"/>
                <a:cs typeface="Source Sans Pro"/>
                <a:sym typeface="Source Sans Pro"/>
              </a:rPr>
              <a:t>Engage SMEs with </a:t>
            </a:r>
            <a:br>
              <a:rPr lang="en" sz="950">
                <a:solidFill>
                  <a:schemeClr val="lt1"/>
                </a:solidFill>
                <a:latin typeface="Source Sans Pro"/>
                <a:ea typeface="Source Sans Pro"/>
                <a:cs typeface="Source Sans Pro"/>
                <a:sym typeface="Source Sans Pro"/>
              </a:rPr>
            </a:br>
            <a:r>
              <a:rPr lang="en" sz="950">
                <a:solidFill>
                  <a:schemeClr val="lt1"/>
                </a:solidFill>
                <a:latin typeface="Source Sans Pro"/>
                <a:ea typeface="Source Sans Pro"/>
                <a:cs typeface="Source Sans Pro"/>
                <a:sym typeface="Source Sans Pro"/>
              </a:rPr>
              <a:t>intuitive feedback </a:t>
            </a:r>
            <a:br>
              <a:rPr lang="en" sz="950">
                <a:solidFill>
                  <a:schemeClr val="lt1"/>
                </a:solidFill>
                <a:latin typeface="Source Sans Pro"/>
                <a:ea typeface="Source Sans Pro"/>
                <a:cs typeface="Source Sans Pro"/>
                <a:sym typeface="Source Sans Pro"/>
              </a:rPr>
            </a:br>
            <a:r>
              <a:rPr lang="en" sz="950">
                <a:solidFill>
                  <a:schemeClr val="lt1"/>
                </a:solidFill>
                <a:latin typeface="Source Sans Pro"/>
                <a:ea typeface="Source Sans Pro"/>
                <a:cs typeface="Source Sans Pro"/>
                <a:sym typeface="Source Sans Pro"/>
              </a:rPr>
              <a:t>workflows for ML</a:t>
            </a:r>
            <a:endParaRPr sz="950">
              <a:solidFill>
                <a:schemeClr val="lt1"/>
              </a:solidFill>
              <a:latin typeface="Source Sans Pro"/>
              <a:ea typeface="Source Sans Pro"/>
              <a:cs typeface="Source Sans Pro"/>
              <a:sym typeface="Source Sans Pro"/>
            </a:endParaRPr>
          </a:p>
        </p:txBody>
      </p:sp>
      <p:sp>
        <p:nvSpPr>
          <p:cNvPr id="808" name="Google Shape;808;p83"/>
          <p:cNvSpPr txBox="1"/>
          <p:nvPr/>
        </p:nvSpPr>
        <p:spPr>
          <a:xfrm>
            <a:off x="4430793" y="3403937"/>
            <a:ext cx="1235700" cy="6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50">
                <a:solidFill>
                  <a:schemeClr val="lt1"/>
                </a:solidFill>
                <a:latin typeface="Source Sans Pro"/>
                <a:ea typeface="Source Sans Pro"/>
                <a:cs typeface="Source Sans Pro"/>
                <a:sym typeface="Source Sans Pro"/>
              </a:rPr>
              <a:t>Integrated data enrichment from </a:t>
            </a:r>
            <a:br>
              <a:rPr lang="en" sz="950">
                <a:solidFill>
                  <a:schemeClr val="lt1"/>
                </a:solidFill>
                <a:latin typeface="Source Sans Pro"/>
                <a:ea typeface="Source Sans Pro"/>
                <a:cs typeface="Source Sans Pro"/>
                <a:sym typeface="Source Sans Pro"/>
              </a:rPr>
            </a:br>
            <a:r>
              <a:rPr lang="en" sz="950">
                <a:solidFill>
                  <a:schemeClr val="lt1"/>
                </a:solidFill>
                <a:latin typeface="Source Sans Pro"/>
                <a:ea typeface="Source Sans Pro"/>
                <a:cs typeface="Source Sans Pro"/>
                <a:sym typeface="Source Sans Pro"/>
              </a:rPr>
              <a:t>third party sources</a:t>
            </a:r>
            <a:endParaRPr sz="950">
              <a:solidFill>
                <a:schemeClr val="lt1"/>
              </a:solidFill>
              <a:latin typeface="Source Sans Pro"/>
              <a:ea typeface="Source Sans Pro"/>
              <a:cs typeface="Source Sans Pro"/>
              <a:sym typeface="Source Sans Pro"/>
            </a:endParaRPr>
          </a:p>
        </p:txBody>
      </p:sp>
      <p:sp>
        <p:nvSpPr>
          <p:cNvPr id="809" name="Google Shape;809;p83"/>
          <p:cNvSpPr txBox="1"/>
          <p:nvPr/>
        </p:nvSpPr>
        <p:spPr>
          <a:xfrm>
            <a:off x="5783586" y="3403937"/>
            <a:ext cx="1038300" cy="6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50">
                <a:solidFill>
                  <a:schemeClr val="lt1"/>
                </a:solidFill>
                <a:latin typeface="Source Sans Pro"/>
                <a:ea typeface="Source Sans Pro"/>
                <a:cs typeface="Source Sans Pro"/>
                <a:sym typeface="Source Sans Pro"/>
              </a:rPr>
              <a:t>Publish curated datasets to cloud data stores</a:t>
            </a:r>
            <a:endParaRPr sz="950">
              <a:solidFill>
                <a:schemeClr val="lt1"/>
              </a:solidFill>
              <a:latin typeface="Source Sans Pro"/>
              <a:ea typeface="Source Sans Pro"/>
              <a:cs typeface="Source Sans Pro"/>
              <a:sym typeface="Source Sans Pro"/>
            </a:endParaRPr>
          </a:p>
        </p:txBody>
      </p:sp>
      <p:sp>
        <p:nvSpPr>
          <p:cNvPr id="810" name="Google Shape;810;p83"/>
          <p:cNvSpPr/>
          <p:nvPr/>
        </p:nvSpPr>
        <p:spPr>
          <a:xfrm>
            <a:off x="488725" y="4407106"/>
            <a:ext cx="1572000" cy="241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83"/>
          <p:cNvSpPr txBox="1"/>
          <p:nvPr/>
        </p:nvSpPr>
        <p:spPr>
          <a:xfrm>
            <a:off x="7580050" y="1297350"/>
            <a:ext cx="1176600" cy="24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86D300"/>
                </a:solidFill>
                <a:latin typeface="Source Sans Pro"/>
                <a:ea typeface="Source Sans Pro"/>
                <a:cs typeface="Source Sans Pro"/>
                <a:sym typeface="Source Sans Pro"/>
              </a:rPr>
              <a:t>✓</a:t>
            </a:r>
            <a:r>
              <a:rPr b="1" lang="en" sz="1100">
                <a:solidFill>
                  <a:schemeClr val="dk1"/>
                </a:solidFill>
                <a:latin typeface="Source Sans Pro"/>
                <a:ea typeface="Source Sans Pro"/>
                <a:cs typeface="Source Sans Pro"/>
                <a:sym typeface="Source Sans Pro"/>
              </a:rPr>
              <a:t> </a:t>
            </a:r>
            <a:r>
              <a:rPr lang="en" sz="1100">
                <a:solidFill>
                  <a:schemeClr val="dk1"/>
                </a:solidFill>
                <a:latin typeface="Source Sans Pro"/>
                <a:ea typeface="Source Sans Pro"/>
                <a:cs typeface="Source Sans Pro"/>
                <a:sym typeface="Source Sans Pro"/>
              </a:rPr>
              <a:t>90%+ accuracy for record matches</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100">
                <a:solidFill>
                  <a:srgbClr val="86D300"/>
                </a:solidFill>
                <a:latin typeface="Source Sans Pro"/>
                <a:ea typeface="Source Sans Pro"/>
                <a:cs typeface="Source Sans Pro"/>
                <a:sym typeface="Source Sans Pro"/>
              </a:rPr>
              <a:t>✓</a:t>
            </a:r>
            <a:r>
              <a:rPr b="1" lang="en" sz="1100">
                <a:solidFill>
                  <a:schemeClr val="dk1"/>
                </a:solidFill>
                <a:latin typeface="Source Sans Pro"/>
                <a:ea typeface="Source Sans Pro"/>
                <a:cs typeface="Source Sans Pro"/>
                <a:sym typeface="Source Sans Pro"/>
              </a:rPr>
              <a:t> </a:t>
            </a:r>
            <a:r>
              <a:rPr lang="en" sz="1100">
                <a:solidFill>
                  <a:schemeClr val="dk1"/>
                </a:solidFill>
                <a:latin typeface="Source Sans Pro"/>
                <a:ea typeface="Source Sans Pro"/>
                <a:cs typeface="Source Sans Pro"/>
                <a:sym typeface="Source Sans Pro"/>
              </a:rPr>
              <a:t>Reduce manual workflows by </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100">
                <a:solidFill>
                  <a:schemeClr val="dk1"/>
                </a:solidFill>
                <a:latin typeface="Source Sans Pro"/>
                <a:ea typeface="Source Sans Pro"/>
                <a:cs typeface="Source Sans Pro"/>
                <a:sym typeface="Source Sans Pro"/>
              </a:rPr>
              <a:t>up to 90%</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100">
                <a:solidFill>
                  <a:srgbClr val="86D300"/>
                </a:solidFill>
                <a:latin typeface="Source Sans Pro"/>
                <a:ea typeface="Source Sans Pro"/>
                <a:cs typeface="Source Sans Pro"/>
                <a:sym typeface="Source Sans Pro"/>
              </a:rPr>
              <a:t>✓</a:t>
            </a:r>
            <a:r>
              <a:rPr b="1" lang="en" sz="1100">
                <a:solidFill>
                  <a:schemeClr val="dk1"/>
                </a:solidFill>
                <a:latin typeface="Source Sans Pro"/>
                <a:ea typeface="Source Sans Pro"/>
                <a:cs typeface="Source Sans Pro"/>
                <a:sym typeface="Source Sans Pro"/>
              </a:rPr>
              <a:t> </a:t>
            </a:r>
            <a:r>
              <a:rPr lang="en" sz="1100">
                <a:solidFill>
                  <a:schemeClr val="dk1"/>
                </a:solidFill>
                <a:latin typeface="Source Sans Pro"/>
                <a:ea typeface="Source Sans Pro"/>
                <a:cs typeface="Source Sans Pro"/>
                <a:sym typeface="Source Sans Pro"/>
              </a:rPr>
              <a:t>Match millions of records in weeks</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100">
                <a:solidFill>
                  <a:srgbClr val="86D300"/>
                </a:solidFill>
                <a:latin typeface="Source Sans Pro"/>
                <a:ea typeface="Source Sans Pro"/>
                <a:cs typeface="Source Sans Pro"/>
                <a:sym typeface="Source Sans Pro"/>
              </a:rPr>
              <a:t>✓</a:t>
            </a:r>
            <a:r>
              <a:rPr b="1" lang="en" sz="1100">
                <a:solidFill>
                  <a:schemeClr val="dk1"/>
                </a:solidFill>
                <a:latin typeface="Source Sans Pro"/>
                <a:ea typeface="Source Sans Pro"/>
                <a:cs typeface="Source Sans Pro"/>
                <a:sym typeface="Source Sans Pro"/>
              </a:rPr>
              <a:t> </a:t>
            </a:r>
            <a:r>
              <a:rPr lang="en" sz="1100">
                <a:solidFill>
                  <a:schemeClr val="dk1"/>
                </a:solidFill>
                <a:latin typeface="Source Sans Pro"/>
                <a:ea typeface="Source Sans Pro"/>
                <a:cs typeface="Source Sans Pro"/>
                <a:sym typeface="Source Sans Pro"/>
              </a:rPr>
              <a:t>Derive value from thousands of internal &amp; external sources</a:t>
            </a:r>
            <a:r>
              <a:rPr lang="en" sz="1200">
                <a:solidFill>
                  <a:schemeClr val="dk1"/>
                </a:solidFill>
                <a:latin typeface="Source Sans Pro"/>
                <a:ea typeface="Source Sans Pro"/>
                <a:cs typeface="Source Sans Pro"/>
                <a:sym typeface="Source Sans Pro"/>
              </a:rPr>
              <a:t>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812" name="Google Shape;812;p83"/>
          <p:cNvSpPr txBox="1"/>
          <p:nvPr/>
        </p:nvSpPr>
        <p:spPr>
          <a:xfrm>
            <a:off x="300" y="4060325"/>
            <a:ext cx="13248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200">
                <a:solidFill>
                  <a:schemeClr val="dk1"/>
                </a:solidFill>
                <a:latin typeface="Source Sans Pro"/>
                <a:ea typeface="Source Sans Pro"/>
                <a:cs typeface="Source Sans Pro"/>
                <a:sym typeface="Source Sans Pro"/>
              </a:rPr>
              <a:t>Cloud-Native Capabilities</a:t>
            </a:r>
            <a:endParaRPr b="1" sz="1200">
              <a:solidFill>
                <a:schemeClr val="dk1"/>
              </a:solidFill>
              <a:latin typeface="Source Sans Pro"/>
              <a:ea typeface="Source Sans Pro"/>
              <a:cs typeface="Source Sans Pro"/>
              <a:sym typeface="Source Sans Pro"/>
            </a:endParaRPr>
          </a:p>
        </p:txBody>
      </p:sp>
      <p:sp>
        <p:nvSpPr>
          <p:cNvPr id="813" name="Google Shape;813;p83"/>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84"/>
          <p:cNvSpPr/>
          <p:nvPr/>
        </p:nvSpPr>
        <p:spPr>
          <a:xfrm>
            <a:off x="629225" y="907550"/>
            <a:ext cx="7861500" cy="647700"/>
          </a:xfrm>
          <a:prstGeom prst="roundRect">
            <a:avLst>
              <a:gd fmla="val 16667" name="adj"/>
            </a:avLst>
          </a:prstGeom>
          <a:gradFill>
            <a:gsLst>
              <a:gs pos="0">
                <a:schemeClr val="accent1"/>
              </a:gs>
              <a:gs pos="10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84"/>
          <p:cNvSpPr/>
          <p:nvPr/>
        </p:nvSpPr>
        <p:spPr>
          <a:xfrm>
            <a:off x="590250" y="1720125"/>
            <a:ext cx="1987200" cy="2197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84"/>
          <p:cNvSpPr/>
          <p:nvPr/>
        </p:nvSpPr>
        <p:spPr>
          <a:xfrm>
            <a:off x="2671338" y="2711100"/>
            <a:ext cx="6220800" cy="390000"/>
          </a:xfrm>
          <a:prstGeom prst="rightArrow">
            <a:avLst>
              <a:gd fmla="val 50000" name="adj1"/>
              <a:gd fmla="val 50000" name="adj2"/>
            </a:avLst>
          </a:prstGeom>
          <a:gradFill>
            <a:gsLst>
              <a:gs pos="0">
                <a:schemeClr val="accent1"/>
              </a:gs>
              <a:gs pos="50000">
                <a:srgbClr val="089FFF"/>
              </a:gs>
              <a:gs pos="100000">
                <a:schemeClr val="accent3"/>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84"/>
          <p:cNvSpPr txBox="1"/>
          <p:nvPr>
            <p:ph type="title"/>
          </p:nvPr>
        </p:nvSpPr>
        <p:spPr>
          <a:xfrm>
            <a:off x="548700" y="219450"/>
            <a:ext cx="80466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Solutions to Accelerate Outcomes at Unprecedented Scale</a:t>
            </a:r>
            <a:endParaRPr sz="2400"/>
          </a:p>
        </p:txBody>
      </p:sp>
      <p:sp>
        <p:nvSpPr>
          <p:cNvPr id="822" name="Google Shape;822;p84"/>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3" name="Google Shape;823;p84"/>
          <p:cNvSpPr txBox="1"/>
          <p:nvPr/>
        </p:nvSpPr>
        <p:spPr>
          <a:xfrm>
            <a:off x="2464200" y="940538"/>
            <a:ext cx="4215600" cy="54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Source Sans Pro"/>
                <a:ea typeface="Source Sans Pro"/>
                <a:cs typeface="Source Sans Pro"/>
                <a:sym typeface="Source Sans Pro"/>
              </a:rPr>
              <a:t>Drive Growth, Reduce Risk, and Lower Costs</a:t>
            </a:r>
            <a:endParaRPr b="1">
              <a:solidFill>
                <a:srgbClr val="FFFFFF"/>
              </a:solidFill>
              <a:latin typeface="Source Sans Pro"/>
              <a:ea typeface="Source Sans Pro"/>
              <a:cs typeface="Source Sans Pro"/>
              <a:sym typeface="Source Sans Pro"/>
            </a:endParaRPr>
          </a:p>
        </p:txBody>
      </p:sp>
      <p:sp>
        <p:nvSpPr>
          <p:cNvPr id="824" name="Google Shape;824;p84"/>
          <p:cNvSpPr/>
          <p:nvPr/>
        </p:nvSpPr>
        <p:spPr>
          <a:xfrm>
            <a:off x="660538" y="4065663"/>
            <a:ext cx="7861500" cy="544800"/>
          </a:xfrm>
          <a:prstGeom prst="roundRect">
            <a:avLst>
              <a:gd fmla="val 2118"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84"/>
          <p:cNvSpPr txBox="1"/>
          <p:nvPr/>
        </p:nvSpPr>
        <p:spPr>
          <a:xfrm>
            <a:off x="3534538" y="4143063"/>
            <a:ext cx="2469000" cy="39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Cloud Migration</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Mergers &amp; Acquisitions </a:t>
            </a:r>
            <a:endParaRPr b="1" sz="1200">
              <a:solidFill>
                <a:schemeClr val="dk1"/>
              </a:solidFill>
              <a:latin typeface="Source Sans Pro"/>
              <a:ea typeface="Source Sans Pro"/>
              <a:cs typeface="Source Sans Pro"/>
              <a:sym typeface="Source Sans Pro"/>
            </a:endParaRPr>
          </a:p>
        </p:txBody>
      </p:sp>
      <p:pic>
        <p:nvPicPr>
          <p:cNvPr id="826" name="Google Shape;826;p84"/>
          <p:cNvPicPr preferRelativeResize="0"/>
          <p:nvPr/>
        </p:nvPicPr>
        <p:blipFill>
          <a:blip r:embed="rId3">
            <a:alphaModFix/>
          </a:blip>
          <a:stretch>
            <a:fillRect/>
          </a:stretch>
        </p:blipFill>
        <p:spPr>
          <a:xfrm>
            <a:off x="3229325" y="4175450"/>
            <a:ext cx="305225" cy="325250"/>
          </a:xfrm>
          <a:prstGeom prst="rect">
            <a:avLst/>
          </a:prstGeom>
          <a:noFill/>
          <a:ln>
            <a:noFill/>
          </a:ln>
        </p:spPr>
      </p:pic>
      <p:sp>
        <p:nvSpPr>
          <p:cNvPr id="827" name="Google Shape;827;p84"/>
          <p:cNvSpPr/>
          <p:nvPr/>
        </p:nvSpPr>
        <p:spPr>
          <a:xfrm>
            <a:off x="660475" y="1801334"/>
            <a:ext cx="1828800" cy="2028300"/>
          </a:xfrm>
          <a:prstGeom prst="roundRect">
            <a:avLst>
              <a:gd fmla="val 2118" name="adj"/>
            </a:avLst>
          </a:prstGeom>
          <a:no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84"/>
          <p:cNvSpPr txBox="1"/>
          <p:nvPr/>
        </p:nvSpPr>
        <p:spPr>
          <a:xfrm>
            <a:off x="660425" y="2590800"/>
            <a:ext cx="1828800" cy="105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Customer </a:t>
            </a:r>
            <a:br>
              <a:rPr b="1" lang="en" sz="1200">
                <a:solidFill>
                  <a:schemeClr val="dk1"/>
                </a:solidFill>
                <a:latin typeface="Source Sans Pro"/>
                <a:ea typeface="Source Sans Pro"/>
                <a:cs typeface="Source Sans Pro"/>
                <a:sym typeface="Source Sans Pro"/>
              </a:rPr>
            </a:br>
            <a:r>
              <a:rPr b="1" lang="en" sz="1200">
                <a:solidFill>
                  <a:schemeClr val="dk1"/>
                </a:solidFill>
                <a:latin typeface="Source Sans Pro"/>
                <a:ea typeface="Source Sans Pro"/>
                <a:cs typeface="Source Sans Pro"/>
                <a:sym typeface="Source Sans Pro"/>
              </a:rPr>
              <a:t>Data Mastering</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1100">
                <a:solidFill>
                  <a:schemeClr val="dk1"/>
                </a:solidFill>
                <a:latin typeface="Source Sans Pro"/>
                <a:ea typeface="Source Sans Pro"/>
                <a:cs typeface="Source Sans Pro"/>
                <a:sym typeface="Source Sans Pro"/>
              </a:rPr>
              <a:t>Golden record with unique Tamr ID for each customer, hierarchy management, integrated 3rd party data enrichment</a:t>
            </a:r>
            <a:endParaRPr sz="11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t/>
            </a:r>
            <a:endParaRPr b="1" sz="1200">
              <a:solidFill>
                <a:schemeClr val="dk1"/>
              </a:solidFill>
              <a:latin typeface="Source Sans Pro"/>
              <a:ea typeface="Source Sans Pro"/>
              <a:cs typeface="Source Sans Pro"/>
              <a:sym typeface="Source Sans Pro"/>
            </a:endParaRPr>
          </a:p>
        </p:txBody>
      </p:sp>
      <p:sp>
        <p:nvSpPr>
          <p:cNvPr id="829" name="Google Shape;829;p84"/>
          <p:cNvSpPr/>
          <p:nvPr/>
        </p:nvSpPr>
        <p:spPr>
          <a:xfrm>
            <a:off x="2671373" y="1801301"/>
            <a:ext cx="1828800" cy="2028300"/>
          </a:xfrm>
          <a:prstGeom prst="roundRect">
            <a:avLst>
              <a:gd fmla="val 2118" name="adj"/>
            </a:avLst>
          </a:prstGeom>
          <a:solidFill>
            <a:srgbClr val="FFFFFF"/>
          </a:solid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84"/>
          <p:cNvSpPr/>
          <p:nvPr/>
        </p:nvSpPr>
        <p:spPr>
          <a:xfrm>
            <a:off x="4682273" y="1801301"/>
            <a:ext cx="1828800" cy="2028300"/>
          </a:xfrm>
          <a:prstGeom prst="roundRect">
            <a:avLst>
              <a:gd fmla="val 2118" name="adj"/>
            </a:avLst>
          </a:prstGeom>
          <a:solidFill>
            <a:srgbClr val="FFFFFF"/>
          </a:solid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4"/>
          <p:cNvSpPr txBox="1"/>
          <p:nvPr/>
        </p:nvSpPr>
        <p:spPr>
          <a:xfrm>
            <a:off x="4682297" y="2590800"/>
            <a:ext cx="1828800" cy="86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Products, Parts, Materials Mastering</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1100">
                <a:solidFill>
                  <a:schemeClr val="dk1"/>
                </a:solidFill>
                <a:latin typeface="Source Sans Pro"/>
                <a:ea typeface="Source Sans Pro"/>
                <a:cs typeface="Source Sans Pro"/>
                <a:sym typeface="Source Sans Pro"/>
              </a:rPr>
              <a:t>Consolidate product, parts, or materials data from ERP systems, and categorize them at an extremely granular level</a:t>
            </a:r>
            <a:endParaRPr b="1" sz="1100">
              <a:solidFill>
                <a:schemeClr val="dk1"/>
              </a:solidFill>
              <a:latin typeface="Source Sans Pro"/>
              <a:ea typeface="Source Sans Pro"/>
              <a:cs typeface="Source Sans Pro"/>
              <a:sym typeface="Source Sans Pro"/>
            </a:endParaRPr>
          </a:p>
        </p:txBody>
      </p:sp>
      <p:grpSp>
        <p:nvGrpSpPr>
          <p:cNvPr id="832" name="Google Shape;832;p84"/>
          <p:cNvGrpSpPr/>
          <p:nvPr/>
        </p:nvGrpSpPr>
        <p:grpSpPr>
          <a:xfrm>
            <a:off x="6693225" y="1801338"/>
            <a:ext cx="1828800" cy="2028295"/>
            <a:chOff x="2186125" y="2509475"/>
            <a:chExt cx="1828800" cy="842700"/>
          </a:xfrm>
        </p:grpSpPr>
        <p:sp>
          <p:nvSpPr>
            <p:cNvPr id="833" name="Google Shape;833;p84"/>
            <p:cNvSpPr/>
            <p:nvPr/>
          </p:nvSpPr>
          <p:spPr>
            <a:xfrm>
              <a:off x="2186125" y="2509475"/>
              <a:ext cx="1828800" cy="842700"/>
            </a:xfrm>
            <a:prstGeom prst="roundRect">
              <a:avLst>
                <a:gd fmla="val 2118" name="adj"/>
              </a:avLst>
            </a:prstGeom>
            <a:solidFill>
              <a:srgbClr val="FFFFFF"/>
            </a:solidFill>
            <a:ln cap="flat" cmpd="sng" w="19050">
              <a:solidFill>
                <a:srgbClr val="089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84"/>
            <p:cNvSpPr txBox="1"/>
            <p:nvPr/>
          </p:nvSpPr>
          <p:spPr>
            <a:xfrm>
              <a:off x="2299084" y="2866461"/>
              <a:ext cx="1587000" cy="3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Spend </a:t>
              </a:r>
              <a:br>
                <a:rPr b="1" lang="en" sz="1200">
                  <a:solidFill>
                    <a:schemeClr val="dk1"/>
                  </a:solidFill>
                  <a:latin typeface="Source Sans Pro"/>
                  <a:ea typeface="Source Sans Pro"/>
                  <a:cs typeface="Source Sans Pro"/>
                  <a:sym typeface="Source Sans Pro"/>
                </a:rPr>
              </a:br>
              <a:r>
                <a:rPr b="1" lang="en" sz="1200">
                  <a:solidFill>
                    <a:schemeClr val="dk1"/>
                  </a:solidFill>
                  <a:latin typeface="Source Sans Pro"/>
                  <a:ea typeface="Source Sans Pro"/>
                  <a:cs typeface="Source Sans Pro"/>
                  <a:sym typeface="Source Sans Pro"/>
                </a:rPr>
                <a:t>Analytics</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1100">
                  <a:solidFill>
                    <a:schemeClr val="dk1"/>
                  </a:solidFill>
                  <a:latin typeface="Source Sans Pro"/>
                  <a:ea typeface="Source Sans Pro"/>
                  <a:cs typeface="Source Sans Pro"/>
                  <a:sym typeface="Source Sans Pro"/>
                </a:rPr>
                <a:t>Categorize global spend leveraging internal or external taxonomies for unprecedented views into spend</a:t>
              </a:r>
              <a:endParaRPr sz="11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t/>
              </a:r>
              <a:endParaRPr b="1" sz="1100">
                <a:solidFill>
                  <a:schemeClr val="dk1"/>
                </a:solidFill>
                <a:latin typeface="Source Sans Pro"/>
                <a:ea typeface="Source Sans Pro"/>
                <a:cs typeface="Source Sans Pro"/>
                <a:sym typeface="Source Sans Pro"/>
              </a:endParaRPr>
            </a:p>
          </p:txBody>
        </p:sp>
      </p:grpSp>
      <p:pic>
        <p:nvPicPr>
          <p:cNvPr id="835" name="Google Shape;835;p84"/>
          <p:cNvPicPr preferRelativeResize="0"/>
          <p:nvPr/>
        </p:nvPicPr>
        <p:blipFill>
          <a:blip r:embed="rId4">
            <a:alphaModFix/>
          </a:blip>
          <a:stretch>
            <a:fillRect/>
          </a:stretch>
        </p:blipFill>
        <p:spPr>
          <a:xfrm>
            <a:off x="5404247" y="1997112"/>
            <a:ext cx="384913" cy="350730"/>
          </a:xfrm>
          <a:prstGeom prst="rect">
            <a:avLst/>
          </a:prstGeom>
          <a:noFill/>
          <a:ln>
            <a:noFill/>
          </a:ln>
        </p:spPr>
      </p:pic>
      <p:pic>
        <p:nvPicPr>
          <p:cNvPr id="836" name="Google Shape;836;p84"/>
          <p:cNvPicPr preferRelativeResize="0"/>
          <p:nvPr/>
        </p:nvPicPr>
        <p:blipFill>
          <a:blip r:embed="rId5">
            <a:alphaModFix/>
          </a:blip>
          <a:stretch>
            <a:fillRect/>
          </a:stretch>
        </p:blipFill>
        <p:spPr>
          <a:xfrm>
            <a:off x="3343149" y="1977487"/>
            <a:ext cx="485256" cy="389999"/>
          </a:xfrm>
          <a:prstGeom prst="rect">
            <a:avLst/>
          </a:prstGeom>
          <a:noFill/>
          <a:ln>
            <a:noFill/>
          </a:ln>
        </p:spPr>
      </p:pic>
      <p:pic>
        <p:nvPicPr>
          <p:cNvPr id="837" name="Google Shape;837;p84"/>
          <p:cNvPicPr preferRelativeResize="0"/>
          <p:nvPr/>
        </p:nvPicPr>
        <p:blipFill>
          <a:blip r:embed="rId6">
            <a:alphaModFix/>
          </a:blip>
          <a:stretch>
            <a:fillRect/>
          </a:stretch>
        </p:blipFill>
        <p:spPr>
          <a:xfrm>
            <a:off x="7461399" y="2027425"/>
            <a:ext cx="292455" cy="290125"/>
          </a:xfrm>
          <a:prstGeom prst="rect">
            <a:avLst/>
          </a:prstGeom>
          <a:noFill/>
          <a:ln>
            <a:noFill/>
          </a:ln>
        </p:spPr>
      </p:pic>
      <p:pic>
        <p:nvPicPr>
          <p:cNvPr id="838" name="Google Shape;838;p84"/>
          <p:cNvPicPr preferRelativeResize="0"/>
          <p:nvPr/>
        </p:nvPicPr>
        <p:blipFill>
          <a:blip r:embed="rId7">
            <a:alphaModFix/>
          </a:blip>
          <a:stretch>
            <a:fillRect/>
          </a:stretch>
        </p:blipFill>
        <p:spPr>
          <a:xfrm>
            <a:off x="1474850" y="2023875"/>
            <a:ext cx="292455" cy="297211"/>
          </a:xfrm>
          <a:prstGeom prst="rect">
            <a:avLst/>
          </a:prstGeom>
          <a:noFill/>
          <a:ln>
            <a:noFill/>
          </a:ln>
        </p:spPr>
      </p:pic>
      <p:sp>
        <p:nvSpPr>
          <p:cNvPr id="839" name="Google Shape;839;p84"/>
          <p:cNvSpPr txBox="1"/>
          <p:nvPr/>
        </p:nvSpPr>
        <p:spPr>
          <a:xfrm>
            <a:off x="2671350" y="2590800"/>
            <a:ext cx="1828800" cy="105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Source Sans Pro"/>
                <a:ea typeface="Source Sans Pro"/>
                <a:cs typeface="Source Sans Pro"/>
                <a:sym typeface="Source Sans Pro"/>
              </a:rPr>
              <a:t>Supplier </a:t>
            </a:r>
            <a:br>
              <a:rPr b="1" lang="en" sz="1200">
                <a:solidFill>
                  <a:schemeClr val="dk1"/>
                </a:solidFill>
                <a:latin typeface="Source Sans Pro"/>
                <a:ea typeface="Source Sans Pro"/>
                <a:cs typeface="Source Sans Pro"/>
                <a:sym typeface="Source Sans Pro"/>
              </a:rPr>
            </a:br>
            <a:r>
              <a:rPr b="1" lang="en" sz="1200">
                <a:solidFill>
                  <a:schemeClr val="dk1"/>
                </a:solidFill>
                <a:latin typeface="Source Sans Pro"/>
                <a:ea typeface="Source Sans Pro"/>
                <a:cs typeface="Source Sans Pro"/>
                <a:sym typeface="Source Sans Pro"/>
              </a:rPr>
              <a:t>Data Mastering</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1100">
                <a:solidFill>
                  <a:schemeClr val="dk1"/>
                </a:solidFill>
                <a:latin typeface="Source Sans Pro"/>
                <a:ea typeface="Source Sans Pro"/>
                <a:cs typeface="Source Sans Pro"/>
                <a:sym typeface="Source Sans Pro"/>
              </a:rPr>
              <a:t>Mastered supplier data with unique Tamr ID, address and phone validation, and hierarchy management</a:t>
            </a:r>
            <a:endParaRPr sz="11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1000"/>
                                        <p:tgtEl>
                                          <p:spTgt spid="8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85"/>
          <p:cNvSpPr/>
          <p:nvPr/>
        </p:nvSpPr>
        <p:spPr>
          <a:xfrm>
            <a:off x="186400" y="4701450"/>
            <a:ext cx="1584300" cy="292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85"/>
          <p:cNvSpPr txBox="1"/>
          <p:nvPr/>
        </p:nvSpPr>
        <p:spPr>
          <a:xfrm>
            <a:off x="1625863" y="1682341"/>
            <a:ext cx="993000" cy="3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Source Sans Pro"/>
              <a:buNone/>
            </a:pPr>
            <a:r>
              <a:rPr i="0" lang="en" sz="800" u="none" cap="none" strike="noStrike">
                <a:solidFill>
                  <a:schemeClr val="dk1"/>
                </a:solidFill>
                <a:latin typeface="Source Sans Pro"/>
                <a:ea typeface="Source Sans Pro"/>
                <a:cs typeface="Source Sans Pro"/>
                <a:sym typeface="Source Sans Pro"/>
              </a:rPr>
              <a:t>Supplier Name</a:t>
            </a:r>
            <a:endParaRPr i="0" sz="800" u="none" cap="none" strike="noStrike">
              <a:solidFill>
                <a:schemeClr val="dk1"/>
              </a:solidFill>
              <a:latin typeface="Source Sans Pro"/>
              <a:ea typeface="Source Sans Pro"/>
              <a:cs typeface="Source Sans Pro"/>
              <a:sym typeface="Source Sans Pro"/>
            </a:endParaRPr>
          </a:p>
        </p:txBody>
      </p:sp>
      <p:sp>
        <p:nvSpPr>
          <p:cNvPr id="846" name="Google Shape;846;p85"/>
          <p:cNvSpPr txBox="1"/>
          <p:nvPr/>
        </p:nvSpPr>
        <p:spPr>
          <a:xfrm>
            <a:off x="3536808" y="1733616"/>
            <a:ext cx="303000" cy="1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Source Sans Pro"/>
              <a:buNone/>
            </a:pPr>
            <a:r>
              <a:rPr i="0" lang="en" sz="700" u="none" cap="none" strike="noStrike">
                <a:solidFill>
                  <a:schemeClr val="dk1"/>
                </a:solidFill>
                <a:latin typeface="Lexend Deca"/>
                <a:ea typeface="Lexend Deca"/>
                <a:cs typeface="Lexend Deca"/>
                <a:sym typeface="Lexend Deca"/>
              </a:rPr>
              <a:t>or</a:t>
            </a:r>
            <a:endParaRPr i="0" sz="700" u="none" cap="none" strike="noStrike">
              <a:solidFill>
                <a:schemeClr val="dk1"/>
              </a:solidFill>
              <a:latin typeface="Lexend Deca"/>
              <a:ea typeface="Lexend Deca"/>
              <a:cs typeface="Lexend Deca"/>
              <a:sym typeface="Lexend Deca"/>
            </a:endParaRPr>
          </a:p>
        </p:txBody>
      </p:sp>
      <p:sp>
        <p:nvSpPr>
          <p:cNvPr id="847" name="Google Shape;847;p85"/>
          <p:cNvSpPr/>
          <p:nvPr/>
        </p:nvSpPr>
        <p:spPr>
          <a:xfrm>
            <a:off x="6930900" y="959835"/>
            <a:ext cx="2133300" cy="2619900"/>
          </a:xfrm>
          <a:prstGeom prst="roundRect">
            <a:avLst>
              <a:gd fmla="val 482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Source Sans Pro"/>
              <a:ea typeface="Source Sans Pro"/>
              <a:cs typeface="Source Sans Pro"/>
              <a:sym typeface="Source Sans Pro"/>
            </a:endParaRPr>
          </a:p>
        </p:txBody>
      </p:sp>
      <p:sp>
        <p:nvSpPr>
          <p:cNvPr id="848" name="Google Shape;848;p85"/>
          <p:cNvSpPr/>
          <p:nvPr/>
        </p:nvSpPr>
        <p:spPr>
          <a:xfrm>
            <a:off x="63225" y="1022675"/>
            <a:ext cx="2450700" cy="2554800"/>
          </a:xfrm>
          <a:prstGeom prst="roundRect">
            <a:avLst>
              <a:gd fmla="val 482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Source Sans Pro"/>
              <a:ea typeface="Source Sans Pro"/>
              <a:cs typeface="Source Sans Pro"/>
              <a:sym typeface="Source Sans Pro"/>
            </a:endParaRPr>
          </a:p>
        </p:txBody>
      </p:sp>
      <p:sp>
        <p:nvSpPr>
          <p:cNvPr id="849" name="Google Shape;849;p85"/>
          <p:cNvSpPr/>
          <p:nvPr/>
        </p:nvSpPr>
        <p:spPr>
          <a:xfrm>
            <a:off x="1681228" y="1462589"/>
            <a:ext cx="795600" cy="513300"/>
          </a:xfrm>
          <a:prstGeom prst="roundRect">
            <a:avLst>
              <a:gd fmla="val 482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Source Sans Pro"/>
              <a:ea typeface="Source Sans Pro"/>
              <a:cs typeface="Source Sans Pro"/>
              <a:sym typeface="Source Sans Pro"/>
            </a:endParaRPr>
          </a:p>
        </p:txBody>
      </p:sp>
      <p:sp>
        <p:nvSpPr>
          <p:cNvPr id="850" name="Google Shape;850;p85"/>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1" name="Google Shape;851;p85"/>
          <p:cNvSpPr txBox="1"/>
          <p:nvPr>
            <p:ph type="title"/>
          </p:nvPr>
        </p:nvSpPr>
        <p:spPr>
          <a:xfrm>
            <a:off x="545250" y="219450"/>
            <a:ext cx="8049900" cy="585300"/>
          </a:xfrm>
          <a:prstGeom prst="rect">
            <a:avLst/>
          </a:prstGeom>
        </p:spPr>
        <p:txBody>
          <a:bodyPr anchorCtr="0" anchor="t" bIns="91425" lIns="91425" spcFirstLastPara="1" rIns="91425" wrap="square" tIns="91425">
            <a:noAutofit/>
          </a:bodyPr>
          <a:lstStyle/>
          <a:p>
            <a:pPr indent="0" lvl="0" marL="0" rtl="0" algn="ctr">
              <a:spcBef>
                <a:spcPts val="0"/>
              </a:spcBef>
              <a:spcAft>
                <a:spcPts val="1000"/>
              </a:spcAft>
              <a:buNone/>
            </a:pPr>
            <a:r>
              <a:rPr lang="en" sz="2400"/>
              <a:t>Tamr’s Core Data Mastering Capabilities</a:t>
            </a:r>
            <a:endParaRPr b="0" sz="2400"/>
          </a:p>
        </p:txBody>
      </p:sp>
      <p:sp>
        <p:nvSpPr>
          <p:cNvPr id="852" name="Google Shape;852;p85"/>
          <p:cNvSpPr/>
          <p:nvPr/>
        </p:nvSpPr>
        <p:spPr>
          <a:xfrm>
            <a:off x="2683450" y="957632"/>
            <a:ext cx="1960800" cy="2619900"/>
          </a:xfrm>
          <a:prstGeom prst="roundRect">
            <a:avLst>
              <a:gd fmla="val 482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Source Sans Pro"/>
              <a:ea typeface="Source Sans Pro"/>
              <a:cs typeface="Source Sans Pro"/>
              <a:sym typeface="Source Sans Pro"/>
            </a:endParaRPr>
          </a:p>
        </p:txBody>
      </p:sp>
      <p:sp>
        <p:nvSpPr>
          <p:cNvPr id="853" name="Google Shape;853;p85"/>
          <p:cNvSpPr/>
          <p:nvPr/>
        </p:nvSpPr>
        <p:spPr>
          <a:xfrm>
            <a:off x="2714500" y="1477216"/>
            <a:ext cx="831300" cy="742800"/>
          </a:xfrm>
          <a:prstGeom prst="roundRect">
            <a:avLst>
              <a:gd fmla="val 16667" name="adj"/>
            </a:avLst>
          </a:prstGeom>
          <a:solidFill>
            <a:srgbClr val="FFFFFF"/>
          </a:solidFill>
          <a:ln cap="flat" cmpd="sng" w="19050">
            <a:solidFill>
              <a:schemeClr val="accent2"/>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900" u="none" cap="none" strike="noStrike">
                <a:solidFill>
                  <a:schemeClr val="dk1"/>
                </a:solidFill>
                <a:highlight>
                  <a:schemeClr val="accent3"/>
                </a:highlight>
                <a:latin typeface="Source Sans Pro"/>
                <a:ea typeface="Source Sans Pro"/>
                <a:cs typeface="Source Sans Pro"/>
                <a:sym typeface="Source Sans Pro"/>
              </a:rPr>
              <a:t>Husky Manufacturing</a:t>
            </a:r>
            <a:endParaRPr i="0" sz="900" u="none" cap="none" strike="noStrike">
              <a:solidFill>
                <a:schemeClr val="dk1"/>
              </a:solidFill>
              <a:highlight>
                <a:schemeClr val="accent3"/>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i="0" sz="9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i="0" lang="en" sz="900" u="none" cap="none" strike="noStrike">
                <a:solidFill>
                  <a:schemeClr val="dk1"/>
                </a:solidFill>
                <a:latin typeface="Source Sans Pro"/>
                <a:ea typeface="Source Sans Pro"/>
                <a:cs typeface="Source Sans Pro"/>
                <a:sym typeface="Source Sans Pro"/>
              </a:rPr>
              <a:t>342 Suite 34</a:t>
            </a:r>
            <a:endParaRPr i="0" sz="9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i="0" lang="en" sz="900" u="none" cap="none" strike="noStrike">
                <a:solidFill>
                  <a:schemeClr val="dk1"/>
                </a:solidFill>
                <a:latin typeface="Source Sans Pro"/>
                <a:ea typeface="Source Sans Pro"/>
                <a:cs typeface="Source Sans Pro"/>
                <a:sym typeface="Source Sans Pro"/>
              </a:rPr>
              <a:t>KY</a:t>
            </a:r>
            <a:endParaRPr i="0" sz="900" u="none" cap="none" strike="noStrike">
              <a:solidFill>
                <a:schemeClr val="dk1"/>
              </a:solidFill>
              <a:latin typeface="Source Sans Pro"/>
              <a:ea typeface="Source Sans Pro"/>
              <a:cs typeface="Source Sans Pro"/>
              <a:sym typeface="Source Sans Pro"/>
            </a:endParaRPr>
          </a:p>
        </p:txBody>
      </p:sp>
      <p:sp>
        <p:nvSpPr>
          <p:cNvPr id="854" name="Google Shape;854;p85"/>
          <p:cNvSpPr/>
          <p:nvPr/>
        </p:nvSpPr>
        <p:spPr>
          <a:xfrm>
            <a:off x="3811780" y="1477216"/>
            <a:ext cx="805200" cy="742800"/>
          </a:xfrm>
          <a:prstGeom prst="roundRect">
            <a:avLst>
              <a:gd fmla="val 16667" name="adj"/>
            </a:avLst>
          </a:prstGeom>
          <a:solidFill>
            <a:srgbClr val="FFFFFF"/>
          </a:solidFill>
          <a:ln cap="flat" cmpd="sng" w="19050">
            <a:solidFill>
              <a:schemeClr val="accent2"/>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900" u="none" cap="none" strike="noStrike">
                <a:solidFill>
                  <a:schemeClr val="dk1"/>
                </a:solidFill>
                <a:highlight>
                  <a:schemeClr val="accent3"/>
                </a:highlight>
                <a:latin typeface="Source Sans Pro"/>
                <a:ea typeface="Source Sans Pro"/>
                <a:cs typeface="Source Sans Pro"/>
                <a:sym typeface="Source Sans Pro"/>
              </a:rPr>
              <a:t>Allied Husky Incorporated</a:t>
            </a:r>
            <a:endParaRPr i="0" sz="900" u="none" cap="none" strike="noStrike">
              <a:solidFill>
                <a:schemeClr val="dk1"/>
              </a:solidFill>
              <a:highlight>
                <a:schemeClr val="accent3"/>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i="0" sz="900" u="none" cap="none" strike="noStrike">
              <a:solidFill>
                <a:schemeClr val="dk1"/>
              </a:solidFill>
              <a:highlight>
                <a:srgbClr val="CFE2F3"/>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i="0" lang="en" sz="900" u="none" cap="none" strike="noStrike">
                <a:solidFill>
                  <a:schemeClr val="dk1"/>
                </a:solidFill>
                <a:latin typeface="Source Sans Pro"/>
                <a:ea typeface="Source Sans Pro"/>
                <a:cs typeface="Source Sans Pro"/>
                <a:sym typeface="Source Sans Pro"/>
              </a:rPr>
              <a:t>342 Main St</a:t>
            </a:r>
            <a:endParaRPr i="0" sz="9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i="0" lang="en" sz="900" u="none" cap="none" strike="noStrike">
                <a:solidFill>
                  <a:schemeClr val="dk1"/>
                </a:solidFill>
                <a:latin typeface="Source Sans Pro"/>
                <a:ea typeface="Source Sans Pro"/>
                <a:cs typeface="Source Sans Pro"/>
                <a:sym typeface="Source Sans Pro"/>
              </a:rPr>
              <a:t>KY, USA</a:t>
            </a:r>
            <a:endParaRPr i="0" sz="900" u="none" cap="none" strike="noStrike">
              <a:solidFill>
                <a:schemeClr val="dk1"/>
              </a:solidFill>
              <a:latin typeface="Source Sans Pro"/>
              <a:ea typeface="Source Sans Pro"/>
              <a:cs typeface="Source Sans Pro"/>
              <a:sym typeface="Source Sans Pro"/>
            </a:endParaRPr>
          </a:p>
        </p:txBody>
      </p:sp>
      <p:sp>
        <p:nvSpPr>
          <p:cNvPr id="855" name="Google Shape;855;p85"/>
          <p:cNvSpPr/>
          <p:nvPr/>
        </p:nvSpPr>
        <p:spPr>
          <a:xfrm>
            <a:off x="3586887" y="1620351"/>
            <a:ext cx="180600" cy="180600"/>
          </a:xfrm>
          <a:prstGeom prst="ellipse">
            <a:avLst/>
          </a:prstGeom>
          <a:solidFill>
            <a:srgbClr val="86D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Source Sans Pro"/>
              <a:ea typeface="Source Sans Pro"/>
              <a:cs typeface="Source Sans Pro"/>
              <a:sym typeface="Source Sans Pro"/>
            </a:endParaRPr>
          </a:p>
        </p:txBody>
      </p:sp>
      <p:sp>
        <p:nvSpPr>
          <p:cNvPr id="856" name="Google Shape;856;p85"/>
          <p:cNvSpPr txBox="1"/>
          <p:nvPr/>
        </p:nvSpPr>
        <p:spPr>
          <a:xfrm>
            <a:off x="3536505" y="1606891"/>
            <a:ext cx="208800" cy="180600"/>
          </a:xfrm>
          <a:prstGeom prst="rect">
            <a:avLst/>
          </a:prstGeom>
          <a:noFill/>
          <a:ln>
            <a:noFill/>
          </a:ln>
        </p:spPr>
        <p:txBody>
          <a:bodyPr anchorCtr="0" anchor="ctr" bIns="91425" lIns="82275" spcFirstLastPara="1" rIns="91425" wrap="square" tIns="91425">
            <a:noAutofit/>
          </a:bodyPr>
          <a:lstStyle/>
          <a:p>
            <a:pPr indent="0" lvl="0" marL="0" marR="0" rtl="0" algn="ctr">
              <a:lnSpc>
                <a:spcPct val="100000"/>
              </a:lnSpc>
              <a:spcBef>
                <a:spcPts val="0"/>
              </a:spcBef>
              <a:spcAft>
                <a:spcPts val="0"/>
              </a:spcAft>
              <a:buClr>
                <a:srgbClr val="FFFFFF"/>
              </a:buClr>
              <a:buSzPts val="1800"/>
              <a:buFont typeface="Source Sans Pro"/>
              <a:buNone/>
            </a:pPr>
            <a:r>
              <a:rPr b="1" i="0" lang="en" sz="1800" u="none" cap="none" strike="noStrike">
                <a:solidFill>
                  <a:srgbClr val="FFFFFF"/>
                </a:solidFill>
                <a:latin typeface="Source Sans Pro"/>
                <a:ea typeface="Source Sans Pro"/>
                <a:cs typeface="Source Sans Pro"/>
                <a:sym typeface="Source Sans Pro"/>
              </a:rPr>
              <a:t>=</a:t>
            </a:r>
            <a:endParaRPr b="1" i="0" sz="1800" u="none" cap="none" strike="noStrike">
              <a:solidFill>
                <a:srgbClr val="FFFFFF"/>
              </a:solidFill>
              <a:latin typeface="Source Sans Pro"/>
              <a:ea typeface="Source Sans Pro"/>
              <a:cs typeface="Source Sans Pro"/>
              <a:sym typeface="Source Sans Pro"/>
            </a:endParaRPr>
          </a:p>
        </p:txBody>
      </p:sp>
      <p:sp>
        <p:nvSpPr>
          <p:cNvPr id="857" name="Google Shape;857;p85"/>
          <p:cNvSpPr/>
          <p:nvPr/>
        </p:nvSpPr>
        <p:spPr>
          <a:xfrm>
            <a:off x="3584550" y="1933601"/>
            <a:ext cx="180600" cy="180600"/>
          </a:xfrm>
          <a:prstGeom prst="ellipse">
            <a:avLst/>
          </a:prstGeom>
          <a:solidFill>
            <a:srgbClr val="F523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Source Sans Pro"/>
              <a:ea typeface="Source Sans Pro"/>
              <a:cs typeface="Source Sans Pro"/>
              <a:sym typeface="Source Sans Pro"/>
            </a:endParaRPr>
          </a:p>
        </p:txBody>
      </p:sp>
      <p:sp>
        <p:nvSpPr>
          <p:cNvPr id="858" name="Google Shape;858;p85"/>
          <p:cNvSpPr/>
          <p:nvPr/>
        </p:nvSpPr>
        <p:spPr>
          <a:xfrm>
            <a:off x="3593598" y="1961308"/>
            <a:ext cx="170400" cy="146700"/>
          </a:xfrm>
          <a:prstGeom prst="mathNotEqual">
            <a:avLst>
              <a:gd fmla="val 21970" name="adj1"/>
              <a:gd fmla="val 6600000" name="adj2"/>
              <a:gd fmla="val 12904" name="adj3"/>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59" name="Google Shape;859;p85"/>
          <p:cNvSpPr txBox="1"/>
          <p:nvPr/>
        </p:nvSpPr>
        <p:spPr>
          <a:xfrm>
            <a:off x="6866574" y="2427816"/>
            <a:ext cx="2060700" cy="1224600"/>
          </a:xfrm>
          <a:prstGeom prst="rect">
            <a:avLst/>
          </a:prstGeom>
          <a:noFill/>
          <a:ln>
            <a:noFill/>
          </a:ln>
        </p:spPr>
        <p:txBody>
          <a:bodyPr anchorCtr="0" anchor="t" bIns="91425" lIns="91425" spcFirstLastPara="1" rIns="91425" wrap="square" tIns="91425">
            <a:noAutofit/>
          </a:bodyPr>
          <a:lstStyle/>
          <a:p>
            <a:pPr indent="-200660" lvl="0" marL="365760" marR="0" rtl="0" algn="l">
              <a:lnSpc>
                <a:spcPct val="100000"/>
              </a:lnSpc>
              <a:spcBef>
                <a:spcPts val="0"/>
              </a:spcBef>
              <a:spcAft>
                <a:spcPts val="0"/>
              </a:spcAft>
              <a:buClr>
                <a:schemeClr val="dk1"/>
              </a:buClr>
              <a:buSzPts val="1000"/>
              <a:buFont typeface="Source Sans Pro"/>
              <a:buChar char="●"/>
            </a:pPr>
            <a:r>
              <a:rPr b="1" i="0" lang="en" sz="1000" u="none" cap="none" strike="noStrike">
                <a:solidFill>
                  <a:schemeClr val="dk1"/>
                </a:solidFill>
                <a:latin typeface="Source Sans Pro"/>
                <a:ea typeface="Source Sans Pro"/>
                <a:cs typeface="Source Sans Pro"/>
                <a:sym typeface="Source Sans Pro"/>
              </a:rPr>
              <a:t>Automatically map</a:t>
            </a:r>
            <a:r>
              <a:rPr i="0" lang="en" sz="1000" u="none" cap="none" strike="noStrike">
                <a:solidFill>
                  <a:schemeClr val="dk1"/>
                </a:solidFill>
                <a:latin typeface="Source Sans Pro"/>
                <a:ea typeface="Source Sans Pro"/>
                <a:cs typeface="Source Sans Pro"/>
                <a:sym typeface="Source Sans Pro"/>
              </a:rPr>
              <a:t> records into any </a:t>
            </a:r>
            <a:r>
              <a:rPr b="1" i="0" lang="en" sz="1000" u="none" cap="none" strike="noStrike">
                <a:solidFill>
                  <a:schemeClr val="dk1"/>
                </a:solidFill>
                <a:latin typeface="Source Sans Pro"/>
                <a:ea typeface="Source Sans Pro"/>
                <a:cs typeface="Source Sans Pro"/>
                <a:sym typeface="Source Sans Pro"/>
              </a:rPr>
              <a:t>taxonomy</a:t>
            </a:r>
            <a:endParaRPr b="1" i="0" sz="1000" u="none" cap="none" strike="noStrike">
              <a:solidFill>
                <a:schemeClr val="dk1"/>
              </a:solidFill>
              <a:latin typeface="Source Sans Pro"/>
              <a:ea typeface="Source Sans Pro"/>
              <a:cs typeface="Source Sans Pro"/>
              <a:sym typeface="Source Sans Pro"/>
            </a:endParaRPr>
          </a:p>
          <a:p>
            <a:pPr indent="-200660" lvl="0" marL="365760" marR="0" rtl="0" algn="l">
              <a:lnSpc>
                <a:spcPct val="100000"/>
              </a:lnSpc>
              <a:spcBef>
                <a:spcPts val="400"/>
              </a:spcBef>
              <a:spcAft>
                <a:spcPts val="400"/>
              </a:spcAft>
              <a:buClr>
                <a:schemeClr val="dk1"/>
              </a:buClr>
              <a:buSzPts val="1000"/>
              <a:buFont typeface="Lexend Deca"/>
              <a:buChar char="●"/>
            </a:pPr>
            <a:r>
              <a:rPr b="1" i="0" lang="en" sz="1000" u="none" cap="none" strike="noStrike">
                <a:solidFill>
                  <a:schemeClr val="dk1"/>
                </a:solidFill>
                <a:latin typeface="Source Sans Pro"/>
                <a:ea typeface="Source Sans Pro"/>
                <a:cs typeface="Source Sans Pro"/>
                <a:sym typeface="Source Sans Pro"/>
              </a:rPr>
              <a:t>Leverage standard or custom</a:t>
            </a:r>
            <a:r>
              <a:rPr i="0" lang="en" sz="1000" u="none" cap="none" strike="noStrike">
                <a:solidFill>
                  <a:schemeClr val="dk1"/>
                </a:solidFill>
                <a:latin typeface="Source Sans Pro"/>
                <a:ea typeface="Source Sans Pro"/>
                <a:cs typeface="Source Sans Pro"/>
                <a:sym typeface="Source Sans Pro"/>
              </a:rPr>
              <a:t> </a:t>
            </a:r>
            <a:r>
              <a:rPr i="1" lang="en" sz="1000" u="none" cap="none" strike="noStrike">
                <a:solidFill>
                  <a:schemeClr val="dk1"/>
                </a:solidFill>
                <a:latin typeface="Source Sans Pro"/>
                <a:ea typeface="Source Sans Pro"/>
                <a:cs typeface="Source Sans Pro"/>
                <a:sym typeface="Source Sans Pro"/>
              </a:rPr>
              <a:t>n</a:t>
            </a:r>
            <a:r>
              <a:rPr i="0" lang="en" sz="1000" u="none" cap="none" strike="noStrike">
                <a:solidFill>
                  <a:schemeClr val="dk1"/>
                </a:solidFill>
                <a:latin typeface="Source Sans Pro"/>
                <a:ea typeface="Source Sans Pro"/>
                <a:cs typeface="Source Sans Pro"/>
                <a:sym typeface="Source Sans Pro"/>
              </a:rPr>
              <a:t>-tier c</a:t>
            </a:r>
            <a:r>
              <a:rPr lang="en" sz="1000">
                <a:solidFill>
                  <a:schemeClr val="dk1"/>
                </a:solidFill>
                <a:latin typeface="Source Sans Pro"/>
                <a:ea typeface="Source Sans Pro"/>
                <a:cs typeface="Source Sans Pro"/>
                <a:sym typeface="Source Sans Pro"/>
              </a:rPr>
              <a:t>ategorization</a:t>
            </a:r>
            <a:r>
              <a:rPr i="0" lang="en" sz="1000" u="none" cap="none" strike="noStrike">
                <a:solidFill>
                  <a:schemeClr val="dk1"/>
                </a:solidFill>
                <a:latin typeface="Source Sans Pro"/>
                <a:ea typeface="Source Sans Pro"/>
                <a:cs typeface="Source Sans Pro"/>
                <a:sym typeface="Source Sans Pro"/>
              </a:rPr>
              <a:t> scheme</a:t>
            </a:r>
            <a:endParaRPr i="0" sz="1000" u="none" cap="none" strike="noStrike">
              <a:solidFill>
                <a:schemeClr val="dk1"/>
              </a:solidFill>
              <a:latin typeface="Source Sans Pro"/>
              <a:ea typeface="Source Sans Pro"/>
              <a:cs typeface="Source Sans Pro"/>
              <a:sym typeface="Source Sans Pro"/>
            </a:endParaRPr>
          </a:p>
        </p:txBody>
      </p:sp>
      <p:sp>
        <p:nvSpPr>
          <p:cNvPr id="860" name="Google Shape;860;p85"/>
          <p:cNvSpPr txBox="1"/>
          <p:nvPr/>
        </p:nvSpPr>
        <p:spPr>
          <a:xfrm>
            <a:off x="6906463" y="1274991"/>
            <a:ext cx="2133300" cy="102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Source Sans Pro"/>
              <a:buNone/>
            </a:pPr>
            <a:r>
              <a:rPr i="0" lang="en" sz="1100" u="none" cap="none" strike="noStrike">
                <a:solidFill>
                  <a:schemeClr val="dk1"/>
                </a:solidFill>
                <a:latin typeface="Source Sans Pro"/>
                <a:ea typeface="Source Sans Pro"/>
                <a:cs typeface="Source Sans Pro"/>
                <a:sym typeface="Source Sans Pro"/>
              </a:rPr>
              <a:t>Should </a:t>
            </a:r>
            <a:r>
              <a:rPr b="1" i="0" lang="en" sz="1100" u="none" cap="none" strike="noStrike">
                <a:solidFill>
                  <a:schemeClr val="accent3"/>
                </a:solidFill>
                <a:latin typeface="Source Sans Pro"/>
                <a:ea typeface="Source Sans Pro"/>
                <a:cs typeface="Source Sans Pro"/>
                <a:sym typeface="Source Sans Pro"/>
              </a:rPr>
              <a:t>“Husky #.25 J Blt”</a:t>
            </a:r>
            <a:endParaRPr i="0" sz="1100" u="none" cap="none" strike="noStrike">
              <a:solidFill>
                <a:schemeClr val="accent3"/>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Source Sans Pro"/>
              <a:buNone/>
            </a:pPr>
            <a:r>
              <a:rPr i="0" lang="en" sz="1100" u="none" cap="none" strike="noStrike">
                <a:solidFill>
                  <a:schemeClr val="dk1"/>
                </a:solidFill>
                <a:latin typeface="Source Sans Pro"/>
                <a:ea typeface="Source Sans Pro"/>
                <a:cs typeface="Source Sans Pro"/>
                <a:sym typeface="Source Sans Pro"/>
              </a:rPr>
              <a:t>in table </a:t>
            </a:r>
            <a:r>
              <a:rPr b="1" i="0" lang="en" sz="1100" u="none" cap="none" strike="noStrike">
                <a:solidFill>
                  <a:schemeClr val="accent3"/>
                </a:solidFill>
                <a:latin typeface="Source Sans Pro"/>
                <a:ea typeface="Source Sans Pro"/>
                <a:cs typeface="Source Sans Pro"/>
                <a:sym typeface="Source Sans Pro"/>
              </a:rPr>
              <a:t>“Invoices”</a:t>
            </a:r>
            <a:r>
              <a:rPr lang="en" sz="1100">
                <a:solidFill>
                  <a:schemeClr val="accent3"/>
                </a:solidFill>
                <a:latin typeface="Source Sans Pro"/>
                <a:ea typeface="Source Sans Pro"/>
                <a:cs typeface="Source Sans Pro"/>
                <a:sym typeface="Source Sans Pro"/>
              </a:rPr>
              <a:t> </a:t>
            </a:r>
            <a:br>
              <a:rPr lang="en" sz="1100">
                <a:solidFill>
                  <a:schemeClr val="dk1"/>
                </a:solidFill>
                <a:latin typeface="Source Sans Pro"/>
                <a:ea typeface="Source Sans Pro"/>
                <a:cs typeface="Source Sans Pro"/>
                <a:sym typeface="Source Sans Pro"/>
              </a:rPr>
            </a:br>
            <a:r>
              <a:rPr i="0" lang="en" sz="1100" u="none" cap="none" strike="noStrike">
                <a:solidFill>
                  <a:schemeClr val="dk1"/>
                </a:solidFill>
                <a:latin typeface="Source Sans Pro"/>
                <a:ea typeface="Source Sans Pro"/>
                <a:cs typeface="Source Sans Pro"/>
                <a:sym typeface="Source Sans Pro"/>
              </a:rPr>
              <a:t>be categorized as</a:t>
            </a:r>
            <a:endParaRPr i="0" sz="11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F7BB5"/>
              </a:buClr>
              <a:buSzPts val="1200"/>
              <a:buFont typeface="Source Sans Pro"/>
              <a:buNone/>
            </a:pPr>
            <a:r>
              <a:rPr b="1" i="0" lang="en" sz="1100" u="none" cap="none" strike="noStrike">
                <a:solidFill>
                  <a:schemeClr val="accent3"/>
                </a:solidFill>
                <a:latin typeface="Source Sans Pro"/>
                <a:ea typeface="Source Sans Pro"/>
                <a:cs typeface="Source Sans Pro"/>
                <a:sym typeface="Source Sans Pro"/>
              </a:rPr>
              <a:t>“Hardware &gt; Fasteners &gt; Bolt”</a:t>
            </a:r>
            <a:r>
              <a:rPr i="0" lang="en" sz="1100" u="none" cap="none" strike="noStrike">
                <a:solidFill>
                  <a:schemeClr val="dk1"/>
                </a:solidFill>
                <a:latin typeface="Source Sans Pro"/>
                <a:ea typeface="Source Sans Pro"/>
                <a:cs typeface="Source Sans Pro"/>
                <a:sym typeface="Source Sans Pro"/>
              </a:rPr>
              <a:t>?</a:t>
            </a:r>
            <a:endParaRPr i="0" sz="1100" u="none" cap="none" strike="noStrike">
              <a:solidFill>
                <a:schemeClr val="dk1"/>
              </a:solidFill>
              <a:latin typeface="Source Sans Pro"/>
              <a:ea typeface="Source Sans Pro"/>
              <a:cs typeface="Source Sans Pro"/>
              <a:sym typeface="Source Sans Pro"/>
            </a:endParaRPr>
          </a:p>
        </p:txBody>
      </p:sp>
      <p:sp>
        <p:nvSpPr>
          <p:cNvPr id="861" name="Google Shape;861;p85"/>
          <p:cNvSpPr txBox="1"/>
          <p:nvPr/>
        </p:nvSpPr>
        <p:spPr>
          <a:xfrm>
            <a:off x="118625" y="1326241"/>
            <a:ext cx="1408200" cy="1800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Source Sans Pro"/>
              <a:buNone/>
            </a:pPr>
            <a:r>
              <a:rPr i="0" lang="en" sz="800" u="none" cap="none" strike="noStrike">
                <a:solidFill>
                  <a:schemeClr val="dk1"/>
                </a:solidFill>
                <a:latin typeface="Source Sans Pro"/>
                <a:ea typeface="Source Sans Pro"/>
                <a:cs typeface="Source Sans Pro"/>
                <a:sym typeface="Source Sans Pro"/>
              </a:rPr>
              <a:t>Source 1: Vendor_Name</a:t>
            </a:r>
            <a:endParaRPr i="0" sz="800" u="none" cap="none" strike="noStrike">
              <a:solidFill>
                <a:schemeClr val="dk1"/>
              </a:solidFill>
              <a:latin typeface="Source Sans Pro"/>
              <a:ea typeface="Source Sans Pro"/>
              <a:cs typeface="Source Sans Pro"/>
              <a:sym typeface="Source Sans Pro"/>
            </a:endParaRPr>
          </a:p>
        </p:txBody>
      </p:sp>
      <p:sp>
        <p:nvSpPr>
          <p:cNvPr id="862" name="Google Shape;862;p85"/>
          <p:cNvSpPr/>
          <p:nvPr/>
        </p:nvSpPr>
        <p:spPr>
          <a:xfrm rot="5400000">
            <a:off x="1481256" y="1324461"/>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63" name="Google Shape;863;p85"/>
          <p:cNvSpPr txBox="1"/>
          <p:nvPr/>
        </p:nvSpPr>
        <p:spPr>
          <a:xfrm>
            <a:off x="118625" y="1530082"/>
            <a:ext cx="1408200" cy="1800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Source Sans Pro"/>
              <a:buNone/>
            </a:pPr>
            <a:r>
              <a:rPr i="0" lang="en" sz="800" u="none" cap="none" strike="noStrike">
                <a:solidFill>
                  <a:schemeClr val="dk1"/>
                </a:solidFill>
                <a:latin typeface="Source Sans Pro"/>
                <a:ea typeface="Source Sans Pro"/>
                <a:cs typeface="Source Sans Pro"/>
                <a:sym typeface="Source Sans Pro"/>
              </a:rPr>
              <a:t>Source 2: Supplier</a:t>
            </a:r>
            <a:endParaRPr i="0" sz="800" u="none" cap="none" strike="noStrike">
              <a:solidFill>
                <a:schemeClr val="dk1"/>
              </a:solidFill>
              <a:latin typeface="Source Sans Pro"/>
              <a:ea typeface="Source Sans Pro"/>
              <a:cs typeface="Source Sans Pro"/>
              <a:sym typeface="Source Sans Pro"/>
            </a:endParaRPr>
          </a:p>
        </p:txBody>
      </p:sp>
      <p:sp>
        <p:nvSpPr>
          <p:cNvPr id="864" name="Google Shape;864;p85"/>
          <p:cNvSpPr/>
          <p:nvPr/>
        </p:nvSpPr>
        <p:spPr>
          <a:xfrm rot="5400000">
            <a:off x="1481256" y="1528303"/>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65" name="Google Shape;865;p85"/>
          <p:cNvSpPr txBox="1"/>
          <p:nvPr/>
        </p:nvSpPr>
        <p:spPr>
          <a:xfrm>
            <a:off x="118625" y="1733922"/>
            <a:ext cx="1408200" cy="1800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Source Sans Pro"/>
              <a:buNone/>
            </a:pPr>
            <a:r>
              <a:rPr i="0" lang="en" sz="800" u="none" cap="none" strike="noStrike">
                <a:solidFill>
                  <a:schemeClr val="dk1"/>
                </a:solidFill>
                <a:latin typeface="Source Sans Pro"/>
                <a:ea typeface="Source Sans Pro"/>
                <a:cs typeface="Source Sans Pro"/>
                <a:sym typeface="Source Sans Pro"/>
              </a:rPr>
              <a:t>Source 3: LFA1-MANDT</a:t>
            </a:r>
            <a:endParaRPr i="0" sz="800" u="none" cap="none" strike="noStrike">
              <a:solidFill>
                <a:schemeClr val="dk1"/>
              </a:solidFill>
              <a:latin typeface="Source Sans Pro"/>
              <a:ea typeface="Source Sans Pro"/>
              <a:cs typeface="Source Sans Pro"/>
              <a:sym typeface="Source Sans Pro"/>
            </a:endParaRPr>
          </a:p>
        </p:txBody>
      </p:sp>
      <p:sp>
        <p:nvSpPr>
          <p:cNvPr id="866" name="Google Shape;866;p85"/>
          <p:cNvSpPr txBox="1"/>
          <p:nvPr/>
        </p:nvSpPr>
        <p:spPr>
          <a:xfrm>
            <a:off x="118638" y="1937766"/>
            <a:ext cx="1408200" cy="1800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Source Sans Pro"/>
              <a:buNone/>
            </a:pPr>
            <a:r>
              <a:rPr i="0" lang="en" sz="800" u="none" cap="none" strike="noStrike">
                <a:solidFill>
                  <a:schemeClr val="dk1"/>
                </a:solidFill>
                <a:latin typeface="Source Sans Pro"/>
                <a:ea typeface="Source Sans Pro"/>
                <a:cs typeface="Source Sans Pro"/>
                <a:sym typeface="Source Sans Pro"/>
              </a:rPr>
              <a:t>Source 4: Co</a:t>
            </a:r>
            <a:r>
              <a:rPr lang="en" sz="800">
                <a:solidFill>
                  <a:schemeClr val="dk1"/>
                </a:solidFill>
                <a:latin typeface="Source Sans Pro"/>
                <a:ea typeface="Source Sans Pro"/>
                <a:cs typeface="Source Sans Pro"/>
                <a:sym typeface="Source Sans Pro"/>
              </a:rPr>
              <a:t>mpany</a:t>
            </a:r>
            <a:r>
              <a:rPr i="0" lang="en" sz="800" u="none" cap="none" strike="noStrike">
                <a:solidFill>
                  <a:schemeClr val="dk1"/>
                </a:solidFill>
                <a:latin typeface="Source Sans Pro"/>
                <a:ea typeface="Source Sans Pro"/>
                <a:cs typeface="Source Sans Pro"/>
                <a:sym typeface="Source Sans Pro"/>
              </a:rPr>
              <a:t>Nm</a:t>
            </a:r>
            <a:endParaRPr i="0" sz="800" u="none" cap="none" strike="noStrike">
              <a:solidFill>
                <a:schemeClr val="dk1"/>
              </a:solidFill>
              <a:latin typeface="Source Sans Pro"/>
              <a:ea typeface="Source Sans Pro"/>
              <a:cs typeface="Source Sans Pro"/>
              <a:sym typeface="Source Sans Pro"/>
            </a:endParaRPr>
          </a:p>
        </p:txBody>
      </p:sp>
      <p:sp>
        <p:nvSpPr>
          <p:cNvPr id="867" name="Google Shape;867;p85"/>
          <p:cNvSpPr/>
          <p:nvPr/>
        </p:nvSpPr>
        <p:spPr>
          <a:xfrm rot="5400000">
            <a:off x="1481256" y="1935985"/>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68" name="Google Shape;868;p85"/>
          <p:cNvSpPr txBox="1"/>
          <p:nvPr/>
        </p:nvSpPr>
        <p:spPr>
          <a:xfrm>
            <a:off x="118625" y="2149540"/>
            <a:ext cx="1408200" cy="180000"/>
          </a:xfrm>
          <a:prstGeom prst="rect">
            <a:avLst/>
          </a:prstGeom>
          <a:solidFill>
            <a:srgbClr val="D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Source Sans Pro"/>
              <a:buNone/>
            </a:pPr>
            <a:r>
              <a:rPr i="0" lang="en" sz="800" u="none" cap="none" strike="noStrike">
                <a:solidFill>
                  <a:schemeClr val="dk1"/>
                </a:solidFill>
                <a:latin typeface="Source Sans Pro"/>
                <a:ea typeface="Source Sans Pro"/>
                <a:cs typeface="Source Sans Pro"/>
                <a:sym typeface="Source Sans Pro"/>
              </a:rPr>
              <a:t>Source </a:t>
            </a:r>
            <a:r>
              <a:rPr i="1" lang="en" sz="800">
                <a:solidFill>
                  <a:schemeClr val="dk1"/>
                </a:solidFill>
                <a:latin typeface="Source Sans Pro"/>
                <a:ea typeface="Source Sans Pro"/>
                <a:cs typeface="Source Sans Pro"/>
                <a:sym typeface="Source Sans Pro"/>
              </a:rPr>
              <a:t>n</a:t>
            </a:r>
            <a:r>
              <a:rPr i="0" lang="en" sz="800" u="none" cap="none" strike="noStrike">
                <a:solidFill>
                  <a:schemeClr val="dk1"/>
                </a:solidFill>
                <a:latin typeface="Source Sans Pro"/>
                <a:ea typeface="Source Sans Pro"/>
                <a:cs typeface="Source Sans Pro"/>
                <a:sym typeface="Source Sans Pro"/>
              </a:rPr>
              <a:t>: Nom_de_Cie</a:t>
            </a:r>
            <a:endParaRPr i="0" sz="800" u="none" cap="none" strike="noStrike">
              <a:solidFill>
                <a:schemeClr val="dk1"/>
              </a:solidFill>
              <a:latin typeface="Source Sans Pro"/>
              <a:ea typeface="Source Sans Pro"/>
              <a:cs typeface="Source Sans Pro"/>
              <a:sym typeface="Source Sans Pro"/>
            </a:endParaRPr>
          </a:p>
        </p:txBody>
      </p:sp>
      <p:sp>
        <p:nvSpPr>
          <p:cNvPr id="869" name="Google Shape;869;p85"/>
          <p:cNvSpPr/>
          <p:nvPr/>
        </p:nvSpPr>
        <p:spPr>
          <a:xfrm>
            <a:off x="1474003" y="2166892"/>
            <a:ext cx="137700" cy="146700"/>
          </a:xfrm>
          <a:prstGeom prst="noSmoking">
            <a:avLst>
              <a:gd fmla="val 18750" name="adj"/>
            </a:avLst>
          </a:prstGeom>
          <a:solidFill>
            <a:srgbClr val="F523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Source Sans Pro"/>
              <a:ea typeface="Source Sans Pro"/>
              <a:cs typeface="Source Sans Pro"/>
              <a:sym typeface="Source Sans Pro"/>
            </a:endParaRPr>
          </a:p>
        </p:txBody>
      </p:sp>
      <p:sp>
        <p:nvSpPr>
          <p:cNvPr id="870" name="Google Shape;870;p85"/>
          <p:cNvSpPr/>
          <p:nvPr/>
        </p:nvSpPr>
        <p:spPr>
          <a:xfrm rot="5400000">
            <a:off x="1481256" y="1736870"/>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71" name="Google Shape;871;p85"/>
          <p:cNvSpPr/>
          <p:nvPr/>
        </p:nvSpPr>
        <p:spPr>
          <a:xfrm>
            <a:off x="4803950" y="957632"/>
            <a:ext cx="1960800" cy="2619900"/>
          </a:xfrm>
          <a:prstGeom prst="roundRect">
            <a:avLst>
              <a:gd fmla="val 482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Source Sans Pro"/>
              <a:ea typeface="Source Sans Pro"/>
              <a:cs typeface="Source Sans Pro"/>
              <a:sym typeface="Source Sans Pro"/>
            </a:endParaRPr>
          </a:p>
        </p:txBody>
      </p:sp>
      <p:graphicFrame>
        <p:nvGraphicFramePr>
          <p:cNvPr id="872" name="Google Shape;872;p85"/>
          <p:cNvGraphicFramePr/>
          <p:nvPr/>
        </p:nvGraphicFramePr>
        <p:xfrm>
          <a:off x="4887250" y="1392891"/>
          <a:ext cx="3000000" cy="3000000"/>
        </p:xfrm>
        <a:graphic>
          <a:graphicData uri="http://schemas.openxmlformats.org/drawingml/2006/table">
            <a:tbl>
              <a:tblPr>
                <a:noFill/>
                <a:tableStyleId>{129CF31E-63C5-4CAB-A024-31359DF71C8A}</a:tableStyleId>
              </a:tblPr>
              <a:tblGrid>
                <a:gridCol w="597075"/>
                <a:gridCol w="597075"/>
                <a:gridCol w="597075"/>
              </a:tblGrid>
              <a:tr h="168025">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IBM</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Way</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(+1) 1234</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r h="168025">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IBM Corp.</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Way Str</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001 1234</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r h="168025">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I.B.M.</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Way Str</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l">
                        <a:spcBef>
                          <a:spcPts val="0"/>
                        </a:spcBef>
                        <a:spcAft>
                          <a:spcPts val="0"/>
                        </a:spcAft>
                        <a:buNone/>
                      </a:pPr>
                      <a:r>
                        <a:rPr lang="en" sz="800">
                          <a:solidFill>
                            <a:schemeClr val="dk1"/>
                          </a:solidFill>
                          <a:highlight>
                            <a:schemeClr val="accent3"/>
                          </a:highlight>
                          <a:latin typeface="Source Sans Pro"/>
                          <a:ea typeface="Source Sans Pro"/>
                          <a:cs typeface="Source Sans Pro"/>
                          <a:sym typeface="Source Sans Pro"/>
                        </a:rPr>
                        <a:t>01234</a:t>
                      </a:r>
                      <a:endParaRPr sz="800">
                        <a:solidFill>
                          <a:schemeClr val="dk1"/>
                        </a:solidFill>
                        <a:highlight>
                          <a:schemeClr val="accent3"/>
                        </a:highlight>
                        <a:latin typeface="Source Sans Pro"/>
                        <a:ea typeface="Source Sans Pro"/>
                        <a:cs typeface="Source Sans Pro"/>
                        <a:sym typeface="Source Sans Pro"/>
                      </a:endParaRPr>
                    </a:p>
                  </a:txBody>
                  <a:tcPr marT="18275" marB="0" marR="0" marL="45700">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bl>
          </a:graphicData>
        </a:graphic>
      </p:graphicFrame>
      <p:sp>
        <p:nvSpPr>
          <p:cNvPr id="873" name="Google Shape;873;p85"/>
          <p:cNvSpPr/>
          <p:nvPr/>
        </p:nvSpPr>
        <p:spPr>
          <a:xfrm rot="10800000">
            <a:off x="5712231" y="1924920"/>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74" name="Google Shape;874;p85"/>
          <p:cNvSpPr/>
          <p:nvPr/>
        </p:nvSpPr>
        <p:spPr>
          <a:xfrm rot="10800000">
            <a:off x="5114443" y="1924920"/>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sp>
        <p:nvSpPr>
          <p:cNvPr id="875" name="Google Shape;875;p85"/>
          <p:cNvSpPr/>
          <p:nvPr/>
        </p:nvSpPr>
        <p:spPr>
          <a:xfrm rot="10800000">
            <a:off x="6310018" y="1924920"/>
            <a:ext cx="146700" cy="174000"/>
          </a:xfrm>
          <a:prstGeom prst="upArrow">
            <a:avLst>
              <a:gd fmla="val 50000" name="adj1"/>
              <a:gd fmla="val 50000" name="adj2"/>
            </a:avLst>
          </a:prstGeom>
          <a:solidFill>
            <a:srgbClr val="86D3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Source Sans Pro"/>
              <a:ea typeface="Source Sans Pro"/>
              <a:cs typeface="Source Sans Pro"/>
              <a:sym typeface="Source Sans Pro"/>
            </a:endParaRPr>
          </a:p>
        </p:txBody>
      </p:sp>
      <p:graphicFrame>
        <p:nvGraphicFramePr>
          <p:cNvPr id="876" name="Google Shape;876;p85"/>
          <p:cNvGraphicFramePr/>
          <p:nvPr/>
        </p:nvGraphicFramePr>
        <p:xfrm>
          <a:off x="4889975" y="2126866"/>
          <a:ext cx="3000000" cy="3000000"/>
        </p:xfrm>
        <a:graphic>
          <a:graphicData uri="http://schemas.openxmlformats.org/drawingml/2006/table">
            <a:tbl>
              <a:tblPr>
                <a:noFill/>
                <a:tableStyleId>{129CF31E-63C5-4CAB-A024-31359DF71C8A}</a:tableStyleId>
              </a:tblPr>
              <a:tblGrid>
                <a:gridCol w="597075"/>
                <a:gridCol w="597075"/>
                <a:gridCol w="597075"/>
              </a:tblGrid>
              <a:tr h="168025">
                <a:tc>
                  <a:txBody>
                    <a:bodyPr/>
                    <a:lstStyle/>
                    <a:p>
                      <a:pPr indent="0" lvl="0" marL="0" rtl="0" algn="l">
                        <a:spcBef>
                          <a:spcPts val="0"/>
                        </a:spcBef>
                        <a:spcAft>
                          <a:spcPts val="0"/>
                        </a:spcAft>
                        <a:buNone/>
                      </a:pPr>
                      <a:r>
                        <a:rPr lang="en" sz="800">
                          <a:solidFill>
                            <a:schemeClr val="dk1"/>
                          </a:solidFill>
                          <a:latin typeface="Source Sans Pro"/>
                          <a:ea typeface="Source Sans Pro"/>
                          <a:cs typeface="Source Sans Pro"/>
                          <a:sym typeface="Source Sans Pro"/>
                        </a:rPr>
                        <a:t>IBM</a:t>
                      </a:r>
                      <a:endParaRPr sz="800">
                        <a:solidFill>
                          <a:schemeClr val="dk1"/>
                        </a:solidFill>
                        <a:latin typeface="Source Sans Pro"/>
                        <a:ea typeface="Source Sans Pro"/>
                        <a:cs typeface="Source Sans Pro"/>
                        <a:sym typeface="Source Sans Pro"/>
                      </a:endParaRPr>
                    </a:p>
                  </a:txBody>
                  <a:tcPr marT="18275" marB="0" marR="0" marL="45700">
                    <a:lnB cap="flat" cmpd="sng" w="9525">
                      <a:solidFill>
                        <a:srgbClr val="00B0D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800">
                          <a:solidFill>
                            <a:schemeClr val="dk1"/>
                          </a:solidFill>
                          <a:latin typeface="Source Sans Pro"/>
                          <a:ea typeface="Source Sans Pro"/>
                          <a:cs typeface="Source Sans Pro"/>
                          <a:sym typeface="Source Sans Pro"/>
                        </a:rPr>
                        <a:t>Way Str</a:t>
                      </a:r>
                      <a:endParaRPr sz="800">
                        <a:solidFill>
                          <a:schemeClr val="dk1"/>
                        </a:solidFill>
                        <a:latin typeface="Source Sans Pro"/>
                        <a:ea typeface="Source Sans Pro"/>
                        <a:cs typeface="Source Sans Pro"/>
                        <a:sym typeface="Source Sans Pro"/>
                      </a:endParaRPr>
                    </a:p>
                  </a:txBody>
                  <a:tcPr marT="18275" marB="0" marR="0" marL="45700">
                    <a:solidFill>
                      <a:schemeClr val="accent4"/>
                    </a:solidFill>
                  </a:tcPr>
                </a:tc>
                <a:tc>
                  <a:txBody>
                    <a:bodyPr/>
                    <a:lstStyle/>
                    <a:p>
                      <a:pPr indent="0" lvl="0" marL="0" rtl="0" algn="l">
                        <a:spcBef>
                          <a:spcPts val="0"/>
                        </a:spcBef>
                        <a:spcAft>
                          <a:spcPts val="0"/>
                        </a:spcAft>
                        <a:buNone/>
                      </a:pPr>
                      <a:r>
                        <a:rPr lang="en" sz="800">
                          <a:solidFill>
                            <a:schemeClr val="dk1"/>
                          </a:solidFill>
                          <a:latin typeface="Source Sans Pro"/>
                          <a:ea typeface="Source Sans Pro"/>
                          <a:cs typeface="Source Sans Pro"/>
                          <a:sym typeface="Source Sans Pro"/>
                        </a:rPr>
                        <a:t>01234</a:t>
                      </a:r>
                      <a:endParaRPr sz="800">
                        <a:solidFill>
                          <a:schemeClr val="dk1"/>
                        </a:solidFill>
                        <a:latin typeface="Source Sans Pro"/>
                        <a:ea typeface="Source Sans Pro"/>
                        <a:cs typeface="Source Sans Pro"/>
                        <a:sym typeface="Source Sans Pro"/>
                      </a:endParaRPr>
                    </a:p>
                  </a:txBody>
                  <a:tcPr marT="18275" marB="0" marR="0" marL="45700">
                    <a:solidFill>
                      <a:schemeClr val="accent4"/>
                    </a:solidFill>
                  </a:tcPr>
                </a:tc>
              </a:tr>
            </a:tbl>
          </a:graphicData>
        </a:graphic>
      </p:graphicFrame>
      <p:sp>
        <p:nvSpPr>
          <p:cNvPr id="877" name="Google Shape;877;p85"/>
          <p:cNvSpPr txBox="1"/>
          <p:nvPr/>
        </p:nvSpPr>
        <p:spPr>
          <a:xfrm>
            <a:off x="1681228" y="1471877"/>
            <a:ext cx="786300" cy="228600"/>
          </a:xfrm>
          <a:prstGeom prst="rect">
            <a:avLst/>
          </a:prstGeom>
          <a:solidFill>
            <a:schemeClr val="dk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000"/>
              <a:buFont typeface="Source Sans Pro"/>
              <a:buNone/>
            </a:pPr>
            <a:r>
              <a:rPr b="1" i="0" lang="en" sz="700" u="none" cap="none" strike="noStrike">
                <a:solidFill>
                  <a:schemeClr val="lt1"/>
                </a:solidFill>
                <a:latin typeface="Source Sans Pro"/>
                <a:ea typeface="Source Sans Pro"/>
                <a:cs typeface="Source Sans Pro"/>
                <a:sym typeface="Source Sans Pro"/>
              </a:rPr>
              <a:t>Unified Name</a:t>
            </a:r>
            <a:endParaRPr b="1" i="0" sz="700" u="none" cap="none" strike="noStrike">
              <a:solidFill>
                <a:schemeClr val="lt1"/>
              </a:solidFill>
              <a:latin typeface="Source Sans Pro"/>
              <a:ea typeface="Source Sans Pro"/>
              <a:cs typeface="Source Sans Pro"/>
              <a:sym typeface="Source Sans Pro"/>
            </a:endParaRPr>
          </a:p>
        </p:txBody>
      </p:sp>
      <p:sp>
        <p:nvSpPr>
          <p:cNvPr id="878" name="Google Shape;878;p85"/>
          <p:cNvSpPr/>
          <p:nvPr/>
        </p:nvSpPr>
        <p:spPr>
          <a:xfrm>
            <a:off x="44925" y="957625"/>
            <a:ext cx="2492700" cy="292500"/>
          </a:xfrm>
          <a:prstGeom prst="round2SameRect">
            <a:avLst>
              <a:gd fmla="val 14145"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85"/>
          <p:cNvSpPr txBox="1"/>
          <p:nvPr/>
        </p:nvSpPr>
        <p:spPr>
          <a:xfrm>
            <a:off x="68538" y="932381"/>
            <a:ext cx="24690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Source Sans Pro"/>
                <a:ea typeface="Source Sans Pro"/>
                <a:cs typeface="Source Sans Pro"/>
                <a:sym typeface="Source Sans Pro"/>
              </a:rPr>
              <a:t>Schema Mapping</a:t>
            </a:r>
            <a:endParaRPr b="1" sz="1000">
              <a:solidFill>
                <a:schemeClr val="lt1"/>
              </a:solidFill>
              <a:latin typeface="Source Sans Pro"/>
              <a:ea typeface="Source Sans Pro"/>
              <a:cs typeface="Source Sans Pro"/>
              <a:sym typeface="Source Sans Pro"/>
            </a:endParaRPr>
          </a:p>
        </p:txBody>
      </p:sp>
      <p:sp>
        <p:nvSpPr>
          <p:cNvPr id="880" name="Google Shape;880;p85"/>
          <p:cNvSpPr/>
          <p:nvPr/>
        </p:nvSpPr>
        <p:spPr>
          <a:xfrm>
            <a:off x="2677914" y="959816"/>
            <a:ext cx="1960800" cy="292500"/>
          </a:xfrm>
          <a:prstGeom prst="round2SameRect">
            <a:avLst>
              <a:gd fmla="val 17641"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85"/>
          <p:cNvSpPr txBox="1"/>
          <p:nvPr/>
        </p:nvSpPr>
        <p:spPr>
          <a:xfrm>
            <a:off x="2618863" y="932381"/>
            <a:ext cx="20910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Source Sans Pro"/>
                <a:ea typeface="Source Sans Pro"/>
                <a:cs typeface="Source Sans Pro"/>
                <a:sym typeface="Source Sans Pro"/>
              </a:rPr>
              <a:t>Record Matching (Dedupe)</a:t>
            </a:r>
            <a:endParaRPr b="1" sz="1000">
              <a:solidFill>
                <a:schemeClr val="lt1"/>
              </a:solidFill>
              <a:latin typeface="Source Sans Pro"/>
              <a:ea typeface="Source Sans Pro"/>
              <a:cs typeface="Source Sans Pro"/>
              <a:sym typeface="Source Sans Pro"/>
            </a:endParaRPr>
          </a:p>
        </p:txBody>
      </p:sp>
      <p:sp>
        <p:nvSpPr>
          <p:cNvPr id="882" name="Google Shape;882;p85"/>
          <p:cNvSpPr/>
          <p:nvPr/>
        </p:nvSpPr>
        <p:spPr>
          <a:xfrm>
            <a:off x="4794751" y="946266"/>
            <a:ext cx="1960800" cy="292500"/>
          </a:xfrm>
          <a:prstGeom prst="round2SameRect">
            <a:avLst>
              <a:gd fmla="val 17641"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85"/>
          <p:cNvSpPr txBox="1"/>
          <p:nvPr/>
        </p:nvSpPr>
        <p:spPr>
          <a:xfrm>
            <a:off x="4794762" y="932391"/>
            <a:ext cx="19842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Source Sans Pro"/>
                <a:ea typeface="Source Sans Pro"/>
                <a:cs typeface="Source Sans Pro"/>
                <a:sym typeface="Source Sans Pro"/>
              </a:rPr>
              <a:t>Record Mastering</a:t>
            </a:r>
            <a:endParaRPr b="1" sz="1000">
              <a:solidFill>
                <a:schemeClr val="lt1"/>
              </a:solidFill>
              <a:latin typeface="Source Sans Pro"/>
              <a:ea typeface="Source Sans Pro"/>
              <a:cs typeface="Source Sans Pro"/>
              <a:sym typeface="Source Sans Pro"/>
            </a:endParaRPr>
          </a:p>
        </p:txBody>
      </p:sp>
      <p:sp>
        <p:nvSpPr>
          <p:cNvPr id="884" name="Google Shape;884;p85"/>
          <p:cNvSpPr/>
          <p:nvPr/>
        </p:nvSpPr>
        <p:spPr>
          <a:xfrm>
            <a:off x="6929463" y="950666"/>
            <a:ext cx="2133300" cy="292500"/>
          </a:xfrm>
          <a:prstGeom prst="round2SameRect">
            <a:avLst>
              <a:gd fmla="val 17641"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85"/>
          <p:cNvSpPr txBox="1"/>
          <p:nvPr/>
        </p:nvSpPr>
        <p:spPr>
          <a:xfrm>
            <a:off x="7005462" y="932391"/>
            <a:ext cx="1984200" cy="2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Source Sans Pro"/>
                <a:ea typeface="Source Sans Pro"/>
                <a:cs typeface="Source Sans Pro"/>
                <a:sym typeface="Source Sans Pro"/>
              </a:rPr>
              <a:t>Categorization</a:t>
            </a:r>
            <a:endParaRPr b="1" sz="1000">
              <a:solidFill>
                <a:schemeClr val="lt1"/>
              </a:solidFill>
              <a:latin typeface="Source Sans Pro"/>
              <a:ea typeface="Source Sans Pro"/>
              <a:cs typeface="Source Sans Pro"/>
              <a:sym typeface="Source Sans Pro"/>
            </a:endParaRPr>
          </a:p>
        </p:txBody>
      </p:sp>
      <p:sp>
        <p:nvSpPr>
          <p:cNvPr id="886" name="Google Shape;886;p85"/>
          <p:cNvSpPr txBox="1"/>
          <p:nvPr/>
        </p:nvSpPr>
        <p:spPr>
          <a:xfrm>
            <a:off x="140574" y="2427816"/>
            <a:ext cx="2255100" cy="1252500"/>
          </a:xfrm>
          <a:prstGeom prst="rect">
            <a:avLst/>
          </a:prstGeom>
          <a:noFill/>
          <a:ln>
            <a:noFill/>
          </a:ln>
        </p:spPr>
        <p:txBody>
          <a:bodyPr anchorCtr="0" anchor="t" bIns="91425" lIns="91425" spcFirstLastPara="1" rIns="91425" wrap="square" tIns="91425">
            <a:noAutofit/>
          </a:bodyPr>
          <a:lstStyle/>
          <a:p>
            <a:pPr indent="-200660" lvl="0" marL="365760" marR="0" rtl="0" algn="l">
              <a:lnSpc>
                <a:spcPct val="100000"/>
              </a:lnSpc>
              <a:spcBef>
                <a:spcPts val="0"/>
              </a:spcBef>
              <a:spcAft>
                <a:spcPts val="0"/>
              </a:spcAft>
              <a:buClr>
                <a:srgbClr val="343A43"/>
              </a:buClr>
              <a:buSzPts val="1000"/>
              <a:buFont typeface="Source Sans Pro"/>
              <a:buChar char="●"/>
            </a:pPr>
            <a:r>
              <a:rPr b="1" i="0" lang="en" sz="1000" u="none" cap="none" strike="noStrike">
                <a:solidFill>
                  <a:srgbClr val="343A43"/>
                </a:solidFill>
                <a:latin typeface="Source Sans Pro"/>
                <a:ea typeface="Source Sans Pro"/>
                <a:cs typeface="Source Sans Pro"/>
                <a:sym typeface="Source Sans Pro"/>
              </a:rPr>
              <a:t>Extract signals from underlying data</a:t>
            </a:r>
            <a:r>
              <a:rPr i="0" lang="en" sz="1000" u="none" cap="none" strike="noStrike">
                <a:solidFill>
                  <a:srgbClr val="343A43"/>
                </a:solidFill>
                <a:latin typeface="Source Sans Pro"/>
                <a:ea typeface="Source Sans Pro"/>
                <a:cs typeface="Source Sans Pro"/>
                <a:sym typeface="Source Sans Pro"/>
              </a:rPr>
              <a:t> to drive </a:t>
            </a:r>
            <a:r>
              <a:rPr lang="en" sz="1000">
                <a:solidFill>
                  <a:srgbClr val="343A43"/>
                </a:solidFill>
                <a:latin typeface="Source Sans Pro"/>
                <a:ea typeface="Source Sans Pro"/>
                <a:cs typeface="Source Sans Pro"/>
                <a:sym typeface="Source Sans Pro"/>
              </a:rPr>
              <a:t>mastering</a:t>
            </a:r>
            <a:r>
              <a:rPr i="0" lang="en" sz="1000" u="none" cap="none" strike="noStrike">
                <a:solidFill>
                  <a:srgbClr val="343A43"/>
                </a:solidFill>
                <a:latin typeface="Source Sans Pro"/>
                <a:ea typeface="Source Sans Pro"/>
                <a:cs typeface="Source Sans Pro"/>
                <a:sym typeface="Source Sans Pro"/>
              </a:rPr>
              <a:t> decisions</a:t>
            </a:r>
            <a:endParaRPr i="0" sz="1000" u="none" cap="none" strike="noStrike">
              <a:solidFill>
                <a:srgbClr val="343A43"/>
              </a:solidFill>
              <a:latin typeface="Source Sans Pro"/>
              <a:ea typeface="Source Sans Pro"/>
              <a:cs typeface="Source Sans Pro"/>
              <a:sym typeface="Source Sans Pro"/>
            </a:endParaRPr>
          </a:p>
          <a:p>
            <a:pPr indent="-200660" lvl="0" marL="365760" marR="0" rtl="0" algn="l">
              <a:lnSpc>
                <a:spcPct val="100000"/>
              </a:lnSpc>
              <a:spcBef>
                <a:spcPts val="400"/>
              </a:spcBef>
              <a:spcAft>
                <a:spcPts val="400"/>
              </a:spcAft>
              <a:buClr>
                <a:srgbClr val="343A43"/>
              </a:buClr>
              <a:buSzPts val="1000"/>
              <a:buFont typeface="Source Sans Pro"/>
              <a:buChar char="●"/>
            </a:pPr>
            <a:r>
              <a:rPr i="0" lang="en" sz="1000" u="none" cap="none" strike="noStrike">
                <a:solidFill>
                  <a:srgbClr val="343A43"/>
                </a:solidFill>
                <a:latin typeface="Source Sans Pro"/>
                <a:ea typeface="Source Sans Pro"/>
                <a:cs typeface="Source Sans Pro"/>
                <a:sym typeface="Source Sans Pro"/>
              </a:rPr>
              <a:t>Increase levels of </a:t>
            </a:r>
            <a:r>
              <a:rPr b="1" lang="en" sz="1000">
                <a:solidFill>
                  <a:srgbClr val="343A43"/>
                </a:solidFill>
                <a:latin typeface="Source Sans Pro"/>
                <a:ea typeface="Source Sans Pro"/>
                <a:cs typeface="Source Sans Pro"/>
                <a:sym typeface="Source Sans Pro"/>
              </a:rPr>
              <a:t>mastering</a:t>
            </a:r>
            <a:r>
              <a:rPr b="1" i="0" lang="en" sz="1000" u="none" cap="none" strike="noStrike">
                <a:solidFill>
                  <a:srgbClr val="343A43"/>
                </a:solidFill>
                <a:latin typeface="Source Sans Pro"/>
                <a:ea typeface="Source Sans Pro"/>
                <a:cs typeface="Source Sans Pro"/>
                <a:sym typeface="Source Sans Pro"/>
              </a:rPr>
              <a:t> automation</a:t>
            </a:r>
            <a:r>
              <a:rPr i="0" lang="en" sz="1000" u="none" cap="none" strike="noStrike">
                <a:solidFill>
                  <a:srgbClr val="343A43"/>
                </a:solidFill>
                <a:latin typeface="Source Sans Pro"/>
                <a:ea typeface="Source Sans Pro"/>
                <a:cs typeface="Source Sans Pro"/>
                <a:sym typeface="Source Sans Pro"/>
              </a:rPr>
              <a:t> as sources increase</a:t>
            </a:r>
            <a:endParaRPr i="0" sz="1000" u="none" cap="none" strike="noStrike">
              <a:solidFill>
                <a:srgbClr val="343A43"/>
              </a:solidFill>
              <a:latin typeface="Source Sans Pro"/>
              <a:ea typeface="Source Sans Pro"/>
              <a:cs typeface="Source Sans Pro"/>
              <a:sym typeface="Source Sans Pro"/>
            </a:endParaRPr>
          </a:p>
        </p:txBody>
      </p:sp>
      <p:sp>
        <p:nvSpPr>
          <p:cNvPr id="887" name="Google Shape;887;p85"/>
          <p:cNvSpPr txBox="1"/>
          <p:nvPr/>
        </p:nvSpPr>
        <p:spPr>
          <a:xfrm>
            <a:off x="2567488" y="2427816"/>
            <a:ext cx="2133300" cy="1224600"/>
          </a:xfrm>
          <a:prstGeom prst="rect">
            <a:avLst/>
          </a:prstGeom>
          <a:noFill/>
          <a:ln>
            <a:noFill/>
          </a:ln>
        </p:spPr>
        <p:txBody>
          <a:bodyPr anchorCtr="0" anchor="t" bIns="91425" lIns="91425" spcFirstLastPara="1" rIns="91425" wrap="square" tIns="91425">
            <a:noAutofit/>
          </a:bodyPr>
          <a:lstStyle/>
          <a:p>
            <a:pPr indent="-200660" lvl="0" marL="365760" marR="0" rtl="0" algn="l">
              <a:lnSpc>
                <a:spcPct val="100000"/>
              </a:lnSpc>
              <a:spcBef>
                <a:spcPts val="0"/>
              </a:spcBef>
              <a:spcAft>
                <a:spcPts val="0"/>
              </a:spcAft>
              <a:buClr>
                <a:srgbClr val="343A43"/>
              </a:buClr>
              <a:buSzPts val="1000"/>
              <a:buFont typeface="Source Sans Pro"/>
              <a:buChar char="●"/>
            </a:pPr>
            <a:r>
              <a:rPr b="1" i="0" lang="en" sz="1000" u="none" cap="none" strike="noStrike">
                <a:solidFill>
                  <a:srgbClr val="343A43"/>
                </a:solidFill>
                <a:latin typeface="Source Sans Pro"/>
                <a:ea typeface="Source Sans Pro"/>
                <a:cs typeface="Source Sans Pro"/>
                <a:sym typeface="Source Sans Pro"/>
              </a:rPr>
              <a:t>Automatically group</a:t>
            </a:r>
            <a:r>
              <a:rPr i="0" lang="en" sz="1000" u="none" cap="none" strike="noStrike">
                <a:solidFill>
                  <a:srgbClr val="343A43"/>
                </a:solidFill>
                <a:latin typeface="Source Sans Pro"/>
                <a:ea typeface="Source Sans Pro"/>
                <a:cs typeface="Source Sans Pro"/>
                <a:sym typeface="Source Sans Pro"/>
              </a:rPr>
              <a:t> similar records using machine learning</a:t>
            </a:r>
            <a:endParaRPr i="0" sz="1000" u="none" cap="none" strike="noStrike">
              <a:solidFill>
                <a:srgbClr val="343A43"/>
              </a:solidFill>
              <a:latin typeface="Source Sans Pro"/>
              <a:ea typeface="Source Sans Pro"/>
              <a:cs typeface="Source Sans Pro"/>
              <a:sym typeface="Source Sans Pro"/>
            </a:endParaRPr>
          </a:p>
          <a:p>
            <a:pPr indent="-200660" lvl="0" marL="365760" marR="0" rtl="0" algn="l">
              <a:lnSpc>
                <a:spcPct val="100000"/>
              </a:lnSpc>
              <a:spcBef>
                <a:spcPts val="400"/>
              </a:spcBef>
              <a:spcAft>
                <a:spcPts val="400"/>
              </a:spcAft>
              <a:buClr>
                <a:srgbClr val="343A43"/>
              </a:buClr>
              <a:buSzPts val="1000"/>
              <a:buFont typeface="Source Sans Pro"/>
              <a:buChar char="●"/>
            </a:pPr>
            <a:r>
              <a:rPr b="1" lang="en" sz="1000">
                <a:solidFill>
                  <a:srgbClr val="343A43"/>
                </a:solidFill>
                <a:latin typeface="Source Sans Pro"/>
                <a:ea typeface="Source Sans Pro"/>
                <a:cs typeface="Source Sans Pro"/>
                <a:sym typeface="Source Sans Pro"/>
              </a:rPr>
              <a:t>Gather</a:t>
            </a:r>
            <a:r>
              <a:rPr b="1" i="0" lang="en" sz="1000" u="none" cap="none" strike="noStrike">
                <a:solidFill>
                  <a:srgbClr val="343A43"/>
                </a:solidFill>
                <a:latin typeface="Source Sans Pro"/>
                <a:ea typeface="Source Sans Pro"/>
                <a:cs typeface="Source Sans Pro"/>
                <a:sym typeface="Source Sans Pro"/>
              </a:rPr>
              <a:t> expert feedback easily</a:t>
            </a:r>
            <a:r>
              <a:rPr i="0" lang="en" sz="1000" u="none" cap="none" strike="noStrike">
                <a:solidFill>
                  <a:srgbClr val="343A43"/>
                </a:solidFill>
                <a:latin typeface="Source Sans Pro"/>
                <a:ea typeface="Source Sans Pro"/>
                <a:cs typeface="Source Sans Pro"/>
                <a:sym typeface="Source Sans Pro"/>
              </a:rPr>
              <a:t> and quickly for maximum accuracy</a:t>
            </a:r>
            <a:endParaRPr i="0" sz="1000" u="none" cap="none" strike="noStrike">
              <a:solidFill>
                <a:srgbClr val="343A43"/>
              </a:solidFill>
              <a:latin typeface="Source Sans Pro"/>
              <a:ea typeface="Source Sans Pro"/>
              <a:cs typeface="Source Sans Pro"/>
              <a:sym typeface="Source Sans Pro"/>
            </a:endParaRPr>
          </a:p>
        </p:txBody>
      </p:sp>
      <p:sp>
        <p:nvSpPr>
          <p:cNvPr id="888" name="Google Shape;888;p85"/>
          <p:cNvSpPr txBox="1"/>
          <p:nvPr/>
        </p:nvSpPr>
        <p:spPr>
          <a:xfrm>
            <a:off x="4740738" y="2427816"/>
            <a:ext cx="1916400" cy="1005600"/>
          </a:xfrm>
          <a:prstGeom prst="rect">
            <a:avLst/>
          </a:prstGeom>
          <a:noFill/>
          <a:ln>
            <a:noFill/>
          </a:ln>
        </p:spPr>
        <p:txBody>
          <a:bodyPr anchorCtr="0" anchor="t" bIns="91425" lIns="91425" spcFirstLastPara="1" rIns="91425" wrap="square" tIns="91425">
            <a:noAutofit/>
          </a:bodyPr>
          <a:lstStyle/>
          <a:p>
            <a:pPr indent="-200660" lvl="0" marL="365760" marR="0" rtl="0" algn="l">
              <a:lnSpc>
                <a:spcPct val="100000"/>
              </a:lnSpc>
              <a:spcBef>
                <a:spcPts val="0"/>
              </a:spcBef>
              <a:spcAft>
                <a:spcPts val="0"/>
              </a:spcAft>
              <a:buClr>
                <a:srgbClr val="343A43"/>
              </a:buClr>
              <a:buSzPts val="1000"/>
              <a:buFont typeface="Source Sans Pro"/>
              <a:buChar char="●"/>
            </a:pPr>
            <a:r>
              <a:rPr b="1" lang="en" sz="1000">
                <a:solidFill>
                  <a:srgbClr val="343A43"/>
                </a:solidFill>
                <a:latin typeface="Source Sans Pro"/>
                <a:ea typeface="Source Sans Pro"/>
                <a:cs typeface="Source Sans Pro"/>
                <a:sym typeface="Source Sans Pro"/>
              </a:rPr>
              <a:t>Consolidate clusters</a:t>
            </a:r>
            <a:r>
              <a:rPr lang="en" sz="1000">
                <a:solidFill>
                  <a:srgbClr val="343A43"/>
                </a:solidFill>
                <a:latin typeface="Source Sans Pro"/>
                <a:ea typeface="Source Sans Pro"/>
                <a:cs typeface="Source Sans Pro"/>
                <a:sym typeface="Source Sans Pro"/>
              </a:rPr>
              <a:t> to be represented as a single entity</a:t>
            </a:r>
            <a:endParaRPr sz="1000">
              <a:solidFill>
                <a:srgbClr val="343A43"/>
              </a:solidFill>
              <a:latin typeface="Source Sans Pro"/>
              <a:ea typeface="Source Sans Pro"/>
              <a:cs typeface="Source Sans Pro"/>
              <a:sym typeface="Source Sans Pro"/>
            </a:endParaRPr>
          </a:p>
          <a:p>
            <a:pPr indent="-200660" lvl="0" marL="365760" marR="0" rtl="0" algn="l">
              <a:lnSpc>
                <a:spcPct val="100000"/>
              </a:lnSpc>
              <a:spcBef>
                <a:spcPts val="400"/>
              </a:spcBef>
              <a:spcAft>
                <a:spcPts val="400"/>
              </a:spcAft>
              <a:buClr>
                <a:srgbClr val="343A43"/>
              </a:buClr>
              <a:buSzPts val="1000"/>
              <a:buFont typeface="Source Sans Pro"/>
              <a:buChar char="●"/>
            </a:pPr>
            <a:r>
              <a:rPr lang="en" sz="1000">
                <a:solidFill>
                  <a:srgbClr val="343A43"/>
                </a:solidFill>
                <a:latin typeface="Source Sans Pro"/>
                <a:ea typeface="Source Sans Pro"/>
                <a:cs typeface="Source Sans Pro"/>
                <a:sym typeface="Source Sans Pro"/>
              </a:rPr>
              <a:t>Specify </a:t>
            </a:r>
            <a:r>
              <a:rPr b="1" lang="en" sz="1000">
                <a:solidFill>
                  <a:srgbClr val="343A43"/>
                </a:solidFill>
                <a:latin typeface="Source Sans Pro"/>
                <a:ea typeface="Source Sans Pro"/>
                <a:cs typeface="Source Sans Pro"/>
                <a:sym typeface="Source Sans Pro"/>
              </a:rPr>
              <a:t>golden rules</a:t>
            </a:r>
            <a:r>
              <a:rPr lang="en" sz="1000">
                <a:solidFill>
                  <a:srgbClr val="343A43"/>
                </a:solidFill>
                <a:latin typeface="Source Sans Pro"/>
                <a:ea typeface="Source Sans Pro"/>
                <a:cs typeface="Source Sans Pro"/>
                <a:sym typeface="Source Sans Pro"/>
              </a:rPr>
              <a:t> for each attribute and create golden rules</a:t>
            </a:r>
            <a:endParaRPr i="0" sz="1000" u="none" cap="none" strike="noStrike">
              <a:solidFill>
                <a:srgbClr val="343A43"/>
              </a:solidFill>
              <a:latin typeface="Source Sans Pro"/>
              <a:ea typeface="Source Sans Pro"/>
              <a:cs typeface="Source Sans Pro"/>
              <a:sym typeface="Source Sans Pro"/>
            </a:endParaRPr>
          </a:p>
        </p:txBody>
      </p:sp>
      <p:sp>
        <p:nvSpPr>
          <p:cNvPr id="889" name="Google Shape;889;p85"/>
          <p:cNvSpPr/>
          <p:nvPr/>
        </p:nvSpPr>
        <p:spPr>
          <a:xfrm>
            <a:off x="1526825" y="3685100"/>
            <a:ext cx="6393600" cy="1168200"/>
          </a:xfrm>
          <a:prstGeom prst="roundRect">
            <a:avLst>
              <a:gd fmla="val 482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Source Sans Pro"/>
              <a:ea typeface="Source Sans Pro"/>
              <a:cs typeface="Source Sans Pro"/>
              <a:sym typeface="Source Sans Pro"/>
            </a:endParaRPr>
          </a:p>
        </p:txBody>
      </p:sp>
      <p:sp>
        <p:nvSpPr>
          <p:cNvPr id="890" name="Google Shape;890;p85"/>
          <p:cNvSpPr/>
          <p:nvPr/>
        </p:nvSpPr>
        <p:spPr>
          <a:xfrm>
            <a:off x="1526867" y="3682900"/>
            <a:ext cx="6393600" cy="292500"/>
          </a:xfrm>
          <a:prstGeom prst="round2SameRect">
            <a:avLst>
              <a:gd fmla="val 14145"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85"/>
          <p:cNvSpPr txBox="1"/>
          <p:nvPr/>
        </p:nvSpPr>
        <p:spPr>
          <a:xfrm>
            <a:off x="1652000" y="3674350"/>
            <a:ext cx="6268500" cy="30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Source Sans Pro"/>
                <a:ea typeface="Source Sans Pro"/>
                <a:cs typeface="Source Sans Pro"/>
                <a:sym typeface="Source Sans Pro"/>
              </a:rPr>
              <a:t>Data Enrichment</a:t>
            </a:r>
            <a:endParaRPr b="1" sz="1000">
              <a:solidFill>
                <a:schemeClr val="lt1"/>
              </a:solidFill>
              <a:latin typeface="Source Sans Pro"/>
              <a:ea typeface="Source Sans Pro"/>
              <a:cs typeface="Source Sans Pro"/>
              <a:sym typeface="Source Sans Pro"/>
            </a:endParaRPr>
          </a:p>
        </p:txBody>
      </p:sp>
      <p:sp>
        <p:nvSpPr>
          <p:cNvPr id="892" name="Google Shape;892;p85"/>
          <p:cNvSpPr txBox="1"/>
          <p:nvPr/>
        </p:nvSpPr>
        <p:spPr>
          <a:xfrm>
            <a:off x="4132425" y="4047350"/>
            <a:ext cx="3407400" cy="635700"/>
          </a:xfrm>
          <a:prstGeom prst="rect">
            <a:avLst/>
          </a:prstGeom>
          <a:noFill/>
          <a:ln>
            <a:noFill/>
          </a:ln>
        </p:spPr>
        <p:txBody>
          <a:bodyPr anchorCtr="0" anchor="t" bIns="91425" lIns="91425" spcFirstLastPara="1" rIns="91425" wrap="square" tIns="91425">
            <a:noAutofit/>
          </a:bodyPr>
          <a:lstStyle/>
          <a:p>
            <a:pPr indent="-207010" lvl="0" marL="365760" marR="0" rtl="0" algn="l">
              <a:lnSpc>
                <a:spcPct val="100000"/>
              </a:lnSpc>
              <a:spcBef>
                <a:spcPts val="0"/>
              </a:spcBef>
              <a:spcAft>
                <a:spcPts val="0"/>
              </a:spcAft>
              <a:buClr>
                <a:schemeClr val="dk1"/>
              </a:buClr>
              <a:buSzPts val="1100"/>
              <a:buFont typeface="Lexend Deca"/>
              <a:buChar char="●"/>
            </a:pPr>
            <a:r>
              <a:rPr b="1" lang="en" sz="1100">
                <a:solidFill>
                  <a:schemeClr val="dk1"/>
                </a:solidFill>
                <a:latin typeface="Source Sans Pro"/>
                <a:ea typeface="Source Sans Pro"/>
                <a:cs typeface="Source Sans Pro"/>
                <a:sym typeface="Source Sans Pro"/>
              </a:rPr>
              <a:t>Enrich data </a:t>
            </a:r>
            <a:r>
              <a:rPr lang="en" sz="1100">
                <a:solidFill>
                  <a:schemeClr val="dk1"/>
                </a:solidFill>
                <a:latin typeface="Source Sans Pro"/>
                <a:ea typeface="Source Sans Pro"/>
                <a:cs typeface="Source Sans Pro"/>
                <a:sym typeface="Source Sans Pro"/>
              </a:rPr>
              <a:t>with external sources directly from Tamr to boost signals to the ML algorithms</a:t>
            </a:r>
            <a:endParaRPr sz="1100">
              <a:solidFill>
                <a:schemeClr val="dk1"/>
              </a:solidFill>
              <a:latin typeface="Source Sans Pro"/>
              <a:ea typeface="Source Sans Pro"/>
              <a:cs typeface="Source Sans Pro"/>
              <a:sym typeface="Source Sans Pro"/>
            </a:endParaRPr>
          </a:p>
          <a:p>
            <a:pPr indent="-207010" lvl="0" marL="365760" marR="0" rtl="0" algn="l">
              <a:lnSpc>
                <a:spcPct val="100000"/>
              </a:lnSpc>
              <a:spcBef>
                <a:spcPts val="400"/>
              </a:spcBef>
              <a:spcAft>
                <a:spcPts val="400"/>
              </a:spcAft>
              <a:buClr>
                <a:schemeClr val="dk1"/>
              </a:buClr>
              <a:buSzPts val="1100"/>
              <a:buFont typeface="Source Sans Pro"/>
              <a:buChar char="●"/>
            </a:pPr>
            <a:r>
              <a:rPr lang="en" sz="1100">
                <a:solidFill>
                  <a:schemeClr val="dk1"/>
                </a:solidFill>
                <a:latin typeface="Source Sans Pro"/>
                <a:ea typeface="Source Sans Pro"/>
                <a:cs typeface="Source Sans Pro"/>
                <a:sym typeface="Source Sans Pro"/>
              </a:rPr>
              <a:t>1-click address, email, and phone validation</a:t>
            </a:r>
            <a:endParaRPr sz="1100">
              <a:solidFill>
                <a:schemeClr val="dk1"/>
              </a:solidFill>
              <a:latin typeface="Source Sans Pro"/>
              <a:ea typeface="Source Sans Pro"/>
              <a:cs typeface="Source Sans Pro"/>
              <a:sym typeface="Source Sans Pro"/>
            </a:endParaRPr>
          </a:p>
        </p:txBody>
      </p:sp>
      <p:sp>
        <p:nvSpPr>
          <p:cNvPr id="893" name="Google Shape;893;p85"/>
          <p:cNvSpPr txBox="1"/>
          <p:nvPr/>
        </p:nvSpPr>
        <p:spPr>
          <a:xfrm>
            <a:off x="1651963" y="4337725"/>
            <a:ext cx="179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894" name="Google Shape;894;p85"/>
          <p:cNvSpPr/>
          <p:nvPr/>
        </p:nvSpPr>
        <p:spPr>
          <a:xfrm>
            <a:off x="2963569" y="4068606"/>
            <a:ext cx="1007700" cy="695400"/>
          </a:xfrm>
          <a:prstGeom prst="roundRect">
            <a:avLst>
              <a:gd fmla="val 16667" name="adj"/>
            </a:avLst>
          </a:prstGeom>
          <a:solidFill>
            <a:srgbClr val="FFFFFF"/>
          </a:solidFill>
          <a:ln cap="flat" cmpd="sng" w="19050">
            <a:solidFill>
              <a:schemeClr val="accent2"/>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highlight>
                  <a:schemeClr val="accent3"/>
                </a:highlight>
                <a:latin typeface="Source Sans Pro"/>
                <a:ea typeface="Source Sans Pro"/>
                <a:cs typeface="Source Sans Pro"/>
                <a:sym typeface="Source Sans Pro"/>
              </a:rPr>
              <a:t>AT&amp;T</a:t>
            </a:r>
            <a:endParaRPr i="0" sz="900" u="none" cap="none" strike="noStrike">
              <a:solidFill>
                <a:schemeClr val="dk1"/>
              </a:solidFill>
              <a:highlight>
                <a:schemeClr val="accent3"/>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latin typeface="Source Sans Pro"/>
                <a:ea typeface="Source Sans Pro"/>
                <a:cs typeface="Source Sans Pro"/>
                <a:sym typeface="Source Sans Pro"/>
              </a:rPr>
              <a:t>208 S Akard St,</a:t>
            </a:r>
            <a:endParaRPr i="0" sz="9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latin typeface="Source Sans Pro"/>
                <a:ea typeface="Source Sans Pro"/>
                <a:cs typeface="Source Sans Pro"/>
                <a:sym typeface="Source Sans Pro"/>
              </a:rPr>
              <a:t>Dallas, Texas</a:t>
            </a:r>
            <a:endParaRPr sz="9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latin typeface="Source Sans Pro"/>
                <a:ea typeface="Source Sans Pro"/>
                <a:cs typeface="Source Sans Pro"/>
                <a:sym typeface="Source Sans Pro"/>
              </a:rPr>
              <a:t>75202-4206</a:t>
            </a:r>
            <a:endParaRPr sz="9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latin typeface="Source Sans Pro"/>
                <a:ea typeface="Source Sans Pro"/>
                <a:cs typeface="Source Sans Pro"/>
                <a:sym typeface="Source Sans Pro"/>
              </a:rPr>
              <a:t>www.att.com</a:t>
            </a:r>
            <a:endParaRPr sz="900">
              <a:solidFill>
                <a:schemeClr val="dk1"/>
              </a:solidFill>
              <a:latin typeface="Source Sans Pro"/>
              <a:ea typeface="Source Sans Pro"/>
              <a:cs typeface="Source Sans Pro"/>
              <a:sym typeface="Source Sans Pro"/>
            </a:endParaRPr>
          </a:p>
        </p:txBody>
      </p:sp>
      <p:sp>
        <p:nvSpPr>
          <p:cNvPr id="895" name="Google Shape;895;p85"/>
          <p:cNvSpPr/>
          <p:nvPr/>
        </p:nvSpPr>
        <p:spPr>
          <a:xfrm>
            <a:off x="1837944" y="4077731"/>
            <a:ext cx="1007700" cy="695400"/>
          </a:xfrm>
          <a:prstGeom prst="roundRect">
            <a:avLst>
              <a:gd fmla="val 16667" name="adj"/>
            </a:avLst>
          </a:prstGeom>
          <a:solidFill>
            <a:srgbClr val="FFFFFF"/>
          </a:solidFill>
          <a:ln cap="flat" cmpd="sng" w="19050">
            <a:solidFill>
              <a:schemeClr val="accent2"/>
            </a:solidFill>
            <a:prstDash val="solid"/>
            <a:round/>
            <a:headEnd len="sm" w="sm" type="none"/>
            <a:tailEnd len="sm" w="sm" type="none"/>
          </a:ln>
        </p:spPr>
        <p:txBody>
          <a:bodyPr anchorCtr="0" anchor="t" bIns="0" lIns="18275"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highlight>
                  <a:schemeClr val="accent3"/>
                </a:highlight>
                <a:latin typeface="Source Sans Pro"/>
                <a:ea typeface="Source Sans Pro"/>
                <a:cs typeface="Source Sans Pro"/>
                <a:sym typeface="Source Sans Pro"/>
              </a:rPr>
              <a:t>ATT</a:t>
            </a:r>
            <a:endParaRPr i="0" sz="900" u="none" cap="none" strike="noStrike">
              <a:solidFill>
                <a:schemeClr val="dk1"/>
              </a:solidFill>
              <a:highlight>
                <a:schemeClr val="accent3"/>
              </a:highlight>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t/>
            </a:r>
            <a:endParaRPr i="0" sz="9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latin typeface="Source Sans Pro"/>
                <a:ea typeface="Source Sans Pro"/>
                <a:cs typeface="Source Sans Pro"/>
                <a:sym typeface="Source Sans Pro"/>
              </a:rPr>
              <a:t>Dallas, Texas</a:t>
            </a:r>
            <a:endParaRPr sz="9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000"/>
              <a:buFont typeface="Arial"/>
              <a:buNone/>
            </a:pPr>
            <a:r>
              <a:rPr lang="en" sz="900">
                <a:solidFill>
                  <a:schemeClr val="dk1"/>
                </a:solidFill>
                <a:latin typeface="Source Sans Pro"/>
                <a:ea typeface="Source Sans Pro"/>
                <a:cs typeface="Source Sans Pro"/>
                <a:sym typeface="Source Sans Pro"/>
              </a:rPr>
              <a:t>Website: Null</a:t>
            </a:r>
            <a:endParaRPr sz="900">
              <a:solidFill>
                <a:schemeClr val="dk1"/>
              </a:solidFill>
              <a:latin typeface="Source Sans Pro"/>
              <a:ea typeface="Source Sans Pro"/>
              <a:cs typeface="Source Sans Pro"/>
              <a:sym typeface="Source Sans Pro"/>
            </a:endParaRPr>
          </a:p>
        </p:txBody>
      </p:sp>
      <p:sp>
        <p:nvSpPr>
          <p:cNvPr id="896" name="Google Shape;896;p85"/>
          <p:cNvSpPr txBox="1"/>
          <p:nvPr/>
        </p:nvSpPr>
        <p:spPr>
          <a:xfrm>
            <a:off x="2581644" y="4046118"/>
            <a:ext cx="2220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52357"/>
                </a:solidFill>
                <a:latin typeface="Source Sans Pro"/>
                <a:ea typeface="Source Sans Pro"/>
                <a:cs typeface="Source Sans Pro"/>
                <a:sym typeface="Source Sans Pro"/>
              </a:rPr>
              <a:t>X</a:t>
            </a:r>
            <a:endParaRPr b="1" sz="1100">
              <a:solidFill>
                <a:srgbClr val="F52357"/>
              </a:solidFill>
              <a:latin typeface="Source Sans Pro"/>
              <a:ea typeface="Source Sans Pro"/>
              <a:cs typeface="Source Sans Pro"/>
              <a:sym typeface="Source Sans Pro"/>
            </a:endParaRPr>
          </a:p>
        </p:txBody>
      </p:sp>
      <p:sp>
        <p:nvSpPr>
          <p:cNvPr id="897" name="Google Shape;897;p85"/>
          <p:cNvSpPr txBox="1"/>
          <p:nvPr/>
        </p:nvSpPr>
        <p:spPr>
          <a:xfrm>
            <a:off x="3733294" y="4023360"/>
            <a:ext cx="2220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b="1" lang="en">
                <a:solidFill>
                  <a:srgbClr val="86D300"/>
                </a:solidFill>
                <a:latin typeface="Source Sans Pro"/>
                <a:ea typeface="Source Sans Pro"/>
                <a:cs typeface="Source Sans Pro"/>
                <a:sym typeface="Source Sans Pro"/>
              </a:rPr>
              <a:t>✓</a:t>
            </a:r>
            <a:endParaRPr b="1" sz="900">
              <a:solidFill>
                <a:srgbClr val="86D300"/>
              </a:solidFill>
              <a:latin typeface="Source Sans Pro"/>
              <a:ea typeface="Source Sans Pro"/>
              <a:cs typeface="Source Sans Pro"/>
              <a:sym typeface="Source Sans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86"/>
          <p:cNvSpPr txBox="1"/>
          <p:nvPr>
            <p:ph type="title"/>
          </p:nvPr>
        </p:nvSpPr>
        <p:spPr>
          <a:xfrm>
            <a:off x="545200" y="1627625"/>
            <a:ext cx="80502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Customer Case Studies</a:t>
            </a:r>
            <a:endParaRPr b="1">
              <a:latin typeface="Source Sans Pro"/>
              <a:ea typeface="Source Sans Pro"/>
              <a:cs typeface="Source Sans Pro"/>
              <a:sym typeface="Source Sans Pr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87"/>
          <p:cNvSpPr/>
          <p:nvPr/>
        </p:nvSpPr>
        <p:spPr>
          <a:xfrm>
            <a:off x="0" y="0"/>
            <a:ext cx="9144000" cy="838800"/>
          </a:xfrm>
          <a:prstGeom prst="rect">
            <a:avLst/>
          </a:prstGeom>
          <a:solidFill>
            <a:srgbClr val="0188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87"/>
          <p:cNvSpPr/>
          <p:nvPr/>
        </p:nvSpPr>
        <p:spPr>
          <a:xfrm>
            <a:off x="2286000" y="2310140"/>
            <a:ext cx="45720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Source Sans Pro"/>
                <a:ea typeface="Source Sans Pro"/>
                <a:cs typeface="Source Sans Pro"/>
                <a:sym typeface="Source Sans Pro"/>
              </a:rPr>
              <a:t>Multinational conglomerate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Source Sans Pro"/>
                <a:ea typeface="Source Sans Pro"/>
                <a:cs typeface="Source Sans Pro"/>
                <a:sym typeface="Source Sans Pro"/>
              </a:rPr>
              <a:t>Financial data provider </a:t>
            </a:r>
            <a:endParaRPr b="0" i="0" sz="1400" u="none" cap="none" strike="noStrike">
              <a:solidFill>
                <a:srgbClr val="000000"/>
              </a:solidFill>
              <a:latin typeface="Arial"/>
              <a:ea typeface="Arial"/>
              <a:cs typeface="Arial"/>
              <a:sym typeface="Arial"/>
            </a:endParaRPr>
          </a:p>
        </p:txBody>
      </p:sp>
      <p:sp>
        <p:nvSpPr>
          <p:cNvPr id="909" name="Google Shape;909;p87"/>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rgbClr val="FFFFFF"/>
                </a:solidFill>
                <a:latin typeface="Source Sans Pro"/>
                <a:ea typeface="Source Sans Pro"/>
                <a:cs typeface="Source Sans Pro"/>
                <a:sym typeface="Source Sans Pro"/>
              </a:rPr>
              <a:t>Use Case: </a:t>
            </a:r>
            <a:r>
              <a:rPr b="1" i="0" lang="en" sz="1800" u="none" cap="none" strike="noStrike">
                <a:solidFill>
                  <a:srgbClr val="FFFFFF"/>
                </a:solidFill>
                <a:latin typeface="Source Sans Pro"/>
                <a:ea typeface="Source Sans Pro"/>
                <a:cs typeface="Source Sans Pro"/>
                <a:sym typeface="Source Sans Pro"/>
              </a:rPr>
              <a:t>Customer Mastering for B2B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Source Sans Pro"/>
                <a:ea typeface="Source Sans Pro"/>
                <a:cs typeface="Source Sans Pro"/>
                <a:sym typeface="Source Sans Pro"/>
              </a:rPr>
              <a:t>Mastered customer data from direct &amp; indirect channels to enable on-demand analytics &amp; insight into the corporate hierarchies of customers, creating opportunities for upsell and cross-sell across accounts</a:t>
            </a:r>
            <a:endParaRPr b="0" i="0" sz="1200" u="none" cap="none" strike="noStrike">
              <a:solidFill>
                <a:srgbClr val="FFFFFF"/>
              </a:solidFill>
              <a:latin typeface="Source Sans Pro"/>
              <a:ea typeface="Source Sans Pro"/>
              <a:cs typeface="Source Sans Pro"/>
              <a:sym typeface="Source Sans Pro"/>
            </a:endParaRPr>
          </a:p>
        </p:txBody>
      </p:sp>
      <p:sp>
        <p:nvSpPr>
          <p:cNvPr id="910" name="Google Shape;910;p87"/>
          <p:cNvSpPr txBox="1"/>
          <p:nvPr/>
        </p:nvSpPr>
        <p:spPr>
          <a:xfrm>
            <a:off x="2940100" y="1514100"/>
            <a:ext cx="3103200" cy="2001000"/>
          </a:xfrm>
          <a:prstGeom prst="rect">
            <a:avLst/>
          </a:prstGeom>
          <a:noFill/>
          <a:ln>
            <a:noFill/>
          </a:ln>
        </p:spPr>
        <p:txBody>
          <a:bodyPr anchorCtr="0" anchor="t" bIns="91425" lIns="91425" spcFirstLastPara="1" rIns="91425" wrap="square" tIns="91425">
            <a:noAutofit/>
          </a:bodyPr>
          <a:lstStyle/>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Unified data from 1.4M customer accounts </a:t>
            </a:r>
            <a:r>
              <a:rPr b="0" i="0" lang="en" sz="1200" u="none" cap="none" strike="noStrike">
                <a:solidFill>
                  <a:schemeClr val="dk1"/>
                </a:solidFill>
                <a:latin typeface="Source Sans Pro"/>
                <a:ea typeface="Source Sans Pro"/>
                <a:cs typeface="Source Sans Pro"/>
                <a:sym typeface="Source Sans Pro"/>
              </a:rPr>
              <a:t>to reveal the underlying 0.5M unique customers through golden records</a:t>
            </a:r>
            <a:endParaRPr b="0" i="0" sz="1200" u="none" cap="none" strike="noStrike">
              <a:solidFill>
                <a:schemeClr val="dk1"/>
              </a:solidFill>
              <a:latin typeface="Source Sans Pro"/>
              <a:ea typeface="Source Sans Pro"/>
              <a:cs typeface="Source Sans Pro"/>
              <a:sym typeface="Source Sans Pro"/>
            </a:endParaRPr>
          </a:p>
          <a:p>
            <a:pPr indent="0" lvl="0" marL="342892"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Generated persistent IDs </a:t>
            </a:r>
            <a:r>
              <a:rPr b="0" i="0" lang="en" sz="1200" u="none" cap="none" strike="noStrike">
                <a:solidFill>
                  <a:schemeClr val="dk1"/>
                </a:solidFill>
                <a:latin typeface="Source Sans Pro"/>
                <a:ea typeface="Source Sans Pro"/>
                <a:cs typeface="Source Sans Pro"/>
                <a:sym typeface="Source Sans Pro"/>
              </a:rPr>
              <a:t>as primary identifiers in SAP Business Warehouse &amp; linked accounts to corporate parents</a:t>
            </a:r>
            <a:endParaRPr b="0" i="0" sz="1400" u="none" cap="none" strike="noStrike">
              <a:solidFill>
                <a:schemeClr val="dk1"/>
              </a:solidFill>
              <a:latin typeface="Arial"/>
              <a:ea typeface="Arial"/>
              <a:cs typeface="Arial"/>
              <a:sym typeface="Arial"/>
            </a:endParaRPr>
          </a:p>
          <a:p>
            <a:pPr indent="-120647" lvl="0" marL="177796"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Created a repeatable pipeline to tie </a:t>
            </a:r>
            <a:r>
              <a:rPr b="0" i="0" lang="en" sz="1200" u="none" cap="none" strike="noStrike">
                <a:solidFill>
                  <a:schemeClr val="dk1"/>
                </a:solidFill>
                <a:latin typeface="Source Sans Pro"/>
                <a:ea typeface="Source Sans Pro"/>
                <a:cs typeface="Source Sans Pro"/>
                <a:sym typeface="Source Sans Pro"/>
              </a:rPr>
              <a:t>their approx. 0.8M </a:t>
            </a:r>
            <a:r>
              <a:rPr b="1" i="0" lang="en" sz="1200" u="none" cap="none" strike="noStrike">
                <a:solidFill>
                  <a:schemeClr val="dk1"/>
                </a:solidFill>
                <a:latin typeface="Source Sans Pro"/>
                <a:ea typeface="Source Sans Pro"/>
                <a:cs typeface="Source Sans Pro"/>
                <a:sym typeface="Source Sans Pro"/>
              </a:rPr>
              <a:t>quotes </a:t>
            </a:r>
            <a:r>
              <a:rPr b="0" i="0" lang="en" sz="1200" u="none" cap="none" strike="noStrike">
                <a:solidFill>
                  <a:schemeClr val="dk1"/>
                </a:solidFill>
                <a:latin typeface="Source Sans Pro"/>
                <a:ea typeface="Source Sans Pro"/>
                <a:cs typeface="Source Sans Pro"/>
                <a:sym typeface="Source Sans Pro"/>
              </a:rPr>
              <a:t>to</a:t>
            </a:r>
            <a:r>
              <a:rPr b="1" i="0" lang="en" sz="1200" u="none" cap="none" strike="noStrike">
                <a:solidFill>
                  <a:schemeClr val="dk1"/>
                </a:solidFill>
                <a:latin typeface="Source Sans Pro"/>
                <a:ea typeface="Source Sans Pro"/>
                <a:cs typeface="Source Sans Pro"/>
                <a:sym typeface="Source Sans Pro"/>
              </a:rPr>
              <a:t> </a:t>
            </a:r>
            <a:r>
              <a:rPr b="0" i="0" lang="en" sz="1200" u="none" cap="none" strike="noStrike">
                <a:solidFill>
                  <a:schemeClr val="dk1"/>
                </a:solidFill>
                <a:latin typeface="Source Sans Pro"/>
                <a:ea typeface="Source Sans Pro"/>
                <a:cs typeface="Source Sans Pro"/>
                <a:sym typeface="Source Sans Pro"/>
              </a:rPr>
              <a:t>~5M</a:t>
            </a:r>
            <a:r>
              <a:rPr b="1" i="0" lang="en" sz="1200" u="none" cap="none" strike="noStrike">
                <a:solidFill>
                  <a:schemeClr val="dk1"/>
                </a:solidFill>
                <a:latin typeface="Source Sans Pro"/>
                <a:ea typeface="Source Sans Pro"/>
                <a:cs typeface="Source Sans Pro"/>
                <a:sym typeface="Source Sans Pro"/>
              </a:rPr>
              <a:t> transactions </a:t>
            </a:r>
            <a:r>
              <a:rPr b="0" i="0" lang="en" sz="1200" u="none" cap="none" strike="noStrike">
                <a:solidFill>
                  <a:schemeClr val="dk1"/>
                </a:solidFill>
                <a:latin typeface="Source Sans Pro"/>
                <a:ea typeface="Source Sans Pro"/>
                <a:cs typeface="Source Sans Pro"/>
                <a:sym typeface="Source Sans Pro"/>
              </a:rPr>
              <a:t>for fulfillment monitoring</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911" name="Google Shape;911;p87"/>
          <p:cNvSpPr txBox="1"/>
          <p:nvPr/>
        </p:nvSpPr>
        <p:spPr>
          <a:xfrm>
            <a:off x="115425" y="1514103"/>
            <a:ext cx="2867400" cy="1642500"/>
          </a:xfrm>
          <a:prstGeom prst="rect">
            <a:avLst/>
          </a:prstGeom>
          <a:noFill/>
          <a:ln>
            <a:noFill/>
          </a:ln>
        </p:spPr>
        <p:txBody>
          <a:bodyPr anchorCtr="0" anchor="t" bIns="91425" lIns="91425" spcFirstLastPara="1" rIns="91425" wrap="square" tIns="91425">
            <a:noAutofit/>
          </a:bodyPr>
          <a:lstStyle/>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Low quality and inconsistent data capture by distributors </a:t>
            </a:r>
            <a:r>
              <a:rPr b="0" i="0" lang="en" sz="1200" u="none" cap="none" strike="noStrike">
                <a:solidFill>
                  <a:schemeClr val="dk1"/>
                </a:solidFill>
                <a:latin typeface="Source Sans Pro"/>
                <a:ea typeface="Source Sans Pro"/>
                <a:cs typeface="Source Sans Pro"/>
                <a:sym typeface="Source Sans Pro"/>
              </a:rPr>
              <a:t>limited visibility into customer accounts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Limited visibility into the corporate relationship across accounts</a:t>
            </a:r>
            <a:r>
              <a:rPr b="0" i="0" lang="en" sz="1200" u="none" cap="none" strike="noStrike">
                <a:solidFill>
                  <a:schemeClr val="dk1"/>
                </a:solidFill>
                <a:latin typeface="Source Sans Pro"/>
                <a:ea typeface="Source Sans Pro"/>
                <a:cs typeface="Source Sans Pro"/>
                <a:sym typeface="Source Sans Pro"/>
              </a:rPr>
              <a:t>, preventing upsell</a:t>
            </a:r>
            <a:endParaRPr b="0" i="0" sz="1200" u="none" cap="none" strike="noStrike">
              <a:solidFill>
                <a:schemeClr val="dk1"/>
              </a:solidFill>
              <a:latin typeface="Arial"/>
              <a:ea typeface="Arial"/>
              <a:cs typeface="Arial"/>
              <a:sym typeface="Arial"/>
            </a:endParaRPr>
          </a:p>
          <a:p>
            <a:pPr indent="0" lvl="0" marL="342892"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Unable to tie sparsely populated quote information to transactions </a:t>
            </a:r>
            <a:r>
              <a:rPr b="0" i="0" lang="en" sz="1200" u="none" cap="none" strike="noStrike">
                <a:solidFill>
                  <a:schemeClr val="dk1"/>
                </a:solidFill>
                <a:latin typeface="Source Sans Pro"/>
                <a:ea typeface="Source Sans Pro"/>
                <a:cs typeface="Source Sans Pro"/>
                <a:sym typeface="Source Sans Pro"/>
              </a:rPr>
              <a:t>to monitor fulfillment</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6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1"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Source Sans Pro"/>
              <a:ea typeface="Source Sans Pro"/>
              <a:cs typeface="Source Sans Pro"/>
              <a:sym typeface="Source Sans Pro"/>
            </a:endParaRPr>
          </a:p>
        </p:txBody>
      </p:sp>
      <p:sp>
        <p:nvSpPr>
          <p:cNvPr id="912" name="Google Shape;912;p87"/>
          <p:cNvSpPr txBox="1"/>
          <p:nvPr/>
        </p:nvSpPr>
        <p:spPr>
          <a:xfrm>
            <a:off x="6043325" y="1514100"/>
            <a:ext cx="3039600" cy="2406000"/>
          </a:xfrm>
          <a:prstGeom prst="rect">
            <a:avLst/>
          </a:prstGeom>
          <a:noFill/>
          <a:ln>
            <a:noFill/>
          </a:ln>
        </p:spPr>
        <p:txBody>
          <a:bodyPr anchorCtr="0" anchor="t" bIns="91425" lIns="91425" spcFirstLastPara="1" rIns="91425" wrap="square" tIns="91425">
            <a:noAutofit/>
          </a:bodyPr>
          <a:lstStyle/>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Advanced from one-off reports to on-demand analytics </a:t>
            </a:r>
            <a:r>
              <a:rPr b="0" i="0" lang="en" sz="1200" u="none" cap="none" strike="noStrike">
                <a:solidFill>
                  <a:schemeClr val="dk1"/>
                </a:solidFill>
                <a:latin typeface="Source Sans Pro"/>
                <a:ea typeface="Source Sans Pro"/>
                <a:cs typeface="Source Sans Pro"/>
                <a:sym typeface="Source Sans Pro"/>
              </a:rPr>
              <a:t>to analyse sales pyramids and churn reports</a:t>
            </a:r>
            <a:endParaRPr b="0" i="0" sz="1400" u="none" cap="none" strike="noStrike">
              <a:solidFill>
                <a:schemeClr val="dk1"/>
              </a:solidFill>
              <a:latin typeface="Arial"/>
              <a:ea typeface="Arial"/>
              <a:cs typeface="Arial"/>
              <a:sym typeface="Arial"/>
            </a:endParaRPr>
          </a:p>
          <a:p>
            <a:pPr indent="-120647" lvl="0" marL="177796"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Ability to prioritize top accounts &amp; identify upsell opportunities </a:t>
            </a:r>
            <a:r>
              <a:rPr b="0" i="0" lang="en" sz="1200" u="none" cap="none" strike="noStrike">
                <a:solidFill>
                  <a:schemeClr val="dk1"/>
                </a:solidFill>
                <a:latin typeface="Source Sans Pro"/>
                <a:ea typeface="Source Sans Pro"/>
                <a:cs typeface="Source Sans Pro"/>
                <a:sym typeface="Source Sans Pro"/>
              </a:rPr>
              <a:t>by consistently tracking performance</a:t>
            </a:r>
            <a:endParaRPr b="1" i="0" sz="1200" u="none" cap="none" strike="noStrike">
              <a:solidFill>
                <a:schemeClr val="dk1"/>
              </a:solidFill>
              <a:latin typeface="Source Sans Pro"/>
              <a:ea typeface="Source Sans Pro"/>
              <a:cs typeface="Source Sans Pro"/>
              <a:sym typeface="Source Sans Pro"/>
            </a:endParaRPr>
          </a:p>
          <a:p>
            <a:pPr indent="-120647" lvl="0" marL="177796"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Insight into channel performance </a:t>
            </a:r>
            <a:r>
              <a:rPr b="0" i="0" lang="en" sz="1200" u="none" cap="none" strike="noStrike">
                <a:solidFill>
                  <a:schemeClr val="dk1"/>
                </a:solidFill>
                <a:latin typeface="Source Sans Pro"/>
                <a:ea typeface="Source Sans Pro"/>
                <a:cs typeface="Source Sans Pro"/>
                <a:sym typeface="Source Sans Pro"/>
              </a:rPr>
              <a:t>to better inform distributor exclusivity rights</a:t>
            </a:r>
            <a:endParaRPr b="0" i="0" sz="1200" u="none" cap="none" strike="noStrike">
              <a:solidFill>
                <a:schemeClr val="dk1"/>
              </a:solidFill>
              <a:latin typeface="Source Sans Pro"/>
              <a:ea typeface="Source Sans Pro"/>
              <a:cs typeface="Source Sans Pro"/>
              <a:sym typeface="Source Sans Pro"/>
            </a:endParaRPr>
          </a:p>
          <a:p>
            <a:pPr indent="0" lvl="1"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p:txBody>
      </p:sp>
      <p:cxnSp>
        <p:nvCxnSpPr>
          <p:cNvPr id="913" name="Google Shape;913;p87"/>
          <p:cNvCxnSpPr/>
          <p:nvPr/>
        </p:nvCxnSpPr>
        <p:spPr>
          <a:xfrm>
            <a:off x="6043336" y="1509247"/>
            <a:ext cx="0" cy="2304000"/>
          </a:xfrm>
          <a:prstGeom prst="straightConnector1">
            <a:avLst/>
          </a:prstGeom>
          <a:noFill/>
          <a:ln cap="flat" cmpd="sng" w="19050">
            <a:solidFill>
              <a:srgbClr val="018842"/>
            </a:solidFill>
            <a:prstDash val="solid"/>
            <a:round/>
            <a:headEnd len="sm" w="sm" type="none"/>
            <a:tailEnd len="sm" w="sm" type="none"/>
          </a:ln>
        </p:spPr>
      </p:cxnSp>
      <p:sp>
        <p:nvSpPr>
          <p:cNvPr id="914" name="Google Shape;914;p87"/>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915" name="Google Shape;915;p87"/>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916" name="Google Shape;916;p87"/>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cxnSp>
        <p:nvCxnSpPr>
          <p:cNvPr id="917" name="Google Shape;917;p87"/>
          <p:cNvCxnSpPr/>
          <p:nvPr/>
        </p:nvCxnSpPr>
        <p:spPr>
          <a:xfrm>
            <a:off x="2948368" y="1528262"/>
            <a:ext cx="0" cy="2304000"/>
          </a:xfrm>
          <a:prstGeom prst="straightConnector1">
            <a:avLst/>
          </a:prstGeom>
          <a:noFill/>
          <a:ln cap="flat" cmpd="sng" w="19050">
            <a:solidFill>
              <a:srgbClr val="018842"/>
            </a:solidFill>
            <a:prstDash val="solid"/>
            <a:round/>
            <a:headEnd len="sm" w="sm" type="none"/>
            <a:tailEnd len="sm" w="sm" type="none"/>
          </a:ln>
        </p:spPr>
      </p:cxnSp>
      <p:sp>
        <p:nvSpPr>
          <p:cNvPr id="918" name="Google Shape;918;p87"/>
          <p:cNvSpPr txBox="1"/>
          <p:nvPr/>
        </p:nvSpPr>
        <p:spPr>
          <a:xfrm>
            <a:off x="2854050" y="4098038"/>
            <a:ext cx="5025600" cy="51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Source Sans Pro"/>
                <a:ea typeface="Source Sans Pro"/>
                <a:cs typeface="Source Sans Pro"/>
                <a:sym typeface="Source Sans Pro"/>
              </a:rPr>
              <a:t>Unified </a:t>
            </a:r>
            <a:r>
              <a:rPr b="1" i="0" lang="en" sz="1400" u="none" cap="none" strike="noStrike">
                <a:solidFill>
                  <a:schemeClr val="dk1"/>
                </a:solidFill>
                <a:latin typeface="Source Sans Pro"/>
                <a:ea typeface="Source Sans Pro"/>
                <a:cs typeface="Source Sans Pro"/>
                <a:sym typeface="Source Sans Pro"/>
              </a:rPr>
              <a:t>distributor data to customer accounts </a:t>
            </a:r>
            <a:r>
              <a:rPr b="0" i="0" lang="en" sz="1400" u="none" cap="none" strike="noStrike">
                <a:solidFill>
                  <a:schemeClr val="dk1"/>
                </a:solidFill>
                <a:latin typeface="Source Sans Pro"/>
                <a:ea typeface="Source Sans Pro"/>
                <a:cs typeface="Source Sans Pro"/>
                <a:sym typeface="Source Sans Pro"/>
              </a:rPr>
              <a:t>and </a:t>
            </a:r>
            <a:r>
              <a:rPr b="1" i="0" lang="en" sz="1400" u="none" cap="none" strike="noStrike">
                <a:solidFill>
                  <a:schemeClr val="dk1"/>
                </a:solidFill>
                <a:latin typeface="Source Sans Pro"/>
                <a:ea typeface="Source Sans Pro"/>
                <a:cs typeface="Source Sans Pro"/>
                <a:sym typeface="Source Sans Pro"/>
              </a:rPr>
              <a:t>quotes to orders </a:t>
            </a:r>
            <a:r>
              <a:rPr b="0" i="0" lang="en" sz="1400" u="none" cap="none" strike="noStrike">
                <a:solidFill>
                  <a:schemeClr val="dk1"/>
                </a:solidFill>
                <a:latin typeface="Source Sans Pro"/>
                <a:ea typeface="Source Sans Pro"/>
                <a:cs typeface="Source Sans Pro"/>
                <a:sym typeface="Source Sans Pro"/>
              </a:rPr>
              <a:t>to drive cross-channel upsell for key customer accounts</a:t>
            </a:r>
            <a:endParaRPr b="0" i="0" sz="1400" u="none" cap="none" strike="noStrike">
              <a:solidFill>
                <a:schemeClr val="dk1"/>
              </a:solidFill>
              <a:latin typeface="Source Sans Pro"/>
              <a:ea typeface="Source Sans Pro"/>
              <a:cs typeface="Source Sans Pro"/>
              <a:sym typeface="Source Sans Pro"/>
            </a:endParaRPr>
          </a:p>
        </p:txBody>
      </p:sp>
      <p:sp>
        <p:nvSpPr>
          <p:cNvPr id="919" name="Google Shape;919;p87"/>
          <p:cNvSpPr/>
          <p:nvPr/>
        </p:nvSpPr>
        <p:spPr>
          <a:xfrm>
            <a:off x="2033487" y="4023082"/>
            <a:ext cx="671400" cy="664200"/>
          </a:xfrm>
          <a:prstGeom prst="ellipse">
            <a:avLst/>
          </a:prstGeom>
          <a:solidFill>
            <a:srgbClr val="018842"/>
          </a:solidFill>
          <a:ln cap="flat" cmpd="sng" w="9525">
            <a:solidFill>
              <a:srgbClr val="0188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 result for littelfuse logo" id="920" name="Google Shape;920;p87"/>
          <p:cNvPicPr preferRelativeResize="0"/>
          <p:nvPr/>
        </p:nvPicPr>
        <p:blipFill rotWithShape="1">
          <a:blip r:embed="rId3">
            <a:alphaModFix/>
          </a:blip>
          <a:srcRect b="25159" l="5028" r="5662" t="25030"/>
          <a:stretch/>
        </p:blipFill>
        <p:spPr>
          <a:xfrm>
            <a:off x="335074" y="188998"/>
            <a:ext cx="1836000" cy="460805"/>
          </a:xfrm>
          <a:prstGeom prst="rect">
            <a:avLst/>
          </a:prstGeom>
          <a:noFill/>
          <a:ln>
            <a:noFill/>
          </a:ln>
        </p:spPr>
      </p:pic>
      <p:pic>
        <p:nvPicPr>
          <p:cNvPr descr="Download Free Icons Png - Building Icon Transparent Background PNG Image  with No Background - PNGkey.com" id="921" name="Google Shape;921;p87"/>
          <p:cNvPicPr preferRelativeResize="0"/>
          <p:nvPr/>
        </p:nvPicPr>
        <p:blipFill rotWithShape="1">
          <a:blip r:embed="rId4">
            <a:alphaModFix/>
          </a:blip>
          <a:srcRect b="0" l="0" r="0" t="0"/>
          <a:stretch/>
        </p:blipFill>
        <p:spPr>
          <a:xfrm>
            <a:off x="2317029" y="4113491"/>
            <a:ext cx="112378" cy="130767"/>
          </a:xfrm>
          <a:prstGeom prst="rect">
            <a:avLst/>
          </a:prstGeom>
          <a:noFill/>
          <a:ln>
            <a:noFill/>
          </a:ln>
        </p:spPr>
      </p:pic>
      <p:sp>
        <p:nvSpPr>
          <p:cNvPr id="922" name="Google Shape;922;p87"/>
          <p:cNvSpPr/>
          <p:nvPr/>
        </p:nvSpPr>
        <p:spPr>
          <a:xfrm rot="5400000">
            <a:off x="2346111" y="4142357"/>
            <a:ext cx="72000" cy="392400"/>
          </a:xfrm>
          <a:prstGeom prst="leftBracket">
            <a:avLst>
              <a:gd fmla="val 8333" name="adj"/>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descr="Download Free Icons Png - Building Icon Transparent Background PNG Image  with No Background - PNGkey.com" id="923" name="Google Shape;923;p87"/>
          <p:cNvPicPr preferRelativeResize="0"/>
          <p:nvPr/>
        </p:nvPicPr>
        <p:blipFill rotWithShape="1">
          <a:blip r:embed="rId4">
            <a:alphaModFix/>
          </a:blip>
          <a:srcRect b="0" l="0" r="0" t="0"/>
          <a:stretch/>
        </p:blipFill>
        <p:spPr>
          <a:xfrm>
            <a:off x="2523287" y="4369250"/>
            <a:ext cx="112378" cy="130767"/>
          </a:xfrm>
          <a:prstGeom prst="rect">
            <a:avLst/>
          </a:prstGeom>
          <a:noFill/>
          <a:ln>
            <a:noFill/>
          </a:ln>
        </p:spPr>
      </p:pic>
      <p:pic>
        <p:nvPicPr>
          <p:cNvPr descr="Download Free Icons Png - Building Icon Transparent Background PNG Image  with No Background - PNGkey.com" id="924" name="Google Shape;924;p87"/>
          <p:cNvPicPr preferRelativeResize="0"/>
          <p:nvPr/>
        </p:nvPicPr>
        <p:blipFill rotWithShape="1">
          <a:blip r:embed="rId4">
            <a:alphaModFix/>
          </a:blip>
          <a:srcRect b="0" l="0" r="0" t="0"/>
          <a:stretch/>
        </p:blipFill>
        <p:spPr>
          <a:xfrm>
            <a:off x="2317029" y="4374454"/>
            <a:ext cx="112378" cy="130767"/>
          </a:xfrm>
          <a:prstGeom prst="rect">
            <a:avLst/>
          </a:prstGeom>
          <a:noFill/>
          <a:ln>
            <a:noFill/>
          </a:ln>
        </p:spPr>
      </p:pic>
      <p:pic>
        <p:nvPicPr>
          <p:cNvPr descr="Download Free Icons Png - Building Icon Transparent Background PNG Image  with No Background - PNGkey.com" id="925" name="Google Shape;925;p87"/>
          <p:cNvPicPr preferRelativeResize="0"/>
          <p:nvPr/>
        </p:nvPicPr>
        <p:blipFill rotWithShape="1">
          <a:blip r:embed="rId4">
            <a:alphaModFix/>
          </a:blip>
          <a:srcRect b="0" l="0" r="0" t="0"/>
          <a:stretch/>
        </p:blipFill>
        <p:spPr>
          <a:xfrm>
            <a:off x="2131665" y="4374454"/>
            <a:ext cx="112378" cy="130767"/>
          </a:xfrm>
          <a:prstGeom prst="rect">
            <a:avLst/>
          </a:prstGeom>
          <a:noFill/>
          <a:ln>
            <a:noFill/>
          </a:ln>
        </p:spPr>
      </p:pic>
      <p:cxnSp>
        <p:nvCxnSpPr>
          <p:cNvPr id="926" name="Google Shape;926;p87"/>
          <p:cNvCxnSpPr/>
          <p:nvPr/>
        </p:nvCxnSpPr>
        <p:spPr>
          <a:xfrm>
            <a:off x="2373219" y="4254854"/>
            <a:ext cx="0" cy="108000"/>
          </a:xfrm>
          <a:prstGeom prst="straightConnector1">
            <a:avLst/>
          </a:prstGeom>
          <a:noFill/>
          <a:ln cap="flat" cmpd="sng" w="9525">
            <a:solidFill>
              <a:schemeClr val="lt1"/>
            </a:solidFill>
            <a:prstDash val="solid"/>
            <a:round/>
            <a:headEnd len="sm" w="sm" type="none"/>
            <a:tailEnd len="sm" w="sm" type="none"/>
          </a:ln>
        </p:spPr>
      </p:cxnSp>
      <p:sp>
        <p:nvSpPr>
          <p:cNvPr id="927" name="Google Shape;927;p87"/>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88"/>
          <p:cNvSpPr/>
          <p:nvPr/>
        </p:nvSpPr>
        <p:spPr>
          <a:xfrm>
            <a:off x="0" y="0"/>
            <a:ext cx="9144000" cy="838800"/>
          </a:xfrm>
          <a:prstGeom prst="rect">
            <a:avLst/>
          </a:prstGeom>
          <a:solidFill>
            <a:srgbClr val="231F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88"/>
          <p:cNvSpPr/>
          <p:nvPr/>
        </p:nvSpPr>
        <p:spPr>
          <a:xfrm>
            <a:off x="2286000" y="2310140"/>
            <a:ext cx="45720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Source Sans Pro"/>
                <a:ea typeface="Source Sans Pro"/>
                <a:cs typeface="Source Sans Pro"/>
                <a:sym typeface="Source Sans Pro"/>
              </a:rPr>
              <a:t>Multinational conglomerate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FFFFFF"/>
                </a:solidFill>
                <a:latin typeface="Source Sans Pro"/>
                <a:ea typeface="Source Sans Pro"/>
                <a:cs typeface="Source Sans Pro"/>
                <a:sym typeface="Source Sans Pro"/>
              </a:rPr>
              <a:t>Financial data provider </a:t>
            </a:r>
            <a:endParaRPr b="0" i="0" sz="1400" u="none" cap="none" strike="noStrike">
              <a:solidFill>
                <a:srgbClr val="000000"/>
              </a:solidFill>
              <a:latin typeface="Arial"/>
              <a:ea typeface="Arial"/>
              <a:cs typeface="Arial"/>
              <a:sym typeface="Arial"/>
            </a:endParaRPr>
          </a:p>
        </p:txBody>
      </p:sp>
      <p:sp>
        <p:nvSpPr>
          <p:cNvPr id="934" name="Google Shape;934;p88"/>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rgbClr val="FFFFFF"/>
                </a:solidFill>
                <a:latin typeface="Source Sans Pro"/>
                <a:ea typeface="Source Sans Pro"/>
                <a:cs typeface="Source Sans Pro"/>
                <a:sym typeface="Source Sans Pro"/>
              </a:rPr>
              <a:t>Use Case: </a:t>
            </a:r>
            <a:r>
              <a:rPr b="1" i="0" lang="en" sz="1800" u="none" cap="none" strike="noStrike">
                <a:solidFill>
                  <a:srgbClr val="FFFFFF"/>
                </a:solidFill>
                <a:latin typeface="Source Sans Pro"/>
                <a:ea typeface="Source Sans Pro"/>
                <a:cs typeface="Source Sans Pro"/>
                <a:sym typeface="Source Sans Pro"/>
              </a:rPr>
              <a:t>Customer Mastering for B2B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Source Sans Pro"/>
                <a:ea typeface="Source Sans Pro"/>
                <a:cs typeface="Source Sans Pro"/>
                <a:sym typeface="Source Sans Pro"/>
              </a:rPr>
              <a:t>Accurately matched leads to existing accounts to drive cross-sell and upsell account strategy, while reducing reliance on costly, slow third party match services</a:t>
            </a:r>
            <a:endParaRPr b="0" i="0" sz="1200" u="none" cap="none" strike="noStrike">
              <a:solidFill>
                <a:srgbClr val="FFFFFF"/>
              </a:solidFill>
              <a:latin typeface="Source Sans Pro"/>
              <a:ea typeface="Source Sans Pro"/>
              <a:cs typeface="Source Sans Pro"/>
              <a:sym typeface="Source Sans Pro"/>
            </a:endParaRPr>
          </a:p>
        </p:txBody>
      </p:sp>
      <p:sp>
        <p:nvSpPr>
          <p:cNvPr id="935" name="Google Shape;935;p88"/>
          <p:cNvSpPr txBox="1"/>
          <p:nvPr/>
        </p:nvSpPr>
        <p:spPr>
          <a:xfrm>
            <a:off x="3016300" y="1534539"/>
            <a:ext cx="3027000" cy="2001000"/>
          </a:xfrm>
          <a:prstGeom prst="rect">
            <a:avLst/>
          </a:prstGeom>
          <a:noFill/>
          <a:ln>
            <a:noFill/>
          </a:ln>
        </p:spPr>
        <p:txBody>
          <a:bodyPr anchorCtr="0" anchor="t" bIns="91425" lIns="91425" spcFirstLastPara="1" rIns="91425" wrap="square" tIns="91425">
            <a:noAutofit/>
          </a:bodyPr>
          <a:lstStyle/>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Machine learning based approach </a:t>
            </a:r>
            <a:r>
              <a:rPr b="0" i="0" lang="en" sz="1200" u="none" cap="none" strike="noStrike">
                <a:solidFill>
                  <a:schemeClr val="dk1"/>
                </a:solidFill>
                <a:latin typeface="Source Sans Pro"/>
                <a:ea typeface="Source Sans Pro"/>
                <a:cs typeface="Source Sans Pro"/>
                <a:sym typeface="Source Sans Pro"/>
              </a:rPr>
              <a:t>drove a 50% sales lead match increase within the first 2 weeks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Removed or significantly reduced the reliance on third parties</a:t>
            </a:r>
            <a:r>
              <a:rPr b="0" i="0" lang="en" sz="1200" u="none" cap="none" strike="noStrike">
                <a:solidFill>
                  <a:schemeClr val="dk1"/>
                </a:solidFill>
                <a:latin typeface="Source Sans Pro"/>
                <a:ea typeface="Source Sans Pro"/>
                <a:cs typeface="Source Sans Pro"/>
                <a:sym typeface="Source Sans Pro"/>
              </a:rPr>
              <a:t> by improving in-house enrichment capabilities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Leveraged Google translate enrichment </a:t>
            </a:r>
            <a:r>
              <a:rPr b="0" i="0" lang="en" sz="1200" u="none" cap="none" strike="noStrike">
                <a:solidFill>
                  <a:schemeClr val="dk1"/>
                </a:solidFill>
                <a:latin typeface="Source Sans Pro"/>
                <a:ea typeface="Source Sans Pro"/>
                <a:cs typeface="Source Sans Pro"/>
                <a:sym typeface="Source Sans Pro"/>
              </a:rPr>
              <a:t>to tackle language challenges across locations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936" name="Google Shape;936;p88"/>
          <p:cNvSpPr txBox="1"/>
          <p:nvPr/>
        </p:nvSpPr>
        <p:spPr>
          <a:xfrm>
            <a:off x="115425" y="1551393"/>
            <a:ext cx="2867400" cy="1642500"/>
          </a:xfrm>
          <a:prstGeom prst="rect">
            <a:avLst/>
          </a:prstGeom>
          <a:noFill/>
          <a:ln>
            <a:noFill/>
          </a:ln>
        </p:spPr>
        <p:txBody>
          <a:bodyPr anchorCtr="0" anchor="t" bIns="91425" lIns="91425" spcFirstLastPara="1" rIns="91425" wrap="square" tIns="91425">
            <a:noAutofit/>
          </a:bodyPr>
          <a:lstStyle/>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Struggled to match new leads to existing accounts with only 36%</a:t>
            </a:r>
            <a:r>
              <a:rPr b="0" i="0" lang="en" sz="1200" u="none" cap="none" strike="noStrike">
                <a:solidFill>
                  <a:schemeClr val="dk1"/>
                </a:solidFill>
                <a:latin typeface="Source Sans Pro"/>
                <a:ea typeface="Source Sans Pro"/>
                <a:cs typeface="Source Sans Pro"/>
                <a:sym typeface="Source Sans Pro"/>
              </a:rPr>
              <a:t> of leads matched to corporations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Slow &amp; costly third-party vendors </a:t>
            </a:r>
            <a:r>
              <a:rPr b="0" i="0" lang="en" sz="1200" u="none" cap="none" strike="noStrike">
                <a:solidFill>
                  <a:schemeClr val="dk1"/>
                </a:solidFill>
                <a:latin typeface="Source Sans Pro"/>
                <a:ea typeface="Source Sans Pro"/>
                <a:cs typeface="Source Sans Pro"/>
                <a:sym typeface="Source Sans Pro"/>
              </a:rPr>
              <a:t>(D&amp;B, Pitney Bowes Spectrum) reduced prospect response time</a:t>
            </a:r>
            <a:endParaRPr b="0" i="0" sz="1200" u="none" cap="none" strike="noStrike">
              <a:solidFill>
                <a:schemeClr val="dk1"/>
              </a:solidFill>
              <a:latin typeface="Source Sans Pro"/>
              <a:ea typeface="Source Sans Pro"/>
              <a:cs typeface="Source Sans Pro"/>
              <a:sym typeface="Source Sans Pro"/>
            </a:endParaRPr>
          </a:p>
          <a:p>
            <a:pPr indent="0" lvl="0" marL="457189"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Difficulty handling mix of customer languages</a:t>
            </a:r>
            <a:r>
              <a:rPr b="0" i="0" lang="en" sz="1200" u="none" cap="none" strike="noStrike">
                <a:solidFill>
                  <a:schemeClr val="dk1"/>
                </a:solidFill>
                <a:latin typeface="Source Sans Pro"/>
                <a:ea typeface="Source Sans Pro"/>
                <a:cs typeface="Source Sans Pro"/>
                <a:sym typeface="Source Sans Pro"/>
              </a:rPr>
              <a:t> with a large proportion of data in Chinese and Japanese</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6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1"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Source Sans Pro"/>
              <a:ea typeface="Source Sans Pro"/>
              <a:cs typeface="Source Sans Pro"/>
              <a:sym typeface="Source Sans Pro"/>
            </a:endParaRPr>
          </a:p>
        </p:txBody>
      </p:sp>
      <p:sp>
        <p:nvSpPr>
          <p:cNvPr id="937" name="Google Shape;937;p88"/>
          <p:cNvSpPr txBox="1"/>
          <p:nvPr/>
        </p:nvSpPr>
        <p:spPr>
          <a:xfrm>
            <a:off x="6043325" y="1539612"/>
            <a:ext cx="2952000" cy="2418000"/>
          </a:xfrm>
          <a:prstGeom prst="rect">
            <a:avLst/>
          </a:prstGeom>
          <a:noFill/>
          <a:ln>
            <a:noFill/>
          </a:ln>
        </p:spPr>
        <p:txBody>
          <a:bodyPr anchorCtr="0" anchor="t" bIns="91425" lIns="91425" spcFirstLastPara="1" rIns="91425" wrap="square" tIns="91425">
            <a:noAutofit/>
          </a:bodyPr>
          <a:lstStyle/>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Drove cross-sell &amp; upsell by leveraging existing relationship information</a:t>
            </a:r>
            <a:r>
              <a:rPr b="0" i="0" lang="en" sz="1200" u="none" cap="none" strike="noStrike">
                <a:solidFill>
                  <a:schemeClr val="dk1"/>
                </a:solidFill>
                <a:latin typeface="Source Sans Pro"/>
                <a:ea typeface="Source Sans Pro"/>
                <a:cs typeface="Source Sans Pro"/>
                <a:sym typeface="Source Sans Pro"/>
              </a:rPr>
              <a:t> to inform marketing strategy to leads</a:t>
            </a:r>
            <a:endParaRPr b="0" i="0" sz="1400" u="none" cap="none" strike="noStrike">
              <a:solidFill>
                <a:schemeClr val="dk1"/>
              </a:solidFill>
              <a:latin typeface="Arial"/>
              <a:ea typeface="Arial"/>
              <a:cs typeface="Arial"/>
              <a:sym typeface="Arial"/>
            </a:endParaRPr>
          </a:p>
          <a:p>
            <a:pPr indent="-120647" lvl="0" marL="177796"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Improved lead response time from weeks to days</a:t>
            </a:r>
            <a:r>
              <a:rPr b="0" i="0" lang="en" sz="1200" u="none" cap="none" strike="noStrike">
                <a:solidFill>
                  <a:schemeClr val="dk1"/>
                </a:solidFill>
                <a:latin typeface="Source Sans Pro"/>
                <a:ea typeface="Source Sans Pro"/>
                <a:cs typeface="Source Sans Pro"/>
                <a:sym typeface="Source Sans Pro"/>
              </a:rPr>
              <a:t> and saved hundreds of thousands of dollars on third-parties </a:t>
            </a:r>
            <a:endParaRPr b="1" i="0" sz="1200" u="none" cap="none" strike="noStrike">
              <a:solidFill>
                <a:schemeClr val="dk1"/>
              </a:solidFill>
              <a:latin typeface="Source Sans Pro"/>
              <a:ea typeface="Source Sans Pro"/>
              <a:cs typeface="Source Sans Pro"/>
              <a:sym typeface="Source Sans Pro"/>
            </a:endParaRPr>
          </a:p>
          <a:p>
            <a:pPr indent="0" lvl="0" marL="457189"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Source Sans Pro"/>
              <a:ea typeface="Source Sans Pro"/>
              <a:cs typeface="Source Sans Pro"/>
              <a:sym typeface="Source Sans Pro"/>
            </a:endParaRPr>
          </a:p>
          <a:p>
            <a:pPr indent="-177796" lvl="0" marL="177796" marR="0" rtl="0" algn="l">
              <a:lnSpc>
                <a:spcPct val="100000"/>
              </a:lnSpc>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Achieved a global view of accounts</a:t>
            </a:r>
            <a:r>
              <a:rPr b="0" i="0" lang="en" sz="1200" u="none" cap="none" strike="noStrike">
                <a:solidFill>
                  <a:schemeClr val="dk1"/>
                </a:solidFill>
                <a:latin typeface="Source Sans Pro"/>
                <a:ea typeface="Source Sans Pro"/>
                <a:cs typeface="Source Sans Pro"/>
                <a:sym typeface="Source Sans Pro"/>
              </a:rPr>
              <a:t> to enable holistic contract management &amp; inform negotiations with key accounts</a:t>
            </a:r>
            <a:endParaRPr b="0" i="0" sz="1200" u="none" cap="none" strike="noStrike">
              <a:solidFill>
                <a:schemeClr val="dk1"/>
              </a:solidFill>
              <a:latin typeface="Source Sans Pro"/>
              <a:ea typeface="Source Sans Pro"/>
              <a:cs typeface="Source Sans Pro"/>
              <a:sym typeface="Source Sans Pro"/>
            </a:endParaRPr>
          </a:p>
        </p:txBody>
      </p:sp>
      <p:cxnSp>
        <p:nvCxnSpPr>
          <p:cNvPr id="938" name="Google Shape;938;p88"/>
          <p:cNvCxnSpPr/>
          <p:nvPr/>
        </p:nvCxnSpPr>
        <p:spPr>
          <a:xfrm>
            <a:off x="6043336" y="1509247"/>
            <a:ext cx="0" cy="2304000"/>
          </a:xfrm>
          <a:prstGeom prst="straightConnector1">
            <a:avLst/>
          </a:prstGeom>
          <a:noFill/>
          <a:ln cap="flat" cmpd="sng" w="19050">
            <a:solidFill>
              <a:srgbClr val="000000"/>
            </a:solidFill>
            <a:prstDash val="solid"/>
            <a:round/>
            <a:headEnd len="sm" w="sm" type="none"/>
            <a:tailEnd len="sm" w="sm" type="none"/>
          </a:ln>
        </p:spPr>
      </p:cxnSp>
      <p:sp>
        <p:nvSpPr>
          <p:cNvPr id="939" name="Google Shape;939;p88"/>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940" name="Google Shape;940;p88"/>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941" name="Google Shape;941;p88"/>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cxnSp>
        <p:nvCxnSpPr>
          <p:cNvPr id="942" name="Google Shape;942;p88"/>
          <p:cNvCxnSpPr/>
          <p:nvPr/>
        </p:nvCxnSpPr>
        <p:spPr>
          <a:xfrm>
            <a:off x="2948368" y="1528262"/>
            <a:ext cx="0" cy="2304000"/>
          </a:xfrm>
          <a:prstGeom prst="straightConnector1">
            <a:avLst/>
          </a:prstGeom>
          <a:noFill/>
          <a:ln cap="flat" cmpd="sng" w="19050">
            <a:solidFill>
              <a:srgbClr val="000000"/>
            </a:solidFill>
            <a:prstDash val="solid"/>
            <a:round/>
            <a:headEnd len="sm" w="sm" type="none"/>
            <a:tailEnd len="sm" w="sm" type="none"/>
          </a:ln>
        </p:spPr>
      </p:cxnSp>
      <p:sp>
        <p:nvSpPr>
          <p:cNvPr id="943" name="Google Shape;943;p88"/>
          <p:cNvSpPr txBox="1"/>
          <p:nvPr/>
        </p:nvSpPr>
        <p:spPr>
          <a:xfrm>
            <a:off x="2854050" y="4098038"/>
            <a:ext cx="5025600" cy="51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Source Sans Pro"/>
                <a:ea typeface="Source Sans Pro"/>
                <a:cs typeface="Source Sans Pro"/>
                <a:sym typeface="Source Sans Pro"/>
              </a:rPr>
              <a:t>Drove a </a:t>
            </a:r>
            <a:r>
              <a:rPr b="1" i="0" lang="en" sz="1400" u="none" cap="none" strike="noStrike">
                <a:solidFill>
                  <a:schemeClr val="dk1"/>
                </a:solidFill>
                <a:latin typeface="Source Sans Pro"/>
                <a:ea typeface="Source Sans Pro"/>
                <a:cs typeface="Source Sans Pro"/>
                <a:sym typeface="Source Sans Pro"/>
              </a:rPr>
              <a:t>50% increase in the match rate of sales leads to existing accounts </a:t>
            </a:r>
            <a:r>
              <a:rPr b="0" i="0" lang="en" sz="1400" u="none" cap="none" strike="noStrike">
                <a:solidFill>
                  <a:schemeClr val="dk1"/>
                </a:solidFill>
                <a:latin typeface="Source Sans Pro"/>
                <a:ea typeface="Source Sans Pro"/>
                <a:cs typeface="Source Sans Pro"/>
                <a:sym typeface="Source Sans Pro"/>
              </a:rPr>
              <a:t>within the first 2 weeks </a:t>
            </a:r>
            <a:endParaRPr b="0" i="0" sz="1400" u="none" cap="none" strike="noStrike">
              <a:solidFill>
                <a:schemeClr val="dk1"/>
              </a:solidFill>
              <a:latin typeface="Source Sans Pro"/>
              <a:ea typeface="Source Sans Pro"/>
              <a:cs typeface="Source Sans Pro"/>
              <a:sym typeface="Source Sans Pro"/>
            </a:endParaRPr>
          </a:p>
        </p:txBody>
      </p:sp>
      <p:sp>
        <p:nvSpPr>
          <p:cNvPr id="944" name="Google Shape;944;p88"/>
          <p:cNvSpPr/>
          <p:nvPr/>
        </p:nvSpPr>
        <p:spPr>
          <a:xfrm>
            <a:off x="2033487" y="4023082"/>
            <a:ext cx="671400" cy="664200"/>
          </a:xfrm>
          <a:prstGeom prst="ellipse">
            <a:avLst/>
          </a:prstGeom>
          <a:solidFill>
            <a:srgbClr val="231F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Image result for analog devices logo" id="945" name="Google Shape;945;p88"/>
          <p:cNvSpPr/>
          <p:nvPr/>
        </p:nvSpPr>
        <p:spPr>
          <a:xfrm>
            <a:off x="4419600" y="241935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nalog Devices Logo" id="946" name="Google Shape;946;p88"/>
          <p:cNvPicPr preferRelativeResize="0"/>
          <p:nvPr/>
        </p:nvPicPr>
        <p:blipFill rotWithShape="1">
          <a:blip r:embed="rId3">
            <a:alphaModFix/>
          </a:blip>
          <a:srcRect b="1459" l="10836" r="12146" t="66608"/>
          <a:stretch/>
        </p:blipFill>
        <p:spPr>
          <a:xfrm>
            <a:off x="115425" y="82323"/>
            <a:ext cx="1692000" cy="701525"/>
          </a:xfrm>
          <a:prstGeom prst="rect">
            <a:avLst/>
          </a:prstGeom>
          <a:noFill/>
          <a:ln>
            <a:noFill/>
          </a:ln>
        </p:spPr>
      </p:pic>
      <p:pic>
        <p:nvPicPr>
          <p:cNvPr descr="Download Free Icons Png - Building Icon Transparent Background PNG Image  with No Background - PNGkey.com" id="947" name="Google Shape;947;p88"/>
          <p:cNvPicPr preferRelativeResize="0"/>
          <p:nvPr/>
        </p:nvPicPr>
        <p:blipFill rotWithShape="1">
          <a:blip r:embed="rId4">
            <a:alphaModFix/>
          </a:blip>
          <a:srcRect b="0" l="0" r="0" t="0"/>
          <a:stretch/>
        </p:blipFill>
        <p:spPr>
          <a:xfrm>
            <a:off x="2188769" y="4138705"/>
            <a:ext cx="324000" cy="377018"/>
          </a:xfrm>
          <a:prstGeom prst="rect">
            <a:avLst/>
          </a:prstGeom>
          <a:noFill/>
          <a:ln>
            <a:noFill/>
          </a:ln>
        </p:spPr>
      </p:pic>
      <p:sp>
        <p:nvSpPr>
          <p:cNvPr id="948" name="Google Shape;948;p88"/>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89"/>
          <p:cNvSpPr/>
          <p:nvPr/>
        </p:nvSpPr>
        <p:spPr>
          <a:xfrm>
            <a:off x="0" y="0"/>
            <a:ext cx="9144000" cy="838800"/>
          </a:xfrm>
          <a:prstGeom prst="rect">
            <a:avLst/>
          </a:prstGeom>
          <a:solidFill>
            <a:srgbClr val="C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4" name="Google Shape;954;p89"/>
          <p:cNvSpPr/>
          <p:nvPr/>
        </p:nvSpPr>
        <p:spPr>
          <a:xfrm>
            <a:off x="2286000" y="2310140"/>
            <a:ext cx="4572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Multinational conglomerate</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Financial data provider </a:t>
            </a:r>
            <a:endParaRPr b="0" i="0" sz="1400" u="none" cap="none" strike="noStrike">
              <a:solidFill>
                <a:srgbClr val="000000"/>
              </a:solidFill>
              <a:latin typeface="Arial"/>
              <a:ea typeface="Arial"/>
              <a:cs typeface="Arial"/>
              <a:sym typeface="Arial"/>
            </a:endParaRPr>
          </a:p>
        </p:txBody>
      </p:sp>
      <p:sp>
        <p:nvSpPr>
          <p:cNvPr id="955" name="Google Shape;955;p89"/>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a:t>
            </a:r>
            <a:r>
              <a:rPr b="1" lang="en" sz="1800" u="none" cap="none" strike="noStrike">
                <a:solidFill>
                  <a:srgbClr val="FFFFFF"/>
                </a:solidFill>
                <a:latin typeface="Source Sans Pro"/>
                <a:ea typeface="Source Sans Pro"/>
                <a:cs typeface="Source Sans Pro"/>
                <a:sym typeface="Source Sans Pro"/>
              </a:rPr>
              <a:t>Data Mastering for </a:t>
            </a:r>
            <a:r>
              <a:rPr b="1" i="0" lang="en" sz="1800" u="none" cap="none" strike="noStrike">
                <a:solidFill>
                  <a:srgbClr val="FFFFFF"/>
                </a:solidFill>
                <a:latin typeface="Source Sans Pro"/>
                <a:ea typeface="Source Sans Pro"/>
                <a:cs typeface="Source Sans Pro"/>
                <a:sym typeface="Source Sans Pro"/>
              </a:rPr>
              <a:t>Customer-360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 sz="1200" u="none" cap="none" strike="noStrike">
                <a:solidFill>
                  <a:srgbClr val="FFFFFF"/>
                </a:solidFill>
                <a:latin typeface="Source Sans Pro"/>
                <a:ea typeface="Source Sans Pro"/>
                <a:cs typeface="Source Sans Pro"/>
                <a:sym typeface="Source Sans Pro"/>
              </a:rPr>
              <a:t>Mastered customer data to enable faster loan approval and more informed credit decisions while addressing regulatory requirements</a:t>
            </a:r>
            <a:endParaRPr b="0" i="0" sz="1200" u="none" cap="none" strike="noStrike">
              <a:solidFill>
                <a:srgbClr val="FFFFFF"/>
              </a:solidFill>
              <a:latin typeface="Source Sans Pro"/>
              <a:ea typeface="Source Sans Pro"/>
              <a:cs typeface="Source Sans Pro"/>
              <a:sym typeface="Source Sans Pro"/>
            </a:endParaRPr>
          </a:p>
        </p:txBody>
      </p:sp>
      <p:sp>
        <p:nvSpPr>
          <p:cNvPr id="956" name="Google Shape;956;p89"/>
          <p:cNvSpPr txBox="1"/>
          <p:nvPr/>
        </p:nvSpPr>
        <p:spPr>
          <a:xfrm>
            <a:off x="3016293" y="1490250"/>
            <a:ext cx="29520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Created complete, up-to-date customer views</a:t>
            </a:r>
            <a:r>
              <a:rPr lang="en" sz="1200">
                <a:solidFill>
                  <a:schemeClr val="dk1"/>
                </a:solidFill>
                <a:latin typeface="Source Sans Pro"/>
                <a:ea typeface="Source Sans Pro"/>
                <a:cs typeface="Source Sans Pro"/>
                <a:sym typeface="Source Sans Pro"/>
              </a:rPr>
              <a:t> from 45 sources and 10s of millions of records in under 4 wks</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Generated unique Tamr ID for each customer </a:t>
            </a:r>
            <a:r>
              <a:rPr lang="en" sz="1200">
                <a:solidFill>
                  <a:schemeClr val="dk1"/>
                </a:solidFill>
                <a:latin typeface="Source Sans Pro"/>
                <a:ea typeface="Source Sans Pro"/>
                <a:cs typeface="Source Sans Pro"/>
                <a:sym typeface="Source Sans Pro"/>
              </a:rPr>
              <a:t>composed of corporate, retail, Salesforce, &amp; global business data</a:t>
            </a:r>
            <a:endParaRPr sz="12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Ability to cluster customer views into business-ready segments</a:t>
            </a:r>
            <a:r>
              <a:rPr lang="en" sz="1200">
                <a:solidFill>
                  <a:schemeClr val="dk1"/>
                </a:solidFill>
                <a:latin typeface="Source Sans Pro"/>
                <a:ea typeface="Source Sans Pro"/>
                <a:cs typeface="Source Sans Pro"/>
                <a:sym typeface="Source Sans Pro"/>
              </a:rPr>
              <a:t> (e.g., by products, region)</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957" name="Google Shape;957;p89"/>
          <p:cNvSpPr txBox="1"/>
          <p:nvPr/>
        </p:nvSpPr>
        <p:spPr>
          <a:xfrm>
            <a:off x="115425" y="1490250"/>
            <a:ext cx="2867400" cy="16425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L</a:t>
            </a:r>
            <a:r>
              <a:rPr b="1" i="0" lang="en" sz="1200" u="none" cap="none" strike="noStrike">
                <a:solidFill>
                  <a:schemeClr val="dk1"/>
                </a:solidFill>
                <a:latin typeface="Source Sans Pro"/>
                <a:ea typeface="Source Sans Pro"/>
                <a:cs typeface="Source Sans Pro"/>
                <a:sym typeface="Source Sans Pro"/>
              </a:rPr>
              <a:t>imited view of customers</a:t>
            </a:r>
            <a:r>
              <a:rPr b="0" i="0" lang="en" sz="1200" u="none" cap="none" strike="noStrike">
                <a:solidFill>
                  <a:schemeClr val="dk1"/>
                </a:solidFill>
                <a:latin typeface="Source Sans Pro"/>
                <a:ea typeface="Source Sans Pro"/>
                <a:cs typeface="Source Sans Pro"/>
                <a:sym typeface="Source Sans Pro"/>
              </a:rPr>
              <a:t> and exposure due to e</a:t>
            </a:r>
            <a:r>
              <a:rPr lang="en" sz="1200">
                <a:solidFill>
                  <a:schemeClr val="dk1"/>
                </a:solidFill>
                <a:latin typeface="Source Sans Pro"/>
                <a:ea typeface="Source Sans Pro"/>
                <a:cs typeface="Source Sans Pro"/>
                <a:sym typeface="Source Sans Pro"/>
              </a:rPr>
              <a:t>nterprise </a:t>
            </a:r>
            <a:r>
              <a:rPr b="0" i="0" lang="en" sz="1200" u="none" cap="none" strike="noStrike">
                <a:solidFill>
                  <a:schemeClr val="dk1"/>
                </a:solidFill>
                <a:latin typeface="Source Sans Pro"/>
                <a:ea typeface="Source Sans Pro"/>
                <a:cs typeface="Source Sans Pro"/>
                <a:sym typeface="Source Sans Pro"/>
              </a:rPr>
              <a:t>data silos </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Slow lending decisions</a:t>
            </a:r>
            <a:r>
              <a:rPr lang="en" sz="1200">
                <a:solidFill>
                  <a:schemeClr val="dk1"/>
                </a:solidFill>
                <a:latin typeface="Source Sans Pro"/>
                <a:ea typeface="Source Sans Pro"/>
                <a:cs typeface="Source Sans Pro"/>
                <a:sym typeface="Source Sans Pro"/>
              </a:rPr>
              <a:t> due to inability to reconcile disparate customer data silos</a:t>
            </a:r>
            <a:endParaRPr sz="1200">
              <a:solidFill>
                <a:schemeClr val="dk1"/>
              </a:solidFill>
            </a:endParaRPr>
          </a:p>
          <a:p>
            <a:pPr indent="0" lvl="0" marL="342900" marR="0" rtl="0" algn="l">
              <a:spcBef>
                <a:spcPts val="0"/>
              </a:spcBef>
              <a:spcAft>
                <a:spcPts val="0"/>
              </a:spcAft>
              <a:buNone/>
            </a:pPr>
            <a:r>
              <a:t/>
            </a:r>
            <a:endParaRPr sz="1200">
              <a:solidFill>
                <a:schemeClr val="dk1"/>
              </a:solidFill>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Multiple failed data r</a:t>
            </a:r>
            <a:r>
              <a:rPr b="1" i="0" lang="en" sz="1200" u="none" cap="none" strike="noStrike">
                <a:solidFill>
                  <a:schemeClr val="dk1"/>
                </a:solidFill>
                <a:latin typeface="Source Sans Pro"/>
                <a:ea typeface="Source Sans Pro"/>
                <a:cs typeface="Source Sans Pro"/>
                <a:sym typeface="Source Sans Pro"/>
              </a:rPr>
              <a:t>emediation attempts</a:t>
            </a:r>
            <a:r>
              <a:rPr b="0" i="0" lang="en" sz="1200" u="none" cap="none" strike="noStrike">
                <a:solidFill>
                  <a:schemeClr val="dk1"/>
                </a:solidFill>
                <a:latin typeface="Source Sans Pro"/>
                <a:ea typeface="Source Sans Pro"/>
                <a:cs typeface="Source Sans Pro"/>
                <a:sym typeface="Source Sans Pro"/>
              </a:rPr>
              <a:t> with rule</a:t>
            </a:r>
            <a:r>
              <a:rPr lang="en" sz="1200">
                <a:solidFill>
                  <a:schemeClr val="dk1"/>
                </a:solidFill>
                <a:latin typeface="Source Sans Pro"/>
                <a:ea typeface="Source Sans Pro"/>
                <a:cs typeface="Source Sans Pro"/>
                <a:sym typeface="Source Sans Pro"/>
              </a:rPr>
              <a:t>s-based systems</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600"/>
              </a:spcBef>
              <a:spcAft>
                <a:spcPts val="0"/>
              </a:spcAft>
              <a:buClr>
                <a:srgbClr val="000000"/>
              </a:buClr>
              <a:buSzPts val="800"/>
              <a:buFont typeface="Arial"/>
              <a:buNone/>
            </a:pPr>
            <a:r>
              <a:t/>
            </a:r>
            <a:endParaRPr b="0" i="0" sz="1500" u="none" cap="none" strike="noStrike">
              <a:solidFill>
                <a:schemeClr val="dk1"/>
              </a:solidFill>
              <a:latin typeface="Arial"/>
              <a:ea typeface="Arial"/>
              <a:cs typeface="Arial"/>
              <a:sym typeface="Arial"/>
            </a:endParaRPr>
          </a:p>
          <a:p>
            <a:pPr indent="0" lvl="1" marL="0" marR="0" rtl="0" algn="l">
              <a:spcBef>
                <a:spcPts val="600"/>
              </a:spcBef>
              <a:spcAft>
                <a:spcPts val="0"/>
              </a:spcAft>
              <a:buNone/>
            </a:pPr>
            <a:r>
              <a:t/>
            </a:r>
            <a:endParaRPr b="0" i="0" sz="1100" u="none" cap="none" strike="noStrike">
              <a:solidFill>
                <a:schemeClr val="dk1"/>
              </a:solidFill>
              <a:latin typeface="Source Sans Pro"/>
              <a:ea typeface="Source Sans Pro"/>
              <a:cs typeface="Source Sans Pro"/>
              <a:sym typeface="Source Sans Pro"/>
            </a:endParaRPr>
          </a:p>
        </p:txBody>
      </p:sp>
      <p:sp>
        <p:nvSpPr>
          <p:cNvPr id="958" name="Google Shape;958;p89"/>
          <p:cNvSpPr txBox="1"/>
          <p:nvPr/>
        </p:nvSpPr>
        <p:spPr>
          <a:xfrm>
            <a:off x="6043325" y="1490250"/>
            <a:ext cx="2952000" cy="19281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Faster lending processes</a:t>
            </a:r>
            <a:r>
              <a:rPr lang="en" sz="1200">
                <a:solidFill>
                  <a:schemeClr val="dk1"/>
                </a:solidFill>
                <a:latin typeface="Source Sans Pro"/>
                <a:ea typeface="Source Sans Pro"/>
                <a:cs typeface="Source Sans Pro"/>
                <a:sym typeface="Source Sans Pro"/>
              </a:rPr>
              <a:t> by cutting credit decision times in half with rollout of new lending system</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Increased reliability of </a:t>
            </a:r>
            <a:r>
              <a:rPr b="1" lang="en" sz="1200">
                <a:solidFill>
                  <a:schemeClr val="dk1"/>
                </a:solidFill>
                <a:latin typeface="Source Sans Pro"/>
                <a:ea typeface="Source Sans Pro"/>
                <a:cs typeface="Source Sans Pro"/>
                <a:sym typeface="Source Sans Pro"/>
              </a:rPr>
              <a:t>reporting</a:t>
            </a:r>
            <a:r>
              <a:rPr b="1" i="0" lang="en" sz="1200" u="none" cap="none" strike="noStrike">
                <a:solidFill>
                  <a:schemeClr val="dk1"/>
                </a:solidFill>
                <a:latin typeface="Source Sans Pro"/>
                <a:ea typeface="Source Sans Pro"/>
                <a:cs typeface="Source Sans Pro"/>
                <a:sym typeface="Source Sans Pro"/>
              </a:rPr>
              <a:t> data</a:t>
            </a:r>
            <a:r>
              <a:rPr b="0" i="0" lang="en" sz="1200" u="none" cap="none" strike="noStrike">
                <a:solidFill>
                  <a:schemeClr val="dk1"/>
                </a:solidFill>
                <a:latin typeface="Source Sans Pro"/>
                <a:ea typeface="Source Sans Pro"/>
                <a:cs typeface="Source Sans Pro"/>
                <a:sym typeface="Source Sans Pro"/>
              </a:rPr>
              <a:t> w</a:t>
            </a:r>
            <a:r>
              <a:rPr lang="en" sz="1200">
                <a:solidFill>
                  <a:schemeClr val="dk1"/>
                </a:solidFill>
                <a:latin typeface="Source Sans Pro"/>
                <a:ea typeface="Source Sans Pro"/>
                <a:cs typeface="Source Sans Pro"/>
                <a:sym typeface="Source Sans Pro"/>
              </a:rPr>
              <a:t>ith unified data feeds for financial, credit risk &amp; regulatory reporting</a:t>
            </a:r>
            <a:endParaRPr sz="12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i="0" lang="en" sz="1200" u="none" cap="none" strike="noStrike">
                <a:solidFill>
                  <a:schemeClr val="dk1"/>
                </a:solidFill>
                <a:latin typeface="Source Sans Pro"/>
                <a:ea typeface="Source Sans Pro"/>
                <a:cs typeface="Source Sans Pro"/>
                <a:sym typeface="Source Sans Pro"/>
              </a:rPr>
              <a:t>Empowered sales for cross-sell opportunities</a:t>
            </a:r>
            <a:r>
              <a:rPr b="0" i="0" lang="en" sz="1200" u="none" cap="none" strike="noStrike">
                <a:solidFill>
                  <a:schemeClr val="dk1"/>
                </a:solidFill>
                <a:latin typeface="Source Sans Pro"/>
                <a:ea typeface="Source Sans Pro"/>
                <a:cs typeface="Source Sans Pro"/>
                <a:sym typeface="Source Sans Pro"/>
              </a:rPr>
              <a:t> with holistic view of customers across divisions an</a:t>
            </a:r>
            <a:r>
              <a:rPr lang="en" sz="1200">
                <a:solidFill>
                  <a:schemeClr val="dk1"/>
                </a:solidFill>
                <a:latin typeface="Source Sans Pro"/>
                <a:ea typeface="Source Sans Pro"/>
                <a:cs typeface="Source Sans Pro"/>
                <a:sym typeface="Source Sans Pro"/>
              </a:rPr>
              <a:t>d products</a:t>
            </a:r>
            <a:endParaRPr b="0" i="0" sz="1200" u="none" cap="none" strike="noStrike">
              <a:solidFill>
                <a:schemeClr val="dk1"/>
              </a:solidFill>
              <a:latin typeface="Source Sans Pro"/>
              <a:ea typeface="Source Sans Pro"/>
              <a:cs typeface="Source Sans Pro"/>
              <a:sym typeface="Source Sans Pro"/>
            </a:endParaRPr>
          </a:p>
          <a:p>
            <a:pPr indent="0" lvl="1"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cxnSp>
        <p:nvCxnSpPr>
          <p:cNvPr id="959" name="Google Shape;959;p89"/>
          <p:cNvCxnSpPr/>
          <p:nvPr/>
        </p:nvCxnSpPr>
        <p:spPr>
          <a:xfrm>
            <a:off x="6043336" y="1509247"/>
            <a:ext cx="0" cy="2304000"/>
          </a:xfrm>
          <a:prstGeom prst="straightConnector1">
            <a:avLst/>
          </a:prstGeom>
          <a:noFill/>
          <a:ln cap="flat" cmpd="sng" w="19050">
            <a:solidFill>
              <a:srgbClr val="C00000"/>
            </a:solidFill>
            <a:prstDash val="solid"/>
            <a:round/>
            <a:headEnd len="sm" w="sm" type="none"/>
            <a:tailEnd len="sm" w="sm" type="none"/>
          </a:ln>
        </p:spPr>
      </p:cxnSp>
      <p:sp>
        <p:nvSpPr>
          <p:cNvPr id="960" name="Google Shape;960;p89"/>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961" name="Google Shape;961;p89"/>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962" name="Google Shape;962;p89"/>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pic>
        <p:nvPicPr>
          <p:cNvPr id="963" name="Google Shape;963;p89"/>
          <p:cNvPicPr preferRelativeResize="0"/>
          <p:nvPr/>
        </p:nvPicPr>
        <p:blipFill>
          <a:blip r:embed="rId3">
            <a:alphaModFix/>
          </a:blip>
          <a:stretch>
            <a:fillRect/>
          </a:stretch>
        </p:blipFill>
        <p:spPr>
          <a:xfrm>
            <a:off x="464000" y="230824"/>
            <a:ext cx="1495826" cy="364575"/>
          </a:xfrm>
          <a:prstGeom prst="rect">
            <a:avLst/>
          </a:prstGeom>
          <a:noFill/>
          <a:ln>
            <a:noFill/>
          </a:ln>
        </p:spPr>
      </p:pic>
      <p:cxnSp>
        <p:nvCxnSpPr>
          <p:cNvPr id="964" name="Google Shape;964;p89"/>
          <p:cNvCxnSpPr/>
          <p:nvPr/>
        </p:nvCxnSpPr>
        <p:spPr>
          <a:xfrm>
            <a:off x="2948368" y="1528262"/>
            <a:ext cx="0" cy="2304000"/>
          </a:xfrm>
          <a:prstGeom prst="straightConnector1">
            <a:avLst/>
          </a:prstGeom>
          <a:noFill/>
          <a:ln cap="flat" cmpd="sng" w="19050">
            <a:solidFill>
              <a:srgbClr val="C00000"/>
            </a:solidFill>
            <a:prstDash val="solid"/>
            <a:round/>
            <a:headEnd len="sm" w="sm" type="none"/>
            <a:tailEnd len="sm" w="sm" type="none"/>
          </a:ln>
        </p:spPr>
      </p:cxnSp>
      <p:sp>
        <p:nvSpPr>
          <p:cNvPr id="965" name="Google Shape;965;p89"/>
          <p:cNvSpPr txBox="1"/>
          <p:nvPr/>
        </p:nvSpPr>
        <p:spPr>
          <a:xfrm>
            <a:off x="2690200" y="4051463"/>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Cut lending processing time in half </a:t>
            </a:r>
            <a:r>
              <a:rPr lang="en">
                <a:solidFill>
                  <a:schemeClr val="dk1"/>
                </a:solidFill>
                <a:latin typeface="Source Sans Pro"/>
                <a:ea typeface="Source Sans Pro"/>
                <a:cs typeface="Source Sans Pro"/>
                <a:sym typeface="Source Sans Pro"/>
              </a:rPr>
              <a:t>with new lending system powered by single, complete customer views from </a:t>
            </a:r>
            <a:r>
              <a:rPr b="1" lang="en">
                <a:solidFill>
                  <a:schemeClr val="dk1"/>
                </a:solidFill>
                <a:latin typeface="Source Sans Pro"/>
                <a:ea typeface="Source Sans Pro"/>
                <a:cs typeface="Source Sans Pro"/>
                <a:sym typeface="Source Sans Pro"/>
              </a:rPr>
              <a:t>45 data sources</a:t>
            </a:r>
            <a:endParaRPr b="1">
              <a:solidFill>
                <a:schemeClr val="dk1"/>
              </a:solidFill>
              <a:latin typeface="Source Sans Pro"/>
              <a:ea typeface="Source Sans Pro"/>
              <a:cs typeface="Source Sans Pro"/>
              <a:sym typeface="Source Sans Pro"/>
            </a:endParaRPr>
          </a:p>
        </p:txBody>
      </p:sp>
      <p:grpSp>
        <p:nvGrpSpPr>
          <p:cNvPr id="966" name="Google Shape;966;p89"/>
          <p:cNvGrpSpPr/>
          <p:nvPr/>
        </p:nvGrpSpPr>
        <p:grpSpPr>
          <a:xfrm>
            <a:off x="1869636" y="3976507"/>
            <a:ext cx="671443" cy="664118"/>
            <a:chOff x="975675" y="3849675"/>
            <a:chExt cx="742500" cy="734400"/>
          </a:xfrm>
        </p:grpSpPr>
        <p:sp>
          <p:nvSpPr>
            <p:cNvPr id="967" name="Google Shape;967;p89"/>
            <p:cNvSpPr/>
            <p:nvPr/>
          </p:nvSpPr>
          <p:spPr>
            <a:xfrm>
              <a:off x="975675" y="3849675"/>
              <a:ext cx="742500" cy="734400"/>
            </a:xfrm>
            <a:prstGeom prst="ellipse">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8" name="Google Shape;968;p89"/>
            <p:cNvPicPr preferRelativeResize="0"/>
            <p:nvPr/>
          </p:nvPicPr>
          <p:blipFill>
            <a:blip r:embed="rId4">
              <a:alphaModFix/>
            </a:blip>
            <a:stretch>
              <a:fillRect/>
            </a:stretch>
          </p:blipFill>
          <p:spPr>
            <a:xfrm>
              <a:off x="1117573" y="3993924"/>
              <a:ext cx="458700" cy="445875"/>
            </a:xfrm>
            <a:prstGeom prst="rect">
              <a:avLst/>
            </a:prstGeom>
            <a:noFill/>
            <a:ln>
              <a:noFill/>
            </a:ln>
          </p:spPr>
        </p:pic>
      </p:grpSp>
      <p:sp>
        <p:nvSpPr>
          <p:cNvPr id="969" name="Google Shape;969;p89"/>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90"/>
          <p:cNvSpPr/>
          <p:nvPr/>
        </p:nvSpPr>
        <p:spPr>
          <a:xfrm>
            <a:off x="0" y="3617541"/>
            <a:ext cx="9144000" cy="1514700"/>
          </a:xfrm>
          <a:prstGeom prst="rect">
            <a:avLst/>
          </a:prstGeom>
          <a:solidFill>
            <a:srgbClr val="C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5" name="Google Shape;975;p90"/>
          <p:cNvSpPr txBox="1"/>
          <p:nvPr/>
        </p:nvSpPr>
        <p:spPr>
          <a:xfrm>
            <a:off x="743450" y="3855600"/>
            <a:ext cx="4292400" cy="1038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1" lang="en" u="none" cap="none" strike="noStrike">
                <a:solidFill>
                  <a:srgbClr val="FFFFFF"/>
                </a:solidFill>
                <a:latin typeface="Source Sans Pro"/>
                <a:ea typeface="Source Sans Pro"/>
                <a:cs typeface="Source Sans Pro"/>
                <a:sym typeface="Source Sans Pro"/>
              </a:rPr>
              <a:t>“Data mastered by Tamr underpins the entire digital journey - if we didn't have the single customer view, we wouldn't be able to feed information downstream into decision and risk engines”</a:t>
            </a:r>
            <a:endParaRPr b="0" i="0" sz="1700" u="none" cap="none" strike="noStrike">
              <a:solidFill>
                <a:srgbClr val="FFFFFF"/>
              </a:solidFill>
              <a:latin typeface="Source Sans Pro"/>
              <a:ea typeface="Source Sans Pro"/>
              <a:cs typeface="Source Sans Pro"/>
              <a:sym typeface="Source Sans Pro"/>
            </a:endParaRPr>
          </a:p>
        </p:txBody>
      </p:sp>
      <p:sp>
        <p:nvSpPr>
          <p:cNvPr id="976" name="Google Shape;976;p90"/>
          <p:cNvSpPr txBox="1"/>
          <p:nvPr/>
        </p:nvSpPr>
        <p:spPr>
          <a:xfrm>
            <a:off x="5595825" y="3969700"/>
            <a:ext cx="2715600" cy="4983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i="1" lang="en">
                <a:solidFill>
                  <a:srgbClr val="FFFFFF"/>
                </a:solidFill>
                <a:latin typeface="Source Sans Pro"/>
                <a:ea typeface="Source Sans Pro"/>
                <a:cs typeface="Source Sans Pro"/>
                <a:sym typeface="Source Sans Pro"/>
              </a:rPr>
              <a:t>Jonathan Holman</a:t>
            </a:r>
            <a:endParaRPr b="1" i="1">
              <a:solidFill>
                <a:srgbClr val="FFFFFF"/>
              </a:solidFill>
              <a:latin typeface="Source Sans Pro"/>
              <a:ea typeface="Source Sans Pro"/>
              <a:cs typeface="Source Sans Pro"/>
              <a:sym typeface="Source Sans Pro"/>
            </a:endParaRPr>
          </a:p>
          <a:p>
            <a:pPr indent="0" lvl="0" marL="0" marR="0" rtl="0" algn="ctr">
              <a:spcBef>
                <a:spcPts val="0"/>
              </a:spcBef>
              <a:spcAft>
                <a:spcPts val="0"/>
              </a:spcAft>
              <a:buNone/>
            </a:pPr>
            <a:r>
              <a:rPr b="1" i="0" lang="en" u="none" cap="none" strike="noStrike">
                <a:solidFill>
                  <a:srgbClr val="FFFFFF"/>
                </a:solidFill>
                <a:latin typeface="Source Sans Pro"/>
                <a:ea typeface="Source Sans Pro"/>
                <a:cs typeface="Source Sans Pro"/>
                <a:sym typeface="Source Sans Pro"/>
              </a:rPr>
              <a:t>Head of Digital Transformation, Santander</a:t>
            </a:r>
            <a:endParaRPr b="1" i="0" sz="1700" u="none" cap="none" strike="noStrike">
              <a:solidFill>
                <a:srgbClr val="FFFFFF"/>
              </a:solidFill>
            </a:endParaRPr>
          </a:p>
          <a:p>
            <a:pPr indent="0" lvl="0" marL="0" marR="0" rtl="0" algn="l">
              <a:spcBef>
                <a:spcPts val="600"/>
              </a:spcBef>
              <a:spcAft>
                <a:spcPts val="0"/>
              </a:spcAft>
              <a:buNone/>
            </a:pPr>
            <a:r>
              <a:t/>
            </a:r>
            <a:endParaRPr b="0" i="0" sz="1600" u="none" cap="none" strike="noStrike">
              <a:solidFill>
                <a:srgbClr val="FFFFFF"/>
              </a:solidFill>
              <a:latin typeface="Source Sans Pro"/>
              <a:ea typeface="Source Sans Pro"/>
              <a:cs typeface="Source Sans Pro"/>
              <a:sym typeface="Source Sans Pro"/>
            </a:endParaRPr>
          </a:p>
        </p:txBody>
      </p:sp>
      <p:sp>
        <p:nvSpPr>
          <p:cNvPr id="977" name="Google Shape;977;p90"/>
          <p:cNvSpPr txBox="1"/>
          <p:nvPr/>
        </p:nvSpPr>
        <p:spPr>
          <a:xfrm>
            <a:off x="743459" y="2603901"/>
            <a:ext cx="2088600" cy="5838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200" u="none" cap="none" strike="noStrike">
              <a:solidFill>
                <a:srgbClr val="000000"/>
              </a:solidFill>
              <a:latin typeface="Source Sans Pro"/>
              <a:ea typeface="Source Sans Pro"/>
              <a:cs typeface="Source Sans Pro"/>
              <a:sym typeface="Source Sans Pro"/>
            </a:endParaRPr>
          </a:p>
        </p:txBody>
      </p:sp>
      <p:sp>
        <p:nvSpPr>
          <p:cNvPr id="978" name="Google Shape;978;p90"/>
          <p:cNvSpPr/>
          <p:nvPr/>
        </p:nvSpPr>
        <p:spPr>
          <a:xfrm>
            <a:off x="0" y="0"/>
            <a:ext cx="9144000" cy="838800"/>
          </a:xfrm>
          <a:prstGeom prst="rect">
            <a:avLst/>
          </a:prstGeom>
          <a:solidFill>
            <a:srgbClr val="C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9" name="Google Shape;979;p90"/>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a:t>
            </a:r>
            <a:r>
              <a:rPr b="1" lang="en" sz="1800" u="none" cap="none" strike="noStrike">
                <a:solidFill>
                  <a:srgbClr val="FFFFFF"/>
                </a:solidFill>
                <a:latin typeface="Source Sans Pro"/>
                <a:ea typeface="Source Sans Pro"/>
                <a:cs typeface="Source Sans Pro"/>
                <a:sym typeface="Source Sans Pro"/>
              </a:rPr>
              <a:t>Data Mastering for </a:t>
            </a:r>
            <a:r>
              <a:rPr b="1" i="0" lang="en" sz="1800" u="none" cap="none" strike="noStrike">
                <a:solidFill>
                  <a:srgbClr val="FFFFFF"/>
                </a:solidFill>
                <a:latin typeface="Source Sans Pro"/>
                <a:ea typeface="Source Sans Pro"/>
                <a:cs typeface="Source Sans Pro"/>
                <a:sym typeface="Source Sans Pro"/>
              </a:rPr>
              <a:t>Customer-360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 sz="1200" u="none" cap="none" strike="noStrike">
                <a:solidFill>
                  <a:srgbClr val="FFFFFF"/>
                </a:solidFill>
                <a:latin typeface="Source Sans Pro"/>
                <a:ea typeface="Source Sans Pro"/>
                <a:cs typeface="Source Sans Pro"/>
                <a:sym typeface="Source Sans Pro"/>
              </a:rPr>
              <a:t>Mastered customer data to enable faster loan approval and more informed credit decisions while addressing regulatory requirements</a:t>
            </a:r>
            <a:endParaRPr b="0" i="0" sz="1200" u="none" cap="none" strike="noStrike">
              <a:solidFill>
                <a:srgbClr val="FFFFFF"/>
              </a:solidFill>
              <a:latin typeface="Source Sans Pro"/>
              <a:ea typeface="Source Sans Pro"/>
              <a:cs typeface="Source Sans Pro"/>
              <a:sym typeface="Source Sans Pro"/>
            </a:endParaRPr>
          </a:p>
        </p:txBody>
      </p:sp>
      <p:sp>
        <p:nvSpPr>
          <p:cNvPr id="980" name="Google Shape;980;p90"/>
          <p:cNvSpPr/>
          <p:nvPr/>
        </p:nvSpPr>
        <p:spPr>
          <a:xfrm>
            <a:off x="934153" y="1556932"/>
            <a:ext cx="7466100" cy="1088700"/>
          </a:xfrm>
          <a:prstGeom prst="roundRect">
            <a:avLst>
              <a:gd fmla="val 11038" name="adj"/>
            </a:avLst>
          </a:prstGeom>
          <a:solidFill>
            <a:srgbClr val="C00000">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00" u="none" cap="none" strike="noStrike">
              <a:solidFill>
                <a:srgbClr val="37404A"/>
              </a:solidFill>
              <a:latin typeface="Source Sans Pro"/>
              <a:ea typeface="Source Sans Pro"/>
              <a:cs typeface="Source Sans Pro"/>
              <a:sym typeface="Source Sans Pro"/>
            </a:endParaRPr>
          </a:p>
        </p:txBody>
      </p:sp>
      <p:sp>
        <p:nvSpPr>
          <p:cNvPr id="981" name="Google Shape;981;p90"/>
          <p:cNvSpPr/>
          <p:nvPr/>
        </p:nvSpPr>
        <p:spPr>
          <a:xfrm>
            <a:off x="965043" y="2886685"/>
            <a:ext cx="7435500" cy="371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
                <a:solidFill>
                  <a:schemeClr val="dk1"/>
                </a:solidFill>
                <a:latin typeface="Source Sans Pro"/>
                <a:ea typeface="Source Sans Pro"/>
                <a:cs typeface="Source Sans Pro"/>
                <a:sym typeface="Source Sans Pro"/>
              </a:rPr>
              <a:t>Single customer view</a:t>
            </a:r>
            <a:r>
              <a:rPr b="1" i="1" lang="en" u="none" cap="none" strike="noStrike">
                <a:solidFill>
                  <a:schemeClr val="dk1"/>
                </a:solidFill>
                <a:latin typeface="Source Sans Pro"/>
                <a:ea typeface="Source Sans Pro"/>
                <a:cs typeface="Source Sans Pro"/>
                <a:sym typeface="Source Sans Pro"/>
              </a:rPr>
              <a:t> powered by Tamr data mastering</a:t>
            </a:r>
            <a:endParaRPr b="1" i="1" u="none" cap="none" strike="noStrike">
              <a:solidFill>
                <a:schemeClr val="dk1"/>
              </a:solidFill>
              <a:latin typeface="Source Sans Pro"/>
              <a:ea typeface="Source Sans Pro"/>
              <a:cs typeface="Source Sans Pro"/>
              <a:sym typeface="Source Sans Pro"/>
            </a:endParaRPr>
          </a:p>
        </p:txBody>
      </p:sp>
      <p:sp>
        <p:nvSpPr>
          <p:cNvPr id="982" name="Google Shape;982;p90"/>
          <p:cNvSpPr txBox="1"/>
          <p:nvPr/>
        </p:nvSpPr>
        <p:spPr>
          <a:xfrm>
            <a:off x="971727" y="1200913"/>
            <a:ext cx="7366800" cy="3075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 sz="1100">
                <a:solidFill>
                  <a:schemeClr val="dk1"/>
                </a:solidFill>
                <a:latin typeface="Source Sans Pro"/>
                <a:ea typeface="Source Sans Pro"/>
                <a:cs typeface="Source Sans Pro"/>
                <a:sym typeface="Source Sans Pro"/>
              </a:rPr>
              <a:t>Santander</a:t>
            </a:r>
            <a:r>
              <a:rPr b="1" i="0" lang="en" sz="1100" u="none" cap="none" strike="noStrike">
                <a:solidFill>
                  <a:schemeClr val="dk1"/>
                </a:solidFill>
                <a:latin typeface="Source Sans Pro"/>
                <a:ea typeface="Source Sans Pro"/>
                <a:cs typeface="Source Sans Pro"/>
                <a:sym typeface="Source Sans Pro"/>
              </a:rPr>
              <a:t> Cu</a:t>
            </a:r>
            <a:r>
              <a:rPr b="1" lang="en" sz="1100">
                <a:solidFill>
                  <a:schemeClr val="dk1"/>
                </a:solidFill>
                <a:latin typeface="Source Sans Pro"/>
                <a:ea typeface="Source Sans Pro"/>
                <a:cs typeface="Source Sans Pro"/>
                <a:sym typeface="Source Sans Pro"/>
              </a:rPr>
              <a:t>stomer </a:t>
            </a:r>
            <a:r>
              <a:rPr b="1" i="0" lang="en" sz="1100" u="none" cap="none" strike="noStrike">
                <a:solidFill>
                  <a:schemeClr val="dk1"/>
                </a:solidFill>
                <a:latin typeface="Source Sans Pro"/>
                <a:ea typeface="Source Sans Pro"/>
                <a:cs typeface="Source Sans Pro"/>
                <a:sym typeface="Source Sans Pro"/>
              </a:rPr>
              <a:t>Digital Architecture</a:t>
            </a:r>
            <a:endParaRPr b="0" i="0" sz="1100" u="none" cap="none" strike="noStrike">
              <a:solidFill>
                <a:schemeClr val="dk1"/>
              </a:solidFill>
              <a:latin typeface="Arial"/>
              <a:ea typeface="Arial"/>
              <a:cs typeface="Arial"/>
              <a:sym typeface="Arial"/>
            </a:endParaRPr>
          </a:p>
        </p:txBody>
      </p:sp>
      <p:cxnSp>
        <p:nvCxnSpPr>
          <p:cNvPr id="983" name="Google Shape;983;p90"/>
          <p:cNvCxnSpPr/>
          <p:nvPr/>
        </p:nvCxnSpPr>
        <p:spPr>
          <a:xfrm flipH="1" rot="10800000">
            <a:off x="6928132" y="3036983"/>
            <a:ext cx="1383300" cy="6600"/>
          </a:xfrm>
          <a:prstGeom prst="straightConnector1">
            <a:avLst/>
          </a:prstGeom>
          <a:noFill/>
          <a:ln cap="flat" cmpd="sng" w="9525">
            <a:solidFill>
              <a:schemeClr val="dk1"/>
            </a:solidFill>
            <a:prstDash val="solid"/>
            <a:round/>
            <a:headEnd len="sm" w="sm" type="none"/>
            <a:tailEnd len="med" w="med" type="triangle"/>
          </a:ln>
        </p:spPr>
      </p:cxnSp>
      <p:cxnSp>
        <p:nvCxnSpPr>
          <p:cNvPr id="984" name="Google Shape;984;p90"/>
          <p:cNvCxnSpPr/>
          <p:nvPr/>
        </p:nvCxnSpPr>
        <p:spPr>
          <a:xfrm flipH="1">
            <a:off x="1021668" y="3031513"/>
            <a:ext cx="1362300" cy="5400"/>
          </a:xfrm>
          <a:prstGeom prst="straightConnector1">
            <a:avLst/>
          </a:prstGeom>
          <a:noFill/>
          <a:ln cap="flat" cmpd="sng" w="9525">
            <a:solidFill>
              <a:schemeClr val="dk1"/>
            </a:solidFill>
            <a:prstDash val="solid"/>
            <a:round/>
            <a:headEnd len="sm" w="sm" type="none"/>
            <a:tailEnd len="med" w="med" type="triangle"/>
          </a:ln>
        </p:spPr>
      </p:cxnSp>
      <p:pic>
        <p:nvPicPr>
          <p:cNvPr id="985" name="Google Shape;985;p90"/>
          <p:cNvPicPr preferRelativeResize="0"/>
          <p:nvPr/>
        </p:nvPicPr>
        <p:blipFill>
          <a:blip r:embed="rId3">
            <a:alphaModFix/>
          </a:blip>
          <a:stretch>
            <a:fillRect/>
          </a:stretch>
        </p:blipFill>
        <p:spPr>
          <a:xfrm>
            <a:off x="464000" y="230824"/>
            <a:ext cx="1495826" cy="364575"/>
          </a:xfrm>
          <a:prstGeom prst="rect">
            <a:avLst/>
          </a:prstGeom>
          <a:noFill/>
          <a:ln>
            <a:noFill/>
          </a:ln>
        </p:spPr>
      </p:pic>
      <p:grpSp>
        <p:nvGrpSpPr>
          <p:cNvPr id="986" name="Google Shape;986;p90"/>
          <p:cNvGrpSpPr/>
          <p:nvPr/>
        </p:nvGrpSpPr>
        <p:grpSpPr>
          <a:xfrm>
            <a:off x="1036006" y="1623179"/>
            <a:ext cx="1728803" cy="949463"/>
            <a:chOff x="311610" y="3623742"/>
            <a:chExt cx="1332000" cy="878400"/>
          </a:xfrm>
        </p:grpSpPr>
        <p:sp>
          <p:nvSpPr>
            <p:cNvPr id="987" name="Google Shape;987;p90"/>
            <p:cNvSpPr/>
            <p:nvPr/>
          </p:nvSpPr>
          <p:spPr>
            <a:xfrm>
              <a:off x="311610" y="3623742"/>
              <a:ext cx="1332000" cy="878400"/>
            </a:xfrm>
            <a:prstGeom prst="roundRect">
              <a:avLst>
                <a:gd fmla="val 1103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00" u="none" cap="none" strike="noStrike">
                <a:solidFill>
                  <a:srgbClr val="343A43"/>
                </a:solidFill>
                <a:latin typeface="Source Sans Pro"/>
                <a:ea typeface="Source Sans Pro"/>
                <a:cs typeface="Source Sans Pro"/>
                <a:sym typeface="Source Sans Pro"/>
              </a:endParaRPr>
            </a:p>
          </p:txBody>
        </p:sp>
        <p:sp>
          <p:nvSpPr>
            <p:cNvPr id="988" name="Google Shape;988;p90"/>
            <p:cNvSpPr txBox="1"/>
            <p:nvPr/>
          </p:nvSpPr>
          <p:spPr>
            <a:xfrm>
              <a:off x="365600" y="3706113"/>
              <a:ext cx="1224000" cy="7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en" sz="1100">
                  <a:solidFill>
                    <a:srgbClr val="C00000"/>
                  </a:solidFill>
                  <a:latin typeface="Source Sans Pro"/>
                  <a:ea typeface="Source Sans Pro"/>
                  <a:cs typeface="Source Sans Pro"/>
                  <a:sym typeface="Source Sans Pro"/>
                </a:rPr>
                <a:t>Customer </a:t>
              </a:r>
              <a:br>
                <a:rPr b="1" lang="en" sz="1100">
                  <a:solidFill>
                    <a:srgbClr val="C00000"/>
                  </a:solidFill>
                  <a:latin typeface="Source Sans Pro"/>
                  <a:ea typeface="Source Sans Pro"/>
                  <a:cs typeface="Source Sans Pro"/>
                  <a:sym typeface="Source Sans Pro"/>
                </a:rPr>
              </a:br>
              <a:r>
                <a:rPr b="1" lang="en" sz="1100">
                  <a:solidFill>
                    <a:srgbClr val="C00000"/>
                  </a:solidFill>
                  <a:latin typeface="Source Sans Pro"/>
                  <a:ea typeface="Source Sans Pro"/>
                  <a:cs typeface="Source Sans Pro"/>
                  <a:sym typeface="Source Sans Pro"/>
                </a:rPr>
                <a:t>Digital Services</a:t>
              </a:r>
              <a:endParaRPr sz="1100">
                <a:solidFill>
                  <a:srgbClr val="C00000"/>
                </a:solidFill>
                <a:latin typeface="Source Sans Pro"/>
                <a:ea typeface="Source Sans Pro"/>
                <a:cs typeface="Source Sans Pro"/>
                <a:sym typeface="Source Sans Pro"/>
              </a:endParaRPr>
            </a:p>
            <a:p>
              <a:pPr indent="0" lvl="0" marL="0" rtl="0" algn="ctr">
                <a:spcBef>
                  <a:spcPts val="0"/>
                </a:spcBef>
                <a:spcAft>
                  <a:spcPts val="0"/>
                </a:spcAft>
                <a:buClr>
                  <a:srgbClr val="000000"/>
                </a:buClr>
                <a:buFont typeface="Arial"/>
                <a:buNone/>
              </a:pPr>
              <a:r>
                <a:rPr lang="en" sz="1000">
                  <a:solidFill>
                    <a:schemeClr val="dk1"/>
                  </a:solidFill>
                  <a:latin typeface="Source Sans Pro"/>
                  <a:ea typeface="Source Sans Pro"/>
                  <a:cs typeface="Source Sans Pro"/>
                  <a:sym typeface="Source Sans Pro"/>
                </a:rPr>
                <a:t>Onboarding, Servicing, </a:t>
              </a:r>
              <a:endParaRPr sz="1300">
                <a:solidFill>
                  <a:schemeClr val="dk1"/>
                </a:solidFill>
              </a:endParaRPr>
            </a:p>
            <a:p>
              <a:pPr indent="0" lvl="0" marL="0" rtl="0" algn="ctr">
                <a:spcBef>
                  <a:spcPts val="0"/>
                </a:spcBef>
                <a:spcAft>
                  <a:spcPts val="0"/>
                </a:spcAft>
                <a:buNone/>
              </a:pPr>
              <a:r>
                <a:rPr lang="en" sz="1000">
                  <a:solidFill>
                    <a:schemeClr val="dk1"/>
                  </a:solidFill>
                  <a:latin typeface="Source Sans Pro"/>
                  <a:ea typeface="Source Sans Pro"/>
                  <a:cs typeface="Source Sans Pro"/>
                  <a:sym typeface="Source Sans Pro"/>
                </a:rPr>
                <a:t>Products Portals</a:t>
              </a:r>
              <a:endParaRPr sz="1600">
                <a:solidFill>
                  <a:schemeClr val="dk1"/>
                </a:solidFill>
                <a:latin typeface="Source Sans Pro"/>
                <a:ea typeface="Source Sans Pro"/>
                <a:cs typeface="Source Sans Pro"/>
                <a:sym typeface="Source Sans Pro"/>
              </a:endParaRPr>
            </a:p>
          </p:txBody>
        </p:sp>
      </p:grpSp>
      <p:grpSp>
        <p:nvGrpSpPr>
          <p:cNvPr id="989" name="Google Shape;989;p90"/>
          <p:cNvGrpSpPr/>
          <p:nvPr/>
        </p:nvGrpSpPr>
        <p:grpSpPr>
          <a:xfrm>
            <a:off x="2894274" y="1620263"/>
            <a:ext cx="1728803" cy="949440"/>
            <a:chOff x="1743352" y="3616764"/>
            <a:chExt cx="1332000" cy="883200"/>
          </a:xfrm>
        </p:grpSpPr>
        <p:sp>
          <p:nvSpPr>
            <p:cNvPr id="990" name="Google Shape;990;p90"/>
            <p:cNvSpPr/>
            <p:nvPr/>
          </p:nvSpPr>
          <p:spPr>
            <a:xfrm>
              <a:off x="1743352" y="3616764"/>
              <a:ext cx="1332000" cy="883200"/>
            </a:xfrm>
            <a:prstGeom prst="roundRect">
              <a:avLst>
                <a:gd fmla="val 1103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00" u="none" cap="none" strike="noStrike">
                <a:solidFill>
                  <a:srgbClr val="343A43"/>
                </a:solidFill>
                <a:latin typeface="Source Sans Pro"/>
                <a:ea typeface="Source Sans Pro"/>
                <a:cs typeface="Source Sans Pro"/>
                <a:sym typeface="Source Sans Pro"/>
              </a:endParaRPr>
            </a:p>
          </p:txBody>
        </p:sp>
        <p:sp>
          <p:nvSpPr>
            <p:cNvPr id="991" name="Google Shape;991;p90"/>
            <p:cNvSpPr txBox="1"/>
            <p:nvPr/>
          </p:nvSpPr>
          <p:spPr>
            <a:xfrm>
              <a:off x="1795863" y="3683613"/>
              <a:ext cx="1224000" cy="7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C00000"/>
                  </a:solidFill>
                  <a:latin typeface="Source Sans Pro"/>
                  <a:ea typeface="Source Sans Pro"/>
                  <a:cs typeface="Source Sans Pro"/>
                  <a:sym typeface="Source Sans Pro"/>
                </a:rPr>
                <a:t>Customer Relationship Management (CRM)</a:t>
              </a:r>
              <a:endParaRPr sz="1100">
                <a:solidFill>
                  <a:srgbClr val="C00000"/>
                </a:solidFill>
                <a:latin typeface="Source Sans Pro"/>
                <a:ea typeface="Source Sans Pro"/>
                <a:cs typeface="Source Sans Pro"/>
                <a:sym typeface="Source Sans Pro"/>
              </a:endParaRPr>
            </a:p>
            <a:p>
              <a:pPr indent="0" lvl="0" marL="0" rtl="0" algn="ctr">
                <a:spcBef>
                  <a:spcPts val="0"/>
                </a:spcBef>
                <a:spcAft>
                  <a:spcPts val="0"/>
                </a:spcAft>
                <a:buNone/>
              </a:pPr>
              <a:r>
                <a:rPr lang="en" sz="1000">
                  <a:solidFill>
                    <a:schemeClr val="dk1"/>
                  </a:solidFill>
                  <a:latin typeface="Source Sans Pro"/>
                  <a:ea typeface="Source Sans Pro"/>
                  <a:cs typeface="Source Sans Pro"/>
                  <a:sym typeface="Source Sans Pro"/>
                </a:rPr>
                <a:t>Salesforce</a:t>
              </a:r>
              <a:endParaRPr b="1" sz="1100">
                <a:solidFill>
                  <a:srgbClr val="C00000"/>
                </a:solidFill>
                <a:latin typeface="Source Sans Pro"/>
                <a:ea typeface="Source Sans Pro"/>
                <a:cs typeface="Source Sans Pro"/>
                <a:sym typeface="Source Sans Pro"/>
              </a:endParaRPr>
            </a:p>
          </p:txBody>
        </p:sp>
      </p:grpSp>
      <p:grpSp>
        <p:nvGrpSpPr>
          <p:cNvPr id="992" name="Google Shape;992;p90"/>
          <p:cNvGrpSpPr/>
          <p:nvPr/>
        </p:nvGrpSpPr>
        <p:grpSpPr>
          <a:xfrm>
            <a:off x="4748682" y="1609587"/>
            <a:ext cx="1728803" cy="949463"/>
            <a:chOff x="3172115" y="3613282"/>
            <a:chExt cx="1332000" cy="878400"/>
          </a:xfrm>
        </p:grpSpPr>
        <p:sp>
          <p:nvSpPr>
            <p:cNvPr id="993" name="Google Shape;993;p90"/>
            <p:cNvSpPr/>
            <p:nvPr/>
          </p:nvSpPr>
          <p:spPr>
            <a:xfrm>
              <a:off x="3172115" y="3613282"/>
              <a:ext cx="1332000" cy="878400"/>
            </a:xfrm>
            <a:prstGeom prst="roundRect">
              <a:avLst>
                <a:gd fmla="val 1103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00" u="none" cap="none" strike="noStrike">
                <a:solidFill>
                  <a:srgbClr val="343A43"/>
                </a:solidFill>
                <a:latin typeface="Source Sans Pro"/>
                <a:ea typeface="Source Sans Pro"/>
                <a:cs typeface="Source Sans Pro"/>
                <a:sym typeface="Source Sans Pro"/>
              </a:endParaRPr>
            </a:p>
          </p:txBody>
        </p:sp>
        <p:sp>
          <p:nvSpPr>
            <p:cNvPr id="994" name="Google Shape;994;p90"/>
            <p:cNvSpPr txBox="1"/>
            <p:nvPr/>
          </p:nvSpPr>
          <p:spPr>
            <a:xfrm>
              <a:off x="3226113" y="3678165"/>
              <a:ext cx="1224000" cy="7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C00000"/>
                  </a:solidFill>
                  <a:latin typeface="Source Sans Pro"/>
                  <a:ea typeface="Source Sans Pro"/>
                  <a:cs typeface="Source Sans Pro"/>
                  <a:sym typeface="Source Sans Pro"/>
                </a:rPr>
                <a:t>Document </a:t>
              </a:r>
              <a:br>
                <a:rPr b="1" lang="en" sz="1100">
                  <a:solidFill>
                    <a:srgbClr val="C00000"/>
                  </a:solidFill>
                  <a:latin typeface="Source Sans Pro"/>
                  <a:ea typeface="Source Sans Pro"/>
                  <a:cs typeface="Source Sans Pro"/>
                  <a:sym typeface="Source Sans Pro"/>
                </a:rPr>
              </a:br>
              <a:r>
                <a:rPr b="1" lang="en" sz="1100">
                  <a:solidFill>
                    <a:srgbClr val="C00000"/>
                  </a:solidFill>
                  <a:latin typeface="Source Sans Pro"/>
                  <a:ea typeface="Source Sans Pro"/>
                  <a:cs typeface="Source Sans Pro"/>
                  <a:sym typeface="Source Sans Pro"/>
                </a:rPr>
                <a:t>Production &amp; e-Signing</a:t>
              </a:r>
              <a:endParaRPr sz="1100">
                <a:solidFill>
                  <a:srgbClr val="C00000"/>
                </a:solidFill>
                <a:latin typeface="Source Sans Pro"/>
                <a:ea typeface="Source Sans Pro"/>
                <a:cs typeface="Source Sans Pro"/>
                <a:sym typeface="Source Sans Pro"/>
              </a:endParaRPr>
            </a:p>
            <a:p>
              <a:pPr indent="0" lvl="0" marL="0" rtl="0" algn="ctr">
                <a:spcBef>
                  <a:spcPts val="0"/>
                </a:spcBef>
                <a:spcAft>
                  <a:spcPts val="0"/>
                </a:spcAft>
                <a:buNone/>
              </a:pPr>
              <a:r>
                <a:rPr lang="en" sz="1000">
                  <a:solidFill>
                    <a:schemeClr val="dk1"/>
                  </a:solidFill>
                  <a:latin typeface="Source Sans Pro"/>
                  <a:ea typeface="Source Sans Pro"/>
                  <a:cs typeface="Source Sans Pro"/>
                  <a:sym typeface="Source Sans Pro"/>
                </a:rPr>
                <a:t>SpringCM + DocuSign</a:t>
              </a:r>
              <a:endParaRPr b="1" sz="1100">
                <a:solidFill>
                  <a:srgbClr val="C00000"/>
                </a:solidFill>
                <a:latin typeface="Source Sans Pro"/>
                <a:ea typeface="Source Sans Pro"/>
                <a:cs typeface="Source Sans Pro"/>
                <a:sym typeface="Source Sans Pro"/>
              </a:endParaRPr>
            </a:p>
          </p:txBody>
        </p:sp>
      </p:grpSp>
      <p:grpSp>
        <p:nvGrpSpPr>
          <p:cNvPr id="995" name="Google Shape;995;p90"/>
          <p:cNvGrpSpPr/>
          <p:nvPr/>
        </p:nvGrpSpPr>
        <p:grpSpPr>
          <a:xfrm>
            <a:off x="6603102" y="1612358"/>
            <a:ext cx="1728803" cy="949463"/>
            <a:chOff x="4600890" y="3615294"/>
            <a:chExt cx="1332000" cy="878400"/>
          </a:xfrm>
        </p:grpSpPr>
        <p:sp>
          <p:nvSpPr>
            <p:cNvPr id="996" name="Google Shape;996;p90"/>
            <p:cNvSpPr/>
            <p:nvPr/>
          </p:nvSpPr>
          <p:spPr>
            <a:xfrm>
              <a:off x="4600890" y="3615294"/>
              <a:ext cx="1332000" cy="878400"/>
            </a:xfrm>
            <a:prstGeom prst="roundRect">
              <a:avLst>
                <a:gd fmla="val 1103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00" u="none" cap="none" strike="noStrike">
                <a:solidFill>
                  <a:srgbClr val="343A43"/>
                </a:solidFill>
                <a:latin typeface="Source Sans Pro"/>
                <a:ea typeface="Source Sans Pro"/>
                <a:cs typeface="Source Sans Pro"/>
                <a:sym typeface="Source Sans Pro"/>
              </a:endParaRPr>
            </a:p>
          </p:txBody>
        </p:sp>
        <p:sp>
          <p:nvSpPr>
            <p:cNvPr id="997" name="Google Shape;997;p90"/>
            <p:cNvSpPr txBox="1"/>
            <p:nvPr/>
          </p:nvSpPr>
          <p:spPr>
            <a:xfrm>
              <a:off x="4654888" y="3682459"/>
              <a:ext cx="1224000" cy="7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C00000"/>
                  </a:solidFill>
                  <a:latin typeface="Source Sans Pro"/>
                  <a:ea typeface="Source Sans Pro"/>
                  <a:cs typeface="Source Sans Pro"/>
                  <a:sym typeface="Source Sans Pro"/>
                </a:rPr>
                <a:t>Decisions, </a:t>
              </a:r>
              <a:br>
                <a:rPr b="1" lang="en" sz="1100">
                  <a:solidFill>
                    <a:srgbClr val="C00000"/>
                  </a:solidFill>
                  <a:latin typeface="Source Sans Pro"/>
                  <a:ea typeface="Source Sans Pro"/>
                  <a:cs typeface="Source Sans Pro"/>
                  <a:sym typeface="Source Sans Pro"/>
                </a:rPr>
              </a:br>
              <a:r>
                <a:rPr b="1" lang="en" sz="1100">
                  <a:solidFill>
                    <a:srgbClr val="C00000"/>
                  </a:solidFill>
                  <a:latin typeface="Source Sans Pro"/>
                  <a:ea typeface="Source Sans Pro"/>
                  <a:cs typeface="Source Sans Pro"/>
                  <a:sym typeface="Source Sans Pro"/>
                </a:rPr>
                <a:t>Workflow &amp; </a:t>
              </a:r>
              <a:br>
                <a:rPr b="1" lang="en" sz="1100">
                  <a:solidFill>
                    <a:srgbClr val="C00000"/>
                  </a:solidFill>
                  <a:latin typeface="Source Sans Pro"/>
                  <a:ea typeface="Source Sans Pro"/>
                  <a:cs typeface="Source Sans Pro"/>
                  <a:sym typeface="Source Sans Pro"/>
                </a:rPr>
              </a:br>
              <a:r>
                <a:rPr b="1" lang="en" sz="1100">
                  <a:solidFill>
                    <a:srgbClr val="C00000"/>
                  </a:solidFill>
                  <a:latin typeface="Source Sans Pro"/>
                  <a:ea typeface="Source Sans Pro"/>
                  <a:cs typeface="Source Sans Pro"/>
                  <a:sym typeface="Source Sans Pro"/>
                </a:rPr>
                <a:t>Operating System</a:t>
              </a:r>
              <a:endParaRPr sz="1100">
                <a:solidFill>
                  <a:srgbClr val="C00000"/>
                </a:solidFill>
                <a:latin typeface="Source Sans Pro"/>
                <a:ea typeface="Source Sans Pro"/>
                <a:cs typeface="Source Sans Pro"/>
                <a:sym typeface="Source Sans Pro"/>
              </a:endParaRPr>
            </a:p>
            <a:p>
              <a:pPr indent="0" lvl="0" marL="0" rtl="0" algn="ctr">
                <a:spcBef>
                  <a:spcPts val="0"/>
                </a:spcBef>
                <a:spcAft>
                  <a:spcPts val="0"/>
                </a:spcAft>
                <a:buNone/>
              </a:pPr>
              <a:r>
                <a:rPr lang="en" sz="1000">
                  <a:solidFill>
                    <a:schemeClr val="dk1"/>
                  </a:solidFill>
                  <a:latin typeface="Source Sans Pro"/>
                  <a:ea typeface="Source Sans Pro"/>
                  <a:cs typeface="Source Sans Pro"/>
                  <a:sym typeface="Source Sans Pro"/>
                </a:rPr>
                <a:t>nCino</a:t>
              </a:r>
              <a:endParaRPr b="1" sz="1100">
                <a:solidFill>
                  <a:srgbClr val="C00000"/>
                </a:solidFill>
                <a:latin typeface="Source Sans Pro"/>
                <a:ea typeface="Source Sans Pro"/>
                <a:cs typeface="Source Sans Pro"/>
                <a:sym typeface="Source Sans Pro"/>
              </a:endParaRPr>
            </a:p>
          </p:txBody>
        </p:sp>
      </p:grpSp>
      <p:sp>
        <p:nvSpPr>
          <p:cNvPr id="998" name="Google Shape;998;p90"/>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91"/>
          <p:cNvSpPr txBox="1"/>
          <p:nvPr/>
        </p:nvSpPr>
        <p:spPr>
          <a:xfrm>
            <a:off x="2628100" y="3987100"/>
            <a:ext cx="5468100" cy="63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Calibri"/>
              <a:buNone/>
            </a:pPr>
            <a:r>
              <a:rPr b="1" lang="en">
                <a:solidFill>
                  <a:schemeClr val="dk1"/>
                </a:solidFill>
                <a:latin typeface="Source Sans Pro"/>
                <a:ea typeface="Source Sans Pro"/>
                <a:cs typeface="Source Sans Pro"/>
                <a:sym typeface="Source Sans Pro"/>
              </a:rPr>
              <a:t>Improved customer insights across lines of business </a:t>
            </a:r>
            <a:r>
              <a:rPr lang="en">
                <a:solidFill>
                  <a:schemeClr val="dk1"/>
                </a:solidFill>
                <a:latin typeface="Source Sans Pro"/>
                <a:ea typeface="Source Sans Pro"/>
                <a:cs typeface="Source Sans Pro"/>
                <a:sym typeface="Source Sans Pro"/>
              </a:rPr>
              <a:t>with better visibilities of customer relationships across systems</a:t>
            </a:r>
            <a:endParaRPr sz="1700">
              <a:solidFill>
                <a:schemeClr val="dk1"/>
              </a:solidFill>
              <a:latin typeface="Source Sans Pro"/>
              <a:ea typeface="Source Sans Pro"/>
              <a:cs typeface="Source Sans Pro"/>
              <a:sym typeface="Source Sans Pro"/>
            </a:endParaRPr>
          </a:p>
        </p:txBody>
      </p:sp>
      <p:sp>
        <p:nvSpPr>
          <p:cNvPr id="1004" name="Google Shape;1004;p91"/>
          <p:cNvSpPr/>
          <p:nvPr/>
        </p:nvSpPr>
        <p:spPr>
          <a:xfrm>
            <a:off x="0" y="0"/>
            <a:ext cx="9144000" cy="8382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5" name="Google Shape;1005;p91"/>
          <p:cNvSpPr txBox="1"/>
          <p:nvPr/>
        </p:nvSpPr>
        <p:spPr>
          <a:xfrm>
            <a:off x="2374182" y="14063"/>
            <a:ext cx="6774000" cy="8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b="1" i="1" lang="en" sz="1800">
                <a:solidFill>
                  <a:schemeClr val="lt1"/>
                </a:solidFill>
                <a:latin typeface="Source Sans Pro"/>
                <a:ea typeface="Source Sans Pro"/>
                <a:cs typeface="Source Sans Pro"/>
                <a:sym typeface="Source Sans Pro"/>
              </a:rPr>
              <a:t>U</a:t>
            </a:r>
            <a:r>
              <a:rPr b="1" i="1" lang="en" sz="1800">
                <a:solidFill>
                  <a:schemeClr val="lt1"/>
                </a:solidFill>
                <a:latin typeface="Source Sans Pro"/>
                <a:ea typeface="Source Sans Pro"/>
                <a:cs typeface="Source Sans Pro"/>
                <a:sym typeface="Source Sans Pro"/>
              </a:rPr>
              <a:t>se Case</a:t>
            </a:r>
            <a:r>
              <a:rPr b="1" lang="en" sz="1800">
                <a:solidFill>
                  <a:schemeClr val="lt1"/>
                </a:solidFill>
                <a:latin typeface="Source Sans Pro"/>
                <a:ea typeface="Source Sans Pro"/>
                <a:cs typeface="Source Sans Pro"/>
                <a:sym typeface="Source Sans Pro"/>
              </a:rPr>
              <a:t>: </a:t>
            </a:r>
            <a:r>
              <a:rPr b="1" lang="en" sz="1800">
                <a:solidFill>
                  <a:schemeClr val="lt1"/>
                </a:solidFill>
                <a:latin typeface="Source Sans Pro"/>
                <a:ea typeface="Source Sans Pro"/>
                <a:cs typeface="Source Sans Pro"/>
                <a:sym typeface="Source Sans Pro"/>
              </a:rPr>
              <a:t>Data Mastering for Customer-360 </a:t>
            </a:r>
            <a:endParaRPr b="1" sz="20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1300">
                <a:solidFill>
                  <a:schemeClr val="lt1"/>
                </a:solidFill>
                <a:latin typeface="Source Sans Pro"/>
                <a:ea typeface="Source Sans Pro"/>
                <a:cs typeface="Source Sans Pro"/>
                <a:sym typeface="Source Sans Pro"/>
              </a:rPr>
              <a:t>Unified customer data across lines of businesses to better understand consumer behaviors and increase </a:t>
            </a:r>
            <a:r>
              <a:rPr lang="en" sz="1300">
                <a:solidFill>
                  <a:schemeClr val="lt1"/>
                </a:solidFill>
                <a:latin typeface="Source Sans Pro"/>
                <a:ea typeface="Source Sans Pro"/>
                <a:cs typeface="Source Sans Pro"/>
                <a:sym typeface="Source Sans Pro"/>
              </a:rPr>
              <a:t>sales</a:t>
            </a:r>
            <a:endParaRPr sz="13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sz="13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300">
              <a:solidFill>
                <a:schemeClr val="lt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b="1" i="1" sz="1800">
              <a:solidFill>
                <a:srgbClr val="FFFFFF"/>
              </a:solidFill>
              <a:latin typeface="Source Sans Pro"/>
              <a:ea typeface="Source Sans Pro"/>
              <a:cs typeface="Source Sans Pro"/>
              <a:sym typeface="Source Sans Pro"/>
            </a:endParaRPr>
          </a:p>
        </p:txBody>
      </p:sp>
      <p:cxnSp>
        <p:nvCxnSpPr>
          <p:cNvPr id="1006" name="Google Shape;1006;p91"/>
          <p:cNvCxnSpPr/>
          <p:nvPr/>
        </p:nvCxnSpPr>
        <p:spPr>
          <a:xfrm>
            <a:off x="2994922" y="1176258"/>
            <a:ext cx="0" cy="2355900"/>
          </a:xfrm>
          <a:prstGeom prst="straightConnector1">
            <a:avLst/>
          </a:prstGeom>
          <a:noFill/>
          <a:ln cap="flat" cmpd="sng" w="19050">
            <a:solidFill>
              <a:schemeClr val="accent6"/>
            </a:solidFill>
            <a:prstDash val="solid"/>
            <a:round/>
            <a:headEnd len="sm" w="sm" type="none"/>
            <a:tailEnd len="sm" w="sm" type="none"/>
          </a:ln>
        </p:spPr>
      </p:cxnSp>
      <p:cxnSp>
        <p:nvCxnSpPr>
          <p:cNvPr id="1007" name="Google Shape;1007;p91"/>
          <p:cNvCxnSpPr/>
          <p:nvPr/>
        </p:nvCxnSpPr>
        <p:spPr>
          <a:xfrm>
            <a:off x="6205961" y="1176258"/>
            <a:ext cx="0" cy="2304000"/>
          </a:xfrm>
          <a:prstGeom prst="straightConnector1">
            <a:avLst/>
          </a:prstGeom>
          <a:noFill/>
          <a:ln cap="flat" cmpd="sng" w="19050">
            <a:solidFill>
              <a:schemeClr val="accent6"/>
            </a:solidFill>
            <a:prstDash val="solid"/>
            <a:round/>
            <a:headEnd len="sm" w="sm" type="none"/>
            <a:tailEnd len="sm" w="sm" type="none"/>
          </a:ln>
        </p:spPr>
      </p:cxnSp>
      <p:sp>
        <p:nvSpPr>
          <p:cNvPr id="1008" name="Google Shape;1008;p91"/>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009" name="Google Shape;1009;p91"/>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010" name="Google Shape;1010;p91"/>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sp>
        <p:nvSpPr>
          <p:cNvPr id="1011" name="Google Shape;1011;p91"/>
          <p:cNvSpPr txBox="1"/>
          <p:nvPr/>
        </p:nvSpPr>
        <p:spPr>
          <a:xfrm>
            <a:off x="242500" y="1318838"/>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Lack of global view on business customers </a:t>
            </a:r>
            <a:r>
              <a:rPr lang="en" sz="1200">
                <a:solidFill>
                  <a:schemeClr val="dk1"/>
                </a:solidFill>
                <a:latin typeface="Source Sans Pro"/>
                <a:ea typeface="Source Sans Pro"/>
                <a:cs typeface="Source Sans Pro"/>
                <a:sym typeface="Source Sans Pro"/>
              </a:rPr>
              <a:t>hindered sales and marketing opportunities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Breaking down data silos and unraveling hierarchical relationships </a:t>
            </a:r>
            <a:r>
              <a:rPr lang="en" sz="1200">
                <a:solidFill>
                  <a:schemeClr val="dk1"/>
                </a:solidFill>
                <a:latin typeface="Source Sans Pro"/>
                <a:ea typeface="Source Sans Pro"/>
                <a:cs typeface="Source Sans Pro"/>
                <a:sym typeface="Source Sans Pro"/>
              </a:rPr>
              <a:t>to obtain 360 view of customers across the enterprise</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Manual approach to data mastering </a:t>
            </a:r>
            <a:r>
              <a:rPr lang="en" sz="1200">
                <a:solidFill>
                  <a:schemeClr val="dk1"/>
                </a:solidFill>
                <a:latin typeface="Source Sans Pro"/>
                <a:ea typeface="Source Sans Pro"/>
                <a:cs typeface="Source Sans Pro"/>
                <a:sym typeface="Source Sans Pro"/>
              </a:rPr>
              <a:t>proved time consuming</a:t>
            </a:r>
            <a:endParaRPr sz="1200">
              <a:solidFill>
                <a:schemeClr val="dk1"/>
              </a:solidFill>
              <a:latin typeface="Source Sans Pro"/>
              <a:ea typeface="Source Sans Pro"/>
              <a:cs typeface="Source Sans Pro"/>
              <a:sym typeface="Source Sans Pro"/>
            </a:endParaRPr>
          </a:p>
        </p:txBody>
      </p:sp>
      <p:sp>
        <p:nvSpPr>
          <p:cNvPr id="1012" name="Google Shape;1012;p91"/>
          <p:cNvSpPr txBox="1"/>
          <p:nvPr/>
        </p:nvSpPr>
        <p:spPr>
          <a:xfrm>
            <a:off x="139350" y="106775"/>
            <a:ext cx="218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Source Sans Pro"/>
                <a:ea typeface="Source Sans Pro"/>
                <a:cs typeface="Source Sans Pro"/>
                <a:sym typeface="Source Sans Pro"/>
              </a:rPr>
              <a:t>Top 10 Contract Research Organization (CRO)</a:t>
            </a:r>
            <a:endParaRPr b="1">
              <a:solidFill>
                <a:srgbClr val="FFFFFF"/>
              </a:solidFill>
              <a:latin typeface="Source Sans Pro"/>
              <a:ea typeface="Source Sans Pro"/>
              <a:cs typeface="Source Sans Pro"/>
              <a:sym typeface="Source Sans Pro"/>
            </a:endParaRPr>
          </a:p>
        </p:txBody>
      </p:sp>
      <p:sp>
        <p:nvSpPr>
          <p:cNvPr id="1013" name="Google Shape;1013;p91"/>
          <p:cNvSpPr txBox="1"/>
          <p:nvPr/>
        </p:nvSpPr>
        <p:spPr>
          <a:xfrm>
            <a:off x="3091050" y="1315400"/>
            <a:ext cx="2961900" cy="21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Source Sans Pro"/>
                <a:ea typeface="Source Sans Pro"/>
                <a:cs typeface="Source Sans Pro"/>
                <a:sym typeface="Source Sans Pro"/>
              </a:rPr>
              <a:t>Use machine learning </a:t>
            </a:r>
            <a:r>
              <a:rPr lang="en" sz="1200">
                <a:solidFill>
                  <a:schemeClr val="dk1"/>
                </a:solidFill>
                <a:latin typeface="Source Sans Pro"/>
                <a:ea typeface="Source Sans Pro"/>
                <a:cs typeface="Source Sans Pro"/>
                <a:sym typeface="Source Sans Pro"/>
              </a:rPr>
              <a:t>to master customer data at scale and reduce manual work</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Use cloud-native technology </a:t>
            </a:r>
            <a:r>
              <a:rPr lang="en" sz="1200">
                <a:solidFill>
                  <a:schemeClr val="dk1"/>
                </a:solidFill>
                <a:latin typeface="Source Sans Pro"/>
                <a:ea typeface="Source Sans Pro"/>
                <a:cs typeface="Source Sans Pro"/>
                <a:sym typeface="Source Sans Pro"/>
              </a:rPr>
              <a:t>to leverage flexibility, scalability of AWS and control data mastering costs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Avoid MDM solutions</a:t>
            </a:r>
            <a:r>
              <a:rPr lang="en" sz="1200">
                <a:solidFill>
                  <a:schemeClr val="dk1"/>
                </a:solidFill>
                <a:latin typeface="Source Sans Pro"/>
                <a:ea typeface="Source Sans Pro"/>
                <a:cs typeface="Source Sans Pro"/>
                <a:sym typeface="Source Sans Pro"/>
              </a:rPr>
              <a:t> that require extensive rule writing</a:t>
            </a:r>
            <a:endParaRPr sz="1200">
              <a:solidFill>
                <a:schemeClr val="dk1"/>
              </a:solidFill>
              <a:latin typeface="Source Sans Pro"/>
              <a:ea typeface="Source Sans Pro"/>
              <a:cs typeface="Source Sans Pro"/>
              <a:sym typeface="Source Sans Pro"/>
            </a:endParaRPr>
          </a:p>
        </p:txBody>
      </p:sp>
      <p:sp>
        <p:nvSpPr>
          <p:cNvPr id="1014" name="Google Shape;1014;p91"/>
          <p:cNvSpPr txBox="1"/>
          <p:nvPr/>
        </p:nvSpPr>
        <p:spPr>
          <a:xfrm>
            <a:off x="6415125" y="1315388"/>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Increased customer data quality </a:t>
            </a:r>
            <a:r>
              <a:rPr lang="en" sz="1200">
                <a:solidFill>
                  <a:schemeClr val="dk1"/>
                </a:solidFill>
                <a:latin typeface="Source Sans Pro"/>
                <a:ea typeface="Source Sans Pro"/>
                <a:cs typeface="Source Sans Pro"/>
                <a:sym typeface="Source Sans Pro"/>
              </a:rPr>
              <a:t>across multiple lines of business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b="1" lang="en" sz="1200">
                <a:solidFill>
                  <a:schemeClr val="dk1"/>
                </a:solidFill>
                <a:latin typeface="Source Sans Pro"/>
                <a:ea typeface="Source Sans Pro"/>
                <a:cs typeface="Source Sans Pro"/>
                <a:sym typeface="Source Sans Pro"/>
              </a:rPr>
              <a:t>Realized cost savings </a:t>
            </a:r>
            <a:r>
              <a:rPr lang="en" sz="1200">
                <a:solidFill>
                  <a:schemeClr val="dk1"/>
                </a:solidFill>
                <a:latin typeface="Source Sans Pro"/>
                <a:ea typeface="Source Sans Pro"/>
                <a:cs typeface="Source Sans Pro"/>
                <a:sym typeface="Source Sans Pro"/>
              </a:rPr>
              <a:t>by replacing  manual processes</a:t>
            </a:r>
            <a:endParaRPr sz="13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Generated better visibility into customer behavior </a:t>
            </a:r>
            <a:r>
              <a:rPr lang="en" sz="1200">
                <a:solidFill>
                  <a:schemeClr val="dk1"/>
                </a:solidFill>
                <a:latin typeface="Source Sans Pro"/>
                <a:ea typeface="Source Sans Pro"/>
                <a:cs typeface="Source Sans Pro"/>
                <a:sym typeface="Source Sans Pro"/>
              </a:rPr>
              <a:t>by leveraging mastered product data</a:t>
            </a:r>
            <a:endParaRPr sz="1200">
              <a:solidFill>
                <a:schemeClr val="dk1"/>
              </a:solidFill>
              <a:latin typeface="Source Sans Pro"/>
              <a:ea typeface="Source Sans Pro"/>
              <a:cs typeface="Source Sans Pro"/>
              <a:sym typeface="Source Sans Pro"/>
            </a:endParaRPr>
          </a:p>
        </p:txBody>
      </p:sp>
      <p:sp>
        <p:nvSpPr>
          <p:cNvPr id="1015" name="Google Shape;1015;p91"/>
          <p:cNvSpPr/>
          <p:nvPr/>
        </p:nvSpPr>
        <p:spPr>
          <a:xfrm>
            <a:off x="2033486" y="4023082"/>
            <a:ext cx="671400" cy="664200"/>
          </a:xfrm>
          <a:prstGeom prst="ellipse">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ownload Free Icons Png - Building Icon Transparent Background PNG Image  with No Background - PNGkey.com" id="1016" name="Google Shape;1016;p91"/>
          <p:cNvPicPr preferRelativeResize="0"/>
          <p:nvPr/>
        </p:nvPicPr>
        <p:blipFill rotWithShape="1">
          <a:blip r:embed="rId3">
            <a:alphaModFix/>
          </a:blip>
          <a:srcRect b="0" l="0" r="0" t="0"/>
          <a:stretch/>
        </p:blipFill>
        <p:spPr>
          <a:xfrm>
            <a:off x="2317029" y="4113491"/>
            <a:ext cx="112378" cy="130767"/>
          </a:xfrm>
          <a:prstGeom prst="rect">
            <a:avLst/>
          </a:prstGeom>
          <a:noFill/>
          <a:ln>
            <a:noFill/>
          </a:ln>
        </p:spPr>
      </p:pic>
      <p:sp>
        <p:nvSpPr>
          <p:cNvPr id="1017" name="Google Shape;1017;p91"/>
          <p:cNvSpPr/>
          <p:nvPr/>
        </p:nvSpPr>
        <p:spPr>
          <a:xfrm rot="5400000">
            <a:off x="2346111" y="4142357"/>
            <a:ext cx="72000" cy="392400"/>
          </a:xfrm>
          <a:prstGeom prst="leftBracket">
            <a:avLst>
              <a:gd fmla="val 8333" name="adj"/>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descr="Download Free Icons Png - Building Icon Transparent Background PNG Image  with No Background - PNGkey.com" id="1018" name="Google Shape;1018;p91"/>
          <p:cNvPicPr preferRelativeResize="0"/>
          <p:nvPr/>
        </p:nvPicPr>
        <p:blipFill rotWithShape="1">
          <a:blip r:embed="rId3">
            <a:alphaModFix/>
          </a:blip>
          <a:srcRect b="0" l="0" r="0" t="0"/>
          <a:stretch/>
        </p:blipFill>
        <p:spPr>
          <a:xfrm>
            <a:off x="2523286" y="4369249"/>
            <a:ext cx="112378" cy="130767"/>
          </a:xfrm>
          <a:prstGeom prst="rect">
            <a:avLst/>
          </a:prstGeom>
          <a:noFill/>
          <a:ln>
            <a:noFill/>
          </a:ln>
        </p:spPr>
      </p:pic>
      <p:pic>
        <p:nvPicPr>
          <p:cNvPr descr="Download Free Icons Png - Building Icon Transparent Background PNG Image  with No Background - PNGkey.com" id="1019" name="Google Shape;1019;p91"/>
          <p:cNvPicPr preferRelativeResize="0"/>
          <p:nvPr/>
        </p:nvPicPr>
        <p:blipFill rotWithShape="1">
          <a:blip r:embed="rId3">
            <a:alphaModFix/>
          </a:blip>
          <a:srcRect b="0" l="0" r="0" t="0"/>
          <a:stretch/>
        </p:blipFill>
        <p:spPr>
          <a:xfrm>
            <a:off x="2317029" y="4374453"/>
            <a:ext cx="112378" cy="130767"/>
          </a:xfrm>
          <a:prstGeom prst="rect">
            <a:avLst/>
          </a:prstGeom>
          <a:noFill/>
          <a:ln>
            <a:noFill/>
          </a:ln>
        </p:spPr>
      </p:pic>
      <p:pic>
        <p:nvPicPr>
          <p:cNvPr descr="Download Free Icons Png - Building Icon Transparent Background PNG Image  with No Background - PNGkey.com" id="1020" name="Google Shape;1020;p91"/>
          <p:cNvPicPr preferRelativeResize="0"/>
          <p:nvPr/>
        </p:nvPicPr>
        <p:blipFill rotWithShape="1">
          <a:blip r:embed="rId3">
            <a:alphaModFix/>
          </a:blip>
          <a:srcRect b="0" l="0" r="0" t="0"/>
          <a:stretch/>
        </p:blipFill>
        <p:spPr>
          <a:xfrm>
            <a:off x="2131664" y="4374453"/>
            <a:ext cx="112378" cy="130767"/>
          </a:xfrm>
          <a:prstGeom prst="rect">
            <a:avLst/>
          </a:prstGeom>
          <a:noFill/>
          <a:ln>
            <a:noFill/>
          </a:ln>
        </p:spPr>
      </p:pic>
      <p:cxnSp>
        <p:nvCxnSpPr>
          <p:cNvPr id="1021" name="Google Shape;1021;p91"/>
          <p:cNvCxnSpPr/>
          <p:nvPr/>
        </p:nvCxnSpPr>
        <p:spPr>
          <a:xfrm>
            <a:off x="2373219" y="4254854"/>
            <a:ext cx="0" cy="108000"/>
          </a:xfrm>
          <a:prstGeom prst="straightConnector1">
            <a:avLst/>
          </a:prstGeom>
          <a:noFill/>
          <a:ln cap="flat" cmpd="sng" w="9525">
            <a:solidFill>
              <a:schemeClr val="lt1"/>
            </a:solidFill>
            <a:prstDash val="solid"/>
            <a:round/>
            <a:headEnd len="sm" w="sm" type="none"/>
            <a:tailEnd len="sm" w="sm" type="none"/>
          </a:ln>
        </p:spPr>
      </p:cxnSp>
      <p:sp>
        <p:nvSpPr>
          <p:cNvPr id="1022" name="Google Shape;1022;p91"/>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92"/>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028" name="Google Shape;1028;p92"/>
          <p:cNvSpPr/>
          <p:nvPr/>
        </p:nvSpPr>
        <p:spPr>
          <a:xfrm>
            <a:off x="0" y="0"/>
            <a:ext cx="9144000" cy="1252800"/>
          </a:xfrm>
          <a:prstGeom prst="rect">
            <a:avLst/>
          </a:prstGeom>
          <a:solidFill>
            <a:srgbClr val="ED7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92"/>
          <p:cNvSpPr txBox="1"/>
          <p:nvPr/>
        </p:nvSpPr>
        <p:spPr>
          <a:xfrm>
            <a:off x="1996500" y="143250"/>
            <a:ext cx="6995100" cy="6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en" sz="2000">
                <a:solidFill>
                  <a:srgbClr val="FFFFFF"/>
                </a:solidFill>
                <a:latin typeface="Source Sans Pro"/>
                <a:ea typeface="Source Sans Pro"/>
                <a:cs typeface="Source Sans Pro"/>
                <a:sym typeface="Source Sans Pro"/>
              </a:rPr>
              <a:t>Use Case</a:t>
            </a:r>
            <a:r>
              <a:rPr b="1" lang="en" sz="2000">
                <a:solidFill>
                  <a:srgbClr val="FFFFFF"/>
                </a:solidFill>
                <a:latin typeface="Source Sans Pro"/>
                <a:ea typeface="Source Sans Pro"/>
                <a:cs typeface="Source Sans Pro"/>
                <a:sym typeface="Source Sans Pro"/>
              </a:rPr>
              <a:t>: </a:t>
            </a:r>
            <a:r>
              <a:rPr b="1" lang="en" sz="2000">
                <a:solidFill>
                  <a:srgbClr val="FFFFFF"/>
                </a:solidFill>
                <a:latin typeface="Source Sans Pro"/>
                <a:ea typeface="Source Sans Pro"/>
                <a:cs typeface="Source Sans Pro"/>
                <a:sym typeface="Source Sans Pro"/>
              </a:rPr>
              <a:t>Clinical Trials Data Repository</a:t>
            </a:r>
            <a:endParaRPr b="1" sz="2000">
              <a:solidFill>
                <a:srgbClr val="FFFFFF"/>
              </a:solidFill>
              <a:latin typeface="Source Sans Pro"/>
              <a:ea typeface="Source Sans Pro"/>
              <a:cs typeface="Source Sans Pro"/>
              <a:sym typeface="Source Sans Pro"/>
            </a:endParaRPr>
          </a:p>
          <a:p>
            <a:pPr indent="0" lvl="0" marL="0" rtl="0" algn="l">
              <a:lnSpc>
                <a:spcPct val="115000"/>
              </a:lnSpc>
              <a:spcBef>
                <a:spcPts val="0"/>
              </a:spcBef>
              <a:spcAft>
                <a:spcPts val="0"/>
              </a:spcAft>
              <a:buClr>
                <a:schemeClr val="dk1"/>
              </a:buClr>
              <a:buSzPts val="1100"/>
              <a:buFont typeface="Arial"/>
              <a:buNone/>
            </a:pPr>
            <a:r>
              <a:rPr lang="en" sz="2000">
                <a:solidFill>
                  <a:srgbClr val="FFFFFF"/>
                </a:solidFill>
                <a:latin typeface="Source Sans Pro"/>
                <a:ea typeface="Source Sans Pro"/>
                <a:cs typeface="Source Sans Pro"/>
                <a:sym typeface="Source Sans Pro"/>
              </a:rPr>
              <a:t>Accelerating R&amp;D Outcomes with Unified Historical Clinical Trials</a:t>
            </a:r>
            <a:endParaRPr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000">
              <a:solidFill>
                <a:srgbClr val="FFFFFF"/>
              </a:solidFill>
              <a:latin typeface="Source Sans Pro"/>
              <a:ea typeface="Source Sans Pro"/>
              <a:cs typeface="Source Sans Pro"/>
              <a:sym typeface="Source Sans Pro"/>
            </a:endParaRPr>
          </a:p>
        </p:txBody>
      </p:sp>
      <p:sp>
        <p:nvSpPr>
          <p:cNvPr id="1030" name="Google Shape;1030;p92"/>
          <p:cNvSpPr txBox="1"/>
          <p:nvPr/>
        </p:nvSpPr>
        <p:spPr>
          <a:xfrm>
            <a:off x="5256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Challenge</a:t>
            </a:r>
            <a:endParaRPr b="1" sz="1600">
              <a:solidFill>
                <a:schemeClr val="dk1"/>
              </a:solidFill>
              <a:latin typeface="Source Sans Pro"/>
              <a:ea typeface="Source Sans Pro"/>
              <a:cs typeface="Source Sans Pro"/>
              <a:sym typeface="Source Sans Pro"/>
            </a:endParaRPr>
          </a:p>
        </p:txBody>
      </p:sp>
      <p:sp>
        <p:nvSpPr>
          <p:cNvPr id="1031" name="Google Shape;1031;p92"/>
          <p:cNvSpPr txBox="1"/>
          <p:nvPr/>
        </p:nvSpPr>
        <p:spPr>
          <a:xfrm>
            <a:off x="36532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Solution</a:t>
            </a:r>
            <a:endParaRPr b="1" sz="1600">
              <a:solidFill>
                <a:schemeClr val="dk1"/>
              </a:solidFill>
              <a:latin typeface="Source Sans Pro"/>
              <a:ea typeface="Source Sans Pro"/>
              <a:cs typeface="Source Sans Pro"/>
              <a:sym typeface="Source Sans Pro"/>
            </a:endParaRPr>
          </a:p>
        </p:txBody>
      </p:sp>
      <p:sp>
        <p:nvSpPr>
          <p:cNvPr id="1032" name="Google Shape;1032;p92"/>
          <p:cNvSpPr txBox="1"/>
          <p:nvPr/>
        </p:nvSpPr>
        <p:spPr>
          <a:xfrm>
            <a:off x="7024500" y="1334597"/>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Impact</a:t>
            </a:r>
            <a:endParaRPr b="1" sz="1600">
              <a:solidFill>
                <a:schemeClr val="dk1"/>
              </a:solidFill>
              <a:latin typeface="Source Sans Pro"/>
              <a:ea typeface="Source Sans Pro"/>
              <a:cs typeface="Source Sans Pro"/>
              <a:sym typeface="Source Sans Pro"/>
            </a:endParaRPr>
          </a:p>
        </p:txBody>
      </p:sp>
      <p:cxnSp>
        <p:nvCxnSpPr>
          <p:cNvPr id="1033" name="Google Shape;1033;p92"/>
          <p:cNvCxnSpPr/>
          <p:nvPr/>
        </p:nvCxnSpPr>
        <p:spPr>
          <a:xfrm>
            <a:off x="28513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034" name="Google Shape;1034;p92"/>
          <p:cNvSpPr txBox="1"/>
          <p:nvPr/>
        </p:nvSpPr>
        <p:spPr>
          <a:xfrm>
            <a:off x="242500" y="1802000"/>
            <a:ext cx="2403900" cy="17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Breaking down data silos for clinical analysis</a:t>
            </a:r>
            <a:r>
              <a:rPr lang="en" sz="1200">
                <a:solidFill>
                  <a:schemeClr val="dk1"/>
                </a:solidFill>
                <a:latin typeface="Source Sans Pro"/>
                <a:ea typeface="Source Sans Pro"/>
                <a:cs typeface="Source Sans Pro"/>
                <a:sym typeface="Source Sans Pro"/>
              </a:rPr>
              <a:t> to accelerate R&amp;D outcomes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Lack of unified view of historical trials data</a:t>
            </a:r>
            <a:r>
              <a:rPr lang="en" sz="1200">
                <a:solidFill>
                  <a:schemeClr val="dk1"/>
                </a:solidFill>
                <a:latin typeface="Source Sans Pro"/>
                <a:ea typeface="Source Sans Pro"/>
                <a:cs typeface="Source Sans Pro"/>
                <a:sym typeface="Source Sans Pro"/>
              </a:rPr>
              <a:t> to power new drug discovery</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Minimal use of CDISC standards</a:t>
            </a:r>
            <a:r>
              <a:rPr lang="en" sz="1200">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across historical data </a:t>
            </a:r>
            <a:r>
              <a:rPr lang="en" sz="1200">
                <a:solidFill>
                  <a:schemeClr val="dk1"/>
                </a:solidFill>
                <a:latin typeface="Source Sans Pro"/>
                <a:ea typeface="Source Sans Pro"/>
                <a:cs typeface="Source Sans Pro"/>
                <a:sym typeface="Source Sans Pro"/>
              </a:rPr>
              <a:t>inhibited cross-trial analytics</a:t>
            </a:r>
            <a:endParaRPr sz="1200">
              <a:solidFill>
                <a:schemeClr val="dk1"/>
              </a:solidFill>
              <a:latin typeface="Source Sans Pro"/>
              <a:ea typeface="Source Sans Pro"/>
              <a:cs typeface="Source Sans Pro"/>
              <a:sym typeface="Source Sans Pro"/>
            </a:endParaRPr>
          </a:p>
        </p:txBody>
      </p:sp>
      <p:sp>
        <p:nvSpPr>
          <p:cNvPr id="1035" name="Google Shape;1035;p92"/>
          <p:cNvSpPr txBox="1"/>
          <p:nvPr/>
        </p:nvSpPr>
        <p:spPr>
          <a:xfrm>
            <a:off x="3161963" y="1802000"/>
            <a:ext cx="2961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Converted 1000+ legacy studies into SDTM data models </a:t>
            </a:r>
            <a:r>
              <a:rPr lang="en" sz="1200">
                <a:solidFill>
                  <a:schemeClr val="dk1"/>
                </a:solidFill>
                <a:latin typeface="Source Sans Pro"/>
                <a:ea typeface="Source Sans Pro"/>
                <a:cs typeface="Source Sans Pro"/>
                <a:sym typeface="Source Sans Pro"/>
              </a:rPr>
              <a:t>in under a year with a pipeline that processes 10 billion records/day</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Converted over 30 billion real world data records into OMOP</a:t>
            </a:r>
            <a:r>
              <a:rPr b="1" lang="en" sz="1200">
                <a:solidFill>
                  <a:schemeClr val="dk1"/>
                </a:solidFill>
                <a:latin typeface="Source Sans Pro"/>
                <a:ea typeface="Source Sans Pro"/>
                <a:cs typeface="Source Sans Pro"/>
                <a:sym typeface="Source Sans Pro"/>
              </a:rPr>
              <a:t> standards </a:t>
            </a:r>
            <a:r>
              <a:rPr lang="en" sz="1200">
                <a:solidFill>
                  <a:schemeClr val="dk1"/>
                </a:solidFill>
                <a:latin typeface="Source Sans Pro"/>
                <a:ea typeface="Source Sans Pro"/>
                <a:cs typeface="Source Sans Pro"/>
                <a:sym typeface="Source Sans Pro"/>
              </a:rPr>
              <a:t>to enrich clinical analytics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Reconciled </a:t>
            </a:r>
            <a:r>
              <a:rPr b="1" lang="en" sz="1200">
                <a:solidFill>
                  <a:schemeClr val="dk1"/>
                </a:solidFill>
                <a:latin typeface="Source Sans Pro"/>
                <a:ea typeface="Source Sans Pro"/>
                <a:cs typeface="Source Sans Pro"/>
                <a:sym typeface="Source Sans Pro"/>
              </a:rPr>
              <a:t>over 1,000 historical trials </a:t>
            </a:r>
            <a:r>
              <a:rPr lang="en" sz="1200">
                <a:solidFill>
                  <a:schemeClr val="dk1"/>
                </a:solidFill>
                <a:latin typeface="Source Sans Pro"/>
                <a:ea typeface="Source Sans Pro"/>
                <a:cs typeface="Source Sans Pro"/>
                <a:sym typeface="Source Sans Pro"/>
              </a:rPr>
              <a:t>into an analytics-ready data repository in under a year</a:t>
            </a:r>
            <a:endParaRPr sz="1200">
              <a:solidFill>
                <a:schemeClr val="dk1"/>
              </a:solidFill>
              <a:latin typeface="Source Sans Pro"/>
              <a:ea typeface="Source Sans Pro"/>
              <a:cs typeface="Source Sans Pro"/>
              <a:sym typeface="Source Sans Pro"/>
            </a:endParaRPr>
          </a:p>
        </p:txBody>
      </p:sp>
      <p:sp>
        <p:nvSpPr>
          <p:cNvPr id="1036" name="Google Shape;1036;p92"/>
          <p:cNvSpPr txBox="1"/>
          <p:nvPr/>
        </p:nvSpPr>
        <p:spPr>
          <a:xfrm>
            <a:off x="6661200" y="1802000"/>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Accelerated drug discovery processes</a:t>
            </a:r>
            <a:r>
              <a:rPr lang="en" sz="1200">
                <a:solidFill>
                  <a:schemeClr val="dk1"/>
                </a:solidFill>
                <a:latin typeface="Source Sans Pro"/>
                <a:ea typeface="Source Sans Pro"/>
                <a:cs typeface="Source Sans Pro"/>
                <a:sym typeface="Source Sans Pro"/>
              </a:rPr>
              <a:t> with improved cross-study analytics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Created time-saving, repeatable pipeline </a:t>
            </a:r>
            <a:r>
              <a:rPr lang="en" sz="1200">
                <a:solidFill>
                  <a:schemeClr val="dk1"/>
                </a:solidFill>
                <a:latin typeface="Source Sans Pro"/>
                <a:ea typeface="Source Sans Pro"/>
                <a:cs typeface="Source Sans Pro"/>
                <a:sym typeface="Source Sans Pro"/>
              </a:rPr>
              <a:t>for reconciling assay, clinical and genetics data with human-guided machine learning</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Control data mastering costs </a:t>
            </a:r>
            <a:r>
              <a:rPr lang="en" sz="1200">
                <a:solidFill>
                  <a:schemeClr val="dk1"/>
                </a:solidFill>
                <a:latin typeface="Source Sans Pro"/>
                <a:ea typeface="Source Sans Pro"/>
                <a:cs typeface="Source Sans Pro"/>
                <a:sym typeface="Source Sans Pro"/>
              </a:rPr>
              <a:t>by using cloud-native technology</a:t>
            </a:r>
            <a:r>
              <a:rPr b="1" lang="en" sz="1200">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to leverage flexibility, scalability of Microsoft Azure</a:t>
            </a:r>
            <a:endParaRPr b="1" sz="1200">
              <a:solidFill>
                <a:schemeClr val="dk1"/>
              </a:solidFill>
              <a:latin typeface="Source Sans Pro"/>
              <a:ea typeface="Source Sans Pro"/>
              <a:cs typeface="Source Sans Pro"/>
              <a:sym typeface="Source Sans Pro"/>
            </a:endParaRPr>
          </a:p>
        </p:txBody>
      </p:sp>
      <p:cxnSp>
        <p:nvCxnSpPr>
          <p:cNvPr id="1037" name="Google Shape;1037;p92"/>
          <p:cNvCxnSpPr/>
          <p:nvPr/>
        </p:nvCxnSpPr>
        <p:spPr>
          <a:xfrm>
            <a:off x="6278600" y="1802000"/>
            <a:ext cx="14100" cy="2194500"/>
          </a:xfrm>
          <a:prstGeom prst="straightConnector1">
            <a:avLst/>
          </a:prstGeom>
          <a:noFill/>
          <a:ln cap="flat" cmpd="sng" w="9525">
            <a:solidFill>
              <a:schemeClr val="dk2"/>
            </a:solidFill>
            <a:prstDash val="solid"/>
            <a:round/>
            <a:headEnd len="med" w="med" type="none"/>
            <a:tailEnd len="med" w="med" type="none"/>
          </a:ln>
        </p:spPr>
      </p:cxnSp>
      <p:pic>
        <p:nvPicPr>
          <p:cNvPr id="1038" name="Google Shape;1038;p92"/>
          <p:cNvPicPr preferRelativeResize="0"/>
          <p:nvPr/>
        </p:nvPicPr>
        <p:blipFill>
          <a:blip r:embed="rId3">
            <a:alphaModFix/>
          </a:blip>
          <a:stretch>
            <a:fillRect/>
          </a:stretch>
        </p:blipFill>
        <p:spPr>
          <a:xfrm>
            <a:off x="525687" y="4229200"/>
            <a:ext cx="730275" cy="561950"/>
          </a:xfrm>
          <a:prstGeom prst="rect">
            <a:avLst/>
          </a:prstGeom>
          <a:noFill/>
          <a:ln>
            <a:noFill/>
          </a:ln>
        </p:spPr>
      </p:pic>
      <p:sp>
        <p:nvSpPr>
          <p:cNvPr id="1039" name="Google Shape;1039;p92"/>
          <p:cNvSpPr txBox="1"/>
          <p:nvPr/>
        </p:nvSpPr>
        <p:spPr>
          <a:xfrm>
            <a:off x="1433722" y="4253075"/>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Converted 1000+ legacy studies into SDTM data models and </a:t>
            </a:r>
            <a:br>
              <a:rPr lang="en">
                <a:solidFill>
                  <a:schemeClr val="dk1"/>
                </a:solidFill>
                <a:latin typeface="Source Sans Pro"/>
                <a:ea typeface="Source Sans Pro"/>
                <a:cs typeface="Source Sans Pro"/>
                <a:sym typeface="Source Sans Pro"/>
              </a:rPr>
            </a:br>
            <a:r>
              <a:rPr lang="en">
                <a:solidFill>
                  <a:schemeClr val="dk1"/>
                </a:solidFill>
                <a:latin typeface="Source Sans Pro"/>
                <a:ea typeface="Source Sans Pro"/>
                <a:cs typeface="Source Sans Pro"/>
                <a:sym typeface="Source Sans Pro"/>
              </a:rPr>
              <a:t>over 30 billion real world data records into OMOP</a:t>
            </a:r>
            <a:endParaRPr>
              <a:solidFill>
                <a:schemeClr val="dk1"/>
              </a:solidFill>
              <a:latin typeface="Source Sans Pro"/>
              <a:ea typeface="Source Sans Pro"/>
              <a:cs typeface="Source Sans Pro"/>
              <a:sym typeface="Source Sans Pro"/>
            </a:endParaRPr>
          </a:p>
        </p:txBody>
      </p:sp>
      <p:pic>
        <p:nvPicPr>
          <p:cNvPr id="1040" name="Google Shape;1040;p92"/>
          <p:cNvPicPr preferRelativeResize="0"/>
          <p:nvPr/>
        </p:nvPicPr>
        <p:blipFill>
          <a:blip r:embed="rId4">
            <a:alphaModFix/>
          </a:blip>
          <a:stretch>
            <a:fillRect/>
          </a:stretch>
        </p:blipFill>
        <p:spPr>
          <a:xfrm>
            <a:off x="737200" y="213350"/>
            <a:ext cx="958200" cy="826100"/>
          </a:xfrm>
          <a:prstGeom prst="rect">
            <a:avLst/>
          </a:prstGeom>
          <a:noFill/>
          <a:ln>
            <a:noFill/>
          </a:ln>
        </p:spPr>
      </p:pic>
      <p:pic>
        <p:nvPicPr>
          <p:cNvPr id="1041" name="Google Shape;1041;p92"/>
          <p:cNvPicPr preferRelativeResize="0"/>
          <p:nvPr/>
        </p:nvPicPr>
        <p:blipFill>
          <a:blip r:embed="rId5">
            <a:alphaModFix/>
          </a:blip>
          <a:stretch>
            <a:fillRect/>
          </a:stretch>
        </p:blipFill>
        <p:spPr>
          <a:xfrm>
            <a:off x="6051693" y="4229200"/>
            <a:ext cx="2180882" cy="721351"/>
          </a:xfrm>
          <a:prstGeom prst="rect">
            <a:avLst/>
          </a:prstGeom>
          <a:noFill/>
          <a:ln>
            <a:noFill/>
          </a:ln>
        </p:spPr>
      </p:pic>
      <p:sp>
        <p:nvSpPr>
          <p:cNvPr id="1042" name="Google Shape;1042;p92"/>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93"/>
          <p:cNvSpPr/>
          <p:nvPr/>
        </p:nvSpPr>
        <p:spPr>
          <a:xfrm>
            <a:off x="0" y="0"/>
            <a:ext cx="9144000" cy="838800"/>
          </a:xfrm>
          <a:prstGeom prst="rect">
            <a:avLst/>
          </a:prstGeom>
          <a:solidFill>
            <a:srgbClr val="131866"/>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8" name="Google Shape;1048;p93"/>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Cases: </a:t>
            </a:r>
            <a:r>
              <a:rPr b="1" lang="en" sz="1800">
                <a:solidFill>
                  <a:srgbClr val="FFFFFF"/>
                </a:solidFill>
                <a:latin typeface="Source Sans Pro"/>
                <a:ea typeface="Source Sans Pro"/>
                <a:cs typeface="Source Sans Pro"/>
                <a:sym typeface="Source Sans Pro"/>
              </a:rPr>
              <a:t>B2B Customer Mastering</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lang="en" sz="1500">
                <a:solidFill>
                  <a:srgbClr val="FFFFFF"/>
                </a:solidFill>
                <a:latin typeface="Source Sans Pro"/>
                <a:ea typeface="Source Sans Pro"/>
                <a:cs typeface="Source Sans Pro"/>
                <a:sym typeface="Source Sans Pro"/>
              </a:rPr>
              <a:t>Mitigating operational risk by creating a single source of client data</a:t>
            </a:r>
            <a:endParaRPr sz="1500">
              <a:solidFill>
                <a:srgbClr val="FFFFFF"/>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rgbClr val="FFFFFF"/>
              </a:solidFill>
              <a:latin typeface="Source Sans Pro"/>
              <a:ea typeface="Source Sans Pro"/>
              <a:cs typeface="Source Sans Pro"/>
              <a:sym typeface="Source Sans Pro"/>
            </a:endParaRPr>
          </a:p>
        </p:txBody>
      </p:sp>
      <p:cxnSp>
        <p:nvCxnSpPr>
          <p:cNvPr id="1049" name="Google Shape;1049;p93"/>
          <p:cNvCxnSpPr/>
          <p:nvPr/>
        </p:nvCxnSpPr>
        <p:spPr>
          <a:xfrm>
            <a:off x="6102158" y="1509247"/>
            <a:ext cx="0" cy="2304000"/>
          </a:xfrm>
          <a:prstGeom prst="straightConnector1">
            <a:avLst/>
          </a:prstGeom>
          <a:noFill/>
          <a:ln cap="flat" cmpd="sng" w="19050">
            <a:solidFill>
              <a:srgbClr val="222222"/>
            </a:solidFill>
            <a:prstDash val="solid"/>
            <a:round/>
            <a:headEnd len="sm" w="sm" type="none"/>
            <a:tailEnd len="sm" w="sm" type="none"/>
          </a:ln>
        </p:spPr>
      </p:cxnSp>
      <p:sp>
        <p:nvSpPr>
          <p:cNvPr id="1050" name="Google Shape;1050;p93"/>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051" name="Google Shape;1051;p93"/>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052" name="Google Shape;1052;p93"/>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cxnSp>
        <p:nvCxnSpPr>
          <p:cNvPr id="1053" name="Google Shape;1053;p93"/>
          <p:cNvCxnSpPr/>
          <p:nvPr/>
        </p:nvCxnSpPr>
        <p:spPr>
          <a:xfrm>
            <a:off x="3045719" y="1528262"/>
            <a:ext cx="0" cy="2304000"/>
          </a:xfrm>
          <a:prstGeom prst="straightConnector1">
            <a:avLst/>
          </a:prstGeom>
          <a:noFill/>
          <a:ln cap="flat" cmpd="sng" w="19050">
            <a:solidFill>
              <a:srgbClr val="222222"/>
            </a:solidFill>
            <a:prstDash val="solid"/>
            <a:round/>
            <a:headEnd len="sm" w="sm" type="none"/>
            <a:tailEnd len="sm" w="sm" type="none"/>
          </a:ln>
        </p:spPr>
      </p:cxnSp>
      <p:sp>
        <p:nvSpPr>
          <p:cNvPr id="1054" name="Google Shape;1054;p93"/>
          <p:cNvSpPr txBox="1"/>
          <p:nvPr/>
        </p:nvSpPr>
        <p:spPr>
          <a:xfrm>
            <a:off x="2690200" y="4051463"/>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Establish </a:t>
            </a:r>
            <a:r>
              <a:rPr b="1" lang="en">
                <a:solidFill>
                  <a:schemeClr val="dk1"/>
                </a:solidFill>
                <a:latin typeface="Source Sans Pro"/>
                <a:ea typeface="Source Sans Pro"/>
                <a:cs typeface="Source Sans Pro"/>
                <a:sym typeface="Source Sans Pro"/>
              </a:rPr>
              <a:t>a single, authoritative client data </a:t>
            </a:r>
            <a:r>
              <a:rPr lang="en">
                <a:solidFill>
                  <a:schemeClr val="dk1"/>
                </a:solidFill>
                <a:latin typeface="Source Sans Pro"/>
                <a:ea typeface="Source Sans Pro"/>
                <a:cs typeface="Source Sans Pro"/>
                <a:sym typeface="Source Sans Pro"/>
              </a:rPr>
              <a:t>source across GBAM to accurately identify legal entities and </a:t>
            </a:r>
            <a:r>
              <a:rPr b="1" lang="en">
                <a:solidFill>
                  <a:schemeClr val="dk1"/>
                </a:solidFill>
                <a:latin typeface="Source Sans Pro"/>
                <a:ea typeface="Source Sans Pro"/>
                <a:cs typeface="Source Sans Pro"/>
                <a:sym typeface="Source Sans Pro"/>
              </a:rPr>
              <a:t>mitigate operational risks</a:t>
            </a:r>
            <a:endParaRPr b="1">
              <a:solidFill>
                <a:schemeClr val="dk1"/>
              </a:solidFill>
              <a:latin typeface="Source Sans Pro"/>
              <a:ea typeface="Source Sans Pro"/>
              <a:cs typeface="Source Sans Pro"/>
              <a:sym typeface="Source Sans Pro"/>
            </a:endParaRPr>
          </a:p>
        </p:txBody>
      </p:sp>
      <p:sp>
        <p:nvSpPr>
          <p:cNvPr id="1055" name="Google Shape;1055;p93"/>
          <p:cNvSpPr/>
          <p:nvPr/>
        </p:nvSpPr>
        <p:spPr>
          <a:xfrm>
            <a:off x="1869636" y="3976507"/>
            <a:ext cx="671400" cy="664200"/>
          </a:xfrm>
          <a:prstGeom prst="ellipse">
            <a:avLst/>
          </a:prstGeom>
          <a:solidFill>
            <a:srgbClr val="1318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a:p>
        </p:txBody>
      </p:sp>
      <p:sp>
        <p:nvSpPr>
          <p:cNvPr id="1056" name="Google Shape;1056;p93"/>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
        <p:nvSpPr>
          <p:cNvPr id="1057" name="Google Shape;1057;p93"/>
          <p:cNvSpPr txBox="1"/>
          <p:nvPr/>
        </p:nvSpPr>
        <p:spPr>
          <a:xfrm>
            <a:off x="64300" y="1642650"/>
            <a:ext cx="2906400" cy="2001000"/>
          </a:xfrm>
          <a:prstGeom prst="rect">
            <a:avLst/>
          </a:prstGeom>
          <a:noFill/>
          <a:ln>
            <a:noFill/>
          </a:ln>
        </p:spPr>
        <p:txBody>
          <a:bodyPr anchorCtr="0" anchor="t" bIns="91425" lIns="91425" spcFirstLastPara="1" rIns="91425" wrap="square" tIns="91425">
            <a:noAutofit/>
          </a:bodyPr>
          <a:lstStyle/>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No single, authoritative source of client data </a:t>
            </a:r>
            <a:r>
              <a:rPr lang="en" sz="1200">
                <a:solidFill>
                  <a:schemeClr val="dk1"/>
                </a:solidFill>
                <a:latin typeface="Source Sans Pro"/>
                <a:ea typeface="Source Sans Pro"/>
                <a:cs typeface="Source Sans Pro"/>
                <a:sym typeface="Source Sans Pro"/>
              </a:rPr>
              <a:t>across Global Banking and Market</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Rules-based solution </a:t>
            </a:r>
            <a:r>
              <a:rPr b="1" lang="en" sz="1200">
                <a:solidFill>
                  <a:schemeClr val="dk1"/>
                </a:solidFill>
                <a:latin typeface="Source Sans Pro"/>
                <a:ea typeface="Source Sans Pro"/>
                <a:cs typeface="Source Sans Pro"/>
                <a:sym typeface="Source Sans Pro"/>
              </a:rPr>
              <a:t>unable to accommodate all customer data </a:t>
            </a:r>
            <a:r>
              <a:rPr lang="en" sz="1200">
                <a:solidFill>
                  <a:schemeClr val="dk1"/>
                </a:solidFill>
                <a:latin typeface="Source Sans Pro"/>
                <a:ea typeface="Source Sans Pro"/>
                <a:cs typeface="Source Sans Pro"/>
                <a:sym typeface="Source Sans Pro"/>
              </a:rPr>
              <a:t>across disparate systems</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Legacy system doesn’t </a:t>
            </a:r>
            <a:r>
              <a:rPr b="1" lang="en" sz="1200">
                <a:solidFill>
                  <a:schemeClr val="dk1"/>
                </a:solidFill>
                <a:latin typeface="Source Sans Pro"/>
                <a:ea typeface="Source Sans Pro"/>
                <a:cs typeface="Source Sans Pro"/>
                <a:sym typeface="Source Sans Pro"/>
              </a:rPr>
              <a:t>scale with data volume and variety </a:t>
            </a:r>
            <a:r>
              <a:rPr lang="en" sz="1200">
                <a:solidFill>
                  <a:schemeClr val="dk1"/>
                </a:solidFill>
                <a:latin typeface="Source Sans Pro"/>
                <a:ea typeface="Source Sans Pro"/>
                <a:cs typeface="Source Sans Pro"/>
                <a:sym typeface="Source Sans Pro"/>
              </a:rPr>
              <a:t>increases</a:t>
            </a:r>
            <a:endParaRPr sz="1200">
              <a:solidFill>
                <a:schemeClr val="dk1"/>
              </a:solidFill>
              <a:latin typeface="Source Sans Pro"/>
              <a:ea typeface="Source Sans Pro"/>
              <a:cs typeface="Source Sans Pro"/>
              <a:sym typeface="Source Sans Pro"/>
            </a:endParaRPr>
          </a:p>
        </p:txBody>
      </p:sp>
      <p:sp>
        <p:nvSpPr>
          <p:cNvPr id="1058" name="Google Shape;1058;p93"/>
          <p:cNvSpPr txBox="1"/>
          <p:nvPr/>
        </p:nvSpPr>
        <p:spPr>
          <a:xfrm>
            <a:off x="6177175" y="1642650"/>
            <a:ext cx="2906400" cy="2170500"/>
          </a:xfrm>
          <a:prstGeom prst="rect">
            <a:avLst/>
          </a:prstGeom>
          <a:noFill/>
          <a:ln>
            <a:noFill/>
          </a:ln>
        </p:spPr>
        <p:txBody>
          <a:bodyPr anchorCtr="0" anchor="t" bIns="91425" lIns="91425" spcFirstLastPara="1" rIns="91425" wrap="square" tIns="91425">
            <a:noAutofit/>
          </a:bodyPr>
          <a:lstStyle/>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Mitigate operational risks </a:t>
            </a:r>
            <a:r>
              <a:rPr lang="en" sz="1200">
                <a:solidFill>
                  <a:schemeClr val="dk1"/>
                </a:solidFill>
                <a:latin typeface="Source Sans Pro"/>
                <a:ea typeface="Source Sans Pro"/>
                <a:cs typeface="Source Sans Pro"/>
                <a:sym typeface="Source Sans Pro"/>
              </a:rPr>
              <a:t>across business units in wholesale banking </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Empower business users by supporting </a:t>
            </a:r>
            <a:r>
              <a:rPr b="1" lang="en" sz="1200">
                <a:solidFill>
                  <a:schemeClr val="dk1"/>
                </a:solidFill>
                <a:latin typeface="Source Sans Pro"/>
                <a:ea typeface="Source Sans Pro"/>
                <a:cs typeface="Source Sans Pro"/>
                <a:sym typeface="Source Sans Pro"/>
              </a:rPr>
              <a:t>data consumption across multiple systems</a:t>
            </a:r>
            <a:endParaRPr b="1"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Improve the </a:t>
            </a:r>
            <a:r>
              <a:rPr b="1" lang="en" sz="1200">
                <a:solidFill>
                  <a:schemeClr val="dk1"/>
                </a:solidFill>
                <a:latin typeface="Source Sans Pro"/>
                <a:ea typeface="Source Sans Pro"/>
                <a:cs typeface="Source Sans Pro"/>
                <a:sym typeface="Source Sans Pro"/>
              </a:rPr>
              <a:t>quality, accuracy and speed of distribution</a:t>
            </a:r>
            <a:r>
              <a:rPr lang="en" sz="1200">
                <a:solidFill>
                  <a:schemeClr val="dk1"/>
                </a:solidFill>
                <a:latin typeface="Source Sans Pro"/>
                <a:ea typeface="Source Sans Pro"/>
                <a:cs typeface="Source Sans Pro"/>
                <a:sym typeface="Source Sans Pro"/>
              </a:rPr>
              <a:t> of client reference data</a:t>
            </a:r>
            <a:endParaRPr sz="1200">
              <a:solidFill>
                <a:schemeClr val="dk1"/>
              </a:solidFill>
              <a:latin typeface="Source Sans Pro"/>
              <a:ea typeface="Source Sans Pro"/>
              <a:cs typeface="Source Sans Pro"/>
              <a:sym typeface="Source Sans Pro"/>
            </a:endParaRPr>
          </a:p>
        </p:txBody>
      </p:sp>
      <p:pic>
        <p:nvPicPr>
          <p:cNvPr id="1059" name="Google Shape;1059;p93"/>
          <p:cNvPicPr preferRelativeResize="0"/>
          <p:nvPr/>
        </p:nvPicPr>
        <p:blipFill>
          <a:blip r:embed="rId3">
            <a:alphaModFix/>
          </a:blip>
          <a:stretch>
            <a:fillRect/>
          </a:stretch>
        </p:blipFill>
        <p:spPr>
          <a:xfrm>
            <a:off x="185875" y="316525"/>
            <a:ext cx="2057501" cy="205750"/>
          </a:xfrm>
          <a:prstGeom prst="rect">
            <a:avLst/>
          </a:prstGeom>
          <a:noFill/>
          <a:ln>
            <a:noFill/>
          </a:ln>
        </p:spPr>
      </p:pic>
      <p:pic>
        <p:nvPicPr>
          <p:cNvPr id="1060" name="Google Shape;1060;p93"/>
          <p:cNvPicPr preferRelativeResize="0"/>
          <p:nvPr/>
        </p:nvPicPr>
        <p:blipFill>
          <a:blip r:embed="rId4">
            <a:alphaModFix/>
          </a:blip>
          <a:stretch>
            <a:fillRect/>
          </a:stretch>
        </p:blipFill>
        <p:spPr>
          <a:xfrm>
            <a:off x="2029033" y="4093475"/>
            <a:ext cx="352650" cy="352650"/>
          </a:xfrm>
          <a:prstGeom prst="rect">
            <a:avLst/>
          </a:prstGeom>
          <a:noFill/>
          <a:ln>
            <a:noFill/>
          </a:ln>
        </p:spPr>
      </p:pic>
      <p:sp>
        <p:nvSpPr>
          <p:cNvPr id="1061" name="Google Shape;1061;p93"/>
          <p:cNvSpPr txBox="1"/>
          <p:nvPr/>
        </p:nvSpPr>
        <p:spPr>
          <a:xfrm>
            <a:off x="3120738" y="1642650"/>
            <a:ext cx="29064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Unified client data across multiple systems </a:t>
            </a:r>
            <a:r>
              <a:rPr lang="en" sz="1200">
                <a:solidFill>
                  <a:schemeClr val="dk1"/>
                </a:solidFill>
                <a:latin typeface="Source Sans Pro"/>
                <a:ea typeface="Source Sans Pro"/>
                <a:cs typeface="Source Sans Pro"/>
                <a:sym typeface="Source Sans Pro"/>
              </a:rPr>
              <a:t>and optimized to scale </a:t>
            </a:r>
            <a:endParaRPr sz="12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Replace rule-based solution with </a:t>
            </a:r>
            <a:r>
              <a:rPr b="1" lang="en" sz="1200">
                <a:solidFill>
                  <a:schemeClr val="dk1"/>
                </a:solidFill>
                <a:latin typeface="Source Sans Pro"/>
                <a:ea typeface="Source Sans Pro"/>
                <a:cs typeface="Source Sans Pro"/>
                <a:sym typeface="Source Sans Pro"/>
              </a:rPr>
              <a:t>human-guided machine learning solution</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Establish an </a:t>
            </a:r>
            <a:r>
              <a:rPr b="1" lang="en" sz="1200">
                <a:solidFill>
                  <a:schemeClr val="dk1"/>
                </a:solidFill>
                <a:latin typeface="Source Sans Pro"/>
                <a:ea typeface="Source Sans Pro"/>
                <a:cs typeface="Source Sans Pro"/>
                <a:sym typeface="Source Sans Pro"/>
              </a:rPr>
              <a:t>automated, repeatable process </a:t>
            </a:r>
            <a:r>
              <a:rPr lang="en" sz="1200">
                <a:solidFill>
                  <a:schemeClr val="dk1"/>
                </a:solidFill>
                <a:latin typeface="Source Sans Pro"/>
                <a:ea typeface="Source Sans Pro"/>
                <a:cs typeface="Source Sans Pro"/>
                <a:sym typeface="Source Sans Pro"/>
              </a:rPr>
              <a:t>for rapidly onboarding new data sources</a:t>
            </a:r>
            <a:endParaRPr sz="12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94"/>
          <p:cNvSpPr/>
          <p:nvPr/>
        </p:nvSpPr>
        <p:spPr>
          <a:xfrm>
            <a:off x="0" y="0"/>
            <a:ext cx="9144000" cy="8388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7" name="Google Shape;1067;p94"/>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Cases: </a:t>
            </a:r>
            <a:r>
              <a:rPr b="1" lang="en" sz="1800">
                <a:solidFill>
                  <a:srgbClr val="FFFFFF"/>
                </a:solidFill>
                <a:latin typeface="Source Sans Pro"/>
                <a:ea typeface="Source Sans Pro"/>
                <a:cs typeface="Source Sans Pro"/>
                <a:sym typeface="Source Sans Pro"/>
              </a:rPr>
              <a:t>Supplier </a:t>
            </a:r>
            <a:r>
              <a:rPr b="1" lang="en" sz="1800" u="none" cap="none" strike="noStrike">
                <a:solidFill>
                  <a:srgbClr val="FFFFFF"/>
                </a:solidFill>
                <a:latin typeface="Source Sans Pro"/>
                <a:ea typeface="Source Sans Pro"/>
                <a:cs typeface="Source Sans Pro"/>
                <a:sym typeface="Source Sans Pro"/>
              </a:rPr>
              <a:t>Mastering</a:t>
            </a:r>
            <a:r>
              <a:rPr b="1" lang="en" sz="1800">
                <a:solidFill>
                  <a:srgbClr val="FFFFFF"/>
                </a:solidFill>
                <a:latin typeface="Source Sans Pro"/>
                <a:ea typeface="Source Sans Pro"/>
                <a:cs typeface="Source Sans Pro"/>
                <a:sym typeface="Source Sans Pro"/>
              </a:rPr>
              <a:t>, Spend Analytics</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lang="en" sz="1200">
                <a:solidFill>
                  <a:srgbClr val="FFFFFF"/>
                </a:solidFill>
                <a:latin typeface="Source Sans Pro"/>
                <a:ea typeface="Source Sans Pro"/>
                <a:cs typeface="Source Sans Pro"/>
                <a:sym typeface="Source Sans Pro"/>
              </a:rPr>
              <a:t>Achieved first-ever unified view of up-to-date global spending while reducing manual data preparation  by 90%</a:t>
            </a:r>
            <a:endParaRPr sz="1200">
              <a:solidFill>
                <a:srgbClr val="FFFFFF"/>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rgbClr val="FFFFFF"/>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rgbClr val="FFFFFF"/>
              </a:solidFill>
              <a:latin typeface="Source Sans Pro"/>
              <a:ea typeface="Source Sans Pro"/>
              <a:cs typeface="Source Sans Pro"/>
              <a:sym typeface="Source Sans Pro"/>
            </a:endParaRPr>
          </a:p>
        </p:txBody>
      </p:sp>
      <p:cxnSp>
        <p:nvCxnSpPr>
          <p:cNvPr id="1068" name="Google Shape;1068;p94"/>
          <p:cNvCxnSpPr/>
          <p:nvPr/>
        </p:nvCxnSpPr>
        <p:spPr>
          <a:xfrm>
            <a:off x="6102158" y="1509247"/>
            <a:ext cx="0" cy="2304000"/>
          </a:xfrm>
          <a:prstGeom prst="straightConnector1">
            <a:avLst/>
          </a:prstGeom>
          <a:noFill/>
          <a:ln cap="flat" cmpd="sng" w="19050">
            <a:solidFill>
              <a:srgbClr val="222222"/>
            </a:solidFill>
            <a:prstDash val="solid"/>
            <a:round/>
            <a:headEnd len="sm" w="sm" type="none"/>
            <a:tailEnd len="sm" w="sm" type="none"/>
          </a:ln>
        </p:spPr>
      </p:cxnSp>
      <p:sp>
        <p:nvSpPr>
          <p:cNvPr id="1069" name="Google Shape;1069;p94"/>
          <p:cNvSpPr txBox="1"/>
          <p:nvPr/>
        </p:nvSpPr>
        <p:spPr>
          <a:xfrm>
            <a:off x="3120738" y="1642650"/>
            <a:ext cx="29064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Master supplier data leveraging </a:t>
            </a:r>
            <a:r>
              <a:rPr b="1" lang="en" sz="1200">
                <a:solidFill>
                  <a:schemeClr val="dk1"/>
                </a:solidFill>
                <a:latin typeface="Source Sans Pro"/>
                <a:ea typeface="Source Sans Pro"/>
                <a:cs typeface="Source Sans Pro"/>
                <a:sym typeface="Source Sans Pro"/>
              </a:rPr>
              <a:t>human-guided machine learning</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90% reduction in manual </a:t>
            </a:r>
            <a:r>
              <a:rPr lang="en" sz="1200">
                <a:solidFill>
                  <a:schemeClr val="dk1"/>
                </a:solidFill>
                <a:latin typeface="Source Sans Pro"/>
                <a:ea typeface="Source Sans Pro"/>
                <a:cs typeface="Source Sans Pro"/>
                <a:sym typeface="Source Sans Pro"/>
              </a:rPr>
              <a:t>data preparation</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Significant increase in analytic adoption and trust with </a:t>
            </a:r>
            <a:r>
              <a:rPr b="1" lang="en" sz="1200">
                <a:solidFill>
                  <a:schemeClr val="dk1"/>
                </a:solidFill>
                <a:latin typeface="Source Sans Pro"/>
                <a:ea typeface="Source Sans Pro"/>
                <a:cs typeface="Source Sans Pro"/>
                <a:sym typeface="Source Sans Pro"/>
              </a:rPr>
              <a:t>80%+ accuracy of classification </a:t>
            </a:r>
            <a:endParaRPr b="1" sz="1200">
              <a:solidFill>
                <a:schemeClr val="dk1"/>
              </a:solidFill>
              <a:latin typeface="Source Sans Pro"/>
              <a:ea typeface="Source Sans Pro"/>
              <a:cs typeface="Source Sans Pro"/>
              <a:sym typeface="Source Sans Pro"/>
            </a:endParaRPr>
          </a:p>
        </p:txBody>
      </p:sp>
      <p:sp>
        <p:nvSpPr>
          <p:cNvPr id="1070" name="Google Shape;1070;p94"/>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071" name="Google Shape;1071;p94"/>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072" name="Google Shape;1072;p94"/>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cxnSp>
        <p:nvCxnSpPr>
          <p:cNvPr id="1073" name="Google Shape;1073;p94"/>
          <p:cNvCxnSpPr/>
          <p:nvPr/>
        </p:nvCxnSpPr>
        <p:spPr>
          <a:xfrm>
            <a:off x="3045719" y="1528262"/>
            <a:ext cx="0" cy="2304000"/>
          </a:xfrm>
          <a:prstGeom prst="straightConnector1">
            <a:avLst/>
          </a:prstGeom>
          <a:noFill/>
          <a:ln cap="flat" cmpd="sng" w="19050">
            <a:solidFill>
              <a:srgbClr val="222222"/>
            </a:solidFill>
            <a:prstDash val="solid"/>
            <a:round/>
            <a:headEnd len="sm" w="sm" type="none"/>
            <a:tailEnd len="sm" w="sm" type="none"/>
          </a:ln>
        </p:spPr>
      </p:cxnSp>
      <p:sp>
        <p:nvSpPr>
          <p:cNvPr id="1074" name="Google Shape;1074;p94"/>
          <p:cNvSpPr txBox="1"/>
          <p:nvPr/>
        </p:nvSpPr>
        <p:spPr>
          <a:xfrm>
            <a:off x="2690200" y="4051463"/>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Achieve</a:t>
            </a:r>
            <a:r>
              <a:rPr lang="en">
                <a:solidFill>
                  <a:schemeClr val="dk1"/>
                </a:solidFill>
                <a:latin typeface="Source Sans Pro"/>
                <a:ea typeface="Source Sans Pro"/>
                <a:cs typeface="Source Sans Pro"/>
                <a:sym typeface="Source Sans Pro"/>
              </a:rPr>
              <a:t>d </a:t>
            </a:r>
            <a:r>
              <a:rPr b="1" lang="en">
                <a:solidFill>
                  <a:schemeClr val="dk1"/>
                </a:solidFill>
                <a:latin typeface="Source Sans Pro"/>
                <a:ea typeface="Source Sans Pro"/>
                <a:cs typeface="Source Sans Pro"/>
                <a:sym typeface="Source Sans Pro"/>
              </a:rPr>
              <a:t>first-ever unified view</a:t>
            </a:r>
            <a:r>
              <a:rPr lang="en">
                <a:solidFill>
                  <a:schemeClr val="dk1"/>
                </a:solidFill>
                <a:latin typeface="Source Sans Pro"/>
                <a:ea typeface="Source Sans Pro"/>
                <a:cs typeface="Source Sans Pro"/>
                <a:sym typeface="Source Sans Pro"/>
              </a:rPr>
              <a:t> of up-to-date global spending with </a:t>
            </a:r>
            <a:r>
              <a:rPr b="1" lang="en">
                <a:solidFill>
                  <a:schemeClr val="dk1"/>
                </a:solidFill>
                <a:latin typeface="Source Sans Pro"/>
                <a:ea typeface="Source Sans Pro"/>
                <a:cs typeface="Source Sans Pro"/>
                <a:sym typeface="Source Sans Pro"/>
              </a:rPr>
              <a:t>90% reduction in manual data preparation</a:t>
            </a:r>
            <a:endParaRPr b="1">
              <a:solidFill>
                <a:schemeClr val="dk1"/>
              </a:solidFill>
              <a:latin typeface="Source Sans Pro"/>
              <a:ea typeface="Source Sans Pro"/>
              <a:cs typeface="Source Sans Pro"/>
              <a:sym typeface="Source Sans Pro"/>
            </a:endParaRPr>
          </a:p>
        </p:txBody>
      </p:sp>
      <p:sp>
        <p:nvSpPr>
          <p:cNvPr id="1075" name="Google Shape;1075;p94"/>
          <p:cNvSpPr/>
          <p:nvPr/>
        </p:nvSpPr>
        <p:spPr>
          <a:xfrm>
            <a:off x="1869636" y="3976507"/>
            <a:ext cx="671400" cy="6642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94"/>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pic>
        <p:nvPicPr>
          <p:cNvPr id="1077" name="Google Shape;1077;p94"/>
          <p:cNvPicPr preferRelativeResize="0"/>
          <p:nvPr/>
        </p:nvPicPr>
        <p:blipFill>
          <a:blip r:embed="rId3">
            <a:alphaModFix/>
          </a:blip>
          <a:stretch>
            <a:fillRect/>
          </a:stretch>
        </p:blipFill>
        <p:spPr>
          <a:xfrm>
            <a:off x="2008851" y="4125479"/>
            <a:ext cx="393002" cy="366147"/>
          </a:xfrm>
          <a:prstGeom prst="rect">
            <a:avLst/>
          </a:prstGeom>
          <a:noFill/>
          <a:ln>
            <a:noFill/>
          </a:ln>
        </p:spPr>
      </p:pic>
      <p:sp>
        <p:nvSpPr>
          <p:cNvPr id="1078" name="Google Shape;1078;p94"/>
          <p:cNvSpPr txBox="1"/>
          <p:nvPr/>
        </p:nvSpPr>
        <p:spPr>
          <a:xfrm>
            <a:off x="64300" y="1642650"/>
            <a:ext cx="2906400" cy="2001000"/>
          </a:xfrm>
          <a:prstGeom prst="rect">
            <a:avLst/>
          </a:prstGeom>
          <a:noFill/>
          <a:ln>
            <a:noFill/>
          </a:ln>
        </p:spPr>
        <p:txBody>
          <a:bodyPr anchorCtr="0" anchor="t" bIns="91425" lIns="91425" spcFirstLastPara="1" rIns="91425" wrap="square" tIns="91425">
            <a:noAutofit/>
          </a:bodyPr>
          <a:lstStyle/>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Legacy, rules-based solution </a:t>
            </a:r>
            <a:r>
              <a:rPr b="1" lang="en" sz="1200">
                <a:solidFill>
                  <a:schemeClr val="dk1"/>
                </a:solidFill>
                <a:latin typeface="Source Sans Pro"/>
                <a:ea typeface="Source Sans Pro"/>
                <a:cs typeface="Source Sans Pro"/>
                <a:sym typeface="Source Sans Pro"/>
              </a:rPr>
              <a:t>unable to scale and accommodate all spend data</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Existing ERP add-on system too </a:t>
            </a:r>
            <a:r>
              <a:rPr b="1" lang="en" sz="1200">
                <a:solidFill>
                  <a:schemeClr val="dk1"/>
                </a:solidFill>
                <a:latin typeface="Source Sans Pro"/>
                <a:ea typeface="Source Sans Pro"/>
                <a:cs typeface="Source Sans Pro"/>
                <a:sym typeface="Source Sans Pro"/>
              </a:rPr>
              <a:t>expensive to maintain and support</a:t>
            </a:r>
            <a:endParaRPr b="1"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High security and infrastructure requirements </a:t>
            </a:r>
            <a:r>
              <a:rPr lang="en" sz="1200">
                <a:solidFill>
                  <a:schemeClr val="dk1"/>
                </a:solidFill>
                <a:latin typeface="Source Sans Pro"/>
                <a:ea typeface="Source Sans Pro"/>
                <a:cs typeface="Source Sans Pro"/>
                <a:sym typeface="Source Sans Pro"/>
              </a:rPr>
              <a:t>with tight implementation timeline</a:t>
            </a:r>
            <a:endParaRPr sz="1200">
              <a:solidFill>
                <a:schemeClr val="dk1"/>
              </a:solidFill>
              <a:latin typeface="Source Sans Pro"/>
              <a:ea typeface="Source Sans Pro"/>
              <a:cs typeface="Source Sans Pro"/>
              <a:sym typeface="Source Sans Pro"/>
            </a:endParaRPr>
          </a:p>
        </p:txBody>
      </p:sp>
      <p:sp>
        <p:nvSpPr>
          <p:cNvPr id="1079" name="Google Shape;1079;p94"/>
          <p:cNvSpPr txBox="1"/>
          <p:nvPr/>
        </p:nvSpPr>
        <p:spPr>
          <a:xfrm>
            <a:off x="6177175" y="1642650"/>
            <a:ext cx="2906400" cy="2170500"/>
          </a:xfrm>
          <a:prstGeom prst="rect">
            <a:avLst/>
          </a:prstGeom>
          <a:noFill/>
          <a:ln>
            <a:noFill/>
          </a:ln>
        </p:spPr>
        <p:txBody>
          <a:bodyPr anchorCtr="0" anchor="t" bIns="91425" lIns="91425" spcFirstLastPara="1" rIns="91425" wrap="square" tIns="91425">
            <a:noAutofit/>
          </a:bodyPr>
          <a:lstStyle/>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Drove procurement savings by </a:t>
            </a:r>
            <a:r>
              <a:rPr lang="en" sz="1200">
                <a:solidFill>
                  <a:schemeClr val="dk1"/>
                </a:solidFill>
                <a:latin typeface="Source Sans Pro"/>
                <a:ea typeface="Source Sans Pro"/>
                <a:cs typeface="Source Sans Pro"/>
                <a:sym typeface="Source Sans Pro"/>
              </a:rPr>
              <a:t>generating</a:t>
            </a:r>
            <a:r>
              <a:rPr lang="en" sz="1200">
                <a:solidFill>
                  <a:schemeClr val="dk1"/>
                </a:solidFill>
                <a:latin typeface="Source Sans Pro"/>
                <a:ea typeface="Source Sans Pro"/>
                <a:cs typeface="Source Sans Pro"/>
                <a:sym typeface="Source Sans Pro"/>
              </a:rPr>
              <a:t> accurate views of the company’s spend for </a:t>
            </a:r>
            <a:r>
              <a:rPr b="1" lang="en" sz="1200">
                <a:solidFill>
                  <a:schemeClr val="dk1"/>
                </a:solidFill>
                <a:latin typeface="Source Sans Pro"/>
                <a:ea typeface="Source Sans Pro"/>
                <a:cs typeface="Source Sans Pro"/>
                <a:sym typeface="Source Sans Pro"/>
              </a:rPr>
              <a:t>300+ user groups in 3 months</a:t>
            </a:r>
            <a:endParaRPr b="1"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Allowed IT staff to focus on </a:t>
            </a:r>
            <a:r>
              <a:rPr b="1" lang="en" sz="1200">
                <a:solidFill>
                  <a:schemeClr val="dk1"/>
                </a:solidFill>
                <a:latin typeface="Source Sans Pro"/>
                <a:ea typeface="Source Sans Pro"/>
                <a:cs typeface="Source Sans Pro"/>
                <a:sym typeface="Source Sans Pro"/>
              </a:rPr>
              <a:t>higher value projects </a:t>
            </a:r>
            <a:r>
              <a:rPr lang="en" sz="1200">
                <a:solidFill>
                  <a:schemeClr val="dk1"/>
                </a:solidFill>
                <a:latin typeface="Source Sans Pro"/>
                <a:ea typeface="Source Sans Pro"/>
                <a:cs typeface="Source Sans Pro"/>
                <a:sym typeface="Source Sans Pro"/>
              </a:rPr>
              <a:t>instead of data preparation</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New data sources added in </a:t>
            </a:r>
            <a:r>
              <a:rPr b="1" lang="en" sz="1200">
                <a:solidFill>
                  <a:schemeClr val="dk1"/>
                </a:solidFill>
                <a:latin typeface="Source Sans Pro"/>
                <a:ea typeface="Source Sans Pro"/>
                <a:cs typeface="Source Sans Pro"/>
                <a:sym typeface="Source Sans Pro"/>
              </a:rPr>
              <a:t>5 days instead of 60 days </a:t>
            </a:r>
            <a:r>
              <a:rPr lang="en" sz="1200">
                <a:solidFill>
                  <a:schemeClr val="dk1"/>
                </a:solidFill>
                <a:latin typeface="Source Sans Pro"/>
                <a:ea typeface="Source Sans Pro"/>
                <a:cs typeface="Source Sans Pro"/>
                <a:sym typeface="Source Sans Pro"/>
              </a:rPr>
              <a:t>for faster time to value</a:t>
            </a:r>
            <a:endParaRPr sz="1200">
              <a:solidFill>
                <a:schemeClr val="dk1"/>
              </a:solidFill>
              <a:latin typeface="Source Sans Pro"/>
              <a:ea typeface="Source Sans Pro"/>
              <a:cs typeface="Source Sans Pro"/>
              <a:sym typeface="Source Sans Pro"/>
            </a:endParaRPr>
          </a:p>
        </p:txBody>
      </p:sp>
      <p:pic>
        <p:nvPicPr>
          <p:cNvPr id="1080" name="Google Shape;1080;p94"/>
          <p:cNvPicPr preferRelativeResize="0"/>
          <p:nvPr/>
        </p:nvPicPr>
        <p:blipFill>
          <a:blip r:embed="rId4">
            <a:alphaModFix/>
          </a:blip>
          <a:stretch>
            <a:fillRect/>
          </a:stretch>
        </p:blipFill>
        <p:spPr>
          <a:xfrm>
            <a:off x="476900" y="236325"/>
            <a:ext cx="1492586" cy="3661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95"/>
          <p:cNvSpPr/>
          <p:nvPr/>
        </p:nvSpPr>
        <p:spPr>
          <a:xfrm>
            <a:off x="0" y="0"/>
            <a:ext cx="9144000" cy="838200"/>
          </a:xfrm>
          <a:prstGeom prst="rect">
            <a:avLst/>
          </a:prstGeom>
          <a:solidFill>
            <a:srgbClr val="EE232D"/>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6" name="Google Shape;1086;p95"/>
          <p:cNvSpPr txBox="1"/>
          <p:nvPr/>
        </p:nvSpPr>
        <p:spPr>
          <a:xfrm>
            <a:off x="2374182" y="14063"/>
            <a:ext cx="6774000" cy="831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Know-your-customer (KYC)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 sz="1200" u="none" cap="none" strike="noStrike">
                <a:solidFill>
                  <a:srgbClr val="FFFFFF"/>
                </a:solidFill>
                <a:latin typeface="Source Sans Pro"/>
                <a:ea typeface="Source Sans Pro"/>
                <a:cs typeface="Source Sans Pro"/>
                <a:sym typeface="Source Sans Pro"/>
              </a:rPr>
              <a:t>Enabled the bank to create a single profile of every customer across dozens of jurisdictions, providing the foundation for regulatory compliance and </a:t>
            </a:r>
            <a:r>
              <a:rPr lang="en" sz="1200">
                <a:solidFill>
                  <a:srgbClr val="FFFFFF"/>
                </a:solidFill>
                <a:latin typeface="Source Sans Pro"/>
                <a:ea typeface="Source Sans Pro"/>
                <a:cs typeface="Source Sans Pro"/>
                <a:sym typeface="Source Sans Pro"/>
              </a:rPr>
              <a:t>reporting </a:t>
            </a:r>
            <a:r>
              <a:rPr b="0" i="0" lang="en" sz="1200" u="none" cap="none" strike="noStrike">
                <a:solidFill>
                  <a:srgbClr val="FFFFFF"/>
                </a:solidFill>
                <a:latin typeface="Source Sans Pro"/>
                <a:ea typeface="Source Sans Pro"/>
                <a:cs typeface="Source Sans Pro"/>
                <a:sym typeface="Source Sans Pro"/>
              </a:rPr>
              <a:t>efficiency</a:t>
            </a:r>
            <a:endParaRPr b="0" i="0" sz="1200" u="none" cap="none" strike="noStrike">
              <a:solidFill>
                <a:srgbClr val="FFFFFF"/>
              </a:solidFill>
              <a:latin typeface="Source Sans Pro"/>
              <a:ea typeface="Source Sans Pro"/>
              <a:cs typeface="Source Sans Pro"/>
              <a:sym typeface="Source Sans Pro"/>
            </a:endParaRPr>
          </a:p>
        </p:txBody>
      </p:sp>
      <p:cxnSp>
        <p:nvCxnSpPr>
          <p:cNvPr id="1087" name="Google Shape;1087;p95"/>
          <p:cNvCxnSpPr/>
          <p:nvPr/>
        </p:nvCxnSpPr>
        <p:spPr>
          <a:xfrm>
            <a:off x="3071122" y="1176258"/>
            <a:ext cx="0" cy="2304000"/>
          </a:xfrm>
          <a:prstGeom prst="straightConnector1">
            <a:avLst/>
          </a:prstGeom>
          <a:noFill/>
          <a:ln cap="flat" cmpd="sng" w="19050">
            <a:solidFill>
              <a:srgbClr val="FF0000"/>
            </a:solidFill>
            <a:prstDash val="solid"/>
            <a:round/>
            <a:headEnd len="sm" w="sm" type="none"/>
            <a:tailEnd len="sm" w="sm" type="none"/>
          </a:ln>
        </p:spPr>
      </p:cxnSp>
      <p:cxnSp>
        <p:nvCxnSpPr>
          <p:cNvPr id="1088" name="Google Shape;1088;p95"/>
          <p:cNvCxnSpPr/>
          <p:nvPr/>
        </p:nvCxnSpPr>
        <p:spPr>
          <a:xfrm>
            <a:off x="6055136" y="1176258"/>
            <a:ext cx="0" cy="2304000"/>
          </a:xfrm>
          <a:prstGeom prst="straightConnector1">
            <a:avLst/>
          </a:prstGeom>
          <a:noFill/>
          <a:ln cap="flat" cmpd="sng" w="19050">
            <a:solidFill>
              <a:srgbClr val="FF0000"/>
            </a:solidFill>
            <a:prstDash val="solid"/>
            <a:round/>
            <a:headEnd len="sm" w="sm" type="none"/>
            <a:tailEnd len="sm" w="sm" type="none"/>
          </a:ln>
        </p:spPr>
      </p:cxnSp>
      <p:sp>
        <p:nvSpPr>
          <p:cNvPr id="1089" name="Google Shape;1089;p95"/>
          <p:cNvSpPr txBox="1"/>
          <p:nvPr/>
        </p:nvSpPr>
        <p:spPr>
          <a:xfrm>
            <a:off x="119764" y="1389085"/>
            <a:ext cx="2952000" cy="2383200"/>
          </a:xfrm>
          <a:prstGeom prst="rect">
            <a:avLst/>
          </a:prstGeom>
          <a:noFill/>
          <a:ln>
            <a:noFill/>
          </a:ln>
        </p:spPr>
        <p:txBody>
          <a:bodyPr anchorCtr="0" anchor="t" bIns="45700" lIns="91425" spcFirstLastPara="1" rIns="91425" wrap="square" tIns="45700">
            <a:noAutofit/>
          </a:bodyPr>
          <a:lstStyle/>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Separate data instances with high heterogeneity </a:t>
            </a:r>
            <a:r>
              <a:rPr lang="en" sz="1200">
                <a:solidFill>
                  <a:schemeClr val="dk1"/>
                </a:solidFill>
                <a:latin typeface="Source Sans Pro"/>
                <a:ea typeface="Source Sans Pro"/>
                <a:cs typeface="Source Sans Pro"/>
                <a:sym typeface="Source Sans Pro"/>
              </a:rPr>
              <a:t>because of sovereignty requirements and inorganic growth inherits data across jurisdictions</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Large</a:t>
            </a:r>
            <a:r>
              <a:rPr lang="en" sz="1200">
                <a:solidFill>
                  <a:schemeClr val="dk1"/>
                </a:solidFill>
                <a:latin typeface="Source Sans Pro"/>
                <a:ea typeface="Source Sans Pro"/>
                <a:cs typeface="Source Sans Pro"/>
                <a:sym typeface="Source Sans Pro"/>
              </a:rPr>
              <a:t> </a:t>
            </a:r>
            <a:r>
              <a:rPr b="1" lang="en" sz="1200">
                <a:solidFill>
                  <a:schemeClr val="dk1"/>
                </a:solidFill>
                <a:latin typeface="Source Sans Pro"/>
                <a:ea typeface="Source Sans Pro"/>
                <a:cs typeface="Source Sans Pro"/>
                <a:sym typeface="Source Sans Pro"/>
              </a:rPr>
              <a:t>volume of data </a:t>
            </a:r>
            <a:r>
              <a:rPr lang="en" sz="1200">
                <a:solidFill>
                  <a:schemeClr val="dk1"/>
                </a:solidFill>
                <a:latin typeface="Source Sans Pro"/>
                <a:ea typeface="Source Sans Pro"/>
                <a:cs typeface="Source Sans Pro"/>
                <a:sym typeface="Source Sans Pro"/>
              </a:rPr>
              <a:t>measured in petabytes, with increases in columns and relationships</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Unreliable data quality </a:t>
            </a:r>
            <a:r>
              <a:rPr lang="en" sz="1200">
                <a:solidFill>
                  <a:schemeClr val="dk1"/>
                </a:solidFill>
                <a:latin typeface="Source Sans Pro"/>
                <a:ea typeface="Source Sans Pro"/>
                <a:cs typeface="Source Sans Pro"/>
                <a:sym typeface="Source Sans Pro"/>
              </a:rPr>
              <a:t>with wildly varying degrees of data formats and completeness across multiple systems</a:t>
            </a:r>
            <a:endParaRPr b="1" sz="1200">
              <a:solidFill>
                <a:schemeClr val="dk1"/>
              </a:solidFill>
              <a:latin typeface="Source Sans Pro"/>
              <a:ea typeface="Source Sans Pro"/>
              <a:cs typeface="Source Sans Pro"/>
              <a:sym typeface="Source Sans Pro"/>
            </a:endParaRPr>
          </a:p>
        </p:txBody>
      </p:sp>
      <p:sp>
        <p:nvSpPr>
          <p:cNvPr id="1090" name="Google Shape;1090;p95"/>
          <p:cNvSpPr txBox="1"/>
          <p:nvPr/>
        </p:nvSpPr>
        <p:spPr>
          <a:xfrm>
            <a:off x="3080200" y="1389075"/>
            <a:ext cx="3025500" cy="2383200"/>
          </a:xfrm>
          <a:prstGeom prst="rect">
            <a:avLst/>
          </a:prstGeom>
          <a:noFill/>
          <a:ln>
            <a:noFill/>
          </a:ln>
        </p:spPr>
        <p:txBody>
          <a:bodyPr anchorCtr="0" anchor="t" bIns="45700" lIns="91425" spcFirstLastPara="1" rIns="91425" wrap="square" tIns="45700">
            <a:noAutofit/>
          </a:bodyPr>
          <a:lstStyle/>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High-scale ML clustering of customer records </a:t>
            </a:r>
            <a:r>
              <a:rPr lang="en" sz="1200">
                <a:solidFill>
                  <a:schemeClr val="dk1"/>
                </a:solidFill>
                <a:latin typeface="Source Sans Pro"/>
                <a:ea typeface="Source Sans Pro"/>
                <a:cs typeface="Source Sans Pro"/>
                <a:sym typeface="Source Sans Pro"/>
              </a:rPr>
              <a:t>taking input and curation by human SMEs to train the model</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Multiple golden records created </a:t>
            </a:r>
            <a:r>
              <a:rPr lang="en" sz="1200">
                <a:solidFill>
                  <a:schemeClr val="dk1"/>
                </a:solidFill>
                <a:latin typeface="Source Sans Pro"/>
                <a:ea typeface="Source Sans Pro"/>
                <a:cs typeface="Source Sans Pro"/>
                <a:sym typeface="Source Sans Pro"/>
              </a:rPr>
              <a:t>with Hive DB integration and ability to cluster and create unified IDs at multiple levels </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Custom confidence level and manually adjustable output </a:t>
            </a:r>
            <a:r>
              <a:rPr lang="en" sz="1200">
                <a:solidFill>
                  <a:schemeClr val="dk1"/>
                </a:solidFill>
                <a:latin typeface="Source Sans Pro"/>
                <a:ea typeface="Source Sans Pro"/>
                <a:cs typeface="Source Sans Pro"/>
                <a:sym typeface="Source Sans Pro"/>
              </a:rPr>
              <a:t>to account for complicated business scenario and inconsistency</a:t>
            </a:r>
            <a:endParaRPr b="1" sz="1200">
              <a:solidFill>
                <a:schemeClr val="dk1"/>
              </a:solidFill>
              <a:latin typeface="Source Sans Pro"/>
              <a:ea typeface="Source Sans Pro"/>
              <a:cs typeface="Source Sans Pro"/>
              <a:sym typeface="Source Sans Pro"/>
            </a:endParaRPr>
          </a:p>
        </p:txBody>
      </p:sp>
      <p:pic>
        <p:nvPicPr>
          <p:cNvPr id="1091" name="Google Shape;1091;p95"/>
          <p:cNvPicPr preferRelativeResize="0"/>
          <p:nvPr/>
        </p:nvPicPr>
        <p:blipFill>
          <a:blip r:embed="rId3">
            <a:alphaModFix/>
          </a:blip>
          <a:stretch>
            <a:fillRect/>
          </a:stretch>
        </p:blipFill>
        <p:spPr>
          <a:xfrm>
            <a:off x="696161" y="1"/>
            <a:ext cx="1008778" cy="756600"/>
          </a:xfrm>
          <a:prstGeom prst="rect">
            <a:avLst/>
          </a:prstGeom>
          <a:noFill/>
          <a:ln>
            <a:noFill/>
          </a:ln>
        </p:spPr>
      </p:pic>
      <p:sp>
        <p:nvSpPr>
          <p:cNvPr id="1092" name="Google Shape;1092;p95"/>
          <p:cNvSpPr txBox="1"/>
          <p:nvPr/>
        </p:nvSpPr>
        <p:spPr>
          <a:xfrm>
            <a:off x="2628100" y="3987100"/>
            <a:ext cx="4857000" cy="63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Calibri"/>
              <a:buNone/>
            </a:pPr>
            <a:r>
              <a:rPr b="1" lang="en">
                <a:solidFill>
                  <a:schemeClr val="dk1"/>
                </a:solidFill>
                <a:latin typeface="Source Sans Pro"/>
                <a:ea typeface="Source Sans Pro"/>
                <a:cs typeface="Source Sans Pro"/>
                <a:sym typeface="Source Sans Pro"/>
              </a:rPr>
              <a:t>Effectively cutting regulatory reporting cycle </a:t>
            </a:r>
            <a:r>
              <a:rPr lang="en">
                <a:solidFill>
                  <a:schemeClr val="dk1"/>
                </a:solidFill>
                <a:latin typeface="Source Sans Pro"/>
                <a:ea typeface="Source Sans Pro"/>
                <a:cs typeface="Source Sans Pro"/>
                <a:sym typeface="Source Sans Pro"/>
              </a:rPr>
              <a:t>with improved risk management and customer experience</a:t>
            </a:r>
            <a:endParaRPr sz="1700">
              <a:solidFill>
                <a:schemeClr val="dk1"/>
              </a:solidFill>
              <a:latin typeface="Source Sans Pro"/>
              <a:ea typeface="Source Sans Pro"/>
              <a:cs typeface="Source Sans Pro"/>
              <a:sym typeface="Source Sans Pro"/>
            </a:endParaRPr>
          </a:p>
        </p:txBody>
      </p:sp>
      <p:sp>
        <p:nvSpPr>
          <p:cNvPr id="1093" name="Google Shape;1093;p95"/>
          <p:cNvSpPr/>
          <p:nvPr/>
        </p:nvSpPr>
        <p:spPr>
          <a:xfrm>
            <a:off x="1869636" y="3976507"/>
            <a:ext cx="671400" cy="664200"/>
          </a:xfrm>
          <a:prstGeom prst="ellipse">
            <a:avLst/>
          </a:prstGeom>
          <a:solidFill>
            <a:srgbClr val="EE23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4" name="Google Shape;1094;p95"/>
          <p:cNvPicPr preferRelativeResize="0"/>
          <p:nvPr/>
        </p:nvPicPr>
        <p:blipFill>
          <a:blip r:embed="rId4">
            <a:alphaModFix/>
          </a:blip>
          <a:stretch>
            <a:fillRect/>
          </a:stretch>
        </p:blipFill>
        <p:spPr>
          <a:xfrm>
            <a:off x="1869625" y="4038777"/>
            <a:ext cx="671449" cy="539559"/>
          </a:xfrm>
          <a:prstGeom prst="rect">
            <a:avLst/>
          </a:prstGeom>
          <a:noFill/>
          <a:ln>
            <a:noFill/>
          </a:ln>
        </p:spPr>
      </p:pic>
      <p:sp>
        <p:nvSpPr>
          <p:cNvPr id="1095" name="Google Shape;1095;p95"/>
          <p:cNvSpPr txBox="1"/>
          <p:nvPr/>
        </p:nvSpPr>
        <p:spPr>
          <a:xfrm>
            <a:off x="6178825" y="1389075"/>
            <a:ext cx="2829000" cy="2091300"/>
          </a:xfrm>
          <a:prstGeom prst="rect">
            <a:avLst/>
          </a:prstGeom>
          <a:noFill/>
          <a:ln>
            <a:noFill/>
          </a:ln>
        </p:spPr>
        <p:txBody>
          <a:bodyPr anchorCtr="0" anchor="t" bIns="45700" lIns="91425" spcFirstLastPara="1" rIns="91425" wrap="square" tIns="45700">
            <a:noAutofit/>
          </a:bodyPr>
          <a:lstStyle/>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Reduced risk of error, improved compliance by</a:t>
            </a:r>
            <a:r>
              <a:rPr b="1" lang="en" sz="1200">
                <a:solidFill>
                  <a:schemeClr val="dk1"/>
                </a:solidFill>
                <a:latin typeface="Source Sans Pro"/>
                <a:ea typeface="Source Sans Pro"/>
                <a:cs typeface="Source Sans Pro"/>
                <a:sym typeface="Source Sans Pro"/>
              </a:rPr>
              <a:t> mastering across 35 systems with ~4M entities </a:t>
            </a:r>
            <a:endParaRPr b="1"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Hierarchies for sales, risk and legal </a:t>
            </a:r>
            <a:r>
              <a:rPr lang="en" sz="1200">
                <a:solidFill>
                  <a:schemeClr val="dk1"/>
                </a:solidFill>
                <a:latin typeface="Source Sans Pro"/>
                <a:ea typeface="Source Sans Pro"/>
                <a:cs typeface="Source Sans Pro"/>
                <a:sym typeface="Source Sans Pro"/>
              </a:rPr>
              <a:t>enabled customized views at different levels depending on business needs</a:t>
            </a:r>
            <a:endParaRPr sz="1200">
              <a:solidFill>
                <a:schemeClr val="dk1"/>
              </a:solidFill>
              <a:latin typeface="Source Sans Pro"/>
              <a:ea typeface="Source Sans Pro"/>
              <a:cs typeface="Source Sans Pro"/>
              <a:sym typeface="Source Sans Pro"/>
            </a:endParaRPr>
          </a:p>
          <a:p>
            <a:pPr indent="0" lvl="0" marL="342900" marR="0" rtl="0" algn="l">
              <a:lnSpc>
                <a:spcPct val="100000"/>
              </a:lnSpc>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lnSpc>
                <a:spcPct val="100000"/>
              </a:lnSpc>
              <a:spcBef>
                <a:spcPts val="0"/>
              </a:spcBef>
              <a:spcAft>
                <a:spcPts val="0"/>
              </a:spcAft>
              <a:buClr>
                <a:schemeClr val="dk1"/>
              </a:buClr>
              <a:buSzPts val="900"/>
              <a:buChar char="•"/>
            </a:pPr>
            <a:r>
              <a:rPr lang="en" sz="1200">
                <a:solidFill>
                  <a:schemeClr val="dk1"/>
                </a:solidFill>
                <a:latin typeface="Source Sans Pro"/>
                <a:ea typeface="Source Sans Pro"/>
                <a:cs typeface="Source Sans Pro"/>
                <a:sym typeface="Source Sans Pro"/>
              </a:rPr>
              <a:t>Cutting time to required to </a:t>
            </a:r>
            <a:r>
              <a:rPr b="1" lang="en" sz="1200">
                <a:solidFill>
                  <a:schemeClr val="dk1"/>
                </a:solidFill>
                <a:latin typeface="Source Sans Pro"/>
                <a:ea typeface="Source Sans Pro"/>
                <a:cs typeface="Source Sans Pro"/>
                <a:sym typeface="Source Sans Pro"/>
              </a:rPr>
              <a:t>onboard a new system from months to days </a:t>
            </a:r>
            <a:r>
              <a:rPr lang="en" sz="1200">
                <a:solidFill>
                  <a:schemeClr val="dk1"/>
                </a:solidFill>
                <a:latin typeface="Source Sans Pro"/>
                <a:ea typeface="Source Sans Pro"/>
                <a:cs typeface="Source Sans Pro"/>
                <a:sym typeface="Source Sans Pro"/>
              </a:rPr>
              <a:t>with unified customer data kept up-to-date through daily remediation </a:t>
            </a:r>
            <a:endParaRPr b="1" sz="1200">
              <a:solidFill>
                <a:schemeClr val="dk1"/>
              </a:solidFill>
              <a:latin typeface="Source Sans Pro"/>
              <a:ea typeface="Source Sans Pro"/>
              <a:cs typeface="Source Sans Pro"/>
              <a:sym typeface="Source Sans Pro"/>
            </a:endParaRPr>
          </a:p>
        </p:txBody>
      </p:sp>
      <p:sp>
        <p:nvSpPr>
          <p:cNvPr id="1096" name="Google Shape;1096;p95"/>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097" name="Google Shape;1097;p95"/>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098" name="Google Shape;1098;p95"/>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sp>
        <p:nvSpPr>
          <p:cNvPr id="1099" name="Google Shape;1099;p95"/>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96"/>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
        <p:nvSpPr>
          <p:cNvPr id="1105" name="Google Shape;1105;p96"/>
          <p:cNvSpPr/>
          <p:nvPr/>
        </p:nvSpPr>
        <p:spPr>
          <a:xfrm>
            <a:off x="6009148" y="1496050"/>
            <a:ext cx="1404000" cy="1263900"/>
          </a:xfrm>
          <a:prstGeom prst="rect">
            <a:avLst/>
          </a:prstGeom>
          <a:solidFill>
            <a:srgbClr val="FF0000">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106" name="Google Shape;1106;p96"/>
          <p:cNvSpPr/>
          <p:nvPr/>
        </p:nvSpPr>
        <p:spPr>
          <a:xfrm>
            <a:off x="3022650" y="1557074"/>
            <a:ext cx="2790000" cy="1326300"/>
          </a:xfrm>
          <a:prstGeom prst="rect">
            <a:avLst/>
          </a:prstGeom>
          <a:solidFill>
            <a:srgbClr val="FF0000">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107" name="Google Shape;1107;p96"/>
          <p:cNvSpPr/>
          <p:nvPr/>
        </p:nvSpPr>
        <p:spPr>
          <a:xfrm>
            <a:off x="1128538" y="1302380"/>
            <a:ext cx="6667800" cy="354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108" name="Google Shape;1108;p96"/>
          <p:cNvSpPr/>
          <p:nvPr/>
        </p:nvSpPr>
        <p:spPr>
          <a:xfrm>
            <a:off x="1422138" y="1635918"/>
            <a:ext cx="1404000" cy="1274100"/>
          </a:xfrm>
          <a:prstGeom prst="rect">
            <a:avLst/>
          </a:prstGeom>
          <a:solidFill>
            <a:srgbClr val="FF0000">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109" name="Google Shape;1109;p96"/>
          <p:cNvSpPr/>
          <p:nvPr/>
        </p:nvSpPr>
        <p:spPr>
          <a:xfrm>
            <a:off x="1377420" y="2106604"/>
            <a:ext cx="1380600" cy="756600"/>
          </a:xfrm>
          <a:prstGeom prst="roundRect">
            <a:avLst>
              <a:gd fmla="val 16667" name="adj"/>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1" lang="en" sz="1000" u="none" cap="none" strike="noStrike">
                <a:solidFill>
                  <a:schemeClr val="dk1"/>
                </a:solidFill>
                <a:latin typeface="Source Sans Pro"/>
                <a:ea typeface="Source Sans Pro"/>
                <a:cs typeface="Source Sans Pro"/>
                <a:sym typeface="Source Sans Pro"/>
              </a:rPr>
              <a:t>Apache Hive DW </a:t>
            </a:r>
            <a:endParaRPr b="1" i="0"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0"/>
              </a:spcBef>
              <a:spcAft>
                <a:spcPts val="0"/>
              </a:spcAft>
              <a:buClr>
                <a:schemeClr val="dk1"/>
              </a:buClr>
              <a:buSzPts val="600"/>
              <a:buFont typeface="Source Sans Pro"/>
              <a:buChar char="•"/>
            </a:pPr>
            <a:r>
              <a:rPr i="1" lang="en" sz="800" u="none" cap="none" strike="noStrike">
                <a:solidFill>
                  <a:schemeClr val="dk1"/>
                </a:solidFill>
                <a:latin typeface="Source Sans Pro"/>
                <a:ea typeface="Source Sans Pro"/>
                <a:cs typeface="Source Sans Pro"/>
                <a:sym typeface="Source Sans Pro"/>
              </a:rPr>
              <a:t>Onboarding</a:t>
            </a:r>
            <a:endParaRPr i="0"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0"/>
              </a:spcBef>
              <a:spcAft>
                <a:spcPts val="0"/>
              </a:spcAft>
              <a:buClr>
                <a:schemeClr val="dk1"/>
              </a:buClr>
              <a:buSzPts val="600"/>
              <a:buFont typeface="Source Sans Pro"/>
              <a:buChar char="•"/>
            </a:pPr>
            <a:r>
              <a:rPr i="1" lang="en" sz="800" u="none" cap="none" strike="noStrike">
                <a:solidFill>
                  <a:schemeClr val="dk1"/>
                </a:solidFill>
                <a:latin typeface="Source Sans Pro"/>
                <a:ea typeface="Source Sans Pro"/>
                <a:cs typeface="Source Sans Pro"/>
                <a:sym typeface="Source Sans Pro"/>
              </a:rPr>
              <a:t>Transactions</a:t>
            </a:r>
            <a:endParaRPr i="0"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0"/>
              </a:spcBef>
              <a:spcAft>
                <a:spcPts val="0"/>
              </a:spcAft>
              <a:buClr>
                <a:schemeClr val="dk1"/>
              </a:buClr>
              <a:buSzPts val="600"/>
              <a:buFont typeface="Source Sans Pro"/>
              <a:buChar char="•"/>
            </a:pPr>
            <a:r>
              <a:rPr i="1" lang="en" sz="800" u="none" cap="none" strike="noStrike">
                <a:solidFill>
                  <a:schemeClr val="dk1"/>
                </a:solidFill>
                <a:latin typeface="Source Sans Pro"/>
                <a:ea typeface="Source Sans Pro"/>
                <a:cs typeface="Source Sans Pro"/>
                <a:sym typeface="Source Sans Pro"/>
              </a:rPr>
              <a:t>Reference data</a:t>
            </a:r>
            <a:endParaRPr i="0"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0"/>
              </a:spcBef>
              <a:spcAft>
                <a:spcPts val="0"/>
              </a:spcAft>
              <a:buClr>
                <a:schemeClr val="dk1"/>
              </a:buClr>
              <a:buSzPts val="600"/>
              <a:buFont typeface="Source Sans Pro"/>
              <a:buChar char="•"/>
            </a:pPr>
            <a:r>
              <a:rPr i="1" lang="en" sz="800" u="none" cap="none" strike="noStrike">
                <a:solidFill>
                  <a:schemeClr val="dk1"/>
                </a:solidFill>
                <a:latin typeface="Source Sans Pro"/>
                <a:ea typeface="Source Sans Pro"/>
                <a:cs typeface="Source Sans Pro"/>
                <a:sym typeface="Source Sans Pro"/>
              </a:rPr>
              <a:t>Funds, accounts</a:t>
            </a:r>
            <a:endParaRPr i="0" sz="1400" u="none" cap="none" strike="noStrike">
              <a:solidFill>
                <a:schemeClr val="dk1"/>
              </a:solidFill>
              <a:latin typeface="Source Sans Pro"/>
              <a:ea typeface="Source Sans Pro"/>
              <a:cs typeface="Source Sans Pro"/>
              <a:sym typeface="Source Sans Pro"/>
            </a:endParaRPr>
          </a:p>
        </p:txBody>
      </p:sp>
      <p:sp>
        <p:nvSpPr>
          <p:cNvPr id="1110" name="Google Shape;1110;p96"/>
          <p:cNvSpPr/>
          <p:nvPr/>
        </p:nvSpPr>
        <p:spPr>
          <a:xfrm>
            <a:off x="6009160" y="1219345"/>
            <a:ext cx="1553100" cy="255600"/>
          </a:xfrm>
          <a:prstGeom prst="chevron">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 sz="1400" u="none" cap="none" strike="noStrike">
                <a:solidFill>
                  <a:srgbClr val="C00000"/>
                </a:solidFill>
                <a:latin typeface="Source Sans Pro"/>
                <a:ea typeface="Source Sans Pro"/>
                <a:cs typeface="Source Sans Pro"/>
                <a:sym typeface="Source Sans Pro"/>
              </a:rPr>
              <a:t>Distribution</a:t>
            </a:r>
            <a:endParaRPr b="1" i="0" sz="1400" u="none" cap="none" strike="noStrike">
              <a:solidFill>
                <a:srgbClr val="C00000"/>
              </a:solidFill>
              <a:latin typeface="Source Sans Pro"/>
              <a:ea typeface="Source Sans Pro"/>
              <a:cs typeface="Source Sans Pro"/>
              <a:sym typeface="Source Sans Pro"/>
            </a:endParaRPr>
          </a:p>
        </p:txBody>
      </p:sp>
      <p:sp>
        <p:nvSpPr>
          <p:cNvPr id="1111" name="Google Shape;1111;p96"/>
          <p:cNvSpPr/>
          <p:nvPr/>
        </p:nvSpPr>
        <p:spPr>
          <a:xfrm>
            <a:off x="1350150" y="1200812"/>
            <a:ext cx="1548000" cy="255600"/>
          </a:xfrm>
          <a:prstGeom prst="homePlate">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 sz="1400" u="none" cap="none" strike="noStrike">
                <a:solidFill>
                  <a:srgbClr val="C00000"/>
                </a:solidFill>
                <a:latin typeface="Source Sans Pro"/>
                <a:ea typeface="Source Sans Pro"/>
                <a:cs typeface="Source Sans Pro"/>
                <a:sym typeface="Source Sans Pro"/>
              </a:rPr>
              <a:t>Data Sources</a:t>
            </a:r>
            <a:endParaRPr b="1" i="0" sz="1400" u="none" cap="none" strike="noStrike">
              <a:solidFill>
                <a:srgbClr val="C00000"/>
              </a:solidFill>
              <a:latin typeface="Source Sans Pro"/>
              <a:ea typeface="Source Sans Pro"/>
              <a:cs typeface="Source Sans Pro"/>
              <a:sym typeface="Source Sans Pro"/>
            </a:endParaRPr>
          </a:p>
        </p:txBody>
      </p:sp>
      <p:sp>
        <p:nvSpPr>
          <p:cNvPr id="1112" name="Google Shape;1112;p96"/>
          <p:cNvSpPr/>
          <p:nvPr/>
        </p:nvSpPr>
        <p:spPr>
          <a:xfrm>
            <a:off x="2994000" y="1190811"/>
            <a:ext cx="2919300" cy="305400"/>
          </a:xfrm>
          <a:prstGeom prst="chevron">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 sz="1400" u="none" cap="none" strike="noStrike">
                <a:solidFill>
                  <a:srgbClr val="C00000"/>
                </a:solidFill>
                <a:latin typeface="Source Sans Pro"/>
                <a:ea typeface="Source Sans Pro"/>
                <a:cs typeface="Source Sans Pro"/>
                <a:sym typeface="Source Sans Pro"/>
              </a:rPr>
              <a:t>Tamr </a:t>
            </a:r>
            <a:r>
              <a:rPr b="1" lang="en">
                <a:solidFill>
                  <a:srgbClr val="C00000"/>
                </a:solidFill>
                <a:latin typeface="Source Sans Pro"/>
                <a:ea typeface="Source Sans Pro"/>
                <a:cs typeface="Source Sans Pro"/>
                <a:sym typeface="Source Sans Pro"/>
              </a:rPr>
              <a:t>Data Mastering</a:t>
            </a:r>
            <a:endParaRPr b="1" i="0" sz="1400" u="none" cap="none" strike="noStrike">
              <a:solidFill>
                <a:srgbClr val="C00000"/>
              </a:solidFill>
              <a:latin typeface="Source Sans Pro"/>
              <a:ea typeface="Source Sans Pro"/>
              <a:cs typeface="Source Sans Pro"/>
              <a:sym typeface="Source Sans Pro"/>
            </a:endParaRPr>
          </a:p>
        </p:txBody>
      </p:sp>
      <p:sp>
        <p:nvSpPr>
          <p:cNvPr id="1113" name="Google Shape;1113;p96"/>
          <p:cNvSpPr txBox="1"/>
          <p:nvPr/>
        </p:nvSpPr>
        <p:spPr>
          <a:xfrm>
            <a:off x="790620" y="2975638"/>
            <a:ext cx="1967400" cy="3243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4" name="Google Shape;1114;p96"/>
          <p:cNvSpPr/>
          <p:nvPr/>
        </p:nvSpPr>
        <p:spPr>
          <a:xfrm>
            <a:off x="1000949" y="2883238"/>
            <a:ext cx="6833400" cy="254100"/>
          </a:xfrm>
          <a:prstGeom prst="rect">
            <a:avLst/>
          </a:prstGeom>
          <a:noFill/>
          <a:ln>
            <a:noFill/>
          </a:ln>
        </p:spPr>
        <p:txBody>
          <a:bodyPr anchorCtr="0" anchor="t" bIns="45700" lIns="91425" spcFirstLastPara="1" rIns="91425" wrap="square" tIns="45700">
            <a:noAutofit/>
          </a:bodyPr>
          <a:lstStyle/>
          <a:p>
            <a:pPr indent="0" lvl="2" marL="177800" marR="0" rtl="0" algn="ctr">
              <a:spcBef>
                <a:spcPts val="0"/>
              </a:spcBef>
              <a:spcAft>
                <a:spcPts val="0"/>
              </a:spcAft>
              <a:buNone/>
            </a:pPr>
            <a:r>
              <a:rPr b="1" i="1" lang="en" u="none" cap="none" strike="noStrike">
                <a:solidFill>
                  <a:schemeClr val="dk1"/>
                </a:solidFill>
                <a:latin typeface="Source Sans Pro"/>
                <a:ea typeface="Source Sans Pro"/>
                <a:cs typeface="Source Sans Pro"/>
                <a:sym typeface="Source Sans Pro"/>
              </a:rPr>
              <a:t>6 months from project kick-off to downstream consumption of certified results</a:t>
            </a:r>
            <a:endParaRPr b="1" i="0" sz="1700" u="none" cap="none" strike="noStrike">
              <a:solidFill>
                <a:schemeClr val="dk1"/>
              </a:solidFill>
            </a:endParaRPr>
          </a:p>
        </p:txBody>
      </p:sp>
      <p:cxnSp>
        <p:nvCxnSpPr>
          <p:cNvPr id="1115" name="Google Shape;1115;p96"/>
          <p:cNvCxnSpPr/>
          <p:nvPr/>
        </p:nvCxnSpPr>
        <p:spPr>
          <a:xfrm>
            <a:off x="7562250" y="3064538"/>
            <a:ext cx="457800" cy="1800"/>
          </a:xfrm>
          <a:prstGeom prst="straightConnector1">
            <a:avLst/>
          </a:prstGeom>
          <a:noFill/>
          <a:ln cap="flat" cmpd="sng" w="9525">
            <a:solidFill>
              <a:schemeClr val="dk1"/>
            </a:solidFill>
            <a:prstDash val="solid"/>
            <a:round/>
            <a:headEnd len="sm" w="sm" type="none"/>
            <a:tailEnd len="med" w="med" type="triangle"/>
          </a:ln>
        </p:spPr>
      </p:cxnSp>
      <p:sp>
        <p:nvSpPr>
          <p:cNvPr id="1116" name="Google Shape;1116;p96"/>
          <p:cNvSpPr/>
          <p:nvPr/>
        </p:nvSpPr>
        <p:spPr>
          <a:xfrm>
            <a:off x="2979350" y="1975651"/>
            <a:ext cx="952800" cy="756600"/>
          </a:xfrm>
          <a:prstGeom prst="roundRect">
            <a:avLst>
              <a:gd fmla="val 16667" name="adj"/>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 sz="1100">
                <a:solidFill>
                  <a:schemeClr val="dk1"/>
                </a:solidFill>
                <a:latin typeface="Source Sans Pro"/>
                <a:ea typeface="Source Sans Pro"/>
                <a:cs typeface="Source Sans Pro"/>
                <a:sym typeface="Source Sans Pro"/>
              </a:rPr>
              <a:t>S</a:t>
            </a:r>
            <a:r>
              <a:rPr b="1" lang="en" sz="1000">
                <a:solidFill>
                  <a:schemeClr val="dk1"/>
                </a:solidFill>
                <a:latin typeface="Source Sans Pro"/>
                <a:ea typeface="Source Sans Pro"/>
                <a:cs typeface="Source Sans Pro"/>
                <a:sym typeface="Source Sans Pro"/>
              </a:rPr>
              <a:t>chema </a:t>
            </a:r>
            <a:br>
              <a:rPr b="1" lang="en" sz="1000">
                <a:solidFill>
                  <a:schemeClr val="dk1"/>
                </a:solidFill>
                <a:latin typeface="Source Sans Pro"/>
                <a:ea typeface="Source Sans Pro"/>
                <a:cs typeface="Source Sans Pro"/>
                <a:sym typeface="Source Sans Pro"/>
              </a:rPr>
            </a:br>
            <a:r>
              <a:rPr b="1" lang="en" sz="1000">
                <a:solidFill>
                  <a:schemeClr val="dk1"/>
                </a:solidFill>
                <a:latin typeface="Source Sans Pro"/>
                <a:ea typeface="Source Sans Pro"/>
                <a:cs typeface="Source Sans Pro"/>
                <a:sym typeface="Source Sans Pro"/>
              </a:rPr>
              <a:t>Mapping</a:t>
            </a:r>
            <a:endParaRPr b="1" sz="12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1100">
                <a:solidFill>
                  <a:schemeClr val="dk1"/>
                </a:solidFill>
                <a:latin typeface="Source Sans Pro"/>
                <a:ea typeface="Source Sans Pro"/>
                <a:cs typeface="Source Sans Pro"/>
                <a:sym typeface="Source Sans Pro"/>
              </a:rPr>
              <a:t>C</a:t>
            </a:r>
            <a:r>
              <a:rPr lang="en" sz="1000">
                <a:solidFill>
                  <a:schemeClr val="dk1"/>
                </a:solidFill>
                <a:latin typeface="Source Sans Pro"/>
                <a:ea typeface="Source Sans Pro"/>
                <a:cs typeface="Source Sans Pro"/>
                <a:sym typeface="Source Sans Pro"/>
              </a:rPr>
              <a:t>onsolidate &amp; combine data sources</a:t>
            </a:r>
            <a:endParaRPr sz="10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b="1" sz="1200">
              <a:solidFill>
                <a:schemeClr val="dk1"/>
              </a:solidFill>
              <a:latin typeface="Lexend Deca"/>
              <a:ea typeface="Lexend Deca"/>
              <a:cs typeface="Lexend Deca"/>
              <a:sym typeface="Lexend Deca"/>
            </a:endParaRPr>
          </a:p>
        </p:txBody>
      </p:sp>
      <p:sp>
        <p:nvSpPr>
          <p:cNvPr id="1117" name="Google Shape;1117;p96"/>
          <p:cNvSpPr/>
          <p:nvPr/>
        </p:nvSpPr>
        <p:spPr>
          <a:xfrm>
            <a:off x="3828300" y="2105925"/>
            <a:ext cx="1178700" cy="1018500"/>
          </a:xfrm>
          <a:prstGeom prst="roundRect">
            <a:avLst>
              <a:gd fmla="val 16667" name="adj"/>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000">
                <a:solidFill>
                  <a:schemeClr val="dk1"/>
                </a:solidFill>
                <a:latin typeface="Source Sans Pro"/>
                <a:ea typeface="Source Sans Pro"/>
                <a:cs typeface="Source Sans Pro"/>
                <a:sym typeface="Source Sans Pro"/>
              </a:rPr>
              <a:t>Human-guided </a:t>
            </a:r>
            <a:endParaRPr b="1" sz="1000">
              <a:solidFill>
                <a:schemeClr val="dk1"/>
              </a:solidFill>
              <a:latin typeface="Source Sans Pro"/>
              <a:ea typeface="Source Sans Pro"/>
              <a:cs typeface="Source Sans Pro"/>
              <a:sym typeface="Source Sans Pro"/>
            </a:endParaRPr>
          </a:p>
          <a:p>
            <a:pPr indent="0" lvl="0" marL="0" marR="0" rtl="0" algn="ctr">
              <a:spcBef>
                <a:spcPts val="0"/>
              </a:spcBef>
              <a:spcAft>
                <a:spcPts val="0"/>
              </a:spcAft>
              <a:buNone/>
            </a:pPr>
            <a:r>
              <a:rPr b="1" lang="en" sz="1000">
                <a:solidFill>
                  <a:schemeClr val="dk1"/>
                </a:solidFill>
                <a:latin typeface="Source Sans Pro"/>
                <a:ea typeface="Source Sans Pro"/>
                <a:cs typeface="Source Sans Pro"/>
                <a:sym typeface="Source Sans Pro"/>
              </a:rPr>
              <a:t>machine learning</a:t>
            </a:r>
            <a:endParaRPr b="1" sz="1000">
              <a:solidFill>
                <a:schemeClr val="dk1"/>
              </a:solidFill>
              <a:latin typeface="Source Sans Pro"/>
              <a:ea typeface="Source Sans Pro"/>
              <a:cs typeface="Source Sans Pro"/>
              <a:sym typeface="Source Sans Pro"/>
            </a:endParaRPr>
          </a:p>
          <a:p>
            <a:pPr indent="0" lvl="0" marL="0" marR="0" rtl="0" algn="ctr">
              <a:spcBef>
                <a:spcPts val="0"/>
              </a:spcBef>
              <a:spcAft>
                <a:spcPts val="0"/>
              </a:spcAft>
              <a:buNone/>
            </a:pPr>
            <a:r>
              <a:t/>
            </a:r>
            <a:endParaRPr i="1" sz="1000">
              <a:solidFill>
                <a:schemeClr val="dk1"/>
              </a:solidFill>
            </a:endParaRPr>
          </a:p>
          <a:p>
            <a:pPr indent="0" lvl="0" marL="0" marR="0" rtl="0" algn="ctr">
              <a:spcBef>
                <a:spcPts val="0"/>
              </a:spcBef>
              <a:spcAft>
                <a:spcPts val="0"/>
              </a:spcAft>
              <a:buNone/>
            </a:pPr>
            <a:r>
              <a:t/>
            </a:r>
            <a:endParaRPr i="1" sz="1000">
              <a:solidFill>
                <a:schemeClr val="dk1"/>
              </a:solidFill>
            </a:endParaRPr>
          </a:p>
        </p:txBody>
      </p:sp>
      <p:sp>
        <p:nvSpPr>
          <p:cNvPr id="1118" name="Google Shape;1118;p96"/>
          <p:cNvSpPr/>
          <p:nvPr/>
        </p:nvSpPr>
        <p:spPr>
          <a:xfrm>
            <a:off x="4787300" y="2015748"/>
            <a:ext cx="1178700" cy="1018500"/>
          </a:xfrm>
          <a:prstGeom prst="roundRect">
            <a:avLst>
              <a:gd fmla="val 16667" name="adj"/>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 sz="1000">
                <a:solidFill>
                  <a:schemeClr val="dk1"/>
                </a:solidFill>
                <a:latin typeface="Source Sans Pro"/>
                <a:ea typeface="Source Sans Pro"/>
                <a:cs typeface="Source Sans Pro"/>
                <a:sym typeface="Source Sans Pro"/>
              </a:rPr>
              <a:t>Data </a:t>
            </a:r>
            <a:br>
              <a:rPr b="1" lang="en" sz="1000">
                <a:solidFill>
                  <a:schemeClr val="dk1"/>
                </a:solidFill>
                <a:latin typeface="Source Sans Pro"/>
                <a:ea typeface="Source Sans Pro"/>
                <a:cs typeface="Source Sans Pro"/>
                <a:sym typeface="Source Sans Pro"/>
              </a:rPr>
            </a:br>
            <a:r>
              <a:rPr b="1" lang="en" sz="1000">
                <a:solidFill>
                  <a:schemeClr val="dk1"/>
                </a:solidFill>
                <a:latin typeface="Source Sans Pro"/>
                <a:ea typeface="Source Sans Pro"/>
                <a:cs typeface="Source Sans Pro"/>
                <a:sym typeface="Source Sans Pro"/>
              </a:rPr>
              <a:t>Mastering</a:t>
            </a:r>
            <a:endParaRPr b="1" i="1" sz="1000">
              <a:solidFill>
                <a:schemeClr val="dk1"/>
              </a:solidFill>
              <a:latin typeface="Source Sans Pro"/>
              <a:ea typeface="Source Sans Pro"/>
              <a:cs typeface="Source Sans Pro"/>
              <a:sym typeface="Source Sans Pro"/>
            </a:endParaRPr>
          </a:p>
          <a:p>
            <a:pPr indent="0" lvl="0" marL="0" marR="0" rtl="0" algn="ctr">
              <a:spcBef>
                <a:spcPts val="0"/>
              </a:spcBef>
              <a:spcAft>
                <a:spcPts val="0"/>
              </a:spcAft>
              <a:buNone/>
            </a:pPr>
            <a:r>
              <a:rPr lang="en" sz="1000">
                <a:solidFill>
                  <a:schemeClr val="dk1"/>
                </a:solidFill>
                <a:latin typeface="Source Sans Pro"/>
                <a:ea typeface="Source Sans Pro"/>
                <a:cs typeface="Source Sans Pro"/>
                <a:sym typeface="Source Sans Pro"/>
              </a:rPr>
              <a:t>Accurate, up-to-date golden records</a:t>
            </a:r>
            <a:r>
              <a:rPr i="1" lang="en" sz="1000">
                <a:solidFill>
                  <a:schemeClr val="dk1"/>
                </a:solidFill>
              </a:rPr>
              <a:t> </a:t>
            </a:r>
            <a:endParaRPr b="0" i="1" sz="1000" u="none" cap="none" strike="noStrike">
              <a:solidFill>
                <a:schemeClr val="dk1"/>
              </a:solidFill>
              <a:latin typeface="Arial"/>
              <a:ea typeface="Arial"/>
              <a:cs typeface="Arial"/>
              <a:sym typeface="Arial"/>
            </a:endParaRPr>
          </a:p>
        </p:txBody>
      </p:sp>
      <p:sp>
        <p:nvSpPr>
          <p:cNvPr id="1119" name="Google Shape;1119;p96"/>
          <p:cNvSpPr/>
          <p:nvPr/>
        </p:nvSpPr>
        <p:spPr>
          <a:xfrm>
            <a:off x="6009142" y="1801681"/>
            <a:ext cx="1240800" cy="593700"/>
          </a:xfrm>
          <a:prstGeom prst="roundRect">
            <a:avLst>
              <a:gd fmla="val 16667" name="adj"/>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 sz="1000" u="none" cap="none" strike="noStrike">
                <a:solidFill>
                  <a:schemeClr val="dk1"/>
                </a:solidFill>
                <a:latin typeface="Source Sans Pro"/>
                <a:ea typeface="Source Sans Pro"/>
                <a:cs typeface="Source Sans Pro"/>
                <a:sym typeface="Source Sans Pro"/>
              </a:rPr>
              <a:t>Users</a:t>
            </a:r>
            <a:endParaRPr i="0"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300"/>
              </a:spcBef>
              <a:spcAft>
                <a:spcPts val="0"/>
              </a:spcAft>
              <a:buClr>
                <a:schemeClr val="dk1"/>
              </a:buClr>
              <a:buSzPts val="800"/>
              <a:buFont typeface="Source Sans Pro"/>
              <a:buChar char="o"/>
            </a:pPr>
            <a:r>
              <a:rPr i="1" lang="en" sz="1000" u="none" cap="none" strike="noStrike">
                <a:solidFill>
                  <a:schemeClr val="dk1"/>
                </a:solidFill>
                <a:latin typeface="Source Sans Pro"/>
                <a:ea typeface="Source Sans Pro"/>
                <a:cs typeface="Source Sans Pro"/>
                <a:sym typeface="Source Sans Pro"/>
              </a:rPr>
              <a:t>Onboarding</a:t>
            </a:r>
            <a:endParaRPr i="1"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300"/>
              </a:spcBef>
              <a:spcAft>
                <a:spcPts val="0"/>
              </a:spcAft>
              <a:buClr>
                <a:schemeClr val="dk1"/>
              </a:buClr>
              <a:buSzPts val="800"/>
              <a:buFont typeface="Source Sans Pro"/>
              <a:buChar char="o"/>
            </a:pPr>
            <a:r>
              <a:rPr i="1" lang="en" sz="1000" u="none" cap="none" strike="noStrike">
                <a:solidFill>
                  <a:schemeClr val="dk1"/>
                </a:solidFill>
                <a:latin typeface="Source Sans Pro"/>
                <a:ea typeface="Source Sans Pro"/>
                <a:cs typeface="Source Sans Pro"/>
                <a:sym typeface="Source Sans Pro"/>
              </a:rPr>
              <a:t>Compliance</a:t>
            </a:r>
            <a:endParaRPr i="1" sz="1400" u="none" cap="none" strike="noStrike">
              <a:solidFill>
                <a:schemeClr val="dk1"/>
              </a:solidFill>
              <a:latin typeface="Source Sans Pro"/>
              <a:ea typeface="Source Sans Pro"/>
              <a:cs typeface="Source Sans Pro"/>
              <a:sym typeface="Source Sans Pro"/>
            </a:endParaRPr>
          </a:p>
          <a:p>
            <a:pPr indent="-165100" lvl="0" marL="165100" marR="0" rtl="0" algn="l">
              <a:spcBef>
                <a:spcPts val="300"/>
              </a:spcBef>
              <a:spcAft>
                <a:spcPts val="0"/>
              </a:spcAft>
              <a:buClr>
                <a:schemeClr val="dk1"/>
              </a:buClr>
              <a:buSzPts val="800"/>
              <a:buFont typeface="Source Sans Pro"/>
              <a:buChar char="o"/>
            </a:pPr>
            <a:r>
              <a:rPr i="1" lang="en" sz="1000" u="none" cap="none" strike="noStrike">
                <a:solidFill>
                  <a:schemeClr val="dk1"/>
                </a:solidFill>
                <a:latin typeface="Source Sans Pro"/>
                <a:ea typeface="Source Sans Pro"/>
                <a:cs typeface="Source Sans Pro"/>
                <a:sym typeface="Source Sans Pro"/>
              </a:rPr>
              <a:t>Analytics</a:t>
            </a:r>
            <a:endParaRPr i="1" sz="800" u="none" cap="none" strike="noStrike">
              <a:solidFill>
                <a:schemeClr val="dk1"/>
              </a:solidFill>
              <a:latin typeface="Source Sans Pro"/>
              <a:ea typeface="Source Sans Pro"/>
              <a:cs typeface="Source Sans Pro"/>
              <a:sym typeface="Source Sans Pro"/>
            </a:endParaRPr>
          </a:p>
          <a:p>
            <a:pPr indent="0" lvl="0" marL="0" marR="0" rtl="0" algn="ctr">
              <a:spcBef>
                <a:spcPts val="300"/>
              </a:spcBef>
              <a:spcAft>
                <a:spcPts val="0"/>
              </a:spcAft>
              <a:buNone/>
            </a:pPr>
            <a:r>
              <a:t/>
            </a:r>
            <a:endParaRPr i="1" sz="1000" u="none" cap="none" strike="noStrike">
              <a:solidFill>
                <a:schemeClr val="dk1"/>
              </a:solidFill>
              <a:latin typeface="Source Sans Pro"/>
              <a:ea typeface="Source Sans Pro"/>
              <a:cs typeface="Source Sans Pro"/>
              <a:sym typeface="Source Sans Pro"/>
            </a:endParaRPr>
          </a:p>
        </p:txBody>
      </p:sp>
      <p:pic>
        <p:nvPicPr>
          <p:cNvPr id="1120" name="Google Shape;1120;p96"/>
          <p:cNvPicPr preferRelativeResize="0"/>
          <p:nvPr/>
        </p:nvPicPr>
        <p:blipFill rotWithShape="1">
          <a:blip r:embed="rId3">
            <a:alphaModFix/>
          </a:blip>
          <a:srcRect b="0" l="0" r="10531" t="0"/>
          <a:stretch/>
        </p:blipFill>
        <p:spPr>
          <a:xfrm>
            <a:off x="1887575" y="1709231"/>
            <a:ext cx="166602" cy="288000"/>
          </a:xfrm>
          <a:prstGeom prst="rect">
            <a:avLst/>
          </a:prstGeom>
          <a:noFill/>
          <a:ln>
            <a:noFill/>
          </a:ln>
        </p:spPr>
      </p:pic>
      <p:pic>
        <p:nvPicPr>
          <p:cNvPr id="1121" name="Google Shape;1121;p96"/>
          <p:cNvPicPr preferRelativeResize="0"/>
          <p:nvPr/>
        </p:nvPicPr>
        <p:blipFill rotWithShape="1">
          <a:blip r:embed="rId3">
            <a:alphaModFix/>
          </a:blip>
          <a:srcRect b="0" l="0" r="10531" t="0"/>
          <a:stretch/>
        </p:blipFill>
        <p:spPr>
          <a:xfrm>
            <a:off x="2227319" y="1709218"/>
            <a:ext cx="166602" cy="288000"/>
          </a:xfrm>
          <a:prstGeom prst="rect">
            <a:avLst/>
          </a:prstGeom>
          <a:noFill/>
          <a:ln>
            <a:noFill/>
          </a:ln>
        </p:spPr>
      </p:pic>
      <p:pic>
        <p:nvPicPr>
          <p:cNvPr id="1122" name="Google Shape;1122;p96"/>
          <p:cNvPicPr preferRelativeResize="0"/>
          <p:nvPr/>
        </p:nvPicPr>
        <p:blipFill rotWithShape="1">
          <a:blip r:embed="rId3">
            <a:alphaModFix/>
          </a:blip>
          <a:srcRect b="0" l="0" r="10531" t="0"/>
          <a:stretch/>
        </p:blipFill>
        <p:spPr>
          <a:xfrm>
            <a:off x="1547812" y="1706186"/>
            <a:ext cx="166602" cy="288000"/>
          </a:xfrm>
          <a:prstGeom prst="rect">
            <a:avLst/>
          </a:prstGeom>
          <a:noFill/>
          <a:ln>
            <a:noFill/>
          </a:ln>
        </p:spPr>
      </p:pic>
      <p:pic>
        <p:nvPicPr>
          <p:cNvPr id="1123" name="Google Shape;1123;p96"/>
          <p:cNvPicPr preferRelativeResize="0"/>
          <p:nvPr/>
        </p:nvPicPr>
        <p:blipFill rotWithShape="1">
          <a:blip r:embed="rId3">
            <a:alphaModFix/>
          </a:blip>
          <a:srcRect b="0" l="0" r="10531" t="0"/>
          <a:stretch/>
        </p:blipFill>
        <p:spPr>
          <a:xfrm>
            <a:off x="2592625" y="1709231"/>
            <a:ext cx="166602" cy="288000"/>
          </a:xfrm>
          <a:prstGeom prst="rect">
            <a:avLst/>
          </a:prstGeom>
          <a:noFill/>
          <a:ln>
            <a:noFill/>
          </a:ln>
        </p:spPr>
      </p:pic>
      <p:pic>
        <p:nvPicPr>
          <p:cNvPr id="1124" name="Google Shape;1124;p96"/>
          <p:cNvPicPr preferRelativeResize="0"/>
          <p:nvPr/>
        </p:nvPicPr>
        <p:blipFill rotWithShape="1">
          <a:blip r:embed="rId4">
            <a:alphaModFix/>
          </a:blip>
          <a:srcRect b="4132" l="0" r="5794" t="0"/>
          <a:stretch/>
        </p:blipFill>
        <p:spPr>
          <a:xfrm>
            <a:off x="7058993" y="2039048"/>
            <a:ext cx="324000" cy="403728"/>
          </a:xfrm>
          <a:prstGeom prst="rect">
            <a:avLst/>
          </a:prstGeom>
          <a:noFill/>
          <a:ln>
            <a:noFill/>
          </a:ln>
        </p:spPr>
      </p:pic>
      <p:sp>
        <p:nvSpPr>
          <p:cNvPr id="1125" name="Google Shape;1125;p96"/>
          <p:cNvSpPr txBox="1"/>
          <p:nvPr/>
        </p:nvSpPr>
        <p:spPr>
          <a:xfrm>
            <a:off x="-39525" y="3734150"/>
            <a:ext cx="9183600" cy="1409400"/>
          </a:xfrm>
          <a:prstGeom prst="rect">
            <a:avLst/>
          </a:prstGeom>
          <a:solidFill>
            <a:srgbClr val="EE232D"/>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t/>
            </a:r>
            <a:endParaRPr>
              <a:latin typeface="Source Sans Pro"/>
              <a:ea typeface="Source Sans Pro"/>
              <a:cs typeface="Source Sans Pro"/>
              <a:sym typeface="Source Sans Pro"/>
            </a:endParaRPr>
          </a:p>
        </p:txBody>
      </p:sp>
      <p:sp>
        <p:nvSpPr>
          <p:cNvPr id="1126" name="Google Shape;1126;p96"/>
          <p:cNvSpPr txBox="1"/>
          <p:nvPr/>
        </p:nvSpPr>
        <p:spPr>
          <a:xfrm>
            <a:off x="871500" y="3861800"/>
            <a:ext cx="3614100" cy="1018500"/>
          </a:xfrm>
          <a:prstGeom prst="rect">
            <a:avLst/>
          </a:prstGeom>
          <a:solidFill>
            <a:srgbClr val="EE232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Source Sans Pro"/>
                <a:ea typeface="Source Sans Pro"/>
                <a:cs typeface="Source Sans Pro"/>
                <a:sym typeface="Source Sans Pro"/>
              </a:rPr>
              <a:t>“We chose Tamr’s probabilistic machine learning model approach versu</a:t>
            </a:r>
            <a:r>
              <a:rPr lang="en">
                <a:solidFill>
                  <a:srgbClr val="FFFFFF"/>
                </a:solidFill>
                <a:latin typeface="Source Sans Pro"/>
                <a:ea typeface="Source Sans Pro"/>
                <a:cs typeface="Source Sans Pro"/>
                <a:sym typeface="Source Sans Pro"/>
              </a:rPr>
              <a:t>s</a:t>
            </a:r>
            <a:endParaRPr>
              <a:solidFill>
                <a:srgbClr val="FFFFFF"/>
              </a:solidFill>
              <a:latin typeface="Source Sans Pro"/>
              <a:ea typeface="Source Sans Pro"/>
              <a:cs typeface="Source Sans Pro"/>
              <a:sym typeface="Source Sans Pro"/>
            </a:endParaRPr>
          </a:p>
          <a:p>
            <a:pPr indent="0" lvl="0" marL="0" rtl="0" algn="ctr">
              <a:spcBef>
                <a:spcPts val="0"/>
              </a:spcBef>
              <a:spcAft>
                <a:spcPts val="0"/>
              </a:spcAft>
              <a:buNone/>
            </a:pPr>
            <a:r>
              <a:rPr lang="en">
                <a:solidFill>
                  <a:srgbClr val="FFFFFF"/>
                </a:solidFill>
                <a:latin typeface="Source Sans Pro"/>
                <a:ea typeface="Source Sans Pro"/>
                <a:cs typeface="Source Sans Pro"/>
                <a:sym typeface="Source Sans Pro"/>
              </a:rPr>
              <a:t> </a:t>
            </a:r>
            <a:r>
              <a:rPr lang="en">
                <a:solidFill>
                  <a:srgbClr val="FFFFFF"/>
                </a:solidFill>
                <a:latin typeface="Source Sans Pro"/>
                <a:ea typeface="Source Sans Pro"/>
                <a:cs typeface="Source Sans Pro"/>
                <a:sym typeface="Source Sans Pro"/>
              </a:rPr>
              <a:t>traditional rules-based as a way to accelerate project implementation.”</a:t>
            </a:r>
            <a:endParaRPr>
              <a:solidFill>
                <a:srgbClr val="FFFFFF"/>
              </a:solidFill>
            </a:endParaRPr>
          </a:p>
          <a:p>
            <a:pPr indent="0" lvl="0" marL="0" rtl="0" algn="ctr">
              <a:spcBef>
                <a:spcPts val="0"/>
              </a:spcBef>
              <a:spcAft>
                <a:spcPts val="0"/>
              </a:spcAft>
              <a:buNone/>
            </a:pPr>
            <a:r>
              <a:t/>
            </a:r>
            <a:endParaRPr>
              <a:latin typeface="Source Sans Pro"/>
              <a:ea typeface="Source Sans Pro"/>
              <a:cs typeface="Source Sans Pro"/>
              <a:sym typeface="Source Sans Pro"/>
            </a:endParaRPr>
          </a:p>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127" name="Google Shape;1127;p96"/>
          <p:cNvSpPr txBox="1"/>
          <p:nvPr/>
        </p:nvSpPr>
        <p:spPr>
          <a:xfrm>
            <a:off x="5239875" y="3926900"/>
            <a:ext cx="3355200" cy="984000"/>
          </a:xfrm>
          <a:prstGeom prst="rect">
            <a:avLst/>
          </a:prstGeom>
          <a:solidFill>
            <a:srgbClr val="EE232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FFFFFF"/>
                </a:solidFill>
                <a:latin typeface="Source Sans Pro"/>
                <a:ea typeface="Source Sans Pro"/>
                <a:cs typeface="Source Sans Pro"/>
                <a:sym typeface="Source Sans Pro"/>
              </a:rPr>
              <a:t>Dan Waldner</a:t>
            </a:r>
            <a:endParaRPr b="1" i="1">
              <a:solidFill>
                <a:srgbClr val="FFFFFF"/>
              </a:solidFill>
              <a:latin typeface="Source Sans Pro"/>
              <a:ea typeface="Source Sans Pro"/>
              <a:cs typeface="Source Sans Pro"/>
              <a:sym typeface="Source Sans Pro"/>
            </a:endParaRPr>
          </a:p>
          <a:p>
            <a:pPr indent="0" lvl="0" marL="0" rtl="0" algn="ctr">
              <a:spcBef>
                <a:spcPts val="600"/>
              </a:spcBef>
              <a:spcAft>
                <a:spcPts val="0"/>
              </a:spcAft>
              <a:buNone/>
            </a:pPr>
            <a:r>
              <a:rPr b="1" lang="en">
                <a:solidFill>
                  <a:srgbClr val="FFFFFF"/>
                </a:solidFill>
                <a:latin typeface="Source Sans Pro"/>
                <a:ea typeface="Source Sans Pro"/>
                <a:cs typeface="Source Sans Pro"/>
                <a:sym typeface="Source Sans Pro"/>
              </a:rPr>
              <a:t>Director of Customer Data,</a:t>
            </a:r>
            <a:endParaRPr b="1">
              <a:solidFill>
                <a:srgbClr val="FFFFFF"/>
              </a:solidFill>
              <a:latin typeface="Source Sans Pro"/>
              <a:ea typeface="Source Sans Pro"/>
              <a:cs typeface="Source Sans Pro"/>
              <a:sym typeface="Source Sans Pro"/>
            </a:endParaRPr>
          </a:p>
          <a:p>
            <a:pPr indent="0" lvl="0" marL="0" rtl="0" algn="ctr">
              <a:spcBef>
                <a:spcPts val="0"/>
              </a:spcBef>
              <a:spcAft>
                <a:spcPts val="0"/>
              </a:spcAft>
              <a:buNone/>
            </a:pPr>
            <a:r>
              <a:rPr b="1" lang="en">
                <a:solidFill>
                  <a:srgbClr val="FFFFFF"/>
                </a:solidFill>
                <a:latin typeface="Source Sans Pro"/>
                <a:ea typeface="Source Sans Pro"/>
                <a:cs typeface="Source Sans Pro"/>
                <a:sym typeface="Source Sans Pro"/>
              </a:rPr>
              <a:t>Scotiabank</a:t>
            </a:r>
            <a:endParaRPr b="1">
              <a:solidFill>
                <a:srgbClr val="FFFFFF"/>
              </a:solidFill>
              <a:latin typeface="Source Sans Pro"/>
              <a:ea typeface="Source Sans Pro"/>
              <a:cs typeface="Source Sans Pro"/>
              <a:sym typeface="Source Sans Pro"/>
            </a:endParaRPr>
          </a:p>
        </p:txBody>
      </p:sp>
      <p:sp>
        <p:nvSpPr>
          <p:cNvPr id="1128" name="Google Shape;1128;p96"/>
          <p:cNvSpPr/>
          <p:nvPr/>
        </p:nvSpPr>
        <p:spPr>
          <a:xfrm>
            <a:off x="0" y="0"/>
            <a:ext cx="9144000" cy="984000"/>
          </a:xfrm>
          <a:prstGeom prst="rect">
            <a:avLst/>
          </a:prstGeom>
          <a:solidFill>
            <a:srgbClr val="EE232D"/>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129" name="Google Shape;1129;p96"/>
          <p:cNvPicPr preferRelativeResize="0"/>
          <p:nvPr/>
        </p:nvPicPr>
        <p:blipFill>
          <a:blip r:embed="rId5">
            <a:alphaModFix/>
          </a:blip>
          <a:stretch>
            <a:fillRect/>
          </a:stretch>
        </p:blipFill>
        <p:spPr>
          <a:xfrm>
            <a:off x="696161" y="1"/>
            <a:ext cx="1008778" cy="756600"/>
          </a:xfrm>
          <a:prstGeom prst="rect">
            <a:avLst/>
          </a:prstGeom>
          <a:noFill/>
          <a:ln>
            <a:noFill/>
          </a:ln>
        </p:spPr>
      </p:pic>
      <p:sp>
        <p:nvSpPr>
          <p:cNvPr id="1130" name="Google Shape;1130;p96"/>
          <p:cNvSpPr txBox="1"/>
          <p:nvPr/>
        </p:nvSpPr>
        <p:spPr>
          <a:xfrm>
            <a:off x="1987525" y="0"/>
            <a:ext cx="6833400" cy="5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Font typeface="Arial"/>
              <a:buNone/>
            </a:pPr>
            <a:r>
              <a:rPr b="1" i="1" lang="en">
                <a:solidFill>
                  <a:schemeClr val="lt1"/>
                </a:solidFill>
                <a:latin typeface="Source Sans Pro"/>
                <a:ea typeface="Source Sans Pro"/>
                <a:cs typeface="Source Sans Pro"/>
                <a:sym typeface="Source Sans Pro"/>
              </a:rPr>
              <a:t>Use Case: Know-your-customer (KYC) </a:t>
            </a:r>
            <a:endParaRPr/>
          </a:p>
          <a:p>
            <a:pPr indent="0" lvl="0" marL="0" rtl="0" algn="l">
              <a:spcBef>
                <a:spcPts val="0"/>
              </a:spcBef>
              <a:spcAft>
                <a:spcPts val="0"/>
              </a:spcAft>
              <a:buClr>
                <a:srgbClr val="000000"/>
              </a:buClr>
              <a:buFont typeface="Arial"/>
              <a:buNone/>
            </a:pPr>
            <a:r>
              <a:rPr lang="en">
                <a:solidFill>
                  <a:schemeClr val="lt1"/>
                </a:solidFill>
                <a:latin typeface="Source Sans Pro"/>
                <a:ea typeface="Source Sans Pro"/>
                <a:cs typeface="Source Sans Pro"/>
                <a:sym typeface="Source Sans Pro"/>
              </a:rPr>
              <a:t>Enabled the bank to create a single profile of every customer across dozens of jurisdictions, providing the foundation for regulatory compliance and operational efficiency</a:t>
            </a:r>
            <a:endParaRPr>
              <a:latin typeface="Source Sans Pro"/>
              <a:ea typeface="Source Sans Pro"/>
              <a:cs typeface="Source Sans Pro"/>
              <a:sym typeface="Source Sans Pro"/>
            </a:endParaRPr>
          </a:p>
        </p:txBody>
      </p:sp>
      <p:cxnSp>
        <p:nvCxnSpPr>
          <p:cNvPr id="1131" name="Google Shape;1131;p96"/>
          <p:cNvCxnSpPr/>
          <p:nvPr/>
        </p:nvCxnSpPr>
        <p:spPr>
          <a:xfrm flipH="1">
            <a:off x="971650" y="3032511"/>
            <a:ext cx="457800" cy="1800"/>
          </a:xfrm>
          <a:prstGeom prst="straightConnector1">
            <a:avLst/>
          </a:prstGeom>
          <a:noFill/>
          <a:ln cap="flat" cmpd="sng" w="9525">
            <a:solidFill>
              <a:schemeClr val="dk1"/>
            </a:solidFill>
            <a:prstDash val="solid"/>
            <a:round/>
            <a:headEnd len="sm" w="sm" type="none"/>
            <a:tailEnd len="med" w="med" type="triangle"/>
          </a:ln>
          <a:effectLst>
            <a:reflection blurRad="0" dir="5400000" dist="38100" endA="0" endPos="30000" fadeDir="5400012" kx="0" rotWithShape="0" algn="bl" stPos="0" sy="-100000" ky="0"/>
          </a:effectLst>
        </p:spPr>
      </p:cxnSp>
      <p:pic>
        <p:nvPicPr>
          <p:cNvPr id="1132" name="Google Shape;1132;p96"/>
          <p:cNvPicPr preferRelativeResize="0"/>
          <p:nvPr/>
        </p:nvPicPr>
        <p:blipFill>
          <a:blip r:embed="rId6">
            <a:alphaModFix/>
          </a:blip>
          <a:stretch>
            <a:fillRect/>
          </a:stretch>
        </p:blipFill>
        <p:spPr>
          <a:xfrm>
            <a:off x="3238472" y="1676776"/>
            <a:ext cx="457802" cy="367889"/>
          </a:xfrm>
          <a:prstGeom prst="rect">
            <a:avLst/>
          </a:prstGeom>
          <a:noFill/>
          <a:ln>
            <a:noFill/>
          </a:ln>
        </p:spPr>
      </p:pic>
      <p:pic>
        <p:nvPicPr>
          <p:cNvPr id="1133" name="Google Shape;1133;p96"/>
          <p:cNvPicPr preferRelativeResize="0"/>
          <p:nvPr/>
        </p:nvPicPr>
        <p:blipFill>
          <a:blip r:embed="rId7">
            <a:alphaModFix/>
          </a:blip>
          <a:stretch>
            <a:fillRect/>
          </a:stretch>
        </p:blipFill>
        <p:spPr>
          <a:xfrm>
            <a:off x="4265398" y="1690452"/>
            <a:ext cx="324000" cy="486337"/>
          </a:xfrm>
          <a:prstGeom prst="rect">
            <a:avLst/>
          </a:prstGeom>
          <a:noFill/>
          <a:ln>
            <a:noFill/>
          </a:ln>
        </p:spPr>
      </p:pic>
      <p:pic>
        <p:nvPicPr>
          <p:cNvPr id="1134" name="Google Shape;1134;p96"/>
          <p:cNvPicPr preferRelativeResize="0"/>
          <p:nvPr/>
        </p:nvPicPr>
        <p:blipFill>
          <a:blip r:embed="rId6">
            <a:alphaModFix/>
          </a:blip>
          <a:stretch>
            <a:fillRect/>
          </a:stretch>
        </p:blipFill>
        <p:spPr>
          <a:xfrm>
            <a:off x="5158500" y="1699926"/>
            <a:ext cx="457802" cy="36788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97"/>
          <p:cNvSpPr/>
          <p:nvPr/>
        </p:nvSpPr>
        <p:spPr>
          <a:xfrm>
            <a:off x="0" y="0"/>
            <a:ext cx="9144000" cy="1252800"/>
          </a:xfrm>
          <a:prstGeom prst="rect">
            <a:avLst/>
          </a:prstGeom>
          <a:solidFill>
            <a:srgbClr val="C432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97"/>
          <p:cNvSpPr txBox="1"/>
          <p:nvPr/>
        </p:nvSpPr>
        <p:spPr>
          <a:xfrm>
            <a:off x="2971750" y="156150"/>
            <a:ext cx="6995100" cy="6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lt1"/>
                </a:solidFill>
                <a:latin typeface="Source Sans Pro"/>
                <a:ea typeface="Source Sans Pro"/>
                <a:cs typeface="Source Sans Pro"/>
                <a:sym typeface="Source Sans Pro"/>
              </a:rPr>
              <a:t>Use Case</a:t>
            </a:r>
            <a:r>
              <a:rPr b="1" lang="en" sz="2000">
                <a:solidFill>
                  <a:schemeClr val="lt1"/>
                </a:solidFill>
                <a:latin typeface="Source Sans Pro"/>
                <a:ea typeface="Source Sans Pro"/>
                <a:cs typeface="Source Sans Pro"/>
                <a:sym typeface="Source Sans Pro"/>
              </a:rPr>
              <a:t>: </a:t>
            </a:r>
            <a:r>
              <a:rPr b="1" lang="en" sz="2000">
                <a:solidFill>
                  <a:schemeClr val="lt1"/>
                </a:solidFill>
                <a:latin typeface="Source Sans Pro"/>
                <a:ea typeface="Source Sans Pro"/>
                <a:cs typeface="Source Sans Pro"/>
                <a:sym typeface="Source Sans Pro"/>
              </a:rPr>
              <a:t>Product Mastering</a:t>
            </a:r>
            <a:endParaRPr b="1" sz="20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2000">
                <a:solidFill>
                  <a:schemeClr val="lt1"/>
                </a:solidFill>
                <a:latin typeface="Source Sans Pro"/>
                <a:ea typeface="Source Sans Pro"/>
                <a:cs typeface="Source Sans Pro"/>
                <a:sym typeface="Source Sans Pro"/>
              </a:rPr>
              <a:t>Unified consumer product sales data to better understand consumer preferences and increase sales</a:t>
            </a:r>
            <a:endParaRPr b="1"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000">
              <a:solidFill>
                <a:srgbClr val="FFFFFF"/>
              </a:solidFill>
              <a:latin typeface="Source Sans Pro"/>
              <a:ea typeface="Source Sans Pro"/>
              <a:cs typeface="Source Sans Pro"/>
              <a:sym typeface="Source Sans Pro"/>
            </a:endParaRPr>
          </a:p>
        </p:txBody>
      </p:sp>
      <p:sp>
        <p:nvSpPr>
          <p:cNvPr id="1141" name="Google Shape;1141;p97"/>
          <p:cNvSpPr txBox="1"/>
          <p:nvPr/>
        </p:nvSpPr>
        <p:spPr>
          <a:xfrm>
            <a:off x="5256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Challenge</a:t>
            </a:r>
            <a:endParaRPr b="1" sz="1600">
              <a:solidFill>
                <a:schemeClr val="dk1"/>
              </a:solidFill>
              <a:latin typeface="Source Sans Pro"/>
              <a:ea typeface="Source Sans Pro"/>
              <a:cs typeface="Source Sans Pro"/>
              <a:sym typeface="Source Sans Pro"/>
            </a:endParaRPr>
          </a:p>
        </p:txBody>
      </p:sp>
      <p:sp>
        <p:nvSpPr>
          <p:cNvPr id="1142" name="Google Shape;1142;p97"/>
          <p:cNvSpPr txBox="1"/>
          <p:nvPr/>
        </p:nvSpPr>
        <p:spPr>
          <a:xfrm>
            <a:off x="36532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Solution</a:t>
            </a:r>
            <a:endParaRPr b="1" sz="1600">
              <a:solidFill>
                <a:schemeClr val="dk1"/>
              </a:solidFill>
              <a:latin typeface="Source Sans Pro"/>
              <a:ea typeface="Source Sans Pro"/>
              <a:cs typeface="Source Sans Pro"/>
              <a:sym typeface="Source Sans Pro"/>
            </a:endParaRPr>
          </a:p>
        </p:txBody>
      </p:sp>
      <p:sp>
        <p:nvSpPr>
          <p:cNvPr id="1143" name="Google Shape;1143;p97"/>
          <p:cNvSpPr txBox="1"/>
          <p:nvPr/>
        </p:nvSpPr>
        <p:spPr>
          <a:xfrm>
            <a:off x="7024500" y="1334597"/>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Outcomes</a:t>
            </a:r>
            <a:endParaRPr b="1" sz="1600">
              <a:solidFill>
                <a:schemeClr val="dk1"/>
              </a:solidFill>
              <a:latin typeface="Source Sans Pro"/>
              <a:ea typeface="Source Sans Pro"/>
              <a:cs typeface="Source Sans Pro"/>
              <a:sym typeface="Source Sans Pro"/>
            </a:endParaRPr>
          </a:p>
        </p:txBody>
      </p:sp>
      <p:cxnSp>
        <p:nvCxnSpPr>
          <p:cNvPr id="1144" name="Google Shape;1144;p97"/>
          <p:cNvCxnSpPr/>
          <p:nvPr/>
        </p:nvCxnSpPr>
        <p:spPr>
          <a:xfrm>
            <a:off x="28513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145" name="Google Shape;1145;p97"/>
          <p:cNvSpPr txBox="1"/>
          <p:nvPr/>
        </p:nvSpPr>
        <p:spPr>
          <a:xfrm>
            <a:off x="242500" y="1802000"/>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Lack of global view on consumer products </a:t>
            </a:r>
            <a:r>
              <a:rPr lang="en" sz="1200">
                <a:solidFill>
                  <a:schemeClr val="dk1"/>
                </a:solidFill>
                <a:latin typeface="Source Sans Pro"/>
                <a:ea typeface="Source Sans Pro"/>
                <a:cs typeface="Source Sans Pro"/>
                <a:sym typeface="Source Sans Pro"/>
              </a:rPr>
              <a:t>hindered sales and marketing opportunities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Breaking down data silos </a:t>
            </a:r>
            <a:r>
              <a:rPr lang="en" sz="1200">
                <a:solidFill>
                  <a:schemeClr val="dk1"/>
                </a:solidFill>
                <a:latin typeface="Source Sans Pro"/>
                <a:ea typeface="Source Sans Pro"/>
                <a:cs typeface="Source Sans Pro"/>
                <a:sym typeface="Source Sans Pro"/>
              </a:rPr>
              <a:t>and combining hundreds of product data sources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Manual approach to data mastering </a:t>
            </a:r>
            <a:r>
              <a:rPr lang="en" sz="1200">
                <a:solidFill>
                  <a:schemeClr val="dk1"/>
                </a:solidFill>
                <a:latin typeface="Source Sans Pro"/>
                <a:ea typeface="Source Sans Pro"/>
                <a:cs typeface="Source Sans Pro"/>
                <a:sym typeface="Source Sans Pro"/>
              </a:rPr>
              <a:t>proved time consuming</a:t>
            </a:r>
            <a:endParaRPr sz="1200">
              <a:solidFill>
                <a:schemeClr val="dk1"/>
              </a:solidFill>
              <a:latin typeface="Source Sans Pro"/>
              <a:ea typeface="Source Sans Pro"/>
              <a:cs typeface="Source Sans Pro"/>
              <a:sym typeface="Source Sans Pro"/>
            </a:endParaRPr>
          </a:p>
        </p:txBody>
      </p:sp>
      <p:sp>
        <p:nvSpPr>
          <p:cNvPr id="1146" name="Google Shape;1146;p97"/>
          <p:cNvSpPr txBox="1"/>
          <p:nvPr/>
        </p:nvSpPr>
        <p:spPr>
          <a:xfrm>
            <a:off x="3091038" y="1802000"/>
            <a:ext cx="2961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Source Sans Pro"/>
                <a:ea typeface="Source Sans Pro"/>
                <a:cs typeface="Source Sans Pro"/>
                <a:sym typeface="Source Sans Pro"/>
              </a:rPr>
              <a:t>Use machine learning</a:t>
            </a:r>
            <a:r>
              <a:rPr lang="en" sz="1200">
                <a:solidFill>
                  <a:schemeClr val="dk1"/>
                </a:solidFill>
                <a:latin typeface="Source Sans Pro"/>
                <a:ea typeface="Source Sans Pro"/>
                <a:cs typeface="Source Sans Pro"/>
                <a:sym typeface="Source Sans Pro"/>
              </a:rPr>
              <a:t> to master product data at scale and reduce manual work by thousands of hours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Create complete, or golden product records, </a:t>
            </a:r>
            <a:r>
              <a:rPr lang="en" sz="1200">
                <a:solidFill>
                  <a:schemeClr val="dk1"/>
                </a:solidFill>
                <a:latin typeface="Source Sans Pro"/>
                <a:ea typeface="Source Sans Pro"/>
                <a:cs typeface="Source Sans Pro"/>
                <a:sym typeface="Source Sans Pro"/>
              </a:rPr>
              <a:t>for granular product sales views across countries</a:t>
            </a:r>
            <a:endParaRPr sz="1200">
              <a:solidFill>
                <a:schemeClr val="dk1"/>
              </a:solidFill>
              <a:latin typeface="Source Sans Pro"/>
              <a:ea typeface="Source Sans Pro"/>
              <a:cs typeface="Source Sans Pro"/>
              <a:sym typeface="Source Sans Pro"/>
            </a:endParaRPr>
          </a:p>
        </p:txBody>
      </p:sp>
      <p:sp>
        <p:nvSpPr>
          <p:cNvPr id="1147" name="Google Shape;1147;p97"/>
          <p:cNvSpPr txBox="1"/>
          <p:nvPr/>
        </p:nvSpPr>
        <p:spPr>
          <a:xfrm>
            <a:off x="6661200" y="1802000"/>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Improved consumer product sales strategies</a:t>
            </a:r>
            <a:r>
              <a:rPr b="1" lang="en" sz="1200">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and marketing campaigns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Clr>
                <a:schemeClr val="dk1"/>
              </a:buClr>
              <a:buSzPts val="1100"/>
              <a:buFont typeface="Arial"/>
              <a:buNone/>
            </a:pPr>
            <a:r>
              <a:rPr b="1" lang="en" sz="1200">
                <a:solidFill>
                  <a:schemeClr val="dk1"/>
                </a:solidFill>
                <a:latin typeface="Source Sans Pro"/>
                <a:ea typeface="Source Sans Pro"/>
                <a:cs typeface="Source Sans Pro"/>
                <a:sym typeface="Source Sans Pro"/>
              </a:rPr>
              <a:t>Realized cost savings</a:t>
            </a:r>
            <a:r>
              <a:rPr lang="en" sz="1200">
                <a:solidFill>
                  <a:schemeClr val="dk1"/>
                </a:solidFill>
                <a:latin typeface="Source Sans Pro"/>
                <a:ea typeface="Source Sans Pro"/>
                <a:cs typeface="Source Sans Pro"/>
                <a:sym typeface="Source Sans Pro"/>
              </a:rPr>
              <a:t> by replacing manual processes</a:t>
            </a:r>
            <a:endParaRPr sz="13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Generated better visibility into global product base </a:t>
            </a:r>
            <a:r>
              <a:rPr lang="en" sz="1200">
                <a:solidFill>
                  <a:schemeClr val="dk1"/>
                </a:solidFill>
                <a:latin typeface="Source Sans Pro"/>
                <a:ea typeface="Source Sans Pro"/>
                <a:cs typeface="Source Sans Pro"/>
                <a:sym typeface="Source Sans Pro"/>
              </a:rPr>
              <a:t>by leveraging mastered product data</a:t>
            </a:r>
            <a:endParaRPr sz="1200">
              <a:solidFill>
                <a:schemeClr val="dk1"/>
              </a:solidFill>
              <a:latin typeface="Source Sans Pro"/>
              <a:ea typeface="Source Sans Pro"/>
              <a:cs typeface="Source Sans Pro"/>
              <a:sym typeface="Source Sans Pro"/>
            </a:endParaRPr>
          </a:p>
        </p:txBody>
      </p:sp>
      <p:cxnSp>
        <p:nvCxnSpPr>
          <p:cNvPr id="1148" name="Google Shape;1148;p97"/>
          <p:cNvCxnSpPr/>
          <p:nvPr/>
        </p:nvCxnSpPr>
        <p:spPr>
          <a:xfrm>
            <a:off x="62786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149" name="Google Shape;1149;p97"/>
          <p:cNvSpPr txBox="1"/>
          <p:nvPr/>
        </p:nvSpPr>
        <p:spPr>
          <a:xfrm>
            <a:off x="2383697" y="4261225"/>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Boosted sales and improved marketing opportunities with a global view of consumer product sales</a:t>
            </a:r>
            <a:endParaRPr>
              <a:solidFill>
                <a:schemeClr val="dk1"/>
              </a:solidFill>
              <a:latin typeface="Source Sans Pro"/>
              <a:ea typeface="Source Sans Pro"/>
              <a:cs typeface="Source Sans Pro"/>
              <a:sym typeface="Source Sans Pro"/>
            </a:endParaRPr>
          </a:p>
        </p:txBody>
      </p:sp>
      <p:pic>
        <p:nvPicPr>
          <p:cNvPr id="1150" name="Google Shape;1150;p97"/>
          <p:cNvPicPr preferRelativeResize="0"/>
          <p:nvPr/>
        </p:nvPicPr>
        <p:blipFill>
          <a:blip r:embed="rId3">
            <a:alphaModFix/>
          </a:blip>
          <a:stretch>
            <a:fillRect/>
          </a:stretch>
        </p:blipFill>
        <p:spPr>
          <a:xfrm>
            <a:off x="224963" y="394685"/>
            <a:ext cx="2438975" cy="463425"/>
          </a:xfrm>
          <a:prstGeom prst="rect">
            <a:avLst/>
          </a:prstGeom>
          <a:noFill/>
          <a:ln>
            <a:noFill/>
          </a:ln>
        </p:spPr>
      </p:pic>
      <p:pic>
        <p:nvPicPr>
          <p:cNvPr id="1151" name="Google Shape;1151;p97"/>
          <p:cNvPicPr preferRelativeResize="0"/>
          <p:nvPr/>
        </p:nvPicPr>
        <p:blipFill>
          <a:blip r:embed="rId4">
            <a:alphaModFix/>
          </a:blip>
          <a:stretch>
            <a:fillRect/>
          </a:stretch>
        </p:blipFill>
        <p:spPr>
          <a:xfrm>
            <a:off x="1600100" y="4261223"/>
            <a:ext cx="783592" cy="629698"/>
          </a:xfrm>
          <a:prstGeom prst="rect">
            <a:avLst/>
          </a:prstGeom>
          <a:noFill/>
          <a:ln>
            <a:noFill/>
          </a:ln>
        </p:spPr>
      </p:pic>
      <p:pic>
        <p:nvPicPr>
          <p:cNvPr id="1152" name="Google Shape;1152;p97"/>
          <p:cNvPicPr preferRelativeResize="0"/>
          <p:nvPr/>
        </p:nvPicPr>
        <p:blipFill>
          <a:blip r:embed="rId5">
            <a:alphaModFix/>
          </a:blip>
          <a:stretch>
            <a:fillRect/>
          </a:stretch>
        </p:blipFill>
        <p:spPr>
          <a:xfrm>
            <a:off x="7409300" y="4177800"/>
            <a:ext cx="1297224" cy="681050"/>
          </a:xfrm>
          <a:prstGeom prst="rect">
            <a:avLst/>
          </a:prstGeom>
          <a:noFill/>
          <a:ln>
            <a:noFill/>
          </a:ln>
        </p:spPr>
      </p:pic>
      <p:sp>
        <p:nvSpPr>
          <p:cNvPr id="1153" name="Google Shape;1153;p97"/>
          <p:cNvSpPr txBox="1"/>
          <p:nvPr/>
        </p:nvSpPr>
        <p:spPr>
          <a:xfrm>
            <a:off x="3190275" y="3271650"/>
            <a:ext cx="274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urce Sans Pro"/>
                <a:ea typeface="Source Sans Pro"/>
                <a:cs typeface="Source Sans Pro"/>
                <a:sym typeface="Source Sans Pro"/>
              </a:rPr>
              <a:t>Establish an </a:t>
            </a:r>
            <a:r>
              <a:rPr b="1" lang="en" sz="1200">
                <a:solidFill>
                  <a:schemeClr val="dk1"/>
                </a:solidFill>
                <a:latin typeface="Source Sans Pro"/>
                <a:ea typeface="Source Sans Pro"/>
                <a:cs typeface="Source Sans Pro"/>
                <a:sym typeface="Source Sans Pro"/>
              </a:rPr>
              <a:t>automated, repeatable process </a:t>
            </a:r>
            <a:r>
              <a:rPr lang="en" sz="1200">
                <a:solidFill>
                  <a:schemeClr val="dk1"/>
                </a:solidFill>
                <a:latin typeface="Source Sans Pro"/>
                <a:ea typeface="Source Sans Pro"/>
                <a:cs typeface="Source Sans Pro"/>
                <a:sym typeface="Source Sans Pro"/>
              </a:rPr>
              <a:t>for rapidly onboarding new data sources</a:t>
            </a:r>
            <a:endParaRPr>
              <a:latin typeface="Source Sans Pro"/>
              <a:ea typeface="Source Sans Pro"/>
              <a:cs typeface="Source Sans Pro"/>
              <a:sym typeface="Source Sans Pro"/>
            </a:endParaRPr>
          </a:p>
        </p:txBody>
      </p:sp>
      <p:sp>
        <p:nvSpPr>
          <p:cNvPr id="1154" name="Google Shape;1154;p97"/>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98"/>
          <p:cNvSpPr/>
          <p:nvPr/>
        </p:nvSpPr>
        <p:spPr>
          <a:xfrm>
            <a:off x="0" y="0"/>
            <a:ext cx="9144000" cy="1252800"/>
          </a:xfrm>
          <a:prstGeom prst="rect">
            <a:avLst/>
          </a:prstGeom>
          <a:solidFill>
            <a:srgbClr val="DB44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98"/>
          <p:cNvSpPr txBox="1"/>
          <p:nvPr/>
        </p:nvSpPr>
        <p:spPr>
          <a:xfrm>
            <a:off x="2851300" y="156150"/>
            <a:ext cx="71154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lt1"/>
                </a:solidFill>
                <a:latin typeface="Source Sans Pro"/>
                <a:ea typeface="Source Sans Pro"/>
                <a:cs typeface="Source Sans Pro"/>
                <a:sym typeface="Source Sans Pro"/>
              </a:rPr>
              <a:t>Use Case</a:t>
            </a:r>
            <a:r>
              <a:rPr b="1" lang="en" sz="2000">
                <a:solidFill>
                  <a:schemeClr val="lt1"/>
                </a:solidFill>
                <a:latin typeface="Source Sans Pro"/>
                <a:ea typeface="Source Sans Pro"/>
                <a:cs typeface="Source Sans Pro"/>
                <a:sym typeface="Source Sans Pro"/>
              </a:rPr>
              <a:t>: </a:t>
            </a:r>
            <a:r>
              <a:rPr b="1" lang="en" sz="2000">
                <a:solidFill>
                  <a:schemeClr val="lt1"/>
                </a:solidFill>
                <a:latin typeface="Source Sans Pro"/>
                <a:ea typeface="Source Sans Pro"/>
                <a:cs typeface="Source Sans Pro"/>
                <a:sym typeface="Source Sans Pro"/>
              </a:rPr>
              <a:t>Spend Optimization</a:t>
            </a:r>
            <a:endParaRPr b="1" sz="20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2000">
                <a:solidFill>
                  <a:srgbClr val="FFFFFF"/>
                </a:solidFill>
                <a:latin typeface="Source Sans Pro"/>
                <a:ea typeface="Source Sans Pro"/>
                <a:cs typeface="Source Sans Pro"/>
                <a:sym typeface="Source Sans Pro"/>
              </a:rPr>
              <a:t>Better manage global spend by increasing the accuracy of </a:t>
            </a:r>
            <a:endParaRPr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sz="2000">
                <a:solidFill>
                  <a:srgbClr val="FFFFFF"/>
                </a:solidFill>
                <a:latin typeface="Source Sans Pro"/>
                <a:ea typeface="Source Sans Pro"/>
                <a:cs typeface="Source Sans Pro"/>
                <a:sym typeface="Source Sans Pro"/>
              </a:rPr>
              <a:t>spend classification data </a:t>
            </a:r>
            <a:endParaRPr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6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000">
              <a:solidFill>
                <a:srgbClr val="FFFFFF"/>
              </a:solidFill>
              <a:latin typeface="Source Sans Pro"/>
              <a:ea typeface="Source Sans Pro"/>
              <a:cs typeface="Source Sans Pro"/>
              <a:sym typeface="Source Sans Pro"/>
            </a:endParaRPr>
          </a:p>
        </p:txBody>
      </p:sp>
      <p:sp>
        <p:nvSpPr>
          <p:cNvPr id="1161" name="Google Shape;1161;p98"/>
          <p:cNvSpPr txBox="1"/>
          <p:nvPr/>
        </p:nvSpPr>
        <p:spPr>
          <a:xfrm>
            <a:off x="5256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Challenge</a:t>
            </a:r>
            <a:endParaRPr b="1" sz="1600">
              <a:solidFill>
                <a:schemeClr val="dk1"/>
              </a:solidFill>
              <a:latin typeface="Source Sans Pro"/>
              <a:ea typeface="Source Sans Pro"/>
              <a:cs typeface="Source Sans Pro"/>
              <a:sym typeface="Source Sans Pro"/>
            </a:endParaRPr>
          </a:p>
        </p:txBody>
      </p:sp>
      <p:sp>
        <p:nvSpPr>
          <p:cNvPr id="1162" name="Google Shape;1162;p98"/>
          <p:cNvSpPr txBox="1"/>
          <p:nvPr/>
        </p:nvSpPr>
        <p:spPr>
          <a:xfrm>
            <a:off x="36532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Solution</a:t>
            </a:r>
            <a:endParaRPr b="1" sz="1600">
              <a:solidFill>
                <a:schemeClr val="dk1"/>
              </a:solidFill>
              <a:latin typeface="Source Sans Pro"/>
              <a:ea typeface="Source Sans Pro"/>
              <a:cs typeface="Source Sans Pro"/>
              <a:sym typeface="Source Sans Pro"/>
            </a:endParaRPr>
          </a:p>
        </p:txBody>
      </p:sp>
      <p:sp>
        <p:nvSpPr>
          <p:cNvPr id="1163" name="Google Shape;1163;p98"/>
          <p:cNvSpPr txBox="1"/>
          <p:nvPr/>
        </p:nvSpPr>
        <p:spPr>
          <a:xfrm>
            <a:off x="7024500" y="1334597"/>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Outcomes</a:t>
            </a:r>
            <a:endParaRPr b="1" sz="1600">
              <a:solidFill>
                <a:schemeClr val="dk1"/>
              </a:solidFill>
              <a:latin typeface="Source Sans Pro"/>
              <a:ea typeface="Source Sans Pro"/>
              <a:cs typeface="Source Sans Pro"/>
              <a:sym typeface="Source Sans Pro"/>
            </a:endParaRPr>
          </a:p>
        </p:txBody>
      </p:sp>
      <p:cxnSp>
        <p:nvCxnSpPr>
          <p:cNvPr id="1164" name="Google Shape;1164;p98"/>
          <p:cNvCxnSpPr/>
          <p:nvPr/>
        </p:nvCxnSpPr>
        <p:spPr>
          <a:xfrm>
            <a:off x="28513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165" name="Google Shape;1165;p98"/>
          <p:cNvSpPr txBox="1"/>
          <p:nvPr/>
        </p:nvSpPr>
        <p:spPr>
          <a:xfrm>
            <a:off x="242500" y="1802000"/>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Spend data came from 75 ERP systems and prevented classification </a:t>
            </a:r>
            <a:r>
              <a:rPr lang="en" sz="1200">
                <a:solidFill>
                  <a:schemeClr val="dk1"/>
                </a:solidFill>
                <a:latin typeface="Source Sans Pro"/>
                <a:ea typeface="Source Sans Pro"/>
                <a:cs typeface="Source Sans Pro"/>
                <a:sym typeface="Source Sans Pro"/>
              </a:rPr>
              <a:t>at a granular level</a:t>
            </a:r>
            <a:r>
              <a:rPr lang="en" sz="1200">
                <a:solidFill>
                  <a:schemeClr val="dk1"/>
                </a:solidFill>
                <a:latin typeface="Source Sans Pro"/>
                <a:ea typeface="Source Sans Pro"/>
                <a:cs typeface="Source Sans Pro"/>
                <a:sym typeface="Source Sans Pro"/>
              </a:rPr>
              <a:t>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Rules-based system required management and maintenance </a:t>
            </a:r>
            <a:r>
              <a:rPr lang="en" sz="1200">
                <a:solidFill>
                  <a:schemeClr val="dk1"/>
                </a:solidFill>
                <a:latin typeface="Source Sans Pro"/>
                <a:ea typeface="Source Sans Pro"/>
                <a:cs typeface="Source Sans Pro"/>
                <a:sym typeface="Source Sans Pro"/>
              </a:rPr>
              <a:t>of 300,000 rules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Data quality issues</a:t>
            </a:r>
            <a:r>
              <a:rPr lang="en" sz="1200">
                <a:solidFill>
                  <a:schemeClr val="dk1"/>
                </a:solidFill>
                <a:latin typeface="Source Sans Pro"/>
                <a:ea typeface="Source Sans Pro"/>
                <a:cs typeface="Source Sans Pro"/>
                <a:sym typeface="Source Sans Pro"/>
              </a:rPr>
              <a:t> made obtaining accurately classified spend data difficult</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p:txBody>
      </p:sp>
      <p:sp>
        <p:nvSpPr>
          <p:cNvPr id="1166" name="Google Shape;1166;p98"/>
          <p:cNvSpPr txBox="1"/>
          <p:nvPr/>
        </p:nvSpPr>
        <p:spPr>
          <a:xfrm>
            <a:off x="3161963" y="1802000"/>
            <a:ext cx="2961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Machine learning enables continuous improvement of spend data</a:t>
            </a:r>
            <a:r>
              <a:rPr lang="en" sz="1200">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with minimal overhead and manual effort</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lnSpc>
                <a:spcPct val="115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lnSpc>
                <a:spcPct val="115000"/>
              </a:lnSpc>
              <a:spcBef>
                <a:spcPts val="0"/>
              </a:spcBef>
              <a:spcAft>
                <a:spcPts val="0"/>
              </a:spcAft>
              <a:buNone/>
            </a:pPr>
            <a:r>
              <a:rPr b="1" lang="en" sz="1200">
                <a:solidFill>
                  <a:schemeClr val="dk1"/>
                </a:solidFill>
                <a:latin typeface="Source Sans Pro"/>
                <a:ea typeface="Source Sans Pro"/>
                <a:cs typeface="Source Sans Pro"/>
                <a:sym typeface="Source Sans Pro"/>
              </a:rPr>
              <a:t>Provide trusted data to visualization tools</a:t>
            </a:r>
            <a:r>
              <a:rPr lang="en" sz="1200">
                <a:solidFill>
                  <a:schemeClr val="dk1"/>
                </a:solidFill>
                <a:latin typeface="Source Sans Pro"/>
                <a:ea typeface="Source Sans Pro"/>
                <a:cs typeface="Source Sans Pro"/>
                <a:sym typeface="Source Sans Pro"/>
              </a:rPr>
              <a:t> to improve effectiveness of spend analytics</a:t>
            </a:r>
            <a:endParaRPr sz="1200">
              <a:solidFill>
                <a:schemeClr val="dk1"/>
              </a:solidFill>
              <a:latin typeface="Source Sans Pro"/>
              <a:ea typeface="Source Sans Pro"/>
              <a:cs typeface="Source Sans Pro"/>
              <a:sym typeface="Source Sans Pro"/>
            </a:endParaRPr>
          </a:p>
        </p:txBody>
      </p:sp>
      <p:sp>
        <p:nvSpPr>
          <p:cNvPr id="1167" name="Google Shape;1167;p98"/>
          <p:cNvSpPr txBox="1"/>
          <p:nvPr/>
        </p:nvSpPr>
        <p:spPr>
          <a:xfrm>
            <a:off x="6661200" y="1802000"/>
            <a:ext cx="2403900" cy="27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Better visibility into billions of dollars</a:t>
            </a:r>
            <a:r>
              <a:rPr lang="en" sz="1200">
                <a:solidFill>
                  <a:schemeClr val="dk1"/>
                </a:solidFill>
                <a:latin typeface="Source Sans Pro"/>
                <a:ea typeface="Source Sans Pro"/>
                <a:cs typeface="Source Sans Pro"/>
                <a:sym typeface="Source Sans Pro"/>
              </a:rPr>
              <a:t> of annual spend across the organization</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chemeClr val="dk1"/>
                </a:solidFill>
                <a:latin typeface="Source Sans Pro"/>
                <a:ea typeface="Source Sans Pro"/>
                <a:cs typeface="Source Sans Pro"/>
                <a:sym typeface="Source Sans Pro"/>
              </a:rPr>
              <a:t>Delivered more granular and accurate </a:t>
            </a:r>
            <a:r>
              <a:rPr b="1" lang="en" sz="1200">
                <a:solidFill>
                  <a:schemeClr val="dk1"/>
                </a:solidFill>
                <a:latin typeface="Source Sans Pro"/>
                <a:ea typeface="Source Sans Pro"/>
                <a:cs typeface="Source Sans Pro"/>
                <a:sym typeface="Source Sans Pro"/>
              </a:rPr>
              <a:t>spend data in 3.5 months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Drive common sourcing strategies</a:t>
            </a:r>
            <a:r>
              <a:rPr lang="en" sz="1200">
                <a:solidFill>
                  <a:schemeClr val="dk1"/>
                </a:solidFill>
                <a:latin typeface="Source Sans Pro"/>
                <a:ea typeface="Source Sans Pro"/>
                <a:cs typeface="Source Sans Pro"/>
                <a:sym typeface="Source Sans Pro"/>
              </a:rPr>
              <a:t> across groups for better pricing</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p:txBody>
      </p:sp>
      <p:cxnSp>
        <p:nvCxnSpPr>
          <p:cNvPr id="1168" name="Google Shape;1168;p98"/>
          <p:cNvCxnSpPr/>
          <p:nvPr/>
        </p:nvCxnSpPr>
        <p:spPr>
          <a:xfrm>
            <a:off x="62786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169" name="Google Shape;1169;p98"/>
          <p:cNvSpPr txBox="1"/>
          <p:nvPr/>
        </p:nvSpPr>
        <p:spPr>
          <a:xfrm>
            <a:off x="2781197" y="4261225"/>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Delivered more granular and accurate spend data in 3.5 months</a:t>
            </a:r>
            <a:endParaRPr>
              <a:solidFill>
                <a:schemeClr val="dk1"/>
              </a:solidFill>
              <a:latin typeface="Source Sans Pro"/>
              <a:ea typeface="Source Sans Pro"/>
              <a:cs typeface="Source Sans Pro"/>
              <a:sym typeface="Source Sans Pro"/>
            </a:endParaRPr>
          </a:p>
        </p:txBody>
      </p:sp>
      <p:pic>
        <p:nvPicPr>
          <p:cNvPr id="1170" name="Google Shape;1170;p98"/>
          <p:cNvPicPr preferRelativeResize="0"/>
          <p:nvPr/>
        </p:nvPicPr>
        <p:blipFill>
          <a:blip r:embed="rId3">
            <a:alphaModFix/>
          </a:blip>
          <a:stretch>
            <a:fillRect/>
          </a:stretch>
        </p:blipFill>
        <p:spPr>
          <a:xfrm>
            <a:off x="1997600" y="4145723"/>
            <a:ext cx="783592" cy="629698"/>
          </a:xfrm>
          <a:prstGeom prst="rect">
            <a:avLst/>
          </a:prstGeom>
          <a:noFill/>
          <a:ln>
            <a:noFill/>
          </a:ln>
        </p:spPr>
      </p:pic>
      <p:pic>
        <p:nvPicPr>
          <p:cNvPr id="1171" name="Google Shape;1171;p98"/>
          <p:cNvPicPr preferRelativeResize="0"/>
          <p:nvPr/>
        </p:nvPicPr>
        <p:blipFill>
          <a:blip r:embed="rId4">
            <a:alphaModFix/>
          </a:blip>
          <a:stretch>
            <a:fillRect/>
          </a:stretch>
        </p:blipFill>
        <p:spPr>
          <a:xfrm>
            <a:off x="207825" y="311550"/>
            <a:ext cx="2403898" cy="612044"/>
          </a:xfrm>
          <a:prstGeom prst="rect">
            <a:avLst/>
          </a:prstGeom>
          <a:noFill/>
          <a:ln>
            <a:noFill/>
          </a:ln>
        </p:spPr>
      </p:pic>
      <p:sp>
        <p:nvSpPr>
          <p:cNvPr id="1172" name="Google Shape;1172;p98"/>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9"/>
          <p:cNvSpPr/>
          <p:nvPr/>
        </p:nvSpPr>
        <p:spPr>
          <a:xfrm>
            <a:off x="0" y="0"/>
            <a:ext cx="9144000" cy="1252800"/>
          </a:xfrm>
          <a:prstGeom prst="rect">
            <a:avLst/>
          </a:prstGeom>
          <a:solidFill>
            <a:srgbClr val="99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99"/>
          <p:cNvSpPr txBox="1"/>
          <p:nvPr/>
        </p:nvSpPr>
        <p:spPr>
          <a:xfrm>
            <a:off x="2851300" y="156150"/>
            <a:ext cx="71154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lt1"/>
                </a:solidFill>
                <a:latin typeface="Source Sans Pro"/>
                <a:ea typeface="Source Sans Pro"/>
                <a:cs typeface="Source Sans Pro"/>
                <a:sym typeface="Source Sans Pro"/>
              </a:rPr>
              <a:t>Use Case</a:t>
            </a:r>
            <a:r>
              <a:rPr b="1" lang="en" sz="2000">
                <a:solidFill>
                  <a:schemeClr val="lt1"/>
                </a:solidFill>
                <a:latin typeface="Source Sans Pro"/>
                <a:ea typeface="Source Sans Pro"/>
                <a:cs typeface="Source Sans Pro"/>
                <a:sym typeface="Source Sans Pro"/>
              </a:rPr>
              <a:t>:</a:t>
            </a:r>
            <a:r>
              <a:rPr b="1" lang="en" sz="2000">
                <a:solidFill>
                  <a:schemeClr val="lt1"/>
                </a:solidFill>
                <a:latin typeface="Source Sans Pro"/>
                <a:ea typeface="Source Sans Pro"/>
                <a:cs typeface="Source Sans Pro"/>
                <a:sym typeface="Source Sans Pro"/>
              </a:rPr>
              <a:t> Customer Mastering</a:t>
            </a:r>
            <a:endParaRPr b="1" sz="20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2000">
                <a:solidFill>
                  <a:srgbClr val="FFFFFF"/>
                </a:solidFill>
                <a:latin typeface="Source Sans Pro"/>
                <a:ea typeface="Source Sans Pro"/>
                <a:cs typeface="Source Sans Pro"/>
                <a:sym typeface="Source Sans Pro"/>
              </a:rPr>
              <a:t>Improving post-sales outreach, increasing upsell </a:t>
            </a:r>
            <a:endParaRPr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sz="2000">
                <a:solidFill>
                  <a:srgbClr val="FFFFFF"/>
                </a:solidFill>
                <a:latin typeface="Source Sans Pro"/>
                <a:ea typeface="Source Sans Pro"/>
                <a:cs typeface="Source Sans Pro"/>
                <a:sym typeface="Source Sans Pro"/>
              </a:rPr>
              <a:t>opportunities </a:t>
            </a:r>
            <a:r>
              <a:rPr lang="en" sz="2000">
                <a:solidFill>
                  <a:srgbClr val="FFFFFF"/>
                </a:solidFill>
                <a:latin typeface="Source Sans Pro"/>
                <a:ea typeface="Source Sans Pro"/>
                <a:cs typeface="Source Sans Pro"/>
                <a:sym typeface="Source Sans Pro"/>
              </a:rPr>
              <a:t> with complete customer records</a:t>
            </a:r>
            <a:endParaRPr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6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000">
              <a:solidFill>
                <a:srgbClr val="FFFFFF"/>
              </a:solidFill>
              <a:latin typeface="Source Sans Pro"/>
              <a:ea typeface="Source Sans Pro"/>
              <a:cs typeface="Source Sans Pro"/>
              <a:sym typeface="Source Sans Pro"/>
            </a:endParaRPr>
          </a:p>
        </p:txBody>
      </p:sp>
      <p:sp>
        <p:nvSpPr>
          <p:cNvPr id="1179" name="Google Shape;1179;p99"/>
          <p:cNvSpPr txBox="1"/>
          <p:nvPr/>
        </p:nvSpPr>
        <p:spPr>
          <a:xfrm>
            <a:off x="5256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Challenge</a:t>
            </a:r>
            <a:endParaRPr b="1" sz="1600">
              <a:solidFill>
                <a:schemeClr val="dk1"/>
              </a:solidFill>
              <a:latin typeface="Source Sans Pro"/>
              <a:ea typeface="Source Sans Pro"/>
              <a:cs typeface="Source Sans Pro"/>
              <a:sym typeface="Source Sans Pro"/>
            </a:endParaRPr>
          </a:p>
        </p:txBody>
      </p:sp>
      <p:sp>
        <p:nvSpPr>
          <p:cNvPr id="1180" name="Google Shape;1180;p99"/>
          <p:cNvSpPr txBox="1"/>
          <p:nvPr/>
        </p:nvSpPr>
        <p:spPr>
          <a:xfrm>
            <a:off x="36532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Solution</a:t>
            </a:r>
            <a:endParaRPr b="1" sz="1600">
              <a:solidFill>
                <a:schemeClr val="dk1"/>
              </a:solidFill>
              <a:latin typeface="Source Sans Pro"/>
              <a:ea typeface="Source Sans Pro"/>
              <a:cs typeface="Source Sans Pro"/>
              <a:sym typeface="Source Sans Pro"/>
            </a:endParaRPr>
          </a:p>
        </p:txBody>
      </p:sp>
      <p:sp>
        <p:nvSpPr>
          <p:cNvPr id="1181" name="Google Shape;1181;p99"/>
          <p:cNvSpPr txBox="1"/>
          <p:nvPr/>
        </p:nvSpPr>
        <p:spPr>
          <a:xfrm>
            <a:off x="7024500" y="1334597"/>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Outcomes</a:t>
            </a:r>
            <a:endParaRPr b="1" sz="1600">
              <a:solidFill>
                <a:schemeClr val="dk1"/>
              </a:solidFill>
              <a:latin typeface="Source Sans Pro"/>
              <a:ea typeface="Source Sans Pro"/>
              <a:cs typeface="Source Sans Pro"/>
              <a:sym typeface="Source Sans Pro"/>
            </a:endParaRPr>
          </a:p>
        </p:txBody>
      </p:sp>
      <p:cxnSp>
        <p:nvCxnSpPr>
          <p:cNvPr id="1182" name="Google Shape;1182;p99"/>
          <p:cNvCxnSpPr/>
          <p:nvPr/>
        </p:nvCxnSpPr>
        <p:spPr>
          <a:xfrm>
            <a:off x="28513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183" name="Google Shape;1183;p99"/>
          <p:cNvSpPr txBox="1"/>
          <p:nvPr/>
        </p:nvSpPr>
        <p:spPr>
          <a:xfrm>
            <a:off x="97650" y="1802000"/>
            <a:ext cx="27168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Incomplete, duplicate customer records </a:t>
            </a:r>
            <a:r>
              <a:rPr lang="en" sz="1200">
                <a:solidFill>
                  <a:schemeClr val="dk1"/>
                </a:solidFill>
                <a:latin typeface="Source Sans Pro"/>
                <a:ea typeface="Source Sans Pro"/>
                <a:cs typeface="Source Sans Pro"/>
                <a:sym typeface="Source Sans Pro"/>
              </a:rPr>
              <a:t>complicated</a:t>
            </a:r>
            <a:r>
              <a:rPr lang="en" sz="1200">
                <a:solidFill>
                  <a:schemeClr val="dk1"/>
                </a:solidFill>
                <a:latin typeface="Source Sans Pro"/>
                <a:ea typeface="Source Sans Pro"/>
                <a:cs typeface="Source Sans Pro"/>
                <a:sym typeface="Source Sans Pro"/>
              </a:rPr>
              <a:t>  upsell opportunities and post-sales customer service</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Legacy MDM tool failed to scale with data variety</a:t>
            </a:r>
            <a:r>
              <a:rPr lang="en" sz="1200">
                <a:solidFill>
                  <a:schemeClr val="dk1"/>
                </a:solidFill>
                <a:latin typeface="Source Sans Pro"/>
                <a:ea typeface="Source Sans Pro"/>
                <a:cs typeface="Source Sans Pro"/>
                <a:sym typeface="Source Sans Pro"/>
              </a:rPr>
              <a:t> and generate useful, </a:t>
            </a:r>
            <a:r>
              <a:rPr lang="en" sz="1200">
                <a:solidFill>
                  <a:schemeClr val="dk1"/>
                </a:solidFill>
                <a:latin typeface="Source Sans Pro"/>
                <a:ea typeface="Source Sans Pro"/>
                <a:cs typeface="Source Sans Pro"/>
                <a:sym typeface="Source Sans Pro"/>
              </a:rPr>
              <a:t>accurate</a:t>
            </a:r>
            <a:r>
              <a:rPr lang="en" sz="1200">
                <a:solidFill>
                  <a:schemeClr val="dk1"/>
                </a:solidFill>
                <a:latin typeface="Source Sans Pro"/>
                <a:ea typeface="Source Sans Pro"/>
                <a:cs typeface="Source Sans Pro"/>
                <a:sym typeface="Source Sans Pro"/>
              </a:rPr>
              <a:t> records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chemeClr val="dk1"/>
                </a:solidFill>
                <a:latin typeface="Source Sans Pro"/>
                <a:ea typeface="Source Sans Pro"/>
                <a:cs typeface="Source Sans Pro"/>
                <a:sym typeface="Source Sans Pro"/>
              </a:rPr>
              <a:t>Quickly generating </a:t>
            </a:r>
            <a:r>
              <a:rPr lang="en" sz="1200">
                <a:solidFill>
                  <a:schemeClr val="dk1"/>
                </a:solidFill>
                <a:latin typeface="Source Sans Pro"/>
                <a:ea typeface="Source Sans Pro"/>
                <a:cs typeface="Source Sans Pro"/>
                <a:sym typeface="Source Sans Pro"/>
              </a:rPr>
              <a:t>accurate </a:t>
            </a:r>
            <a:r>
              <a:rPr lang="en" sz="1200">
                <a:solidFill>
                  <a:schemeClr val="dk1"/>
                </a:solidFill>
                <a:latin typeface="Source Sans Pro"/>
                <a:ea typeface="Source Sans Pro"/>
                <a:cs typeface="Source Sans Pro"/>
                <a:sym typeface="Source Sans Pro"/>
              </a:rPr>
              <a:t>customer </a:t>
            </a:r>
            <a:r>
              <a:rPr lang="en" sz="1200">
                <a:solidFill>
                  <a:schemeClr val="dk1"/>
                </a:solidFill>
                <a:latin typeface="Source Sans Pro"/>
                <a:ea typeface="Source Sans Pro"/>
                <a:cs typeface="Source Sans Pro"/>
                <a:sym typeface="Source Sans Pro"/>
              </a:rPr>
              <a:t> views </a:t>
            </a:r>
            <a:r>
              <a:rPr b="1" lang="en" sz="1200">
                <a:solidFill>
                  <a:schemeClr val="dk1"/>
                </a:solidFill>
                <a:latin typeface="Source Sans Pro"/>
                <a:ea typeface="Source Sans Pro"/>
                <a:cs typeface="Source Sans Pro"/>
                <a:sym typeface="Source Sans Pro"/>
              </a:rPr>
              <a:t>to fuel  a new ERP system</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p:txBody>
      </p:sp>
      <p:sp>
        <p:nvSpPr>
          <p:cNvPr id="1184" name="Google Shape;1184;p99"/>
          <p:cNvSpPr txBox="1"/>
          <p:nvPr/>
        </p:nvSpPr>
        <p:spPr>
          <a:xfrm>
            <a:off x="3161963" y="1802000"/>
            <a:ext cx="2961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Created complete, up-to-date customer views </a:t>
            </a:r>
            <a:r>
              <a:rPr lang="en" sz="1200">
                <a:solidFill>
                  <a:schemeClr val="dk1"/>
                </a:solidFill>
                <a:latin typeface="Source Sans Pro"/>
                <a:ea typeface="Source Sans Pro"/>
                <a:cs typeface="Source Sans Pro"/>
                <a:sym typeface="Source Sans Pro"/>
              </a:rPr>
              <a:t>from millions of records and multiple ERPs in weeks</a:t>
            </a:r>
            <a:endParaRPr sz="1200">
              <a:solidFill>
                <a:schemeClr val="dk1"/>
              </a:solidFill>
              <a:latin typeface="Source Sans Pro"/>
              <a:ea typeface="Source Sans Pro"/>
              <a:cs typeface="Source Sans Pro"/>
              <a:sym typeface="Source Sans Pro"/>
            </a:endParaRPr>
          </a:p>
          <a:p>
            <a:pPr indent="0" lvl="0" marL="0" rtl="0" algn="l">
              <a:lnSpc>
                <a:spcPct val="115000"/>
              </a:lnSpc>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lnSpc>
                <a:spcPct val="115000"/>
              </a:lnSpc>
              <a:spcBef>
                <a:spcPts val="0"/>
              </a:spcBef>
              <a:spcAft>
                <a:spcPts val="0"/>
              </a:spcAft>
              <a:buNone/>
            </a:pPr>
            <a:r>
              <a:rPr b="1" lang="en" sz="1200">
                <a:solidFill>
                  <a:schemeClr val="dk1"/>
                </a:solidFill>
                <a:latin typeface="Source Sans Pro"/>
                <a:ea typeface="Source Sans Pro"/>
                <a:cs typeface="Source Sans Pro"/>
                <a:sym typeface="Source Sans Pro"/>
              </a:rPr>
              <a:t>Identified 2 times the number of duplicate customer records </a:t>
            </a:r>
            <a:r>
              <a:rPr lang="en" sz="1200">
                <a:solidFill>
                  <a:schemeClr val="dk1"/>
                </a:solidFill>
                <a:latin typeface="Source Sans Pro"/>
                <a:ea typeface="Source Sans Pro"/>
                <a:cs typeface="Source Sans Pro"/>
                <a:sym typeface="Source Sans Pro"/>
              </a:rPr>
              <a:t>compared to the legacy MDM solution</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Power </a:t>
            </a:r>
            <a:r>
              <a:rPr b="1" lang="en" sz="1200">
                <a:solidFill>
                  <a:schemeClr val="dk1"/>
                </a:solidFill>
                <a:latin typeface="Source Sans Pro"/>
                <a:ea typeface="Source Sans Pro"/>
                <a:cs typeface="Source Sans Pro"/>
                <a:sym typeface="Source Sans Pro"/>
              </a:rPr>
              <a:t>digital</a:t>
            </a:r>
            <a:r>
              <a:rPr b="1" lang="en" sz="1200">
                <a:solidFill>
                  <a:schemeClr val="dk1"/>
                </a:solidFill>
                <a:latin typeface="Source Sans Pro"/>
                <a:ea typeface="Source Sans Pro"/>
                <a:cs typeface="Source Sans Pro"/>
                <a:sym typeface="Source Sans Pro"/>
              </a:rPr>
              <a:t> transformation initiatives (e.g. ERP migration)</a:t>
            </a:r>
            <a:r>
              <a:rPr lang="en" sz="1200">
                <a:solidFill>
                  <a:schemeClr val="dk1"/>
                </a:solidFill>
                <a:latin typeface="Source Sans Pro"/>
                <a:ea typeface="Source Sans Pro"/>
                <a:cs typeface="Source Sans Pro"/>
                <a:sym typeface="Source Sans Pro"/>
              </a:rPr>
              <a:t> with accurate customer views</a:t>
            </a:r>
            <a:endParaRPr sz="1200">
              <a:solidFill>
                <a:schemeClr val="dk1"/>
              </a:solidFill>
              <a:latin typeface="Source Sans Pro"/>
              <a:ea typeface="Source Sans Pro"/>
              <a:cs typeface="Source Sans Pro"/>
              <a:sym typeface="Source Sans Pro"/>
            </a:endParaRPr>
          </a:p>
        </p:txBody>
      </p:sp>
      <p:sp>
        <p:nvSpPr>
          <p:cNvPr id="1185" name="Google Shape;1185;p99"/>
          <p:cNvSpPr txBox="1"/>
          <p:nvPr/>
        </p:nvSpPr>
        <p:spPr>
          <a:xfrm>
            <a:off x="6661200" y="1802000"/>
            <a:ext cx="2403900" cy="27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Develop  personalized marketing campaigns </a:t>
            </a:r>
            <a:r>
              <a:rPr lang="en" sz="1200">
                <a:solidFill>
                  <a:schemeClr val="dk1"/>
                </a:solidFill>
                <a:latin typeface="Source Sans Pro"/>
                <a:ea typeface="Source Sans Pro"/>
                <a:cs typeface="Source Sans Pro"/>
                <a:sym typeface="Source Sans Pro"/>
              </a:rPr>
              <a:t>to increase revenue from existing customers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Improved customer service</a:t>
            </a:r>
            <a:r>
              <a:rPr lang="en" sz="1200">
                <a:solidFill>
                  <a:schemeClr val="dk1"/>
                </a:solidFill>
                <a:latin typeface="Source Sans Pro"/>
                <a:ea typeface="Source Sans Pro"/>
                <a:cs typeface="Source Sans Pro"/>
                <a:sym typeface="Source Sans Pro"/>
              </a:rPr>
              <a:t> by offering relevant product </a:t>
            </a:r>
            <a:r>
              <a:rPr lang="en" sz="1200">
                <a:solidFill>
                  <a:schemeClr val="dk1"/>
                </a:solidFill>
                <a:latin typeface="Source Sans Pro"/>
                <a:ea typeface="Source Sans Pro"/>
                <a:cs typeface="Source Sans Pro"/>
                <a:sym typeface="Source Sans Pro"/>
              </a:rPr>
              <a:t>training</a:t>
            </a:r>
            <a:r>
              <a:rPr lang="en" sz="1200">
                <a:solidFill>
                  <a:schemeClr val="dk1"/>
                </a:solidFill>
                <a:latin typeface="Source Sans Pro"/>
                <a:ea typeface="Source Sans Pro"/>
                <a:cs typeface="Source Sans Pro"/>
                <a:sym typeface="Source Sans Pro"/>
              </a:rPr>
              <a:t> courses post-sales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Reduced product shipping errors</a:t>
            </a:r>
            <a:r>
              <a:rPr lang="en" sz="1200">
                <a:solidFill>
                  <a:schemeClr val="dk1"/>
                </a:solidFill>
                <a:latin typeface="Source Sans Pro"/>
                <a:ea typeface="Source Sans Pro"/>
                <a:cs typeface="Source Sans Pro"/>
                <a:sym typeface="Source Sans Pro"/>
              </a:rPr>
              <a:t> to improve distribution</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Expanding use of Tamr </a:t>
            </a:r>
            <a:r>
              <a:rPr lang="en" sz="1200">
                <a:solidFill>
                  <a:schemeClr val="dk1"/>
                </a:solidFill>
                <a:latin typeface="Source Sans Pro"/>
                <a:ea typeface="Source Sans Pro"/>
                <a:cs typeface="Source Sans Pro"/>
                <a:sym typeface="Source Sans Pro"/>
              </a:rPr>
              <a:t>to include  product mastering</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p:txBody>
      </p:sp>
      <p:cxnSp>
        <p:nvCxnSpPr>
          <p:cNvPr id="1186" name="Google Shape;1186;p99"/>
          <p:cNvCxnSpPr/>
          <p:nvPr/>
        </p:nvCxnSpPr>
        <p:spPr>
          <a:xfrm>
            <a:off x="62786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187" name="Google Shape;1187;p99"/>
          <p:cNvSpPr txBox="1"/>
          <p:nvPr/>
        </p:nvSpPr>
        <p:spPr>
          <a:xfrm>
            <a:off x="97650" y="4196100"/>
            <a:ext cx="8940000" cy="8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“I'm amazed by the speed at which Tamr can dedupe customer data. The time to market was in weeks rather than months.”</a:t>
            </a:r>
            <a:r>
              <a:rPr b="1" lang="en">
                <a:solidFill>
                  <a:schemeClr val="dk1"/>
                </a:solidFill>
                <a:latin typeface="Source Sans Pro"/>
                <a:ea typeface="Source Sans Pro"/>
                <a:cs typeface="Source Sans Pro"/>
                <a:sym typeface="Source Sans Pro"/>
              </a:rPr>
              <a:t>  -- Dinny Mathew, Senior Director of Enterprise Architecture, Data and Analytics, Avid</a:t>
            </a:r>
            <a:endParaRPr>
              <a:solidFill>
                <a:schemeClr val="dk1"/>
              </a:solidFill>
              <a:latin typeface="Source Sans Pro"/>
              <a:ea typeface="Source Sans Pro"/>
              <a:cs typeface="Source Sans Pro"/>
              <a:sym typeface="Source Sans Pro"/>
            </a:endParaRPr>
          </a:p>
        </p:txBody>
      </p:sp>
      <p:pic>
        <p:nvPicPr>
          <p:cNvPr id="1188" name="Google Shape;1188;p99"/>
          <p:cNvPicPr preferRelativeResize="0"/>
          <p:nvPr/>
        </p:nvPicPr>
        <p:blipFill>
          <a:blip r:embed="rId3">
            <a:alphaModFix/>
          </a:blip>
          <a:stretch>
            <a:fillRect/>
          </a:stretch>
        </p:blipFill>
        <p:spPr>
          <a:xfrm>
            <a:off x="242500" y="155500"/>
            <a:ext cx="2571750" cy="941800"/>
          </a:xfrm>
          <a:prstGeom prst="rect">
            <a:avLst/>
          </a:prstGeom>
          <a:noFill/>
          <a:ln>
            <a:noFill/>
          </a:ln>
        </p:spPr>
      </p:pic>
      <p:sp>
        <p:nvSpPr>
          <p:cNvPr id="1189" name="Google Shape;1189;p99"/>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00"/>
          <p:cNvSpPr/>
          <p:nvPr/>
        </p:nvSpPr>
        <p:spPr>
          <a:xfrm>
            <a:off x="0" y="0"/>
            <a:ext cx="9144000" cy="1252800"/>
          </a:xfrm>
          <a:prstGeom prst="rect">
            <a:avLst/>
          </a:prstGeom>
          <a:solidFill>
            <a:srgbClr val="BC1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00"/>
          <p:cNvSpPr txBox="1"/>
          <p:nvPr/>
        </p:nvSpPr>
        <p:spPr>
          <a:xfrm>
            <a:off x="2851300" y="156150"/>
            <a:ext cx="71154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lt1"/>
                </a:solidFill>
                <a:latin typeface="Source Sans Pro"/>
                <a:ea typeface="Source Sans Pro"/>
                <a:cs typeface="Source Sans Pro"/>
                <a:sym typeface="Source Sans Pro"/>
              </a:rPr>
              <a:t>Use Case</a:t>
            </a:r>
            <a:r>
              <a:rPr b="1" lang="en" sz="2000">
                <a:solidFill>
                  <a:schemeClr val="lt1"/>
                </a:solidFill>
                <a:latin typeface="Source Sans Pro"/>
                <a:ea typeface="Source Sans Pro"/>
                <a:cs typeface="Source Sans Pro"/>
                <a:sym typeface="Source Sans Pro"/>
              </a:rPr>
              <a:t>:</a:t>
            </a:r>
            <a:r>
              <a:rPr b="1" lang="en" sz="2000">
                <a:solidFill>
                  <a:schemeClr val="lt1"/>
                </a:solidFill>
                <a:latin typeface="Source Sans Pro"/>
                <a:ea typeface="Source Sans Pro"/>
                <a:cs typeface="Source Sans Pro"/>
                <a:sym typeface="Source Sans Pro"/>
              </a:rPr>
              <a:t> Parts Mastering</a:t>
            </a:r>
            <a:endParaRPr b="1" sz="20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rPr lang="en" sz="2000">
                <a:solidFill>
                  <a:srgbClr val="FFFFFF"/>
                </a:solidFill>
                <a:latin typeface="Source Sans Pro"/>
                <a:ea typeface="Source Sans Pro"/>
                <a:cs typeface="Source Sans Pro"/>
                <a:sym typeface="Source Sans Pro"/>
              </a:rPr>
              <a:t>Drive cost savings through supply chain optimization</a:t>
            </a:r>
            <a:endParaRPr sz="20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6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b="1" sz="2000">
              <a:solidFill>
                <a:srgbClr val="FFFFFF"/>
              </a:solidFill>
              <a:latin typeface="Source Sans Pro"/>
              <a:ea typeface="Source Sans Pro"/>
              <a:cs typeface="Source Sans Pro"/>
              <a:sym typeface="Source Sans Pro"/>
            </a:endParaRPr>
          </a:p>
        </p:txBody>
      </p:sp>
      <p:sp>
        <p:nvSpPr>
          <p:cNvPr id="1196" name="Google Shape;1196;p100"/>
          <p:cNvSpPr txBox="1"/>
          <p:nvPr/>
        </p:nvSpPr>
        <p:spPr>
          <a:xfrm>
            <a:off x="5256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Challenge</a:t>
            </a:r>
            <a:endParaRPr b="1" sz="1600">
              <a:solidFill>
                <a:schemeClr val="dk1"/>
              </a:solidFill>
              <a:latin typeface="Source Sans Pro"/>
              <a:ea typeface="Source Sans Pro"/>
              <a:cs typeface="Source Sans Pro"/>
              <a:sym typeface="Source Sans Pro"/>
            </a:endParaRPr>
          </a:p>
        </p:txBody>
      </p:sp>
      <p:sp>
        <p:nvSpPr>
          <p:cNvPr id="1197" name="Google Shape;1197;p100"/>
          <p:cNvSpPr txBox="1"/>
          <p:nvPr/>
        </p:nvSpPr>
        <p:spPr>
          <a:xfrm>
            <a:off x="3653275" y="1302550"/>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Solution</a:t>
            </a:r>
            <a:endParaRPr b="1" sz="1600">
              <a:solidFill>
                <a:schemeClr val="dk1"/>
              </a:solidFill>
              <a:latin typeface="Source Sans Pro"/>
              <a:ea typeface="Source Sans Pro"/>
              <a:cs typeface="Source Sans Pro"/>
              <a:sym typeface="Source Sans Pro"/>
            </a:endParaRPr>
          </a:p>
        </p:txBody>
      </p:sp>
      <p:sp>
        <p:nvSpPr>
          <p:cNvPr id="1198" name="Google Shape;1198;p100"/>
          <p:cNvSpPr txBox="1"/>
          <p:nvPr/>
        </p:nvSpPr>
        <p:spPr>
          <a:xfrm>
            <a:off x="7024500" y="1334597"/>
            <a:ext cx="1677300" cy="44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Source Sans Pro"/>
                <a:ea typeface="Source Sans Pro"/>
                <a:cs typeface="Source Sans Pro"/>
                <a:sym typeface="Source Sans Pro"/>
              </a:rPr>
              <a:t>Outcomes</a:t>
            </a:r>
            <a:endParaRPr b="1" sz="1600">
              <a:solidFill>
                <a:schemeClr val="dk1"/>
              </a:solidFill>
              <a:latin typeface="Source Sans Pro"/>
              <a:ea typeface="Source Sans Pro"/>
              <a:cs typeface="Source Sans Pro"/>
              <a:sym typeface="Source Sans Pro"/>
            </a:endParaRPr>
          </a:p>
        </p:txBody>
      </p:sp>
      <p:cxnSp>
        <p:nvCxnSpPr>
          <p:cNvPr id="1199" name="Google Shape;1199;p100"/>
          <p:cNvCxnSpPr/>
          <p:nvPr/>
        </p:nvCxnSpPr>
        <p:spPr>
          <a:xfrm>
            <a:off x="28513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200" name="Google Shape;1200;p100"/>
          <p:cNvSpPr txBox="1"/>
          <p:nvPr/>
        </p:nvSpPr>
        <p:spPr>
          <a:xfrm>
            <a:off x="220750" y="1802000"/>
            <a:ext cx="2403900" cy="21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Breaking down data silos </a:t>
            </a:r>
            <a:r>
              <a:rPr lang="en" sz="1200">
                <a:solidFill>
                  <a:schemeClr val="dk1"/>
                </a:solidFill>
                <a:latin typeface="Source Sans Pro"/>
                <a:ea typeface="Source Sans Pro"/>
                <a:cs typeface="Source Sans Pro"/>
                <a:sym typeface="Source Sans Pro"/>
              </a:rPr>
              <a:t>to create a global view of part inventory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Negotiating better prices for parts </a:t>
            </a:r>
            <a:r>
              <a:rPr lang="en" sz="1200">
                <a:solidFill>
                  <a:schemeClr val="dk1"/>
                </a:solidFill>
                <a:latin typeface="Source Sans Pro"/>
                <a:ea typeface="Source Sans Pro"/>
                <a:cs typeface="Source Sans Pro"/>
                <a:sym typeface="Source Sans Pro"/>
              </a:rPr>
              <a:t>with key suppliers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Reducing maintenance costs </a:t>
            </a:r>
            <a:r>
              <a:rPr lang="en" sz="1200">
                <a:solidFill>
                  <a:schemeClr val="dk1"/>
                </a:solidFill>
                <a:latin typeface="Source Sans Pro"/>
                <a:ea typeface="Source Sans Pro"/>
                <a:cs typeface="Source Sans Pro"/>
                <a:sym typeface="Source Sans Pro"/>
              </a:rPr>
              <a:t>by improving visibility into part performance</a:t>
            </a:r>
            <a:endParaRPr sz="1200">
              <a:solidFill>
                <a:schemeClr val="dk1"/>
              </a:solidFill>
              <a:latin typeface="Source Sans Pro"/>
              <a:ea typeface="Source Sans Pro"/>
              <a:cs typeface="Source Sans Pro"/>
              <a:sym typeface="Source Sans Pro"/>
            </a:endParaRPr>
          </a:p>
        </p:txBody>
      </p:sp>
      <p:sp>
        <p:nvSpPr>
          <p:cNvPr id="1201" name="Google Shape;1201;p100"/>
          <p:cNvSpPr txBox="1"/>
          <p:nvPr/>
        </p:nvSpPr>
        <p:spPr>
          <a:xfrm>
            <a:off x="3161975" y="1802000"/>
            <a:ext cx="2961900" cy="25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C</a:t>
            </a:r>
            <a:r>
              <a:rPr b="1" lang="en" sz="1200">
                <a:solidFill>
                  <a:schemeClr val="dk1"/>
                </a:solidFill>
                <a:latin typeface="Source Sans Pro"/>
                <a:ea typeface="Source Sans Pro"/>
                <a:cs typeface="Source Sans Pro"/>
                <a:sym typeface="Source Sans Pro"/>
              </a:rPr>
              <a:t>reated a golden databases </a:t>
            </a:r>
            <a:r>
              <a:rPr lang="en" sz="1200">
                <a:solidFill>
                  <a:schemeClr val="dk1"/>
                </a:solidFill>
                <a:latin typeface="Source Sans Pro"/>
                <a:ea typeface="Source Sans Pro"/>
                <a:cs typeface="Source Sans Pro"/>
                <a:sym typeface="Source Sans Pro"/>
              </a:rPr>
              <a:t>for each class of ships containing an inventory of all parts stored on those vessels</a:t>
            </a:r>
            <a:endParaRPr sz="1200">
              <a:solidFill>
                <a:schemeClr val="dk1"/>
              </a:solidFill>
              <a:latin typeface="Source Sans Pro"/>
              <a:ea typeface="Source Sans Pro"/>
              <a:cs typeface="Source Sans Pro"/>
              <a:sym typeface="Source Sans Pro"/>
            </a:endParaRPr>
          </a:p>
          <a:p>
            <a:pPr indent="0" lvl="0" marL="0" rtl="0" algn="l">
              <a:spcBef>
                <a:spcPts val="6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600"/>
              </a:spcBef>
              <a:spcAft>
                <a:spcPts val="0"/>
              </a:spcAft>
              <a:buNone/>
            </a:pPr>
            <a:r>
              <a:rPr b="1" lang="en" sz="1200">
                <a:solidFill>
                  <a:schemeClr val="dk1"/>
                </a:solidFill>
                <a:latin typeface="Source Sans Pro"/>
                <a:ea typeface="Source Sans Pro"/>
                <a:cs typeface="Source Sans Pro"/>
                <a:sym typeface="Source Sans Pro"/>
              </a:rPr>
              <a:t>Created a golden database</a:t>
            </a:r>
            <a:r>
              <a:rPr lang="en" sz="1200">
                <a:solidFill>
                  <a:schemeClr val="dk1"/>
                </a:solidFill>
                <a:latin typeface="Source Sans Pro"/>
                <a:ea typeface="Source Sans Pro"/>
                <a:cs typeface="Source Sans Pro"/>
                <a:sym typeface="Source Sans Pro"/>
              </a:rPr>
              <a:t> containing an inventory of all parts stored on a global fleet of more than 100 vessels</a:t>
            </a:r>
            <a:endParaRPr sz="1200">
              <a:solidFill>
                <a:schemeClr val="dk1"/>
              </a:solidFill>
              <a:latin typeface="Source Sans Pro"/>
              <a:ea typeface="Source Sans Pro"/>
              <a:cs typeface="Source Sans Pro"/>
              <a:sym typeface="Source Sans Pro"/>
            </a:endParaRPr>
          </a:p>
          <a:p>
            <a:pPr indent="0" lvl="0" marL="0" rtl="0" algn="l">
              <a:spcBef>
                <a:spcPts val="6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600"/>
              </a:spcBef>
              <a:spcAft>
                <a:spcPts val="0"/>
              </a:spcAft>
              <a:buNone/>
            </a:pPr>
            <a:r>
              <a:rPr b="1" lang="en" sz="1200">
                <a:solidFill>
                  <a:schemeClr val="dk1"/>
                </a:solidFill>
                <a:latin typeface="Source Sans Pro"/>
                <a:ea typeface="Source Sans Pro"/>
                <a:cs typeface="Source Sans Pro"/>
                <a:sym typeface="Source Sans Pro"/>
              </a:rPr>
              <a:t>Mastered millions of parts records from more than 70 ERP systems in weeks </a:t>
            </a:r>
            <a:r>
              <a:rPr lang="en" sz="1200">
                <a:solidFill>
                  <a:schemeClr val="dk1"/>
                </a:solidFill>
                <a:latin typeface="Source Sans Pro"/>
                <a:ea typeface="Source Sans Pro"/>
                <a:cs typeface="Source Sans Pro"/>
                <a:sym typeface="Source Sans Pro"/>
              </a:rPr>
              <a:t>using machine learning</a:t>
            </a:r>
            <a:endParaRPr sz="1200">
              <a:solidFill>
                <a:schemeClr val="dk1"/>
              </a:solidFill>
              <a:latin typeface="Source Sans Pro"/>
              <a:ea typeface="Source Sans Pro"/>
              <a:cs typeface="Source Sans Pro"/>
              <a:sym typeface="Source Sans Pro"/>
            </a:endParaRPr>
          </a:p>
        </p:txBody>
      </p:sp>
      <p:sp>
        <p:nvSpPr>
          <p:cNvPr id="1202" name="Google Shape;1202;p100"/>
          <p:cNvSpPr txBox="1"/>
          <p:nvPr/>
        </p:nvSpPr>
        <p:spPr>
          <a:xfrm>
            <a:off x="6661200" y="1802000"/>
            <a:ext cx="2403900" cy="27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Drove hundred of millions of dollars in cost savings</a:t>
            </a:r>
            <a:r>
              <a:rPr lang="en" sz="1200">
                <a:solidFill>
                  <a:schemeClr val="dk1"/>
                </a:solidFill>
                <a:latin typeface="Source Sans Pro"/>
                <a:ea typeface="Source Sans Pro"/>
                <a:cs typeface="Source Sans Pro"/>
                <a:sym typeface="Source Sans Pro"/>
              </a:rPr>
              <a:t> by utilizing existing inventory, improving supplier negotiations, &amp; purchasing parts that require fewer repairs</a:t>
            </a:r>
            <a:endParaRPr sz="1200">
              <a:solidFill>
                <a:schemeClr val="dk1"/>
              </a:solidFill>
              <a:latin typeface="Source Sans Pro"/>
              <a:ea typeface="Source Sans Pro"/>
              <a:cs typeface="Source Sans Pro"/>
              <a:sym typeface="Source Sans Pro"/>
            </a:endParaRPr>
          </a:p>
          <a:p>
            <a:pPr indent="0" lvl="0" marL="0" rtl="0" algn="l">
              <a:spcBef>
                <a:spcPts val="600"/>
              </a:spcBef>
              <a:spcAft>
                <a:spcPts val="0"/>
              </a:spcAft>
              <a:buNone/>
            </a:pPr>
            <a:r>
              <a:rPr b="1" lang="en" sz="1200">
                <a:solidFill>
                  <a:schemeClr val="dk1"/>
                </a:solidFill>
                <a:latin typeface="Source Sans Pro"/>
                <a:ea typeface="Source Sans Pro"/>
                <a:cs typeface="Source Sans Pro"/>
                <a:sym typeface="Source Sans Pro"/>
              </a:rPr>
              <a:t>Resolve potential maintenance issues</a:t>
            </a:r>
            <a:r>
              <a:rPr lang="en" sz="1200">
                <a:solidFill>
                  <a:schemeClr val="dk1"/>
                </a:solidFill>
                <a:latin typeface="Source Sans Pro"/>
                <a:ea typeface="Source Sans Pro"/>
                <a:cs typeface="Source Sans Pro"/>
                <a:sym typeface="Source Sans Pro"/>
              </a:rPr>
              <a:t> before parts failed</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b="1" lang="en" sz="1200">
                <a:solidFill>
                  <a:schemeClr val="dk1"/>
                </a:solidFill>
                <a:latin typeface="Source Sans Pro"/>
                <a:ea typeface="Source Sans Pro"/>
                <a:cs typeface="Source Sans Pro"/>
                <a:sym typeface="Source Sans Pro"/>
              </a:rPr>
              <a:t>Justified spend on more expensive parts</a:t>
            </a:r>
            <a:r>
              <a:rPr lang="en" sz="1200">
                <a:solidFill>
                  <a:schemeClr val="dk1"/>
                </a:solidFill>
                <a:latin typeface="Source Sans Pro"/>
                <a:ea typeface="Source Sans Pro"/>
                <a:cs typeface="Source Sans Pro"/>
                <a:sym typeface="Source Sans Pro"/>
              </a:rPr>
              <a:t> by showing they performed better</a:t>
            </a:r>
            <a:endParaRPr sz="1200">
              <a:solidFill>
                <a:schemeClr val="dk1"/>
              </a:solidFill>
              <a:latin typeface="Source Sans Pro"/>
              <a:ea typeface="Source Sans Pro"/>
              <a:cs typeface="Source Sans Pro"/>
              <a:sym typeface="Source Sans Pro"/>
            </a:endParaRPr>
          </a:p>
        </p:txBody>
      </p:sp>
      <p:cxnSp>
        <p:nvCxnSpPr>
          <p:cNvPr id="1203" name="Google Shape;1203;p100"/>
          <p:cNvCxnSpPr/>
          <p:nvPr/>
        </p:nvCxnSpPr>
        <p:spPr>
          <a:xfrm>
            <a:off x="6278600" y="1802000"/>
            <a:ext cx="14100" cy="2194500"/>
          </a:xfrm>
          <a:prstGeom prst="straightConnector1">
            <a:avLst/>
          </a:prstGeom>
          <a:noFill/>
          <a:ln cap="flat" cmpd="sng" w="9525">
            <a:solidFill>
              <a:schemeClr val="dk2"/>
            </a:solidFill>
            <a:prstDash val="solid"/>
            <a:round/>
            <a:headEnd len="med" w="med" type="none"/>
            <a:tailEnd len="med" w="med" type="none"/>
          </a:ln>
        </p:spPr>
      </p:cxnSp>
      <p:sp>
        <p:nvSpPr>
          <p:cNvPr id="1204" name="Google Shape;1204;p100"/>
          <p:cNvSpPr txBox="1"/>
          <p:nvPr/>
        </p:nvSpPr>
        <p:spPr>
          <a:xfrm>
            <a:off x="2265572" y="4451250"/>
            <a:ext cx="5025600" cy="51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Source Sans Pro"/>
                <a:ea typeface="Source Sans Pro"/>
                <a:cs typeface="Source Sans Pro"/>
                <a:sym typeface="Source Sans Pro"/>
              </a:rPr>
              <a:t>Drove hundreds of millions of dollars in cost savings with golden databases containing mastered parts data</a:t>
            </a:r>
            <a:endParaRPr>
              <a:solidFill>
                <a:schemeClr val="dk1"/>
              </a:solidFill>
              <a:latin typeface="Source Sans Pro"/>
              <a:ea typeface="Source Sans Pro"/>
              <a:cs typeface="Source Sans Pro"/>
              <a:sym typeface="Source Sans Pro"/>
            </a:endParaRPr>
          </a:p>
        </p:txBody>
      </p:sp>
      <p:pic>
        <p:nvPicPr>
          <p:cNvPr id="1205" name="Google Shape;1205;p100"/>
          <p:cNvPicPr preferRelativeResize="0"/>
          <p:nvPr/>
        </p:nvPicPr>
        <p:blipFill>
          <a:blip r:embed="rId3">
            <a:alphaModFix/>
          </a:blip>
          <a:stretch>
            <a:fillRect/>
          </a:stretch>
        </p:blipFill>
        <p:spPr>
          <a:xfrm>
            <a:off x="1634375" y="4335751"/>
            <a:ext cx="855468" cy="687452"/>
          </a:xfrm>
          <a:prstGeom prst="rect">
            <a:avLst/>
          </a:prstGeom>
          <a:noFill/>
          <a:ln>
            <a:noFill/>
          </a:ln>
        </p:spPr>
      </p:pic>
      <p:pic>
        <p:nvPicPr>
          <p:cNvPr id="1206" name="Google Shape;1206;p100"/>
          <p:cNvPicPr preferRelativeResize="0"/>
          <p:nvPr/>
        </p:nvPicPr>
        <p:blipFill>
          <a:blip r:embed="rId4">
            <a:alphaModFix/>
          </a:blip>
          <a:stretch>
            <a:fillRect/>
          </a:stretch>
        </p:blipFill>
        <p:spPr>
          <a:xfrm>
            <a:off x="324576" y="69548"/>
            <a:ext cx="1941000" cy="969156"/>
          </a:xfrm>
          <a:prstGeom prst="rect">
            <a:avLst/>
          </a:prstGeom>
          <a:noFill/>
          <a:ln>
            <a:noFill/>
          </a:ln>
        </p:spPr>
      </p:pic>
      <p:pic>
        <p:nvPicPr>
          <p:cNvPr id="1207" name="Google Shape;1207;p100"/>
          <p:cNvPicPr preferRelativeResize="0"/>
          <p:nvPr/>
        </p:nvPicPr>
        <p:blipFill>
          <a:blip r:embed="rId5">
            <a:alphaModFix/>
          </a:blip>
          <a:stretch>
            <a:fillRect/>
          </a:stretch>
        </p:blipFill>
        <p:spPr>
          <a:xfrm>
            <a:off x="7138775" y="4335750"/>
            <a:ext cx="687451" cy="687451"/>
          </a:xfrm>
          <a:prstGeom prst="rect">
            <a:avLst/>
          </a:prstGeom>
          <a:noFill/>
          <a:ln>
            <a:noFill/>
          </a:ln>
        </p:spPr>
      </p:pic>
      <p:sp>
        <p:nvSpPr>
          <p:cNvPr id="1208" name="Google Shape;1208;p100"/>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01"/>
          <p:cNvSpPr/>
          <p:nvPr/>
        </p:nvSpPr>
        <p:spPr>
          <a:xfrm>
            <a:off x="0" y="0"/>
            <a:ext cx="9144000" cy="838800"/>
          </a:xfrm>
          <a:prstGeom prst="rect">
            <a:avLst/>
          </a:prstGeom>
          <a:solidFill>
            <a:srgbClr val="C0000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4" name="Google Shape;1214;p101"/>
          <p:cNvSpPr/>
          <p:nvPr/>
        </p:nvSpPr>
        <p:spPr>
          <a:xfrm>
            <a:off x="2286000" y="2310140"/>
            <a:ext cx="4572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Multinational conglomerate</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Financial data provider </a:t>
            </a:r>
            <a:endParaRPr b="0" i="0" sz="1400" u="none" cap="none" strike="noStrike">
              <a:solidFill>
                <a:srgbClr val="000000"/>
              </a:solidFill>
              <a:latin typeface="Arial"/>
              <a:ea typeface="Arial"/>
              <a:cs typeface="Arial"/>
              <a:sym typeface="Arial"/>
            </a:endParaRPr>
          </a:p>
        </p:txBody>
      </p:sp>
      <p:sp>
        <p:nvSpPr>
          <p:cNvPr id="1215" name="Google Shape;1215;p101"/>
          <p:cNvSpPr txBox="1"/>
          <p:nvPr/>
        </p:nvSpPr>
        <p:spPr>
          <a:xfrm>
            <a:off x="2384875" y="0"/>
            <a:ext cx="6772800" cy="838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a:t>
            </a:r>
            <a:r>
              <a:rPr b="1" i="0" lang="en" sz="1800" u="none" cap="none" strike="noStrike">
                <a:solidFill>
                  <a:srgbClr val="FFFFFF"/>
                </a:solidFill>
                <a:latin typeface="Source Sans Pro"/>
                <a:ea typeface="Source Sans Pro"/>
                <a:cs typeface="Source Sans Pro"/>
                <a:sym typeface="Source Sans Pro"/>
              </a:rPr>
              <a:t>Customer</a:t>
            </a:r>
            <a:r>
              <a:rPr b="1" lang="en" sz="1800">
                <a:solidFill>
                  <a:srgbClr val="FFFFFF"/>
                </a:solidFill>
                <a:latin typeface="Source Sans Pro"/>
                <a:ea typeface="Source Sans Pro"/>
                <a:cs typeface="Source Sans Pro"/>
                <a:sym typeface="Source Sans Pro"/>
              </a:rPr>
              <a:t> </a:t>
            </a:r>
            <a:r>
              <a:rPr b="1" i="0" lang="en" sz="1800" u="none" cap="none" strike="noStrike">
                <a:solidFill>
                  <a:srgbClr val="FFFFFF"/>
                </a:solidFill>
                <a:latin typeface="Source Sans Pro"/>
                <a:ea typeface="Source Sans Pro"/>
                <a:cs typeface="Source Sans Pro"/>
                <a:sym typeface="Source Sans Pro"/>
              </a:rPr>
              <a:t>360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lang="en" sz="1200">
                <a:solidFill>
                  <a:srgbClr val="FFFFFF"/>
                </a:solidFill>
                <a:latin typeface="Source Sans Pro"/>
                <a:ea typeface="Source Sans Pro"/>
                <a:cs typeface="Source Sans Pro"/>
                <a:sym typeface="Source Sans Pro"/>
              </a:rPr>
              <a:t>Modernized their master data management approach with </a:t>
            </a:r>
            <a:r>
              <a:rPr lang="en" sz="1200">
                <a:solidFill>
                  <a:schemeClr val="lt1"/>
                </a:solidFill>
                <a:latin typeface="Source Sans Pro"/>
                <a:ea typeface="Source Sans Pro"/>
                <a:cs typeface="Source Sans Pro"/>
                <a:sym typeface="Source Sans Pro"/>
              </a:rPr>
              <a:t>Tamr’s cloud-native data mastering solutions to curate customer data from disparate data sources and boost B2B sales and marketing initiatives</a:t>
            </a:r>
            <a:endParaRPr b="0" i="0" sz="1200" u="none" cap="none" strike="noStrike">
              <a:solidFill>
                <a:srgbClr val="FFFFFF"/>
              </a:solidFill>
              <a:latin typeface="Source Sans Pro"/>
              <a:ea typeface="Source Sans Pro"/>
              <a:cs typeface="Source Sans Pro"/>
              <a:sym typeface="Source Sans Pro"/>
            </a:endParaRPr>
          </a:p>
        </p:txBody>
      </p:sp>
      <p:sp>
        <p:nvSpPr>
          <p:cNvPr id="1216" name="Google Shape;1216;p101"/>
          <p:cNvSpPr txBox="1"/>
          <p:nvPr/>
        </p:nvSpPr>
        <p:spPr>
          <a:xfrm>
            <a:off x="3016293" y="1526526"/>
            <a:ext cx="29520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Created complete, up-to-date customer views</a:t>
            </a:r>
            <a:r>
              <a:rPr lang="en" sz="1200">
                <a:solidFill>
                  <a:schemeClr val="dk1"/>
                </a:solidFill>
                <a:latin typeface="Source Sans Pro"/>
                <a:ea typeface="Source Sans Pro"/>
                <a:cs typeface="Source Sans Pro"/>
                <a:sym typeface="Source Sans Pro"/>
              </a:rPr>
              <a:t> from millions of records across 11 Salesforce &amp; operational data sources</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Generated unique Tamr ID for each customer, </a:t>
            </a:r>
            <a:r>
              <a:rPr lang="en" sz="1200">
                <a:solidFill>
                  <a:schemeClr val="dk1"/>
                </a:solidFill>
                <a:latin typeface="Source Sans Pro"/>
                <a:ea typeface="Source Sans Pro"/>
                <a:cs typeface="Source Sans Pro"/>
                <a:sym typeface="Source Sans Pro"/>
              </a:rPr>
              <a:t>removing the 40% duplication identified between Salesforce and systems</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Ability to cluster customer views into business-ready segments</a:t>
            </a:r>
            <a:r>
              <a:rPr lang="en" sz="1200">
                <a:solidFill>
                  <a:schemeClr val="dk1"/>
                </a:solidFill>
                <a:latin typeface="Source Sans Pro"/>
                <a:ea typeface="Source Sans Pro"/>
                <a:cs typeface="Source Sans Pro"/>
                <a:sym typeface="Source Sans Pro"/>
              </a:rPr>
              <a:t> (e.g., by territory, industry)</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1217" name="Google Shape;1217;p101"/>
          <p:cNvSpPr txBox="1"/>
          <p:nvPr/>
        </p:nvSpPr>
        <p:spPr>
          <a:xfrm>
            <a:off x="115425" y="1526526"/>
            <a:ext cx="2901000" cy="2340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Outdated and incomplete customer data</a:t>
            </a:r>
            <a:r>
              <a:rPr b="0" i="0" lang="en" sz="1200" u="none" cap="none" strike="noStrike">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slowed marketing initiatives and disrupted sales operations</a:t>
            </a:r>
            <a:r>
              <a:rPr b="0" i="0" lang="en" sz="1200" u="none" cap="none" strike="noStrike">
                <a:solidFill>
                  <a:schemeClr val="dk1"/>
                </a:solidFill>
                <a:latin typeface="Source Sans Pro"/>
                <a:ea typeface="Source Sans Pro"/>
                <a:cs typeface="Source Sans Pro"/>
                <a:sym typeface="Source Sans Pro"/>
              </a:rPr>
              <a:t> </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Correcting single customer data records took months</a:t>
            </a:r>
            <a:r>
              <a:rPr lang="en" sz="1200">
                <a:solidFill>
                  <a:schemeClr val="dk1"/>
                </a:solidFill>
                <a:latin typeface="Source Sans Pro"/>
                <a:ea typeface="Source Sans Pro"/>
                <a:cs typeface="Source Sans Pro"/>
                <a:sym typeface="Source Sans Pro"/>
              </a:rPr>
              <a:t> due to manual coding required to adjust rules systems</a:t>
            </a:r>
            <a:endParaRPr sz="1200">
              <a:solidFill>
                <a:schemeClr val="dk1"/>
              </a:solidFill>
            </a:endParaRPr>
          </a:p>
          <a:p>
            <a:pPr indent="0" lvl="0" marL="342900" marR="0" rtl="0" algn="l">
              <a:spcBef>
                <a:spcPts val="0"/>
              </a:spcBef>
              <a:spcAft>
                <a:spcPts val="0"/>
              </a:spcAft>
              <a:buNone/>
            </a:pPr>
            <a:r>
              <a:t/>
            </a:r>
            <a:endParaRPr sz="1200">
              <a:solidFill>
                <a:schemeClr val="dk1"/>
              </a:solidFill>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High total cost of ownership</a:t>
            </a:r>
            <a:r>
              <a:rPr b="0" i="0" lang="en" sz="1200" u="none" cap="none" strike="noStrike">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due to dozens of highly-skilled resources required to maintain rules</a:t>
            </a:r>
            <a:endParaRPr b="0" i="0" sz="1100" u="none" cap="none" strike="noStrike">
              <a:solidFill>
                <a:schemeClr val="dk1"/>
              </a:solidFill>
              <a:latin typeface="Source Sans Pro"/>
              <a:ea typeface="Source Sans Pro"/>
              <a:cs typeface="Source Sans Pro"/>
              <a:sym typeface="Source Sans Pro"/>
            </a:endParaRPr>
          </a:p>
        </p:txBody>
      </p:sp>
      <p:sp>
        <p:nvSpPr>
          <p:cNvPr id="1218" name="Google Shape;1218;p101"/>
          <p:cNvSpPr txBox="1"/>
          <p:nvPr/>
        </p:nvSpPr>
        <p:spPr>
          <a:xfrm>
            <a:off x="6043325" y="1490250"/>
            <a:ext cx="2952000" cy="1928100"/>
          </a:xfrm>
          <a:prstGeom prst="rect">
            <a:avLst/>
          </a:prstGeom>
          <a:noFill/>
          <a:ln>
            <a:noFill/>
          </a:ln>
        </p:spPr>
        <p:txBody>
          <a:bodyPr anchorCtr="0" anchor="t" bIns="45700" lIns="91425" spcFirstLastPara="1" rIns="91425" wrap="square" tIns="45700">
            <a:noAutofit/>
          </a:bodyPr>
          <a:lstStyle/>
          <a:p>
            <a:pPr indent="0" lvl="1" marL="0" marR="0" rtl="0" algn="l">
              <a:spcBef>
                <a:spcPts val="0"/>
              </a:spcBef>
              <a:spcAft>
                <a:spcPts val="0"/>
              </a:spcAft>
              <a:buNone/>
            </a:pPr>
            <a:r>
              <a:t/>
            </a:r>
            <a:endParaRPr b="0" i="0" sz="1200" u="none" cap="none" strike="noStrike">
              <a:solidFill>
                <a:srgbClr val="000000"/>
              </a:solidFill>
              <a:latin typeface="Source Sans Pro"/>
              <a:ea typeface="Source Sans Pro"/>
              <a:cs typeface="Source Sans Pro"/>
              <a:sym typeface="Source Sans Pro"/>
            </a:endParaRPr>
          </a:p>
        </p:txBody>
      </p:sp>
      <p:cxnSp>
        <p:nvCxnSpPr>
          <p:cNvPr id="1219" name="Google Shape;1219;p101"/>
          <p:cNvCxnSpPr/>
          <p:nvPr/>
        </p:nvCxnSpPr>
        <p:spPr>
          <a:xfrm>
            <a:off x="6043336" y="1509247"/>
            <a:ext cx="0" cy="2304000"/>
          </a:xfrm>
          <a:prstGeom prst="straightConnector1">
            <a:avLst/>
          </a:prstGeom>
          <a:noFill/>
          <a:ln cap="flat" cmpd="sng" w="19050">
            <a:solidFill>
              <a:srgbClr val="C00000"/>
            </a:solidFill>
            <a:prstDash val="solid"/>
            <a:round/>
            <a:headEnd len="sm" w="sm" type="none"/>
            <a:tailEnd len="sm" w="sm" type="none"/>
          </a:ln>
        </p:spPr>
      </p:cxnSp>
      <p:sp>
        <p:nvSpPr>
          <p:cNvPr id="1220" name="Google Shape;1220;p101"/>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rgbClr val="000000"/>
                </a:solidFill>
                <a:latin typeface="Source Sans Pro"/>
                <a:ea typeface="Source Sans Pro"/>
                <a:cs typeface="Source Sans Pro"/>
                <a:sym typeface="Source Sans Pro"/>
              </a:rPr>
              <a:t>Challenge</a:t>
            </a:r>
            <a:endParaRPr b="0" i="0" sz="1600" u="none" cap="none" strike="noStrike">
              <a:solidFill>
                <a:srgbClr val="000000"/>
              </a:solidFill>
              <a:latin typeface="Arial"/>
              <a:ea typeface="Arial"/>
              <a:cs typeface="Arial"/>
              <a:sym typeface="Arial"/>
            </a:endParaRPr>
          </a:p>
        </p:txBody>
      </p:sp>
      <p:sp>
        <p:nvSpPr>
          <p:cNvPr id="1221" name="Google Shape;1221;p101"/>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rgbClr val="000000"/>
                </a:solidFill>
                <a:latin typeface="Source Sans Pro"/>
                <a:ea typeface="Source Sans Pro"/>
                <a:cs typeface="Source Sans Pro"/>
                <a:sym typeface="Source Sans Pro"/>
              </a:rPr>
              <a:t>Solution</a:t>
            </a:r>
            <a:endParaRPr b="0" i="0" sz="1600" u="none" cap="none" strike="noStrike">
              <a:solidFill>
                <a:srgbClr val="000000"/>
              </a:solidFill>
              <a:latin typeface="Arial"/>
              <a:ea typeface="Arial"/>
              <a:cs typeface="Arial"/>
              <a:sym typeface="Arial"/>
            </a:endParaRPr>
          </a:p>
        </p:txBody>
      </p:sp>
      <p:sp>
        <p:nvSpPr>
          <p:cNvPr id="1222" name="Google Shape;1222;p101"/>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rgbClr val="000000"/>
                </a:solidFill>
                <a:latin typeface="Source Sans Pro"/>
                <a:ea typeface="Source Sans Pro"/>
                <a:cs typeface="Source Sans Pro"/>
                <a:sym typeface="Source Sans Pro"/>
              </a:rPr>
              <a:t>Impact</a:t>
            </a:r>
            <a:endParaRPr b="0" i="0" sz="1600" u="none" cap="none" strike="noStrike">
              <a:solidFill>
                <a:srgbClr val="000000"/>
              </a:solidFill>
              <a:latin typeface="Arial"/>
              <a:ea typeface="Arial"/>
              <a:cs typeface="Arial"/>
              <a:sym typeface="Arial"/>
            </a:endParaRPr>
          </a:p>
        </p:txBody>
      </p:sp>
      <p:cxnSp>
        <p:nvCxnSpPr>
          <p:cNvPr id="1223" name="Google Shape;1223;p101"/>
          <p:cNvCxnSpPr/>
          <p:nvPr/>
        </p:nvCxnSpPr>
        <p:spPr>
          <a:xfrm>
            <a:off x="2948368" y="1528262"/>
            <a:ext cx="0" cy="2304000"/>
          </a:xfrm>
          <a:prstGeom prst="straightConnector1">
            <a:avLst/>
          </a:prstGeom>
          <a:noFill/>
          <a:ln cap="flat" cmpd="sng" w="19050">
            <a:solidFill>
              <a:srgbClr val="C00000"/>
            </a:solidFill>
            <a:prstDash val="solid"/>
            <a:round/>
            <a:headEnd len="sm" w="sm" type="none"/>
            <a:tailEnd len="sm" w="sm" type="none"/>
          </a:ln>
        </p:spPr>
      </p:cxnSp>
      <p:sp>
        <p:nvSpPr>
          <p:cNvPr id="1224" name="Google Shape;1224;p101"/>
          <p:cNvSpPr txBox="1"/>
          <p:nvPr/>
        </p:nvSpPr>
        <p:spPr>
          <a:xfrm>
            <a:off x="2247000" y="4138150"/>
            <a:ext cx="6324900" cy="51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Improved marketing and sales operations</a:t>
            </a:r>
            <a:r>
              <a:rPr lang="en">
                <a:solidFill>
                  <a:schemeClr val="dk1"/>
                </a:solidFill>
                <a:latin typeface="Source Sans Pro"/>
                <a:ea typeface="Source Sans Pro"/>
                <a:cs typeface="Source Sans Pro"/>
                <a:sym typeface="Source Sans Pro"/>
              </a:rPr>
              <a:t> with </a:t>
            </a:r>
            <a:r>
              <a:rPr b="1" lang="en">
                <a:solidFill>
                  <a:schemeClr val="dk1"/>
                </a:solidFill>
                <a:latin typeface="Source Sans Pro"/>
                <a:ea typeface="Source Sans Pro"/>
                <a:cs typeface="Source Sans Pro"/>
                <a:sym typeface="Source Sans Pro"/>
              </a:rPr>
              <a:t>unified customer views from millions of records across 11 sources</a:t>
            </a:r>
            <a:r>
              <a:rPr lang="en">
                <a:solidFill>
                  <a:schemeClr val="dk1"/>
                </a:solidFill>
                <a:latin typeface="Source Sans Pro"/>
                <a:ea typeface="Source Sans Pro"/>
                <a:cs typeface="Source Sans Pro"/>
                <a:sym typeface="Source Sans Pro"/>
              </a:rPr>
              <a:t> powering Salesforce and campaign systems</a:t>
            </a:r>
            <a:endParaRPr>
              <a:solidFill>
                <a:schemeClr val="dk1"/>
              </a:solidFill>
              <a:latin typeface="Source Sans Pro"/>
              <a:ea typeface="Source Sans Pro"/>
              <a:cs typeface="Source Sans Pro"/>
              <a:sym typeface="Source Sans Pro"/>
            </a:endParaRPr>
          </a:p>
        </p:txBody>
      </p:sp>
      <p:pic>
        <p:nvPicPr>
          <p:cNvPr id="1225" name="Google Shape;1225;p101"/>
          <p:cNvPicPr preferRelativeResize="0"/>
          <p:nvPr/>
        </p:nvPicPr>
        <p:blipFill>
          <a:blip r:embed="rId3">
            <a:alphaModFix/>
          </a:blip>
          <a:stretch>
            <a:fillRect/>
          </a:stretch>
        </p:blipFill>
        <p:spPr>
          <a:xfrm>
            <a:off x="469725" y="265500"/>
            <a:ext cx="1407086" cy="307800"/>
          </a:xfrm>
          <a:prstGeom prst="rect">
            <a:avLst/>
          </a:prstGeom>
          <a:noFill/>
          <a:ln>
            <a:noFill/>
          </a:ln>
        </p:spPr>
      </p:pic>
      <p:sp>
        <p:nvSpPr>
          <p:cNvPr id="1226" name="Google Shape;1226;p101"/>
          <p:cNvSpPr txBox="1"/>
          <p:nvPr/>
        </p:nvSpPr>
        <p:spPr>
          <a:xfrm>
            <a:off x="6118350" y="1526526"/>
            <a:ext cx="29520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Improved marketing efficacy</a:t>
            </a:r>
            <a:r>
              <a:rPr lang="en" sz="1200">
                <a:solidFill>
                  <a:schemeClr val="dk1"/>
                </a:solidFill>
                <a:latin typeface="Source Sans Pro"/>
                <a:ea typeface="Source Sans Pro"/>
                <a:cs typeface="Source Sans Pro"/>
                <a:sym typeface="Source Sans Pro"/>
              </a:rPr>
              <a:t> by powering campaign systems with accurate, up-to-date customer data</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203200" lvl="0" marL="177800" marR="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Improved sales operations</a:t>
            </a:r>
            <a:r>
              <a:rPr lang="en" sz="1200">
                <a:solidFill>
                  <a:schemeClr val="dk1"/>
                </a:solidFill>
                <a:latin typeface="Source Sans Pro"/>
                <a:ea typeface="Source Sans Pro"/>
                <a:cs typeface="Source Sans Pro"/>
                <a:sym typeface="Source Sans Pro"/>
              </a:rPr>
              <a:t> with unified customer views from Tamr powering Salesforce for global market segments</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203200" lvl="0" marL="177800" marR="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Enhanced customer experience initiatives</a:t>
            </a:r>
            <a:r>
              <a:rPr lang="en" sz="1200">
                <a:solidFill>
                  <a:schemeClr val="dk1"/>
                </a:solidFill>
                <a:latin typeface="Source Sans Pro"/>
                <a:ea typeface="Source Sans Pro"/>
                <a:cs typeface="Source Sans Pro"/>
                <a:sym typeface="Source Sans Pro"/>
              </a:rPr>
              <a:t> with comprehensive data on B2B customers</a:t>
            </a:r>
            <a:endParaRPr b="0" i="0" sz="1200" u="none" cap="none" strike="noStrike">
              <a:solidFill>
                <a:schemeClr val="dk1"/>
              </a:solidFill>
              <a:latin typeface="Source Sans Pro"/>
              <a:ea typeface="Source Sans Pro"/>
              <a:cs typeface="Source Sans Pro"/>
              <a:sym typeface="Source Sans Pro"/>
            </a:endParaRPr>
          </a:p>
        </p:txBody>
      </p:sp>
      <p:grpSp>
        <p:nvGrpSpPr>
          <p:cNvPr id="1227" name="Google Shape;1227;p101"/>
          <p:cNvGrpSpPr/>
          <p:nvPr/>
        </p:nvGrpSpPr>
        <p:grpSpPr>
          <a:xfrm>
            <a:off x="1478111" y="4062857"/>
            <a:ext cx="671400" cy="664200"/>
            <a:chOff x="1876811" y="3947782"/>
            <a:chExt cx="671400" cy="664200"/>
          </a:xfrm>
        </p:grpSpPr>
        <p:sp>
          <p:nvSpPr>
            <p:cNvPr id="1228" name="Google Shape;1228;p101"/>
            <p:cNvSpPr/>
            <p:nvPr/>
          </p:nvSpPr>
          <p:spPr>
            <a:xfrm>
              <a:off x="1876811" y="3947782"/>
              <a:ext cx="671400" cy="664200"/>
            </a:xfrm>
            <a:prstGeom prst="ellipse">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29" name="Google Shape;1229;p101"/>
            <p:cNvPicPr preferRelativeResize="0"/>
            <p:nvPr/>
          </p:nvPicPr>
          <p:blipFill>
            <a:blip r:embed="rId4">
              <a:alphaModFix/>
            </a:blip>
            <a:stretch>
              <a:fillRect/>
            </a:stretch>
          </p:blipFill>
          <p:spPr>
            <a:xfrm>
              <a:off x="2058612" y="4125934"/>
              <a:ext cx="307831" cy="307800"/>
            </a:xfrm>
            <a:prstGeom prst="rect">
              <a:avLst/>
            </a:prstGeom>
            <a:noFill/>
            <a:ln>
              <a:noFill/>
            </a:ln>
          </p:spPr>
        </p:pic>
      </p:grpSp>
      <p:sp>
        <p:nvSpPr>
          <p:cNvPr id="1230" name="Google Shape;1230;p101"/>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102"/>
          <p:cNvSpPr/>
          <p:nvPr/>
        </p:nvSpPr>
        <p:spPr>
          <a:xfrm>
            <a:off x="0" y="0"/>
            <a:ext cx="9144000" cy="838800"/>
          </a:xfrm>
          <a:prstGeom prst="rect">
            <a:avLst/>
          </a:prstGeom>
          <a:solidFill>
            <a:srgbClr val="0070C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6" name="Google Shape;1236;p102"/>
          <p:cNvSpPr/>
          <p:nvPr/>
        </p:nvSpPr>
        <p:spPr>
          <a:xfrm>
            <a:off x="2286000" y="2310140"/>
            <a:ext cx="4572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Multinational conglomerate</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Financial data provider </a:t>
            </a:r>
            <a:endParaRPr b="0" i="0" sz="1400" u="none" cap="none" strike="noStrike">
              <a:solidFill>
                <a:srgbClr val="000000"/>
              </a:solidFill>
              <a:latin typeface="Arial"/>
              <a:ea typeface="Arial"/>
              <a:cs typeface="Arial"/>
              <a:sym typeface="Arial"/>
            </a:endParaRPr>
          </a:p>
        </p:txBody>
      </p:sp>
      <p:sp>
        <p:nvSpPr>
          <p:cNvPr id="1237" name="Google Shape;1237;p102"/>
          <p:cNvSpPr txBox="1"/>
          <p:nvPr/>
        </p:nvSpPr>
        <p:spPr>
          <a:xfrm>
            <a:off x="3016293" y="1490250"/>
            <a:ext cx="29520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Created complete, up-to-date traveler views</a:t>
            </a:r>
            <a:r>
              <a:rPr lang="en" sz="1200">
                <a:solidFill>
                  <a:schemeClr val="dk1"/>
                </a:solidFill>
                <a:latin typeface="Source Sans Pro"/>
                <a:ea typeface="Source Sans Pro"/>
                <a:cs typeface="Source Sans Pro"/>
                <a:sym typeface="Source Sans Pro"/>
              </a:rPr>
              <a:t> from manifests, reservations systems and various other country implemented systems</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Generated unique Tamr ID for each traveler </a:t>
            </a:r>
            <a:r>
              <a:rPr lang="en" sz="1200">
                <a:solidFill>
                  <a:schemeClr val="dk1"/>
                </a:solidFill>
                <a:latin typeface="Source Sans Pro"/>
                <a:ea typeface="Source Sans Pro"/>
                <a:cs typeface="Source Sans Pro"/>
                <a:sym typeface="Source Sans Pro"/>
              </a:rPr>
              <a:t>showing traveler’s full history, origination, embark point and destination to border control officers</a:t>
            </a:r>
            <a:endParaRPr sz="1200">
              <a:solidFill>
                <a:schemeClr val="dk1"/>
              </a:solidFill>
            </a:endParaRPr>
          </a:p>
          <a:p>
            <a:pPr indent="-184150" lvl="0" marL="177800" marR="0" rtl="0" algn="l">
              <a:spcBef>
                <a:spcPts val="60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Tamr allowed subject matter expertise </a:t>
            </a:r>
            <a:r>
              <a:rPr lang="en" sz="1200">
                <a:solidFill>
                  <a:schemeClr val="dk1"/>
                </a:solidFill>
                <a:latin typeface="Source Sans Pro"/>
                <a:ea typeface="Source Sans Pro"/>
                <a:cs typeface="Source Sans Pro"/>
                <a:sym typeface="Source Sans Pro"/>
              </a:rPr>
              <a:t>to make informed decisions based on machine learning probability of match</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1238" name="Google Shape;1238;p102"/>
          <p:cNvSpPr txBox="1"/>
          <p:nvPr/>
        </p:nvSpPr>
        <p:spPr>
          <a:xfrm>
            <a:off x="115425" y="1490250"/>
            <a:ext cx="2867400" cy="16425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Difficulty distinguishing/discerning </a:t>
            </a:r>
            <a:r>
              <a:rPr lang="en" sz="1200">
                <a:solidFill>
                  <a:schemeClr val="dk1"/>
                </a:solidFill>
                <a:latin typeface="Source Sans Pro"/>
                <a:ea typeface="Source Sans Pro"/>
                <a:cs typeface="Source Sans Pro"/>
                <a:sym typeface="Source Sans Pro"/>
              </a:rPr>
              <a:t>one specific traveler from all others on an incoming flight</a:t>
            </a:r>
            <a:r>
              <a:rPr b="0" i="0" lang="en" sz="1200" u="none" cap="none" strike="noStrike">
                <a:solidFill>
                  <a:schemeClr val="dk1"/>
                </a:solidFill>
                <a:latin typeface="Source Sans Pro"/>
                <a:ea typeface="Source Sans Pro"/>
                <a:cs typeface="Source Sans Pro"/>
                <a:sym typeface="Source Sans Pro"/>
              </a:rPr>
              <a:t> </a:t>
            </a:r>
            <a:endParaRPr b="0" i="0" sz="120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Slow vetting </a:t>
            </a:r>
            <a:r>
              <a:rPr lang="en" sz="1200">
                <a:solidFill>
                  <a:schemeClr val="dk1"/>
                </a:solidFill>
                <a:latin typeface="Source Sans Pro"/>
                <a:ea typeface="Source Sans Pro"/>
                <a:cs typeface="Source Sans Pro"/>
                <a:sym typeface="Source Sans Pro"/>
              </a:rPr>
              <a:t>of high risk travelers such as foreign terrorists due to inability to reconcile data silos (both commercial and government)</a:t>
            </a:r>
            <a:endParaRPr sz="1200">
              <a:solidFill>
                <a:schemeClr val="dk1"/>
              </a:solidFill>
            </a:endParaRPr>
          </a:p>
          <a:p>
            <a:pPr indent="0" lvl="0" marL="342900" marR="0" rtl="0" algn="l">
              <a:spcBef>
                <a:spcPts val="0"/>
              </a:spcBef>
              <a:spcAft>
                <a:spcPts val="0"/>
              </a:spcAft>
              <a:buNone/>
            </a:pPr>
            <a:r>
              <a:t/>
            </a:r>
            <a:endParaRPr sz="1200">
              <a:solidFill>
                <a:schemeClr val="dk1"/>
              </a:solidFill>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Past efforts were manual </a:t>
            </a:r>
            <a:r>
              <a:rPr lang="en" sz="1200">
                <a:solidFill>
                  <a:schemeClr val="dk1"/>
                </a:solidFill>
                <a:latin typeface="Source Sans Pro"/>
                <a:ea typeface="Source Sans Pro"/>
                <a:cs typeface="Source Sans Pro"/>
                <a:sym typeface="Source Sans Pro"/>
              </a:rPr>
              <a:t>and did not build traveler profiles quickly or over time</a:t>
            </a:r>
            <a:endParaRPr b="0" i="0" sz="1500" u="none" cap="none" strike="noStrike">
              <a:solidFill>
                <a:schemeClr val="dk1"/>
              </a:solidFill>
              <a:latin typeface="Arial"/>
              <a:ea typeface="Arial"/>
              <a:cs typeface="Arial"/>
              <a:sym typeface="Arial"/>
            </a:endParaRPr>
          </a:p>
          <a:p>
            <a:pPr indent="0" lvl="1" marL="0" marR="0" rtl="0" algn="l">
              <a:spcBef>
                <a:spcPts val="600"/>
              </a:spcBef>
              <a:spcAft>
                <a:spcPts val="0"/>
              </a:spcAft>
              <a:buNone/>
            </a:pPr>
            <a:r>
              <a:t/>
            </a:r>
            <a:endParaRPr b="0" i="0" sz="1100" u="none" cap="none" strike="noStrike">
              <a:solidFill>
                <a:schemeClr val="dk1"/>
              </a:solidFill>
              <a:latin typeface="Source Sans Pro"/>
              <a:ea typeface="Source Sans Pro"/>
              <a:cs typeface="Source Sans Pro"/>
              <a:sym typeface="Source Sans Pro"/>
            </a:endParaRPr>
          </a:p>
        </p:txBody>
      </p:sp>
      <p:sp>
        <p:nvSpPr>
          <p:cNvPr id="1239" name="Google Shape;1239;p102"/>
          <p:cNvSpPr txBox="1"/>
          <p:nvPr/>
        </p:nvSpPr>
        <p:spPr>
          <a:xfrm>
            <a:off x="6043325" y="1490250"/>
            <a:ext cx="2952000" cy="1928100"/>
          </a:xfrm>
          <a:prstGeom prst="rect">
            <a:avLst/>
          </a:prstGeom>
          <a:noFill/>
          <a:ln>
            <a:noFill/>
          </a:ln>
        </p:spPr>
        <p:txBody>
          <a:bodyPr anchorCtr="0" anchor="t" bIns="45700" lIns="91425" spcFirstLastPara="1" rIns="91425" wrap="square" tIns="45700">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Faster vetting processes</a:t>
            </a:r>
            <a:r>
              <a:rPr lang="en" sz="1200">
                <a:solidFill>
                  <a:schemeClr val="dk1"/>
                </a:solidFill>
                <a:latin typeface="Source Sans Pro"/>
                <a:ea typeface="Source Sans Pro"/>
                <a:cs typeface="Source Sans Pro"/>
                <a:sym typeface="Source Sans Pro"/>
              </a:rPr>
              <a:t> allowing users to go from screening flights - one at a time - to vetting passengers hundreds at a time</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US DHS offers GTAS as a </a:t>
            </a:r>
            <a:r>
              <a:rPr lang="en" sz="1200">
                <a:solidFill>
                  <a:schemeClr val="dk1"/>
                </a:solidFill>
                <a:latin typeface="Source Sans Pro"/>
                <a:ea typeface="Source Sans Pro"/>
                <a:cs typeface="Source Sans Pro"/>
                <a:sym typeface="Source Sans Pro"/>
              </a:rPr>
              <a:t>free software license with installation tailored to partner country, technical support and training which strengthens our partnership with these nations. </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Increased targeting </a:t>
            </a:r>
            <a:r>
              <a:rPr lang="en" sz="1200">
                <a:solidFill>
                  <a:schemeClr val="dk1"/>
                </a:solidFill>
                <a:latin typeface="Source Sans Pro"/>
                <a:ea typeface="Source Sans Pro"/>
                <a:cs typeface="Source Sans Pro"/>
                <a:sym typeface="Source Sans Pro"/>
              </a:rPr>
              <a:t>by all partner countries increases security for all - DHS concept</a:t>
            </a:r>
            <a:endParaRPr b="0" i="0" sz="1200" u="none" cap="none" strike="noStrike">
              <a:solidFill>
                <a:schemeClr val="dk1"/>
              </a:solidFill>
              <a:latin typeface="Source Sans Pro"/>
              <a:ea typeface="Source Sans Pro"/>
              <a:cs typeface="Source Sans Pro"/>
              <a:sym typeface="Source Sans Pro"/>
            </a:endParaRPr>
          </a:p>
          <a:p>
            <a:pPr indent="0" lvl="1"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cxnSp>
        <p:nvCxnSpPr>
          <p:cNvPr id="1240" name="Google Shape;1240;p102"/>
          <p:cNvCxnSpPr/>
          <p:nvPr/>
        </p:nvCxnSpPr>
        <p:spPr>
          <a:xfrm>
            <a:off x="6043336" y="1509247"/>
            <a:ext cx="0" cy="2304000"/>
          </a:xfrm>
          <a:prstGeom prst="straightConnector1">
            <a:avLst/>
          </a:prstGeom>
          <a:noFill/>
          <a:ln cap="flat" cmpd="sng" w="19050">
            <a:solidFill>
              <a:srgbClr val="C00000"/>
            </a:solidFill>
            <a:prstDash val="solid"/>
            <a:round/>
            <a:headEnd len="sm" w="sm" type="none"/>
            <a:tailEnd len="sm" w="sm" type="none"/>
          </a:ln>
        </p:spPr>
      </p:cxnSp>
      <p:sp>
        <p:nvSpPr>
          <p:cNvPr id="1241" name="Google Shape;1241;p102"/>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242" name="Google Shape;1242;p102"/>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243" name="Google Shape;1243;p102"/>
          <p:cNvSpPr txBox="1"/>
          <p:nvPr/>
        </p:nvSpPr>
        <p:spPr>
          <a:xfrm>
            <a:off x="6043321" y="10106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cxnSp>
        <p:nvCxnSpPr>
          <p:cNvPr id="1244" name="Google Shape;1244;p102"/>
          <p:cNvCxnSpPr/>
          <p:nvPr/>
        </p:nvCxnSpPr>
        <p:spPr>
          <a:xfrm>
            <a:off x="2948368" y="1528262"/>
            <a:ext cx="0" cy="2304000"/>
          </a:xfrm>
          <a:prstGeom prst="straightConnector1">
            <a:avLst/>
          </a:prstGeom>
          <a:noFill/>
          <a:ln cap="flat" cmpd="sng" w="19050">
            <a:solidFill>
              <a:srgbClr val="C00000"/>
            </a:solidFill>
            <a:prstDash val="solid"/>
            <a:round/>
            <a:headEnd len="sm" w="sm" type="none"/>
            <a:tailEnd len="sm" w="sm" type="none"/>
          </a:ln>
        </p:spPr>
      </p:cxnSp>
      <p:sp>
        <p:nvSpPr>
          <p:cNvPr id="1245" name="Google Shape;1245;p102"/>
          <p:cNvSpPr txBox="1"/>
          <p:nvPr/>
        </p:nvSpPr>
        <p:spPr>
          <a:xfrm>
            <a:off x="2961526" y="4098038"/>
            <a:ext cx="50256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Expedited process to identify persons of interest coming into the US and partner nation borders</a:t>
            </a:r>
            <a:endParaRPr>
              <a:solidFill>
                <a:schemeClr val="dk1"/>
              </a:solidFill>
              <a:latin typeface="Source Sans Pro"/>
              <a:ea typeface="Source Sans Pro"/>
              <a:cs typeface="Source Sans Pro"/>
              <a:sym typeface="Source Sans Pro"/>
            </a:endParaRPr>
          </a:p>
        </p:txBody>
      </p:sp>
      <p:grpSp>
        <p:nvGrpSpPr>
          <p:cNvPr id="1246" name="Google Shape;1246;p102"/>
          <p:cNvGrpSpPr/>
          <p:nvPr/>
        </p:nvGrpSpPr>
        <p:grpSpPr>
          <a:xfrm>
            <a:off x="2140962" y="4023082"/>
            <a:ext cx="671443" cy="664118"/>
            <a:chOff x="975675" y="3849675"/>
            <a:chExt cx="742500" cy="734400"/>
          </a:xfrm>
        </p:grpSpPr>
        <p:sp>
          <p:nvSpPr>
            <p:cNvPr id="1247" name="Google Shape;1247;p102"/>
            <p:cNvSpPr/>
            <p:nvPr/>
          </p:nvSpPr>
          <p:spPr>
            <a:xfrm>
              <a:off x="975675" y="3849675"/>
              <a:ext cx="742500" cy="734400"/>
            </a:xfrm>
            <a:prstGeom prst="ellipse">
              <a:avLst/>
            </a:prstGeom>
            <a:solidFill>
              <a:srgbClr val="0070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8" name="Google Shape;1248;p102"/>
            <p:cNvPicPr preferRelativeResize="0"/>
            <p:nvPr/>
          </p:nvPicPr>
          <p:blipFill>
            <a:blip r:embed="rId3">
              <a:alphaModFix/>
            </a:blip>
            <a:stretch>
              <a:fillRect/>
            </a:stretch>
          </p:blipFill>
          <p:spPr>
            <a:xfrm>
              <a:off x="1117573" y="3993924"/>
              <a:ext cx="458700" cy="445875"/>
            </a:xfrm>
            <a:prstGeom prst="rect">
              <a:avLst/>
            </a:prstGeom>
            <a:noFill/>
            <a:ln>
              <a:noFill/>
            </a:ln>
          </p:spPr>
        </p:pic>
      </p:grpSp>
      <p:sp>
        <p:nvSpPr>
          <p:cNvPr id="1249" name="Google Shape;1249;p102"/>
          <p:cNvSpPr/>
          <p:nvPr/>
        </p:nvSpPr>
        <p:spPr>
          <a:xfrm>
            <a:off x="610677" y="199849"/>
            <a:ext cx="4572000" cy="73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US Department of Homeland </a:t>
            </a:r>
            <a:endParaRPr sz="1100"/>
          </a:p>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Security (DHS)</a:t>
            </a:r>
            <a:endParaRPr b="0" i="0" sz="1400" u="none" cap="none" strike="noStrike">
              <a:solidFill>
                <a:srgbClr val="000000"/>
              </a:solidFill>
              <a:latin typeface="Arial"/>
              <a:ea typeface="Arial"/>
              <a:cs typeface="Arial"/>
              <a:sym typeface="Arial"/>
            </a:endParaRPr>
          </a:p>
        </p:txBody>
      </p:sp>
      <p:pic>
        <p:nvPicPr>
          <p:cNvPr id="1250" name="Google Shape;1250;p102"/>
          <p:cNvPicPr preferRelativeResize="0"/>
          <p:nvPr/>
        </p:nvPicPr>
        <p:blipFill rotWithShape="1">
          <a:blip r:embed="rId4">
            <a:alphaModFix/>
          </a:blip>
          <a:srcRect b="0" l="0" r="0" t="0"/>
          <a:stretch/>
        </p:blipFill>
        <p:spPr>
          <a:xfrm>
            <a:off x="68464" y="142657"/>
            <a:ext cx="542213" cy="540000"/>
          </a:xfrm>
          <a:prstGeom prst="rect">
            <a:avLst/>
          </a:prstGeom>
          <a:noFill/>
          <a:ln>
            <a:noFill/>
          </a:ln>
        </p:spPr>
      </p:pic>
      <p:sp>
        <p:nvSpPr>
          <p:cNvPr id="1251" name="Google Shape;1251;p102"/>
          <p:cNvSpPr txBox="1"/>
          <p:nvPr/>
        </p:nvSpPr>
        <p:spPr>
          <a:xfrm>
            <a:off x="3018729" y="1"/>
            <a:ext cx="6120000" cy="8985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Passenger</a:t>
            </a:r>
            <a:r>
              <a:rPr b="1" i="0" lang="en" sz="1800" u="none" cap="none" strike="noStrike">
                <a:solidFill>
                  <a:srgbClr val="FFFFFF"/>
                </a:solidFill>
                <a:latin typeface="Source Sans Pro"/>
                <a:ea typeface="Source Sans Pro"/>
                <a:cs typeface="Source Sans Pro"/>
                <a:sym typeface="Source Sans Pro"/>
              </a:rPr>
              <a:t>-360 for </a:t>
            </a:r>
            <a:r>
              <a:rPr b="1" lang="en" sz="1800">
                <a:solidFill>
                  <a:srgbClr val="FFFFFF"/>
                </a:solidFill>
                <a:latin typeface="Source Sans Pro"/>
                <a:ea typeface="Source Sans Pro"/>
                <a:cs typeface="Source Sans Pro"/>
                <a:sym typeface="Source Sans Pro"/>
              </a:rPr>
              <a:t>S</a:t>
            </a:r>
            <a:r>
              <a:rPr b="1" i="0" lang="en" sz="1800" u="none" cap="none" strike="noStrike">
                <a:solidFill>
                  <a:srgbClr val="FFFFFF"/>
                </a:solidFill>
                <a:latin typeface="Source Sans Pro"/>
                <a:ea typeface="Source Sans Pro"/>
                <a:cs typeface="Source Sans Pro"/>
                <a:sym typeface="Source Sans Pro"/>
              </a:rPr>
              <a:t>ecurity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 sz="1200" u="none" cap="none" strike="noStrike">
                <a:solidFill>
                  <a:srgbClr val="FFFFFF"/>
                </a:solidFill>
                <a:latin typeface="Source Sans Pro"/>
                <a:ea typeface="Source Sans Pro"/>
                <a:cs typeface="Source Sans Pro"/>
                <a:sym typeface="Source Sans Pro"/>
              </a:rPr>
              <a:t>Since 2017, Tamr has helped the DHS master passenger data to screen against risk criteria for threat prevention, public health dangers and a variety of other use cases</a:t>
            </a:r>
            <a:endParaRPr b="0" i="0" sz="1200" u="none" cap="none" strike="noStrike">
              <a:solidFill>
                <a:srgbClr val="FFFFFF"/>
              </a:solidFill>
              <a:latin typeface="Source Sans Pro"/>
              <a:ea typeface="Source Sans Pro"/>
              <a:cs typeface="Source Sans Pro"/>
              <a:sym typeface="Source Sans Pro"/>
            </a:endParaRPr>
          </a:p>
        </p:txBody>
      </p:sp>
      <p:sp>
        <p:nvSpPr>
          <p:cNvPr id="1252" name="Google Shape;1252;p102"/>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03"/>
          <p:cNvSpPr/>
          <p:nvPr/>
        </p:nvSpPr>
        <p:spPr>
          <a:xfrm>
            <a:off x="591388" y="3132150"/>
            <a:ext cx="1953600" cy="1220400"/>
          </a:xfrm>
          <a:prstGeom prst="roundRect">
            <a:avLst>
              <a:gd fmla="val 2118" name="adj"/>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p:txBody>
      </p:sp>
      <p:sp>
        <p:nvSpPr>
          <p:cNvPr id="1258" name="Google Shape;1258;p103"/>
          <p:cNvSpPr/>
          <p:nvPr/>
        </p:nvSpPr>
        <p:spPr>
          <a:xfrm>
            <a:off x="2630688" y="3138025"/>
            <a:ext cx="1953600" cy="1220400"/>
          </a:xfrm>
          <a:prstGeom prst="roundRect">
            <a:avLst>
              <a:gd fmla="val 2118" name="adj"/>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p:txBody>
      </p:sp>
      <p:sp>
        <p:nvSpPr>
          <p:cNvPr id="1259" name="Google Shape;1259;p103"/>
          <p:cNvSpPr/>
          <p:nvPr/>
        </p:nvSpPr>
        <p:spPr>
          <a:xfrm>
            <a:off x="4667288" y="3125063"/>
            <a:ext cx="1953600" cy="1220400"/>
          </a:xfrm>
          <a:prstGeom prst="roundRect">
            <a:avLst>
              <a:gd fmla="val 2118" name="adj"/>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p:txBody>
      </p:sp>
      <p:sp>
        <p:nvSpPr>
          <p:cNvPr id="1260" name="Google Shape;1260;p103"/>
          <p:cNvSpPr txBox="1"/>
          <p:nvPr/>
        </p:nvSpPr>
        <p:spPr>
          <a:xfrm>
            <a:off x="86200" y="4780350"/>
            <a:ext cx="1755900" cy="3129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Source Sans Pro"/>
              <a:ea typeface="Source Sans Pro"/>
              <a:cs typeface="Source Sans Pro"/>
              <a:sym typeface="Source Sans Pro"/>
            </a:endParaRPr>
          </a:p>
        </p:txBody>
      </p:sp>
      <p:sp>
        <p:nvSpPr>
          <p:cNvPr id="1261" name="Google Shape;1261;p103"/>
          <p:cNvSpPr/>
          <p:nvPr/>
        </p:nvSpPr>
        <p:spPr>
          <a:xfrm>
            <a:off x="0" y="0"/>
            <a:ext cx="9144000" cy="838800"/>
          </a:xfrm>
          <a:prstGeom prst="rect">
            <a:avLst/>
          </a:prstGeom>
          <a:solidFill>
            <a:srgbClr val="0070C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1" sz="1400" u="none" cap="none" strike="noStrike">
              <a:solidFill>
                <a:srgbClr val="FFFFFF"/>
              </a:solidFill>
              <a:latin typeface="Source Sans Pro"/>
              <a:ea typeface="Source Sans Pro"/>
              <a:cs typeface="Source Sans Pro"/>
              <a:sym typeface="Source Sans Pro"/>
            </a:endParaRPr>
          </a:p>
        </p:txBody>
      </p:sp>
      <p:sp>
        <p:nvSpPr>
          <p:cNvPr id="1262" name="Google Shape;1262;p103"/>
          <p:cNvSpPr txBox="1"/>
          <p:nvPr/>
        </p:nvSpPr>
        <p:spPr>
          <a:xfrm>
            <a:off x="3018725" y="0"/>
            <a:ext cx="5551200" cy="8985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Passenger</a:t>
            </a:r>
            <a:r>
              <a:rPr b="1" i="0" lang="en" sz="1800" u="none" cap="none" strike="noStrike">
                <a:solidFill>
                  <a:srgbClr val="FFFFFF"/>
                </a:solidFill>
                <a:latin typeface="Source Sans Pro"/>
                <a:ea typeface="Source Sans Pro"/>
                <a:cs typeface="Source Sans Pro"/>
                <a:sym typeface="Source Sans Pro"/>
              </a:rPr>
              <a:t>-360 for</a:t>
            </a:r>
            <a:r>
              <a:rPr b="1" lang="en" sz="1800">
                <a:solidFill>
                  <a:srgbClr val="FFFFFF"/>
                </a:solidFill>
                <a:latin typeface="Source Sans Pro"/>
                <a:ea typeface="Source Sans Pro"/>
                <a:cs typeface="Source Sans Pro"/>
                <a:sym typeface="Source Sans Pro"/>
              </a:rPr>
              <a:t> S</a:t>
            </a:r>
            <a:r>
              <a:rPr b="1" i="0" lang="en" sz="1800" u="none" cap="none" strike="noStrike">
                <a:solidFill>
                  <a:srgbClr val="FFFFFF"/>
                </a:solidFill>
                <a:latin typeface="Source Sans Pro"/>
                <a:ea typeface="Source Sans Pro"/>
                <a:cs typeface="Source Sans Pro"/>
                <a:sym typeface="Source Sans Pro"/>
              </a:rPr>
              <a:t>ecurity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 sz="1200" u="none" cap="none" strike="noStrike">
                <a:solidFill>
                  <a:srgbClr val="FFFFFF"/>
                </a:solidFill>
                <a:latin typeface="Source Sans Pro"/>
                <a:ea typeface="Source Sans Pro"/>
                <a:cs typeface="Source Sans Pro"/>
                <a:sym typeface="Source Sans Pro"/>
              </a:rPr>
              <a:t>Since 2017, Tamr has helped the DHS master passenger data to screen against risk criteria for threat prevention, public health dangers and a variety of other use cases</a:t>
            </a:r>
            <a:endParaRPr b="0" i="0" sz="1200" u="none" cap="none" strike="noStrike">
              <a:solidFill>
                <a:srgbClr val="FFFFFF"/>
              </a:solidFill>
              <a:latin typeface="Source Sans Pro"/>
              <a:ea typeface="Source Sans Pro"/>
              <a:cs typeface="Source Sans Pro"/>
              <a:sym typeface="Source Sans Pro"/>
            </a:endParaRPr>
          </a:p>
        </p:txBody>
      </p:sp>
      <p:sp>
        <p:nvSpPr>
          <p:cNvPr id="1263" name="Google Shape;1263;p103"/>
          <p:cNvSpPr/>
          <p:nvPr/>
        </p:nvSpPr>
        <p:spPr>
          <a:xfrm>
            <a:off x="686877" y="199849"/>
            <a:ext cx="4572000" cy="73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US Department of Homeland </a:t>
            </a:r>
            <a:endParaRPr sz="1100"/>
          </a:p>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Security (DHS)</a:t>
            </a:r>
            <a:endParaRPr b="0" i="0" sz="1400" u="none" cap="none" strike="noStrike">
              <a:solidFill>
                <a:srgbClr val="000000"/>
              </a:solidFill>
              <a:latin typeface="Arial"/>
              <a:ea typeface="Arial"/>
              <a:cs typeface="Arial"/>
              <a:sym typeface="Arial"/>
            </a:endParaRPr>
          </a:p>
        </p:txBody>
      </p:sp>
      <p:pic>
        <p:nvPicPr>
          <p:cNvPr id="1264" name="Google Shape;1264;p103"/>
          <p:cNvPicPr preferRelativeResize="0"/>
          <p:nvPr/>
        </p:nvPicPr>
        <p:blipFill rotWithShape="1">
          <a:blip r:embed="rId3">
            <a:alphaModFix/>
          </a:blip>
          <a:srcRect b="0" l="0" r="0" t="0"/>
          <a:stretch/>
        </p:blipFill>
        <p:spPr>
          <a:xfrm>
            <a:off x="144664" y="142657"/>
            <a:ext cx="542213" cy="540000"/>
          </a:xfrm>
          <a:prstGeom prst="rect">
            <a:avLst/>
          </a:prstGeom>
          <a:noFill/>
          <a:ln>
            <a:noFill/>
          </a:ln>
        </p:spPr>
      </p:pic>
      <p:sp>
        <p:nvSpPr>
          <p:cNvPr id="1265" name="Google Shape;1265;p103"/>
          <p:cNvSpPr/>
          <p:nvPr/>
        </p:nvSpPr>
        <p:spPr>
          <a:xfrm>
            <a:off x="6693750" y="3127313"/>
            <a:ext cx="1953600" cy="1220400"/>
          </a:xfrm>
          <a:prstGeom prst="roundRect">
            <a:avLst>
              <a:gd fmla="val 2118" name="adj"/>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p:txBody>
      </p:sp>
      <p:sp>
        <p:nvSpPr>
          <p:cNvPr id="1266" name="Google Shape;1266;p103"/>
          <p:cNvSpPr txBox="1"/>
          <p:nvPr/>
        </p:nvSpPr>
        <p:spPr>
          <a:xfrm>
            <a:off x="599175" y="3669638"/>
            <a:ext cx="1953600" cy="3885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i="0" lang="en" sz="1000" u="none" cap="none" strike="noStrike">
                <a:solidFill>
                  <a:schemeClr val="dk1"/>
                </a:solidFill>
                <a:latin typeface="Source Sans Pro"/>
                <a:ea typeface="Source Sans Pro"/>
                <a:cs typeface="Source Sans Pro"/>
                <a:sym typeface="Source Sans Pro"/>
              </a:rPr>
              <a:t>Phase 1 - Accuracy</a:t>
            </a:r>
            <a:endParaRPr b="1" i="0" sz="100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900">
                <a:solidFill>
                  <a:schemeClr val="dk1"/>
                </a:solidFill>
                <a:latin typeface="Source Sans Pro"/>
                <a:ea typeface="Source Sans Pro"/>
                <a:cs typeface="Source Sans Pro"/>
                <a:sym typeface="Source Sans Pro"/>
              </a:rPr>
              <a:t>Improve accuracy of entity resolution with biographical and reservation data </a:t>
            </a:r>
            <a:endParaRPr sz="1000">
              <a:solidFill>
                <a:schemeClr val="dk1"/>
              </a:solidFill>
              <a:latin typeface="Source Sans Pro"/>
              <a:ea typeface="Source Sans Pro"/>
              <a:cs typeface="Source Sans Pro"/>
              <a:sym typeface="Source Sans Pro"/>
            </a:endParaRPr>
          </a:p>
        </p:txBody>
      </p:sp>
      <p:sp>
        <p:nvSpPr>
          <p:cNvPr id="1267" name="Google Shape;1267;p103"/>
          <p:cNvSpPr txBox="1"/>
          <p:nvPr/>
        </p:nvSpPr>
        <p:spPr>
          <a:xfrm>
            <a:off x="2630700" y="3669638"/>
            <a:ext cx="1953600" cy="3885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i="0" lang="en" sz="1000" u="none" cap="none" strike="noStrike">
                <a:solidFill>
                  <a:schemeClr val="dk1"/>
                </a:solidFill>
                <a:latin typeface="Source Sans Pro"/>
                <a:ea typeface="Source Sans Pro"/>
                <a:cs typeface="Source Sans Pro"/>
                <a:sym typeface="Source Sans Pro"/>
              </a:rPr>
              <a:t>Phase 2 - Automation</a:t>
            </a:r>
            <a:endParaRPr b="1" i="0" sz="100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900">
                <a:solidFill>
                  <a:schemeClr val="dk1"/>
                </a:solidFill>
                <a:latin typeface="Source Sans Pro"/>
                <a:ea typeface="Source Sans Pro"/>
                <a:cs typeface="Source Sans Pro"/>
                <a:sym typeface="Source Sans Pro"/>
              </a:rPr>
              <a:t>Build data pipeline and automate data movement and system controls </a:t>
            </a:r>
            <a:endParaRPr sz="900">
              <a:solidFill>
                <a:schemeClr val="dk1"/>
              </a:solidFill>
              <a:latin typeface="Source Sans Pro"/>
              <a:ea typeface="Source Sans Pro"/>
              <a:cs typeface="Source Sans Pro"/>
              <a:sym typeface="Source Sans Pro"/>
            </a:endParaRPr>
          </a:p>
          <a:p>
            <a:pPr indent="0" lvl="0" marL="0" marR="0" rtl="0" algn="ctr">
              <a:spcBef>
                <a:spcPts val="0"/>
              </a:spcBef>
              <a:spcAft>
                <a:spcPts val="0"/>
              </a:spcAft>
              <a:buNone/>
            </a:pPr>
            <a:r>
              <a:t/>
            </a:r>
            <a:endParaRPr sz="1000">
              <a:solidFill>
                <a:schemeClr val="dk1"/>
              </a:solidFill>
              <a:latin typeface="Source Sans Pro"/>
              <a:ea typeface="Source Sans Pro"/>
              <a:cs typeface="Source Sans Pro"/>
              <a:sym typeface="Source Sans Pro"/>
            </a:endParaRPr>
          </a:p>
        </p:txBody>
      </p:sp>
      <p:sp>
        <p:nvSpPr>
          <p:cNvPr id="1268" name="Google Shape;1268;p103"/>
          <p:cNvSpPr txBox="1"/>
          <p:nvPr/>
        </p:nvSpPr>
        <p:spPr>
          <a:xfrm>
            <a:off x="4662225" y="3669638"/>
            <a:ext cx="1953600" cy="3885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i="0" lang="en" sz="1000" u="none" cap="none" strike="noStrike">
                <a:solidFill>
                  <a:schemeClr val="dk1"/>
                </a:solidFill>
                <a:latin typeface="Source Sans Pro"/>
                <a:ea typeface="Source Sans Pro"/>
                <a:cs typeface="Source Sans Pro"/>
                <a:sym typeface="Source Sans Pro"/>
              </a:rPr>
              <a:t>Phase 3 - Performance</a:t>
            </a:r>
            <a:endParaRPr b="1" i="0" sz="100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900">
                <a:solidFill>
                  <a:schemeClr val="dk1"/>
                </a:solidFill>
                <a:latin typeface="Source Sans Pro"/>
                <a:ea typeface="Source Sans Pro"/>
                <a:cs typeface="Source Sans Pro"/>
                <a:sym typeface="Source Sans Pro"/>
              </a:rPr>
              <a:t>Optimize performance through a new low latency match service and reliable, robust communications  </a:t>
            </a:r>
            <a:endParaRPr sz="900">
              <a:solidFill>
                <a:schemeClr val="dk1"/>
              </a:solidFill>
              <a:latin typeface="Source Sans Pro"/>
              <a:ea typeface="Source Sans Pro"/>
              <a:cs typeface="Source Sans Pro"/>
              <a:sym typeface="Source Sans Pro"/>
            </a:endParaRPr>
          </a:p>
          <a:p>
            <a:pPr indent="0" lvl="0" marL="0" marR="0" rtl="0" algn="ctr">
              <a:spcBef>
                <a:spcPts val="0"/>
              </a:spcBef>
              <a:spcAft>
                <a:spcPts val="0"/>
              </a:spcAft>
              <a:buNone/>
            </a:pPr>
            <a:r>
              <a:t/>
            </a:r>
            <a:endParaRPr sz="1000">
              <a:solidFill>
                <a:schemeClr val="dk1"/>
              </a:solidFill>
              <a:latin typeface="Source Sans Pro"/>
              <a:ea typeface="Source Sans Pro"/>
              <a:cs typeface="Source Sans Pro"/>
              <a:sym typeface="Source Sans Pro"/>
            </a:endParaRPr>
          </a:p>
        </p:txBody>
      </p:sp>
      <p:sp>
        <p:nvSpPr>
          <p:cNvPr id="1269" name="Google Shape;1269;p103"/>
          <p:cNvSpPr txBox="1"/>
          <p:nvPr/>
        </p:nvSpPr>
        <p:spPr>
          <a:xfrm>
            <a:off x="6576275" y="3669638"/>
            <a:ext cx="2071200" cy="6504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i="0" lang="en" sz="1000" u="none" cap="none" strike="noStrike">
                <a:solidFill>
                  <a:schemeClr val="dk1"/>
                </a:solidFill>
                <a:latin typeface="Source Sans Pro"/>
                <a:ea typeface="Source Sans Pro"/>
                <a:cs typeface="Source Sans Pro"/>
                <a:sym typeface="Source Sans Pro"/>
              </a:rPr>
              <a:t>Phase 4-Interoperability</a:t>
            </a:r>
            <a:endParaRPr b="1" i="0" sz="1000" u="none" cap="none" strike="noStrike">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rPr lang="en" sz="900">
                <a:solidFill>
                  <a:schemeClr val="dk1"/>
                </a:solidFill>
                <a:latin typeface="Source Sans Pro"/>
                <a:ea typeface="Source Sans Pro"/>
                <a:cs typeface="Source Sans Pro"/>
                <a:sym typeface="Source Sans Pro"/>
              </a:rPr>
              <a:t>Ensure stability for deployment into variety of environments</a:t>
            </a:r>
            <a:endParaRPr sz="900">
              <a:solidFill>
                <a:schemeClr val="dk1"/>
              </a:solidFill>
              <a:latin typeface="Source Sans Pro"/>
              <a:ea typeface="Source Sans Pro"/>
              <a:cs typeface="Source Sans Pro"/>
              <a:sym typeface="Source Sans Pro"/>
            </a:endParaRPr>
          </a:p>
          <a:p>
            <a:pPr indent="0" lvl="0" marL="0" marR="0" rtl="0" algn="ctr">
              <a:spcBef>
                <a:spcPts val="0"/>
              </a:spcBef>
              <a:spcAft>
                <a:spcPts val="0"/>
              </a:spcAft>
              <a:buNone/>
            </a:pPr>
            <a:r>
              <a:t/>
            </a:r>
            <a:endParaRPr sz="1000">
              <a:solidFill>
                <a:schemeClr val="dk1"/>
              </a:solidFill>
              <a:latin typeface="Source Sans Pro"/>
              <a:ea typeface="Source Sans Pro"/>
              <a:cs typeface="Source Sans Pro"/>
              <a:sym typeface="Source Sans Pro"/>
            </a:endParaRPr>
          </a:p>
        </p:txBody>
      </p:sp>
      <p:sp>
        <p:nvSpPr>
          <p:cNvPr id="1270" name="Google Shape;1270;p103"/>
          <p:cNvSpPr txBox="1"/>
          <p:nvPr/>
        </p:nvSpPr>
        <p:spPr>
          <a:xfrm>
            <a:off x="6432742" y="896184"/>
            <a:ext cx="2711400" cy="30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 sz="1400" u="none" cap="none" strike="noStrike">
                <a:solidFill>
                  <a:schemeClr val="dk1"/>
                </a:solidFill>
                <a:latin typeface="Source Sans Pro"/>
                <a:ea typeface="Source Sans Pro"/>
                <a:cs typeface="Source Sans Pro"/>
                <a:sym typeface="Source Sans Pro"/>
              </a:rPr>
              <a:t>Tamr Recognition by DHS</a:t>
            </a:r>
            <a:endParaRPr b="1" i="0" sz="1400" u="none" cap="none" strike="noStrike">
              <a:solidFill>
                <a:schemeClr val="dk1"/>
              </a:solidFill>
              <a:latin typeface="Source Sans Pro"/>
              <a:ea typeface="Source Sans Pro"/>
              <a:cs typeface="Source Sans Pro"/>
              <a:sym typeface="Source Sans Pro"/>
            </a:endParaRPr>
          </a:p>
        </p:txBody>
      </p:sp>
      <p:cxnSp>
        <p:nvCxnSpPr>
          <p:cNvPr id="1271" name="Google Shape;1271;p103"/>
          <p:cNvCxnSpPr/>
          <p:nvPr/>
        </p:nvCxnSpPr>
        <p:spPr>
          <a:xfrm flipH="1">
            <a:off x="6315750" y="1151381"/>
            <a:ext cx="2700" cy="1720800"/>
          </a:xfrm>
          <a:prstGeom prst="straightConnector1">
            <a:avLst/>
          </a:prstGeom>
          <a:noFill/>
          <a:ln cap="flat" cmpd="sng" w="19050">
            <a:solidFill>
              <a:schemeClr val="accent5"/>
            </a:solidFill>
            <a:prstDash val="dash"/>
            <a:round/>
            <a:headEnd len="sm" w="sm" type="none"/>
            <a:tailEnd len="sm" w="sm" type="none"/>
          </a:ln>
        </p:spPr>
      </p:cxnSp>
      <p:pic>
        <p:nvPicPr>
          <p:cNvPr id="1272" name="Google Shape;1272;p103"/>
          <p:cNvPicPr preferRelativeResize="0"/>
          <p:nvPr/>
        </p:nvPicPr>
        <p:blipFill rotWithShape="1">
          <a:blip r:embed="rId4">
            <a:alphaModFix/>
          </a:blip>
          <a:srcRect b="41402" l="-553" r="46361" t="-2793"/>
          <a:stretch/>
        </p:blipFill>
        <p:spPr>
          <a:xfrm>
            <a:off x="5451388" y="1863191"/>
            <a:ext cx="685875" cy="650519"/>
          </a:xfrm>
          <a:prstGeom prst="rect">
            <a:avLst/>
          </a:prstGeom>
          <a:noFill/>
          <a:ln>
            <a:noFill/>
          </a:ln>
        </p:spPr>
      </p:pic>
      <p:pic>
        <p:nvPicPr>
          <p:cNvPr id="1273" name="Google Shape;1273;p103"/>
          <p:cNvPicPr preferRelativeResize="0"/>
          <p:nvPr/>
        </p:nvPicPr>
        <p:blipFill rotWithShape="1">
          <a:blip r:embed="rId5">
            <a:alphaModFix/>
          </a:blip>
          <a:srcRect b="31624" l="0" r="8651" t="0"/>
          <a:stretch/>
        </p:blipFill>
        <p:spPr>
          <a:xfrm>
            <a:off x="5458418" y="1478110"/>
            <a:ext cx="231487" cy="385076"/>
          </a:xfrm>
          <a:prstGeom prst="rect">
            <a:avLst/>
          </a:prstGeom>
          <a:noFill/>
          <a:ln>
            <a:noFill/>
          </a:ln>
        </p:spPr>
      </p:pic>
      <p:pic>
        <p:nvPicPr>
          <p:cNvPr id="1274" name="Google Shape;1274;p103"/>
          <p:cNvPicPr preferRelativeResize="0"/>
          <p:nvPr/>
        </p:nvPicPr>
        <p:blipFill rotWithShape="1">
          <a:blip r:embed="rId6">
            <a:alphaModFix/>
          </a:blip>
          <a:srcRect b="0" l="0" r="0" t="0"/>
          <a:stretch/>
        </p:blipFill>
        <p:spPr>
          <a:xfrm>
            <a:off x="5230258" y="1888771"/>
            <a:ext cx="135987" cy="267725"/>
          </a:xfrm>
          <a:prstGeom prst="rect">
            <a:avLst/>
          </a:prstGeom>
          <a:noFill/>
          <a:ln>
            <a:noFill/>
          </a:ln>
        </p:spPr>
      </p:pic>
      <p:pic>
        <p:nvPicPr>
          <p:cNvPr id="1275" name="Google Shape;1275;p103"/>
          <p:cNvPicPr preferRelativeResize="0"/>
          <p:nvPr/>
        </p:nvPicPr>
        <p:blipFill rotWithShape="1">
          <a:blip r:embed="rId7">
            <a:alphaModFix/>
          </a:blip>
          <a:srcRect b="0" l="0" r="0" t="0"/>
          <a:stretch/>
        </p:blipFill>
        <p:spPr>
          <a:xfrm>
            <a:off x="4852138" y="1897901"/>
            <a:ext cx="267725" cy="267725"/>
          </a:xfrm>
          <a:prstGeom prst="rect">
            <a:avLst/>
          </a:prstGeom>
          <a:noFill/>
          <a:ln>
            <a:noFill/>
          </a:ln>
        </p:spPr>
      </p:pic>
      <p:sp>
        <p:nvSpPr>
          <p:cNvPr id="1276" name="Google Shape;1276;p103"/>
          <p:cNvSpPr/>
          <p:nvPr/>
        </p:nvSpPr>
        <p:spPr>
          <a:xfrm>
            <a:off x="3271150" y="1357897"/>
            <a:ext cx="1470600" cy="158700"/>
          </a:xfrm>
          <a:prstGeom prst="homePlat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000" u="none" cap="none" strike="noStrike">
                <a:solidFill>
                  <a:srgbClr val="FFFFFF"/>
                </a:solidFill>
                <a:latin typeface="Source Sans Pro"/>
                <a:ea typeface="Source Sans Pro"/>
                <a:cs typeface="Source Sans Pro"/>
                <a:sym typeface="Source Sans Pro"/>
              </a:rPr>
              <a:t>Risk criteria</a:t>
            </a:r>
            <a:endParaRPr b="1" i="0" sz="1000" u="none" cap="none" strike="noStrike">
              <a:solidFill>
                <a:srgbClr val="000000"/>
              </a:solidFill>
            </a:endParaRPr>
          </a:p>
        </p:txBody>
      </p:sp>
      <p:sp>
        <p:nvSpPr>
          <p:cNvPr id="1277" name="Google Shape;1277;p103"/>
          <p:cNvSpPr/>
          <p:nvPr/>
        </p:nvSpPr>
        <p:spPr>
          <a:xfrm>
            <a:off x="3273249" y="1657655"/>
            <a:ext cx="1470600" cy="158700"/>
          </a:xfrm>
          <a:prstGeom prst="homePlat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000" u="none" cap="none" strike="noStrike">
                <a:solidFill>
                  <a:srgbClr val="FFFFFF"/>
                </a:solidFill>
                <a:latin typeface="Source Sans Pro"/>
                <a:ea typeface="Source Sans Pro"/>
                <a:cs typeface="Source Sans Pro"/>
                <a:sym typeface="Source Sans Pro"/>
              </a:rPr>
              <a:t>Passenger Manifest</a:t>
            </a:r>
            <a:endParaRPr b="1" i="0" sz="1000" u="none" cap="none" strike="noStrike">
              <a:solidFill>
                <a:srgbClr val="000000"/>
              </a:solidFill>
            </a:endParaRPr>
          </a:p>
        </p:txBody>
      </p:sp>
      <p:sp>
        <p:nvSpPr>
          <p:cNvPr id="1278" name="Google Shape;1278;p103"/>
          <p:cNvSpPr/>
          <p:nvPr/>
        </p:nvSpPr>
        <p:spPr>
          <a:xfrm>
            <a:off x="3271163" y="1978827"/>
            <a:ext cx="1470600" cy="158700"/>
          </a:xfrm>
          <a:prstGeom prst="homePlat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000" u="none" cap="none" strike="noStrike">
                <a:solidFill>
                  <a:srgbClr val="FFFFFF"/>
                </a:solidFill>
                <a:latin typeface="Source Sans Pro"/>
                <a:ea typeface="Source Sans Pro"/>
                <a:cs typeface="Source Sans Pro"/>
                <a:sym typeface="Source Sans Pro"/>
              </a:rPr>
              <a:t>Travel Reservation</a:t>
            </a:r>
            <a:endParaRPr b="1" i="0" sz="1000" u="none" cap="none" strike="noStrike">
              <a:solidFill>
                <a:srgbClr val="000000"/>
              </a:solidFill>
            </a:endParaRPr>
          </a:p>
        </p:txBody>
      </p:sp>
      <p:sp>
        <p:nvSpPr>
          <p:cNvPr id="1279" name="Google Shape;1279;p103"/>
          <p:cNvSpPr/>
          <p:nvPr/>
        </p:nvSpPr>
        <p:spPr>
          <a:xfrm>
            <a:off x="3277174" y="2258475"/>
            <a:ext cx="1470600" cy="158700"/>
          </a:xfrm>
          <a:prstGeom prst="homePlat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000" u="none" cap="none" strike="noStrike">
                <a:solidFill>
                  <a:srgbClr val="FFFFFF"/>
                </a:solidFill>
                <a:latin typeface="Source Sans Pro"/>
                <a:ea typeface="Source Sans Pro"/>
                <a:cs typeface="Source Sans Pro"/>
                <a:sym typeface="Source Sans Pro"/>
              </a:rPr>
              <a:t>Intergovernmental</a:t>
            </a:r>
            <a:endParaRPr b="1" i="0" sz="1000" u="none" cap="none" strike="noStrike">
              <a:solidFill>
                <a:srgbClr val="000000"/>
              </a:solidFill>
            </a:endParaRPr>
          </a:p>
        </p:txBody>
      </p:sp>
      <p:sp>
        <p:nvSpPr>
          <p:cNvPr id="1280" name="Google Shape;1280;p103"/>
          <p:cNvSpPr/>
          <p:nvPr/>
        </p:nvSpPr>
        <p:spPr>
          <a:xfrm>
            <a:off x="3274129" y="2538125"/>
            <a:ext cx="1470600" cy="158700"/>
          </a:xfrm>
          <a:prstGeom prst="homePlat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 sz="1000" u="none" cap="none" strike="noStrike">
                <a:solidFill>
                  <a:srgbClr val="FFFFFF"/>
                </a:solidFill>
                <a:latin typeface="Source Sans Pro"/>
                <a:ea typeface="Source Sans Pro"/>
                <a:cs typeface="Source Sans Pro"/>
                <a:sym typeface="Source Sans Pro"/>
              </a:rPr>
              <a:t>INTERPOL Exchanges</a:t>
            </a:r>
            <a:endParaRPr b="1" i="0" sz="1000" u="none" cap="none" strike="noStrike">
              <a:solidFill>
                <a:srgbClr val="000000"/>
              </a:solidFill>
            </a:endParaRPr>
          </a:p>
        </p:txBody>
      </p:sp>
      <p:sp>
        <p:nvSpPr>
          <p:cNvPr id="1281" name="Google Shape;1281;p103"/>
          <p:cNvSpPr txBox="1"/>
          <p:nvPr/>
        </p:nvSpPr>
        <p:spPr>
          <a:xfrm>
            <a:off x="257600" y="896175"/>
            <a:ext cx="5768700" cy="30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 sz="1400" u="none" cap="none" strike="noStrike">
                <a:solidFill>
                  <a:schemeClr val="dk1"/>
                </a:solidFill>
                <a:latin typeface="Source Sans Pro"/>
                <a:ea typeface="Source Sans Pro"/>
                <a:cs typeface="Source Sans Pro"/>
                <a:sym typeface="Source Sans Pro"/>
              </a:rPr>
              <a:t>Global Travel Assessment System (GTAS): Passenger Data and Analytics </a:t>
            </a:r>
            <a:endParaRPr b="0" i="0" sz="1400" u="none" cap="none" strike="noStrike">
              <a:solidFill>
                <a:schemeClr val="dk1"/>
              </a:solidFill>
              <a:latin typeface="Arial"/>
              <a:ea typeface="Arial"/>
              <a:cs typeface="Arial"/>
              <a:sym typeface="Arial"/>
            </a:endParaRPr>
          </a:p>
        </p:txBody>
      </p:sp>
      <p:sp>
        <p:nvSpPr>
          <p:cNvPr id="1282" name="Google Shape;1282;p103"/>
          <p:cNvSpPr txBox="1"/>
          <p:nvPr/>
        </p:nvSpPr>
        <p:spPr>
          <a:xfrm>
            <a:off x="144675" y="1232899"/>
            <a:ext cx="3136800" cy="1639200"/>
          </a:xfrm>
          <a:prstGeom prst="rect">
            <a:avLst/>
          </a:prstGeom>
          <a:noFill/>
          <a:ln>
            <a:noFill/>
          </a:ln>
        </p:spPr>
        <p:txBody>
          <a:bodyPr anchorCtr="0" anchor="t" bIns="0" lIns="91425" spcFirstLastPara="1" rIns="91425" wrap="square" tIns="0">
            <a:noAutofit/>
          </a:bodyPr>
          <a:lstStyle/>
          <a:p>
            <a:pPr indent="-200025" lvl="0" marL="177800" marR="0" rtl="0" algn="l">
              <a:spcBef>
                <a:spcPts val="0"/>
              </a:spcBef>
              <a:spcAft>
                <a:spcPts val="0"/>
              </a:spcAft>
              <a:buClr>
                <a:schemeClr val="dk1"/>
              </a:buClr>
              <a:buSzPts val="1150"/>
              <a:buChar char="•"/>
            </a:pPr>
            <a:r>
              <a:rPr b="1" i="0" lang="en" sz="1150" u="none" cap="none" strike="noStrike">
                <a:solidFill>
                  <a:schemeClr val="dk1"/>
                </a:solidFill>
                <a:latin typeface="Source Sans Pro"/>
                <a:ea typeface="Source Sans Pro"/>
                <a:cs typeface="Source Sans Pro"/>
                <a:sym typeface="Source Sans Pro"/>
              </a:rPr>
              <a:t>Perform real time assessment</a:t>
            </a:r>
            <a:endParaRPr b="1" sz="1150">
              <a:solidFill>
                <a:schemeClr val="dk1"/>
              </a:solidFill>
            </a:endParaRPr>
          </a:p>
          <a:p>
            <a:pPr indent="-200025" lvl="2" marL="355600" marR="0" rtl="0" algn="l">
              <a:spcBef>
                <a:spcPts val="600"/>
              </a:spcBef>
              <a:spcAft>
                <a:spcPts val="0"/>
              </a:spcAft>
              <a:buClr>
                <a:schemeClr val="dk1"/>
              </a:buClr>
              <a:buSzPts val="1150"/>
              <a:buFont typeface="Source Sans Pro"/>
              <a:buChar char="o"/>
            </a:pPr>
            <a:r>
              <a:rPr i="0" lang="en" sz="1150" u="none" cap="none" strike="noStrike">
                <a:solidFill>
                  <a:schemeClr val="dk1"/>
                </a:solidFill>
                <a:latin typeface="Source Sans Pro"/>
                <a:ea typeface="Source Sans Pro"/>
                <a:cs typeface="Source Sans Pro"/>
                <a:sym typeface="Source Sans Pro"/>
              </a:rPr>
              <a:t>Receive and store air traveller reservations</a:t>
            </a:r>
            <a:endParaRPr sz="1150">
              <a:solidFill>
                <a:schemeClr val="dk1"/>
              </a:solidFill>
              <a:latin typeface="Source Sans Pro"/>
              <a:ea typeface="Source Sans Pro"/>
              <a:cs typeface="Source Sans Pro"/>
              <a:sym typeface="Source Sans Pro"/>
            </a:endParaRPr>
          </a:p>
          <a:p>
            <a:pPr indent="-200025" lvl="0" marL="177800" marR="0" rtl="0" algn="l">
              <a:spcBef>
                <a:spcPts val="600"/>
              </a:spcBef>
              <a:spcAft>
                <a:spcPts val="0"/>
              </a:spcAft>
              <a:buClr>
                <a:schemeClr val="dk1"/>
              </a:buClr>
              <a:buSzPts val="1150"/>
              <a:buChar char="•"/>
            </a:pPr>
            <a:r>
              <a:rPr b="1" i="0" lang="en" sz="1150" u="none" cap="none" strike="noStrike">
                <a:solidFill>
                  <a:schemeClr val="dk1"/>
                </a:solidFill>
                <a:latin typeface="Source Sans Pro"/>
                <a:ea typeface="Source Sans Pro"/>
                <a:cs typeface="Source Sans Pro"/>
                <a:sym typeface="Source Sans Pro"/>
              </a:rPr>
              <a:t>Incorporate across multiple data sources</a:t>
            </a:r>
            <a:endParaRPr b="1" sz="1150">
              <a:solidFill>
                <a:schemeClr val="dk1"/>
              </a:solidFill>
            </a:endParaRPr>
          </a:p>
          <a:p>
            <a:pPr indent="-200025" lvl="2" marL="355600" marR="0" rtl="0" algn="l">
              <a:spcBef>
                <a:spcPts val="600"/>
              </a:spcBef>
              <a:spcAft>
                <a:spcPts val="0"/>
              </a:spcAft>
              <a:buClr>
                <a:schemeClr val="dk1"/>
              </a:buClr>
              <a:buSzPts val="1150"/>
              <a:buFont typeface="Source Sans Pro"/>
              <a:buChar char="o"/>
            </a:pPr>
            <a:r>
              <a:rPr i="0" lang="en" sz="1150" u="none" cap="none" strike="noStrike">
                <a:solidFill>
                  <a:schemeClr val="dk1"/>
                </a:solidFill>
                <a:latin typeface="Source Sans Pro"/>
                <a:ea typeface="Source Sans Pro"/>
                <a:cs typeface="Source Sans Pro"/>
                <a:sym typeface="Source Sans Pro"/>
              </a:rPr>
              <a:t>Query flight and travel history</a:t>
            </a:r>
            <a:endParaRPr sz="1150">
              <a:solidFill>
                <a:schemeClr val="dk1"/>
              </a:solidFill>
              <a:latin typeface="Source Sans Pro"/>
              <a:ea typeface="Source Sans Pro"/>
              <a:cs typeface="Source Sans Pro"/>
              <a:sym typeface="Source Sans Pro"/>
            </a:endParaRPr>
          </a:p>
          <a:p>
            <a:pPr indent="-200025" lvl="1" marL="177800" marR="0" rtl="0" algn="l">
              <a:spcBef>
                <a:spcPts val="600"/>
              </a:spcBef>
              <a:spcAft>
                <a:spcPts val="0"/>
              </a:spcAft>
              <a:buClr>
                <a:schemeClr val="dk1"/>
              </a:buClr>
              <a:buSzPts val="1150"/>
              <a:buChar char="•"/>
            </a:pPr>
            <a:r>
              <a:rPr b="1" i="0" lang="en" sz="1150" u="none" cap="none" strike="noStrike">
                <a:solidFill>
                  <a:schemeClr val="dk1"/>
                </a:solidFill>
                <a:latin typeface="Source Sans Pro"/>
                <a:ea typeface="Source Sans Pro"/>
                <a:cs typeface="Source Sans Pro"/>
                <a:sym typeface="Source Sans Pro"/>
              </a:rPr>
              <a:t>Manage risk criteria and watch lists</a:t>
            </a:r>
            <a:endParaRPr b="1" sz="1150">
              <a:solidFill>
                <a:schemeClr val="dk1"/>
              </a:solidFill>
            </a:endParaRPr>
          </a:p>
          <a:p>
            <a:pPr indent="-200025" lvl="2" marL="355600" marR="0" rtl="0" algn="l">
              <a:spcBef>
                <a:spcPts val="600"/>
              </a:spcBef>
              <a:spcAft>
                <a:spcPts val="0"/>
              </a:spcAft>
              <a:buClr>
                <a:schemeClr val="dk1"/>
              </a:buClr>
              <a:buSzPts val="1150"/>
              <a:buFont typeface="Source Sans Pro"/>
              <a:buChar char="o"/>
            </a:pPr>
            <a:r>
              <a:rPr i="0" lang="en" sz="1150" u="none" cap="none" strike="noStrike">
                <a:solidFill>
                  <a:schemeClr val="dk1"/>
                </a:solidFill>
                <a:latin typeface="Source Sans Pro"/>
                <a:ea typeface="Source Sans Pro"/>
                <a:cs typeface="Source Sans Pro"/>
                <a:sym typeface="Source Sans Pro"/>
              </a:rPr>
              <a:t>Gain 360 visibility on high risk travellers for US and member countries</a:t>
            </a:r>
            <a:endParaRPr i="0" sz="1150" u="none" cap="none" strike="noStrike">
              <a:solidFill>
                <a:schemeClr val="dk1"/>
              </a:solidFill>
              <a:latin typeface="Source Sans Pro"/>
              <a:ea typeface="Source Sans Pro"/>
              <a:cs typeface="Source Sans Pro"/>
              <a:sym typeface="Source Sans Pro"/>
            </a:endParaRPr>
          </a:p>
        </p:txBody>
      </p:sp>
      <p:sp>
        <p:nvSpPr>
          <p:cNvPr id="1283" name="Google Shape;1283;p103"/>
          <p:cNvSpPr txBox="1"/>
          <p:nvPr/>
        </p:nvSpPr>
        <p:spPr>
          <a:xfrm>
            <a:off x="6508950" y="1165525"/>
            <a:ext cx="2507100" cy="1933200"/>
          </a:xfrm>
          <a:prstGeom prst="rect">
            <a:avLst/>
          </a:prstGeom>
          <a:noFill/>
          <a:ln>
            <a:noFill/>
          </a:ln>
        </p:spPr>
        <p:txBody>
          <a:bodyPr anchorCtr="0" anchor="t" bIns="45700" lIns="91425" spcFirstLastPara="1" rIns="91425" wrap="square" tIns="0">
            <a:noAutofit/>
          </a:bodyPr>
          <a:lstStyle/>
          <a:p>
            <a:pPr indent="0" lvl="0" marL="0" marR="0" rtl="0" algn="l">
              <a:spcBef>
                <a:spcPts val="0"/>
              </a:spcBef>
              <a:spcAft>
                <a:spcPts val="0"/>
              </a:spcAft>
              <a:buNone/>
            </a:pPr>
            <a:r>
              <a:rPr b="1" i="0" lang="en" sz="1100" u="none" cap="none" strike="noStrike">
                <a:solidFill>
                  <a:schemeClr val="dk1"/>
                </a:solidFill>
                <a:latin typeface="Source Sans Pro"/>
                <a:ea typeface="Source Sans Pro"/>
                <a:cs typeface="Source Sans Pro"/>
                <a:sym typeface="Source Sans Pro"/>
              </a:rPr>
              <a:t>2019 Performer Award</a:t>
            </a:r>
            <a:endParaRPr b="1" sz="1100">
              <a:solidFill>
                <a:schemeClr val="dk1"/>
              </a:solidFill>
            </a:endParaRPr>
          </a:p>
          <a:p>
            <a:pPr indent="0" lvl="0" marL="0" marR="0" rtl="0" algn="l">
              <a:spcBef>
                <a:spcPts val="0"/>
              </a:spcBef>
              <a:spcAft>
                <a:spcPts val="0"/>
              </a:spcAft>
              <a:buNone/>
            </a:pPr>
            <a:r>
              <a:rPr i="0" lang="en" sz="1050" u="none" cap="none" strike="noStrike">
                <a:solidFill>
                  <a:schemeClr val="dk1"/>
                </a:solidFill>
                <a:latin typeface="Source Sans Pro"/>
                <a:ea typeface="Source Sans Pro"/>
                <a:cs typeface="Source Sans Pro"/>
                <a:sym typeface="Source Sans Pro"/>
              </a:rPr>
              <a:t>Crossing the Valley of Death: technical transition success story</a:t>
            </a:r>
            <a:endParaRPr i="0" sz="1050" u="none" cap="none" strike="noStrike">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sz="11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rPr b="1" i="0" lang="en" sz="1100" u="none" cap="none" strike="noStrike">
                <a:solidFill>
                  <a:schemeClr val="dk1"/>
                </a:solidFill>
                <a:latin typeface="Source Sans Pro"/>
                <a:ea typeface="Source Sans Pro"/>
                <a:cs typeface="Source Sans Pro"/>
                <a:sym typeface="Source Sans Pro"/>
              </a:rPr>
              <a:t>Inaugural Phase 5 Award for Government Solutions (June 2020)</a:t>
            </a:r>
            <a:endParaRPr b="1" sz="11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rPr i="0" lang="en" sz="1050" u="none" cap="none" strike="noStrike">
                <a:solidFill>
                  <a:schemeClr val="dk1"/>
                </a:solidFill>
                <a:latin typeface="Source Sans Pro"/>
                <a:ea typeface="Source Sans Pro"/>
                <a:cs typeface="Source Sans Pro"/>
                <a:sym typeface="Source Sans Pro"/>
              </a:rPr>
              <a:t>“Successful development of a fast and accurate high-tech solution to screen international travellers will now be applied to other operational challenges”</a:t>
            </a:r>
            <a:r>
              <a:rPr lang="en" sz="1050">
                <a:solidFill>
                  <a:schemeClr val="dk1"/>
                </a:solidFill>
                <a:latin typeface="Source Sans Pro"/>
                <a:ea typeface="Source Sans Pro"/>
                <a:cs typeface="Source Sans Pro"/>
                <a:sym typeface="Source Sans Pro"/>
              </a:rPr>
              <a:t> </a:t>
            </a:r>
            <a:endParaRPr sz="105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rPr lang="en" sz="1050">
                <a:solidFill>
                  <a:schemeClr val="dk1"/>
                </a:solidFill>
                <a:latin typeface="Source Sans Pro"/>
                <a:ea typeface="Source Sans Pro"/>
                <a:cs typeface="Source Sans Pro"/>
                <a:sym typeface="Source Sans Pro"/>
              </a:rPr>
              <a:t>Read more </a:t>
            </a:r>
            <a:r>
              <a:rPr lang="en" sz="1050" u="sng">
                <a:solidFill>
                  <a:schemeClr val="hlink"/>
                </a:solidFill>
                <a:latin typeface="Source Sans Pro"/>
                <a:ea typeface="Source Sans Pro"/>
                <a:cs typeface="Source Sans Pro"/>
                <a:sym typeface="Source Sans Pro"/>
                <a:hlinkClick r:id="rId8"/>
              </a:rPr>
              <a:t>here</a:t>
            </a:r>
            <a:endParaRPr sz="1050">
              <a:latin typeface="Source Sans Pro"/>
              <a:ea typeface="Source Sans Pro"/>
              <a:cs typeface="Source Sans Pro"/>
              <a:sym typeface="Source Sans Pro"/>
            </a:endParaRPr>
          </a:p>
          <a:p>
            <a:pPr indent="0" lvl="1" marL="0" marR="0" rtl="0" algn="l">
              <a:spcBef>
                <a:spcPts val="600"/>
              </a:spcBef>
              <a:spcAft>
                <a:spcPts val="0"/>
              </a:spcAft>
              <a:buNone/>
            </a:pPr>
            <a:r>
              <a:t/>
            </a:r>
            <a:endParaRPr b="0" i="0" sz="1100" u="none" cap="none" strike="noStrike">
              <a:solidFill>
                <a:srgbClr val="000000"/>
              </a:solidFill>
              <a:latin typeface="Source Sans Pro"/>
              <a:ea typeface="Source Sans Pro"/>
              <a:cs typeface="Source Sans Pro"/>
              <a:sym typeface="Source Sans Pro"/>
            </a:endParaRPr>
          </a:p>
        </p:txBody>
      </p:sp>
      <p:pic>
        <p:nvPicPr>
          <p:cNvPr id="1284" name="Google Shape;1284;p103"/>
          <p:cNvPicPr preferRelativeResize="0"/>
          <p:nvPr/>
        </p:nvPicPr>
        <p:blipFill>
          <a:blip r:embed="rId9">
            <a:alphaModFix/>
          </a:blip>
          <a:stretch>
            <a:fillRect/>
          </a:stretch>
        </p:blipFill>
        <p:spPr>
          <a:xfrm>
            <a:off x="7516663" y="3298138"/>
            <a:ext cx="307775" cy="312903"/>
          </a:xfrm>
          <a:prstGeom prst="rect">
            <a:avLst/>
          </a:prstGeom>
          <a:noFill/>
          <a:ln>
            <a:noFill/>
          </a:ln>
        </p:spPr>
      </p:pic>
      <p:pic>
        <p:nvPicPr>
          <p:cNvPr id="1285" name="Google Shape;1285;p103"/>
          <p:cNvPicPr preferRelativeResize="0"/>
          <p:nvPr/>
        </p:nvPicPr>
        <p:blipFill>
          <a:blip r:embed="rId10">
            <a:alphaModFix/>
          </a:blip>
          <a:stretch>
            <a:fillRect/>
          </a:stretch>
        </p:blipFill>
        <p:spPr>
          <a:xfrm>
            <a:off x="5551473" y="3300688"/>
            <a:ext cx="307782" cy="307800"/>
          </a:xfrm>
          <a:prstGeom prst="rect">
            <a:avLst/>
          </a:prstGeom>
          <a:noFill/>
          <a:ln>
            <a:noFill/>
          </a:ln>
        </p:spPr>
      </p:pic>
      <p:pic>
        <p:nvPicPr>
          <p:cNvPr id="1286" name="Google Shape;1286;p103"/>
          <p:cNvPicPr preferRelativeResize="0"/>
          <p:nvPr/>
        </p:nvPicPr>
        <p:blipFill>
          <a:blip r:embed="rId11">
            <a:alphaModFix/>
          </a:blip>
          <a:stretch>
            <a:fillRect/>
          </a:stretch>
        </p:blipFill>
        <p:spPr>
          <a:xfrm>
            <a:off x="3456993" y="3192935"/>
            <a:ext cx="465429" cy="514361"/>
          </a:xfrm>
          <a:prstGeom prst="rect">
            <a:avLst/>
          </a:prstGeom>
          <a:noFill/>
          <a:ln>
            <a:noFill/>
          </a:ln>
        </p:spPr>
      </p:pic>
      <p:pic>
        <p:nvPicPr>
          <p:cNvPr id="1287" name="Google Shape;1287;p103"/>
          <p:cNvPicPr preferRelativeResize="0"/>
          <p:nvPr/>
        </p:nvPicPr>
        <p:blipFill>
          <a:blip r:embed="rId12">
            <a:alphaModFix/>
          </a:blip>
          <a:stretch>
            <a:fillRect/>
          </a:stretch>
        </p:blipFill>
        <p:spPr>
          <a:xfrm>
            <a:off x="1344440" y="3078312"/>
            <a:ext cx="577069" cy="706647"/>
          </a:xfrm>
          <a:prstGeom prst="rect">
            <a:avLst/>
          </a:prstGeom>
          <a:noFill/>
          <a:ln>
            <a:noFill/>
          </a:ln>
        </p:spPr>
      </p:pic>
      <p:sp>
        <p:nvSpPr>
          <p:cNvPr id="1288" name="Google Shape;1288;p103"/>
          <p:cNvSpPr txBox="1"/>
          <p:nvPr/>
        </p:nvSpPr>
        <p:spPr>
          <a:xfrm>
            <a:off x="686875" y="4403100"/>
            <a:ext cx="7883100" cy="6504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1" i="1" lang="en" sz="1100" u="none" cap="none" strike="noStrike">
                <a:solidFill>
                  <a:schemeClr val="dk1"/>
                </a:solidFill>
                <a:latin typeface="Source Sans Pro"/>
                <a:ea typeface="Source Sans Pro"/>
                <a:cs typeface="Source Sans Pro"/>
                <a:sym typeface="Source Sans Pro"/>
              </a:rPr>
              <a:t>“When we were looking for companies, Tamr fit our bill perfectly. They understood what we were trying to do, why it was important to international security, and they demonstrated the capacity to execute at a commercial level”</a:t>
            </a:r>
            <a:endParaRPr b="1" i="0" sz="1100" u="none" cap="none" strike="noStrike">
              <a:solidFill>
                <a:schemeClr val="dk1"/>
              </a:solidFill>
            </a:endParaRPr>
          </a:p>
          <a:p>
            <a:pPr indent="0" lvl="0" marL="0" marR="0" rtl="0" algn="ctr">
              <a:spcBef>
                <a:spcPts val="0"/>
              </a:spcBef>
              <a:spcAft>
                <a:spcPts val="0"/>
              </a:spcAft>
              <a:buNone/>
            </a:pPr>
            <a:r>
              <a:rPr b="1" i="0" lang="en" sz="1100" u="none" cap="none" strike="noStrike">
                <a:solidFill>
                  <a:schemeClr val="dk1"/>
                </a:solidFill>
                <a:latin typeface="Source Sans Pro"/>
                <a:ea typeface="Source Sans Pro"/>
                <a:cs typeface="Source Sans Pro"/>
                <a:sym typeface="Source Sans Pro"/>
              </a:rPr>
              <a:t>- Ari Schuler</a:t>
            </a:r>
            <a:r>
              <a:rPr b="1" lang="en" sz="1100">
                <a:solidFill>
                  <a:schemeClr val="dk1"/>
                </a:solidFill>
                <a:latin typeface="Source Sans Pro"/>
                <a:ea typeface="Source Sans Pro"/>
                <a:cs typeface="Source Sans Pro"/>
                <a:sym typeface="Source Sans Pro"/>
              </a:rPr>
              <a:t>, </a:t>
            </a:r>
            <a:r>
              <a:rPr b="1" i="0" lang="en" sz="1100" u="none" cap="none" strike="noStrike">
                <a:solidFill>
                  <a:schemeClr val="dk1"/>
                </a:solidFill>
                <a:latin typeface="Source Sans Pro"/>
                <a:ea typeface="Source Sans Pro"/>
                <a:cs typeface="Source Sans Pro"/>
                <a:sym typeface="Source Sans Pro"/>
              </a:rPr>
              <a:t>Advisor, Office of the Commissioner</a:t>
            </a:r>
            <a:endParaRPr b="1" i="0" sz="1400" u="none" cap="none" strike="noStrike">
              <a:solidFill>
                <a:schemeClr val="dk1"/>
              </a:solidFill>
            </a:endParaRPr>
          </a:p>
        </p:txBody>
      </p:sp>
      <p:sp>
        <p:nvSpPr>
          <p:cNvPr id="1289" name="Google Shape;1289;p103"/>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04"/>
          <p:cNvSpPr/>
          <p:nvPr/>
        </p:nvSpPr>
        <p:spPr>
          <a:xfrm>
            <a:off x="0" y="0"/>
            <a:ext cx="9144000" cy="908700"/>
          </a:xfrm>
          <a:prstGeom prst="rect">
            <a:avLst/>
          </a:prstGeom>
          <a:solidFill>
            <a:srgbClr val="295EB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104"/>
          <p:cNvSpPr txBox="1"/>
          <p:nvPr/>
        </p:nvSpPr>
        <p:spPr>
          <a:xfrm>
            <a:off x="2436100" y="3750"/>
            <a:ext cx="6679800" cy="109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1" lang="en" sz="1700">
                <a:solidFill>
                  <a:schemeClr val="lt1"/>
                </a:solidFill>
                <a:latin typeface="Source Sans Pro"/>
                <a:ea typeface="Source Sans Pro"/>
                <a:cs typeface="Source Sans Pro"/>
                <a:sym typeface="Source Sans Pro"/>
              </a:rPr>
              <a:t>Use Case</a:t>
            </a:r>
            <a:r>
              <a:rPr b="1" lang="en" sz="1700">
                <a:solidFill>
                  <a:schemeClr val="lt1"/>
                </a:solidFill>
                <a:latin typeface="Source Sans Pro"/>
                <a:ea typeface="Source Sans Pro"/>
                <a:cs typeface="Source Sans Pro"/>
                <a:sym typeface="Source Sans Pro"/>
              </a:rPr>
              <a:t>: </a:t>
            </a:r>
            <a:r>
              <a:rPr b="1" lang="en" sz="1700">
                <a:solidFill>
                  <a:schemeClr val="lt1"/>
                </a:solidFill>
                <a:latin typeface="Source Sans Pro"/>
                <a:ea typeface="Source Sans Pro"/>
                <a:cs typeface="Source Sans Pro"/>
                <a:sym typeface="Source Sans Pro"/>
              </a:rPr>
              <a:t>Supplier Data Mastering </a:t>
            </a:r>
            <a:endParaRPr b="1" sz="1700">
              <a:solidFill>
                <a:schemeClr val="lt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2000"/>
              <a:buFont typeface="Arial"/>
              <a:buNone/>
            </a:pPr>
            <a:r>
              <a:rPr lang="en">
                <a:solidFill>
                  <a:srgbClr val="FFFFFF"/>
                </a:solidFill>
                <a:latin typeface="Source Sans Pro"/>
                <a:ea typeface="Source Sans Pro"/>
                <a:cs typeface="Source Sans Pro"/>
                <a:sym typeface="Source Sans Pro"/>
              </a:rPr>
              <a:t>Gained data insights into supplier relationships at site and intermediary level to better inform account management &amp; significantly reduce external data enrichment costs</a:t>
            </a:r>
            <a:endParaRPr b="0" i="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2600"/>
              <a:buFont typeface="Arial"/>
              <a:buNone/>
            </a:pPr>
            <a:r>
              <a:t/>
            </a:r>
            <a:endParaRPr b="1" i="0" u="none" cap="none" strike="noStrike">
              <a:solidFill>
                <a:srgbClr val="FFFFFF"/>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2000"/>
              <a:buFont typeface="Arial"/>
              <a:buNone/>
            </a:pPr>
            <a:r>
              <a:t/>
            </a:r>
            <a:endParaRPr b="1" i="0" u="none" cap="none" strike="noStrike">
              <a:solidFill>
                <a:srgbClr val="FFFFFF"/>
              </a:solidFill>
              <a:latin typeface="Source Sans Pro"/>
              <a:ea typeface="Source Sans Pro"/>
              <a:cs typeface="Source Sans Pro"/>
              <a:sym typeface="Source Sans Pro"/>
            </a:endParaRPr>
          </a:p>
        </p:txBody>
      </p:sp>
      <p:sp>
        <p:nvSpPr>
          <p:cNvPr id="1296" name="Google Shape;1296;p104"/>
          <p:cNvSpPr txBox="1"/>
          <p:nvPr/>
        </p:nvSpPr>
        <p:spPr>
          <a:xfrm>
            <a:off x="525675" y="1226350"/>
            <a:ext cx="1677300" cy="44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Challenge</a:t>
            </a:r>
            <a:endParaRPr b="1" i="0" sz="1600" u="none" cap="none" strike="noStrike">
              <a:solidFill>
                <a:schemeClr val="dk1"/>
              </a:solidFill>
              <a:latin typeface="Source Sans Pro"/>
              <a:ea typeface="Source Sans Pro"/>
              <a:cs typeface="Source Sans Pro"/>
              <a:sym typeface="Source Sans Pro"/>
            </a:endParaRPr>
          </a:p>
        </p:txBody>
      </p:sp>
      <p:sp>
        <p:nvSpPr>
          <p:cNvPr id="1297" name="Google Shape;1297;p104"/>
          <p:cNvSpPr txBox="1"/>
          <p:nvPr/>
        </p:nvSpPr>
        <p:spPr>
          <a:xfrm>
            <a:off x="2933888" y="1226350"/>
            <a:ext cx="3276300" cy="44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Solution</a:t>
            </a:r>
            <a:endParaRPr b="1" i="0" sz="1600" u="none" cap="none" strike="noStrike">
              <a:solidFill>
                <a:schemeClr val="dk1"/>
              </a:solidFill>
              <a:latin typeface="Source Sans Pro"/>
              <a:ea typeface="Source Sans Pro"/>
              <a:cs typeface="Source Sans Pro"/>
              <a:sym typeface="Source Sans Pro"/>
            </a:endParaRPr>
          </a:p>
        </p:txBody>
      </p:sp>
      <p:sp>
        <p:nvSpPr>
          <p:cNvPr id="1298" name="Google Shape;1298;p104"/>
          <p:cNvSpPr txBox="1"/>
          <p:nvPr/>
        </p:nvSpPr>
        <p:spPr>
          <a:xfrm>
            <a:off x="6238843" y="1258397"/>
            <a:ext cx="2654400" cy="44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Source Sans Pro"/>
                <a:ea typeface="Source Sans Pro"/>
                <a:cs typeface="Source Sans Pro"/>
                <a:sym typeface="Source Sans Pro"/>
              </a:rPr>
              <a:t>Outcomes</a:t>
            </a:r>
            <a:endParaRPr b="1" i="0" sz="1600" u="none" cap="none" strike="noStrike">
              <a:solidFill>
                <a:schemeClr val="dk1"/>
              </a:solidFill>
              <a:latin typeface="Source Sans Pro"/>
              <a:ea typeface="Source Sans Pro"/>
              <a:cs typeface="Source Sans Pro"/>
              <a:sym typeface="Source Sans Pro"/>
            </a:endParaRPr>
          </a:p>
        </p:txBody>
      </p:sp>
      <p:cxnSp>
        <p:nvCxnSpPr>
          <p:cNvPr id="1299" name="Google Shape;1299;p104"/>
          <p:cNvCxnSpPr/>
          <p:nvPr/>
        </p:nvCxnSpPr>
        <p:spPr>
          <a:xfrm>
            <a:off x="3026228" y="1725800"/>
            <a:ext cx="14100" cy="2194500"/>
          </a:xfrm>
          <a:prstGeom prst="straightConnector1">
            <a:avLst/>
          </a:prstGeom>
          <a:noFill/>
          <a:ln cap="flat" cmpd="sng" w="9525">
            <a:solidFill>
              <a:schemeClr val="dk2"/>
            </a:solidFill>
            <a:prstDash val="solid"/>
            <a:round/>
            <a:headEnd len="sm" w="sm" type="none"/>
            <a:tailEnd len="sm" w="sm" type="none"/>
          </a:ln>
        </p:spPr>
      </p:cxnSp>
      <p:sp>
        <p:nvSpPr>
          <p:cNvPr id="1300" name="Google Shape;1300;p104"/>
          <p:cNvSpPr txBox="1"/>
          <p:nvPr/>
        </p:nvSpPr>
        <p:spPr>
          <a:xfrm>
            <a:off x="166300" y="1725800"/>
            <a:ext cx="2899200" cy="219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Supplier data available at the global parent level only, </a:t>
            </a:r>
            <a:r>
              <a:rPr lang="en" sz="1200">
                <a:solidFill>
                  <a:schemeClr val="dk1"/>
                </a:solidFill>
                <a:latin typeface="Source Sans Pro"/>
                <a:ea typeface="Source Sans Pro"/>
                <a:cs typeface="Source Sans Pro"/>
                <a:sym typeface="Source Sans Pro"/>
              </a:rPr>
              <a:t>restricting insights into brand, site &amp; intermediary relationships</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Expensive enrichment process with D&amp;B </a:t>
            </a:r>
            <a:r>
              <a:rPr lang="en" sz="1200">
                <a:solidFill>
                  <a:schemeClr val="dk1"/>
                </a:solidFill>
                <a:latin typeface="Source Sans Pro"/>
                <a:ea typeface="Source Sans Pro"/>
                <a:cs typeface="Source Sans Pro"/>
                <a:sym typeface="Source Sans Pro"/>
              </a:rPr>
              <a:t>with many suppliers left unmatched, resulting in high manual effort</a:t>
            </a:r>
            <a:endParaRPr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Slow, end-of-quarter data clean up process </a:t>
            </a:r>
            <a:r>
              <a:rPr lang="en" sz="1200">
                <a:solidFill>
                  <a:schemeClr val="dk1"/>
                </a:solidFill>
                <a:latin typeface="Source Sans Pro"/>
                <a:ea typeface="Source Sans Pro"/>
                <a:cs typeface="Source Sans Pro"/>
                <a:sym typeface="Source Sans Pro"/>
              </a:rPr>
              <a:t>that took 6 weeks and delayed access to actionable insights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1301" name="Google Shape;1301;p104"/>
          <p:cNvSpPr txBox="1"/>
          <p:nvPr/>
        </p:nvSpPr>
        <p:spPr>
          <a:xfrm>
            <a:off x="3234423" y="1725800"/>
            <a:ext cx="2941800" cy="219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Source Sans Pro"/>
                <a:ea typeface="Source Sans Pro"/>
                <a:cs typeface="Source Sans Pro"/>
                <a:sym typeface="Source Sans Pro"/>
              </a:rPr>
              <a:t>Machine learning enables </a:t>
            </a:r>
            <a:r>
              <a:rPr b="1" lang="en" sz="1200">
                <a:solidFill>
                  <a:schemeClr val="dk1"/>
                </a:solidFill>
                <a:latin typeface="Source Sans Pro"/>
                <a:ea typeface="Source Sans Pro"/>
                <a:cs typeface="Source Sans Pro"/>
                <a:sym typeface="Source Sans Pro"/>
              </a:rPr>
              <a:t>clustering of supplier records at multiple levels, </a:t>
            </a:r>
            <a:r>
              <a:rPr lang="en" sz="1200">
                <a:solidFill>
                  <a:schemeClr val="dk1"/>
                </a:solidFill>
                <a:latin typeface="Source Sans Pro"/>
                <a:ea typeface="Source Sans Pro"/>
                <a:cs typeface="Source Sans Pro"/>
                <a:sym typeface="Source Sans Pro"/>
              </a:rPr>
              <a:t>beginning with site-level insights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Built-in enrichment capabilities </a:t>
            </a:r>
            <a:r>
              <a:rPr lang="en" sz="1200">
                <a:solidFill>
                  <a:schemeClr val="dk1"/>
                </a:solidFill>
                <a:latin typeface="Source Sans Pro"/>
                <a:ea typeface="Source Sans Pro"/>
                <a:cs typeface="Source Sans Pro"/>
                <a:sym typeface="Source Sans Pro"/>
              </a:rPr>
              <a:t>to improve the quality of supplier records, reducing reliance on external providers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Integrated 25M transactional records into the mastering pipeline,</a:t>
            </a:r>
            <a:r>
              <a:rPr lang="en" sz="1200">
                <a:solidFill>
                  <a:schemeClr val="dk1"/>
                </a:solidFill>
                <a:latin typeface="Source Sans Pro"/>
                <a:ea typeface="Source Sans Pro"/>
                <a:cs typeface="Source Sans Pro"/>
                <a:sym typeface="Source Sans Pro"/>
              </a:rPr>
              <a:t> taking, and feeding data to, Microsoft SQL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1302" name="Google Shape;1302;p104"/>
          <p:cNvSpPr txBox="1"/>
          <p:nvPr/>
        </p:nvSpPr>
        <p:spPr>
          <a:xfrm>
            <a:off x="6268848" y="1703351"/>
            <a:ext cx="2743200" cy="27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Insight into suppliers at more granular corporate levels </a:t>
            </a:r>
            <a:r>
              <a:rPr lang="en" sz="1200">
                <a:solidFill>
                  <a:schemeClr val="dk1"/>
                </a:solidFill>
                <a:latin typeface="Source Sans Pro"/>
                <a:ea typeface="Source Sans Pro"/>
                <a:cs typeface="Source Sans Pro"/>
                <a:sym typeface="Source Sans Pro"/>
              </a:rPr>
              <a:t>to drive prioritization of supplier accounts</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1"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Achieved hundreds of thousands of pounds in enrichment cost savings</a:t>
            </a:r>
            <a:r>
              <a:rPr lang="en" sz="1200">
                <a:solidFill>
                  <a:schemeClr val="dk1"/>
                </a:solidFill>
                <a:latin typeface="Source Sans Pro"/>
                <a:ea typeface="Source Sans Pro"/>
                <a:cs typeface="Source Sans Pro"/>
                <a:sym typeface="Source Sans Pro"/>
              </a:rPr>
              <a:t> by reducing D&amp;B record requests by 75%</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rPr b="1" lang="en" sz="1200">
                <a:solidFill>
                  <a:schemeClr val="dk1"/>
                </a:solidFill>
                <a:latin typeface="Source Sans Pro"/>
                <a:ea typeface="Source Sans Pro"/>
                <a:cs typeface="Source Sans Pro"/>
                <a:sym typeface="Source Sans Pro"/>
              </a:rPr>
              <a:t>Significantly reduced manual effort of</a:t>
            </a:r>
            <a:r>
              <a:rPr lang="en" sz="1200">
                <a:solidFill>
                  <a:schemeClr val="dk1"/>
                </a:solidFill>
                <a:latin typeface="Source Sans Pro"/>
                <a:ea typeface="Source Sans Pro"/>
                <a:cs typeface="Source Sans Pro"/>
                <a:sym typeface="Source Sans Pro"/>
              </a:rPr>
              <a:t> </a:t>
            </a:r>
            <a:r>
              <a:rPr b="1" lang="en" sz="1200">
                <a:solidFill>
                  <a:schemeClr val="dk1"/>
                </a:solidFill>
                <a:latin typeface="Source Sans Pro"/>
                <a:ea typeface="Source Sans Pro"/>
                <a:cs typeface="Source Sans Pro"/>
                <a:sym typeface="Source Sans Pro"/>
              </a:rPr>
              <a:t>the analytics team on data clean-up</a:t>
            </a:r>
            <a:r>
              <a:rPr lang="en" sz="1200">
                <a:solidFill>
                  <a:schemeClr val="dk1"/>
                </a:solidFill>
                <a:latin typeface="Source Sans Pro"/>
                <a:ea typeface="Source Sans Pro"/>
                <a:cs typeface="Source Sans Pro"/>
                <a:sym typeface="Source Sans Pro"/>
              </a:rPr>
              <a:t> by removing errors and edge cases</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Source Sans Pro"/>
              <a:ea typeface="Source Sans Pro"/>
              <a:cs typeface="Source Sans Pro"/>
              <a:sym typeface="Source Sans Pro"/>
            </a:endParaRPr>
          </a:p>
        </p:txBody>
      </p:sp>
      <p:cxnSp>
        <p:nvCxnSpPr>
          <p:cNvPr id="1303" name="Google Shape;1303;p104"/>
          <p:cNvCxnSpPr/>
          <p:nvPr/>
        </p:nvCxnSpPr>
        <p:spPr>
          <a:xfrm>
            <a:off x="6191137" y="1725800"/>
            <a:ext cx="14100" cy="2194500"/>
          </a:xfrm>
          <a:prstGeom prst="straightConnector1">
            <a:avLst/>
          </a:prstGeom>
          <a:noFill/>
          <a:ln cap="flat" cmpd="sng" w="9525">
            <a:solidFill>
              <a:schemeClr val="dk2"/>
            </a:solidFill>
            <a:prstDash val="solid"/>
            <a:round/>
            <a:headEnd len="sm" w="sm" type="none"/>
            <a:tailEnd len="sm" w="sm" type="none"/>
          </a:ln>
        </p:spPr>
      </p:cxnSp>
      <p:sp>
        <p:nvSpPr>
          <p:cNvPr id="1304" name="Google Shape;1304;p104"/>
          <p:cNvSpPr txBox="1"/>
          <p:nvPr/>
        </p:nvSpPr>
        <p:spPr>
          <a:xfrm>
            <a:off x="2662807" y="4261225"/>
            <a:ext cx="3818400" cy="51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dk1"/>
                </a:solidFill>
                <a:latin typeface="Source Sans Pro"/>
                <a:ea typeface="Source Sans Pro"/>
                <a:cs typeface="Source Sans Pro"/>
                <a:sym typeface="Source Sans Pro"/>
              </a:rPr>
              <a:t>Reduced records sent to D&amp;B from ~2.1M to ~500K, driving six-figure cost savings</a:t>
            </a:r>
            <a:endParaRPr b="0" i="0" sz="1400" u="none" cap="none" strike="noStrike">
              <a:solidFill>
                <a:schemeClr val="dk1"/>
              </a:solidFill>
              <a:latin typeface="Source Sans Pro"/>
              <a:ea typeface="Source Sans Pro"/>
              <a:cs typeface="Source Sans Pro"/>
              <a:sym typeface="Source Sans Pro"/>
            </a:endParaRPr>
          </a:p>
        </p:txBody>
      </p:sp>
      <p:pic>
        <p:nvPicPr>
          <p:cNvPr id="1305" name="Google Shape;1305;p104"/>
          <p:cNvPicPr preferRelativeResize="0"/>
          <p:nvPr/>
        </p:nvPicPr>
        <p:blipFill rotWithShape="1">
          <a:blip r:embed="rId3">
            <a:alphaModFix/>
          </a:blip>
          <a:srcRect b="0" l="0" r="0" t="0"/>
          <a:stretch/>
        </p:blipFill>
        <p:spPr>
          <a:xfrm>
            <a:off x="1997600" y="4221923"/>
            <a:ext cx="783594" cy="629696"/>
          </a:xfrm>
          <a:prstGeom prst="rect">
            <a:avLst/>
          </a:prstGeom>
          <a:noFill/>
          <a:ln>
            <a:noFill/>
          </a:ln>
        </p:spPr>
      </p:pic>
      <p:pic>
        <p:nvPicPr>
          <p:cNvPr id="1306" name="Google Shape;1306;p104"/>
          <p:cNvPicPr preferRelativeResize="0"/>
          <p:nvPr/>
        </p:nvPicPr>
        <p:blipFill>
          <a:blip r:embed="rId4">
            <a:alphaModFix/>
          </a:blip>
          <a:stretch>
            <a:fillRect/>
          </a:stretch>
        </p:blipFill>
        <p:spPr>
          <a:xfrm>
            <a:off x="427650" y="-222275"/>
            <a:ext cx="1399032" cy="1399032"/>
          </a:xfrm>
          <a:prstGeom prst="rect">
            <a:avLst/>
          </a:prstGeom>
          <a:noFill/>
          <a:ln>
            <a:noFill/>
          </a:ln>
        </p:spPr>
      </p:pic>
      <p:sp>
        <p:nvSpPr>
          <p:cNvPr id="1307" name="Google Shape;1307;p104"/>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800"/>
              <a:buFont typeface="Arial"/>
              <a:buNone/>
            </a:pPr>
            <a:fld id="{00000000-1234-1234-1234-123412341234}" type="slidenum">
              <a:rPr lang="en" sz="1100">
                <a:latin typeface="Source Sans Pro"/>
                <a:ea typeface="Source Sans Pro"/>
                <a:cs typeface="Source Sans Pro"/>
                <a:sym typeface="Source Sans Pro"/>
              </a:rPr>
              <a:t>‹#›</a:t>
            </a:fld>
            <a:endParaRPr sz="1100">
              <a:latin typeface="Source Sans Pro"/>
              <a:ea typeface="Source Sans Pro"/>
              <a:cs typeface="Source Sans Pro"/>
              <a:sym typeface="Source Sans Pr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05"/>
          <p:cNvSpPr/>
          <p:nvPr/>
        </p:nvSpPr>
        <p:spPr>
          <a:xfrm>
            <a:off x="0" y="0"/>
            <a:ext cx="9144000" cy="1029600"/>
          </a:xfrm>
          <a:prstGeom prst="rect">
            <a:avLst/>
          </a:prstGeom>
          <a:solidFill>
            <a:srgbClr val="0070C0"/>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3" name="Google Shape;1313;p105"/>
          <p:cNvSpPr/>
          <p:nvPr/>
        </p:nvSpPr>
        <p:spPr>
          <a:xfrm>
            <a:off x="2286000" y="2310140"/>
            <a:ext cx="4572000" cy="523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Multinational conglomerate</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 sz="1400" u="none" cap="none" strike="noStrike">
                <a:solidFill>
                  <a:srgbClr val="FFFFFF"/>
                </a:solidFill>
                <a:latin typeface="Source Sans Pro"/>
                <a:ea typeface="Source Sans Pro"/>
                <a:cs typeface="Source Sans Pro"/>
                <a:sym typeface="Source Sans Pro"/>
              </a:rPr>
              <a:t>Financial data provider </a:t>
            </a:r>
            <a:endParaRPr b="0" i="0" sz="1400" u="none" cap="none" strike="noStrike">
              <a:solidFill>
                <a:srgbClr val="000000"/>
              </a:solidFill>
              <a:latin typeface="Arial"/>
              <a:ea typeface="Arial"/>
              <a:cs typeface="Arial"/>
              <a:sym typeface="Arial"/>
            </a:endParaRPr>
          </a:p>
        </p:txBody>
      </p:sp>
      <p:sp>
        <p:nvSpPr>
          <p:cNvPr id="1314" name="Google Shape;1314;p105"/>
          <p:cNvSpPr txBox="1"/>
          <p:nvPr/>
        </p:nvSpPr>
        <p:spPr>
          <a:xfrm>
            <a:off x="3019843" y="1370400"/>
            <a:ext cx="2952000" cy="20010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Generated more than 3 million complete customer records in weeks</a:t>
            </a:r>
            <a:r>
              <a:rPr lang="en" sz="1200">
                <a:solidFill>
                  <a:schemeClr val="dk1"/>
                </a:solidFill>
                <a:latin typeface="Source Sans Pro"/>
                <a:ea typeface="Source Sans Pro"/>
                <a:cs typeface="Source Sans Pro"/>
                <a:sym typeface="Source Sans Pro"/>
              </a:rPr>
              <a:t> using human-guided machine learning</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Utilize cloud-native Azure deployment for fast and efficient processing of data at scale</a:t>
            </a:r>
            <a:r>
              <a:rPr lang="en" sz="1200">
                <a:solidFill>
                  <a:schemeClr val="dk1"/>
                </a:solidFill>
                <a:latin typeface="Source Sans Pro"/>
                <a:ea typeface="Source Sans Pro"/>
                <a:cs typeface="Source Sans Pro"/>
                <a:sym typeface="Source Sans Pro"/>
              </a:rPr>
              <a:t>, generating results in weeks instead of months</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spcBef>
                <a:spcPts val="600"/>
              </a:spcBef>
              <a:spcAft>
                <a:spcPts val="0"/>
              </a:spcAft>
              <a:buClr>
                <a:schemeClr val="dk1"/>
              </a:buClr>
              <a:buSzPts val="900"/>
              <a:buFont typeface="Arial"/>
              <a:buChar char="•"/>
            </a:pPr>
            <a:r>
              <a:rPr b="1" lang="en" sz="1200">
                <a:solidFill>
                  <a:schemeClr val="dk1"/>
                </a:solidFill>
                <a:latin typeface="Source Sans Pro"/>
                <a:ea typeface="Source Sans Pro"/>
                <a:cs typeface="Source Sans Pro"/>
                <a:sym typeface="Source Sans Pro"/>
              </a:rPr>
              <a:t>Open API based platform and low latency matching capabilities</a:t>
            </a:r>
            <a:r>
              <a:rPr lang="en" sz="1200">
                <a:solidFill>
                  <a:schemeClr val="dk1"/>
                </a:solidFill>
                <a:latin typeface="Source Sans Pro"/>
                <a:ea typeface="Source Sans Pro"/>
                <a:cs typeface="Source Sans Pro"/>
                <a:sym typeface="Source Sans Pro"/>
              </a:rPr>
              <a:t> allow </a:t>
            </a:r>
            <a:r>
              <a:rPr b="1" lang="en" sz="1200">
                <a:solidFill>
                  <a:schemeClr val="dk1"/>
                </a:solidFill>
                <a:latin typeface="Source Sans Pro"/>
                <a:ea typeface="Source Sans Pro"/>
                <a:cs typeface="Source Sans Pro"/>
                <a:sym typeface="Source Sans Pro"/>
              </a:rPr>
              <a:t> </a:t>
            </a:r>
            <a:r>
              <a:rPr lang="en" sz="1200">
                <a:solidFill>
                  <a:schemeClr val="dk1"/>
                </a:solidFill>
                <a:latin typeface="Source Sans Pro"/>
                <a:ea typeface="Source Sans Pro"/>
                <a:cs typeface="Source Sans Pro"/>
                <a:sym typeface="Source Sans Pro"/>
              </a:rPr>
              <a:t>seamless integration into customer’s data architecture</a:t>
            </a:r>
            <a:endParaRPr sz="1200">
              <a:solidFill>
                <a:schemeClr val="dk1"/>
              </a:solidFill>
              <a:latin typeface="Source Sans Pro"/>
              <a:ea typeface="Source Sans Pro"/>
              <a:cs typeface="Source Sans Pro"/>
              <a:sym typeface="Source Sans Pro"/>
            </a:endParaRPr>
          </a:p>
          <a:p>
            <a:pPr indent="0" lvl="0" marL="0" marR="0" rtl="0" algn="l">
              <a:spcBef>
                <a:spcPts val="600"/>
              </a:spcBef>
              <a:spcAft>
                <a:spcPts val="0"/>
              </a:spcAft>
              <a:buNone/>
            </a:pPr>
            <a:r>
              <a:t/>
            </a:r>
            <a:endParaRPr sz="12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sp>
        <p:nvSpPr>
          <p:cNvPr id="1315" name="Google Shape;1315;p105"/>
          <p:cNvSpPr txBox="1"/>
          <p:nvPr/>
        </p:nvSpPr>
        <p:spPr>
          <a:xfrm>
            <a:off x="181650" y="1370400"/>
            <a:ext cx="2867400" cy="1619400"/>
          </a:xfrm>
          <a:prstGeom prst="rect">
            <a:avLst/>
          </a:prstGeom>
          <a:noFill/>
          <a:ln>
            <a:noFill/>
          </a:ln>
        </p:spPr>
        <p:txBody>
          <a:bodyPr anchorCtr="0" anchor="t" bIns="91425" lIns="91425" spcFirstLastPara="1" rIns="91425" wrap="square" tIns="91425">
            <a:noAutofit/>
          </a:bodyPr>
          <a:lstStyle/>
          <a:p>
            <a:pPr indent="-184150" lvl="0" marL="177800" marR="0" rtl="0" algn="l">
              <a:spcBef>
                <a:spcPts val="0"/>
              </a:spcBef>
              <a:spcAft>
                <a:spcPts val="0"/>
              </a:spcAft>
              <a:buClr>
                <a:schemeClr val="dk1"/>
              </a:buClr>
              <a:buSzPts val="900"/>
              <a:buFont typeface="Arial"/>
              <a:buChar char="•"/>
            </a:pPr>
            <a:r>
              <a:rPr lang="en" sz="1200">
                <a:solidFill>
                  <a:schemeClr val="dk1"/>
                </a:solidFill>
                <a:latin typeface="Source Sans Pro"/>
                <a:ea typeface="Source Sans Pro"/>
                <a:cs typeface="Source Sans Pro"/>
                <a:sym typeface="Source Sans Pro"/>
              </a:rPr>
              <a:t>Legacy MDM solution slow to provide insight and value;</a:t>
            </a:r>
            <a:r>
              <a:rPr b="1" lang="en" sz="1200">
                <a:solidFill>
                  <a:schemeClr val="dk1"/>
                </a:solidFill>
                <a:latin typeface="Source Sans Pro"/>
                <a:ea typeface="Source Sans Pro"/>
                <a:cs typeface="Source Sans Pro"/>
                <a:sym typeface="Source Sans Pro"/>
              </a:rPr>
              <a:t> after</a:t>
            </a:r>
            <a:r>
              <a:rPr lang="en" sz="1200">
                <a:solidFill>
                  <a:schemeClr val="dk1"/>
                </a:solidFill>
                <a:latin typeface="Source Sans Pro"/>
                <a:ea typeface="Source Sans Pro"/>
                <a:cs typeface="Source Sans Pro"/>
                <a:sym typeface="Source Sans Pro"/>
              </a:rPr>
              <a:t> </a:t>
            </a:r>
            <a:r>
              <a:rPr b="1" lang="en" sz="1200">
                <a:solidFill>
                  <a:schemeClr val="dk1"/>
                </a:solidFill>
                <a:latin typeface="Source Sans Pro"/>
                <a:ea typeface="Source Sans Pro"/>
                <a:cs typeface="Source Sans Pro"/>
                <a:sym typeface="Source Sans Pro"/>
              </a:rPr>
              <a:t>5 years, a team of 60 mastered only 5 of 130 entities.  Mastering accuracy was also questionable</a:t>
            </a:r>
            <a:endParaRPr b="1"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184150" lvl="0" marL="177800" marR="0" rtl="0" algn="l">
              <a:spcBef>
                <a:spcPts val="0"/>
              </a:spcBef>
              <a:spcAft>
                <a:spcPts val="0"/>
              </a:spcAft>
              <a:buClr>
                <a:schemeClr val="dk1"/>
              </a:buClr>
              <a:buSzPts val="900"/>
              <a:buFont typeface="Arial"/>
              <a:buChar char="•"/>
            </a:pPr>
            <a:r>
              <a:rPr lang="en" sz="1200">
                <a:solidFill>
                  <a:schemeClr val="dk1"/>
                </a:solidFill>
                <a:latin typeface="Source Sans Pro"/>
                <a:ea typeface="Source Sans Pro"/>
                <a:cs typeface="Source Sans Pro"/>
                <a:sym typeface="Source Sans Pro"/>
              </a:rPr>
              <a:t>Manual rules-based approach </a:t>
            </a:r>
            <a:r>
              <a:rPr b="1" lang="en" sz="1200">
                <a:solidFill>
                  <a:schemeClr val="dk1"/>
                </a:solidFill>
                <a:latin typeface="Source Sans Pro"/>
                <a:ea typeface="Source Sans Pro"/>
                <a:cs typeface="Source Sans Pro"/>
                <a:sym typeface="Source Sans Pro"/>
              </a:rPr>
              <a:t>failed to scale with  data volume and variety</a:t>
            </a:r>
            <a:endParaRPr b="1" sz="1200">
              <a:solidFill>
                <a:schemeClr val="dk1"/>
              </a:solidFill>
              <a:latin typeface="Source Sans Pro"/>
              <a:ea typeface="Source Sans Pro"/>
              <a:cs typeface="Source Sans Pro"/>
              <a:sym typeface="Source Sans Pro"/>
            </a:endParaRPr>
          </a:p>
          <a:p>
            <a:pPr indent="0" lvl="0" marL="0" marR="0" rtl="0" algn="l">
              <a:spcBef>
                <a:spcPts val="0"/>
              </a:spcBef>
              <a:spcAft>
                <a:spcPts val="0"/>
              </a:spcAft>
              <a:buNone/>
            </a:pPr>
            <a:r>
              <a:t/>
            </a:r>
            <a:endParaRPr b="1" sz="1200">
              <a:solidFill>
                <a:schemeClr val="dk1"/>
              </a:solidFill>
              <a:latin typeface="Source Sans Pro"/>
              <a:ea typeface="Source Sans Pro"/>
              <a:cs typeface="Source Sans Pro"/>
              <a:sym typeface="Source Sans Pro"/>
            </a:endParaRPr>
          </a:p>
          <a:p>
            <a:pPr indent="-203200" lvl="0" marL="177800" marR="0" rtl="0" algn="l">
              <a:spcBef>
                <a:spcPts val="0"/>
              </a:spcBef>
              <a:spcAft>
                <a:spcPts val="0"/>
              </a:spcAft>
              <a:buClr>
                <a:schemeClr val="dk1"/>
              </a:buClr>
              <a:buSzPts val="1200"/>
              <a:buFont typeface="Source Sans Pro"/>
              <a:buChar char="•"/>
            </a:pPr>
            <a:r>
              <a:rPr lang="en" sz="1200">
                <a:solidFill>
                  <a:schemeClr val="dk1"/>
                </a:solidFill>
                <a:latin typeface="Source Sans Pro"/>
                <a:ea typeface="Source Sans Pro"/>
                <a:cs typeface="Source Sans Pro"/>
                <a:sym typeface="Source Sans Pro"/>
              </a:rPr>
              <a:t>Mastering additional entities with legacy MDM solution would have </a:t>
            </a:r>
            <a:r>
              <a:rPr b="1" lang="en" sz="1200">
                <a:solidFill>
                  <a:schemeClr val="dk1"/>
                </a:solidFill>
                <a:latin typeface="Source Sans Pro"/>
                <a:ea typeface="Source Sans Pro"/>
                <a:cs typeface="Source Sans Pro"/>
                <a:sym typeface="Source Sans Pro"/>
              </a:rPr>
              <a:t>required substantial headcount increases and still taken years to deploy</a:t>
            </a:r>
            <a:endParaRPr b="1" i="0" sz="1100" u="none" cap="none" strike="noStrike">
              <a:solidFill>
                <a:schemeClr val="dk1"/>
              </a:solidFill>
              <a:latin typeface="Source Sans Pro"/>
              <a:ea typeface="Source Sans Pro"/>
              <a:cs typeface="Source Sans Pro"/>
              <a:sym typeface="Source Sans Pro"/>
            </a:endParaRPr>
          </a:p>
        </p:txBody>
      </p:sp>
      <p:sp>
        <p:nvSpPr>
          <p:cNvPr id="1316" name="Google Shape;1316;p105"/>
          <p:cNvSpPr txBox="1"/>
          <p:nvPr/>
        </p:nvSpPr>
        <p:spPr>
          <a:xfrm>
            <a:off x="6043325" y="1370400"/>
            <a:ext cx="2952000" cy="3061200"/>
          </a:xfrm>
          <a:prstGeom prst="rect">
            <a:avLst/>
          </a:prstGeom>
          <a:noFill/>
          <a:ln>
            <a:noFill/>
          </a:ln>
        </p:spPr>
        <p:txBody>
          <a:bodyPr anchorCtr="0" anchor="t" bIns="91425" lIns="91425" spcFirstLastPara="1" rIns="91425" wrap="square" tIns="91425">
            <a:noAutofit/>
          </a:bodyPr>
          <a:lstStyle/>
          <a:p>
            <a:pPr indent="-222250" lvl="0" marL="342900" rtl="0" algn="l">
              <a:spcBef>
                <a:spcPts val="0"/>
              </a:spcBef>
              <a:spcAft>
                <a:spcPts val="0"/>
              </a:spcAft>
              <a:buClr>
                <a:schemeClr val="dk1"/>
              </a:buClr>
              <a:buSzPts val="900"/>
              <a:buChar char="•"/>
            </a:pPr>
            <a:r>
              <a:rPr b="1" lang="en" sz="1200">
                <a:solidFill>
                  <a:schemeClr val="dk1"/>
                </a:solidFill>
                <a:latin typeface="Source Sans Pro"/>
                <a:ea typeface="Source Sans Pro"/>
                <a:cs typeface="Source Sans Pro"/>
                <a:sym typeface="Source Sans Pro"/>
              </a:rPr>
              <a:t>Drive customer upsell opportunities valued at several million dollars </a:t>
            </a:r>
            <a:r>
              <a:rPr lang="en" sz="1200">
                <a:solidFill>
                  <a:schemeClr val="dk1"/>
                </a:solidFill>
                <a:latin typeface="Source Sans Pro"/>
                <a:ea typeface="Source Sans Pro"/>
                <a:cs typeface="Source Sans Pro"/>
                <a:sym typeface="Source Sans Pro"/>
              </a:rPr>
              <a:t>with complete customer records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241300" lvl="0" marL="34290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Onboard new data sources in weeks</a:t>
            </a:r>
            <a:r>
              <a:rPr lang="en" sz="1200">
                <a:solidFill>
                  <a:schemeClr val="dk1"/>
                </a:solidFill>
                <a:latin typeface="Source Sans Pro"/>
                <a:ea typeface="Source Sans Pro"/>
                <a:cs typeface="Source Sans Pro"/>
                <a:sym typeface="Source Sans Pro"/>
              </a:rPr>
              <a:t> compared to months with legacy rules-based MDM solution</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241300" lvl="0" marL="34290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Pursue supplier use case estimated to save millions of dollars </a:t>
            </a:r>
            <a:r>
              <a:rPr lang="en" sz="1200">
                <a:solidFill>
                  <a:schemeClr val="dk1"/>
                </a:solidFill>
                <a:latin typeface="Source Sans Pro"/>
                <a:ea typeface="Source Sans Pro"/>
                <a:cs typeface="Source Sans Pro"/>
                <a:sym typeface="Source Sans Pro"/>
              </a:rPr>
              <a:t>by identifying key vendors and negotiating optimal pricing  </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0" lvl="0" marL="342900" marR="0" rtl="0" algn="l">
              <a:spcBef>
                <a:spcPts val="0"/>
              </a:spcBef>
              <a:spcAft>
                <a:spcPts val="0"/>
              </a:spcAft>
              <a:buNone/>
            </a:pPr>
            <a:r>
              <a:t/>
            </a:r>
            <a:endParaRPr i="0" sz="1200" u="none" cap="none" strike="noStrike">
              <a:solidFill>
                <a:schemeClr val="dk1"/>
              </a:solidFill>
              <a:latin typeface="Source Sans Pro"/>
              <a:ea typeface="Source Sans Pro"/>
              <a:cs typeface="Source Sans Pro"/>
              <a:sym typeface="Source Sans Pro"/>
            </a:endParaRPr>
          </a:p>
          <a:p>
            <a:pPr indent="0" lvl="1" marL="0" marR="0" rtl="0" algn="l">
              <a:spcBef>
                <a:spcPts val="0"/>
              </a:spcBef>
              <a:spcAft>
                <a:spcPts val="0"/>
              </a:spcAft>
              <a:buNone/>
            </a:pPr>
            <a:r>
              <a:t/>
            </a:r>
            <a:endParaRPr b="0" i="0" sz="1200" u="none" cap="none" strike="noStrike">
              <a:solidFill>
                <a:schemeClr val="dk1"/>
              </a:solidFill>
              <a:latin typeface="Source Sans Pro"/>
              <a:ea typeface="Source Sans Pro"/>
              <a:cs typeface="Source Sans Pro"/>
              <a:sym typeface="Source Sans Pro"/>
            </a:endParaRPr>
          </a:p>
        </p:txBody>
      </p:sp>
      <p:cxnSp>
        <p:nvCxnSpPr>
          <p:cNvPr id="1317" name="Google Shape;1317;p105"/>
          <p:cNvCxnSpPr/>
          <p:nvPr/>
        </p:nvCxnSpPr>
        <p:spPr>
          <a:xfrm>
            <a:off x="6043336" y="1509247"/>
            <a:ext cx="0" cy="2304000"/>
          </a:xfrm>
          <a:prstGeom prst="straightConnector1">
            <a:avLst/>
          </a:prstGeom>
          <a:noFill/>
          <a:ln cap="flat" cmpd="sng" w="19050">
            <a:solidFill>
              <a:schemeClr val="dk1"/>
            </a:solidFill>
            <a:prstDash val="solid"/>
            <a:round/>
            <a:headEnd len="sm" w="sm" type="none"/>
            <a:tailEnd len="sm" w="sm" type="none"/>
          </a:ln>
        </p:spPr>
      </p:cxnSp>
      <p:sp>
        <p:nvSpPr>
          <p:cNvPr id="1318" name="Google Shape;1318;p105"/>
          <p:cNvSpPr txBox="1"/>
          <p:nvPr/>
        </p:nvSpPr>
        <p:spPr>
          <a:xfrm>
            <a:off x="139361" y="1029632"/>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319" name="Google Shape;1319;p105"/>
          <p:cNvSpPr txBox="1"/>
          <p:nvPr/>
        </p:nvSpPr>
        <p:spPr>
          <a:xfrm>
            <a:off x="3016295"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320" name="Google Shape;1320;p105"/>
          <p:cNvSpPr txBox="1"/>
          <p:nvPr/>
        </p:nvSpPr>
        <p:spPr>
          <a:xfrm>
            <a:off x="6043321" y="1020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cxnSp>
        <p:nvCxnSpPr>
          <p:cNvPr id="1321" name="Google Shape;1321;p105"/>
          <p:cNvCxnSpPr/>
          <p:nvPr/>
        </p:nvCxnSpPr>
        <p:spPr>
          <a:xfrm>
            <a:off x="2948368" y="1528262"/>
            <a:ext cx="0" cy="2304000"/>
          </a:xfrm>
          <a:prstGeom prst="straightConnector1">
            <a:avLst/>
          </a:prstGeom>
          <a:noFill/>
          <a:ln cap="flat" cmpd="sng" w="19050">
            <a:solidFill>
              <a:schemeClr val="dk1"/>
            </a:solidFill>
            <a:prstDash val="solid"/>
            <a:round/>
            <a:headEnd len="sm" w="sm" type="none"/>
            <a:tailEnd len="sm" w="sm" type="none"/>
          </a:ln>
        </p:spPr>
      </p:cxnSp>
      <p:sp>
        <p:nvSpPr>
          <p:cNvPr id="1322" name="Google Shape;1322;p105"/>
          <p:cNvSpPr txBox="1"/>
          <p:nvPr/>
        </p:nvSpPr>
        <p:spPr>
          <a:xfrm>
            <a:off x="2781079" y="-312874"/>
            <a:ext cx="6120000" cy="8985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1" i="1" sz="1800">
              <a:solidFill>
                <a:srgbClr val="FFFFFF"/>
              </a:solidFill>
              <a:latin typeface="Source Sans Pro"/>
              <a:ea typeface="Source Sans Pro"/>
              <a:cs typeface="Source Sans Pro"/>
              <a:sym typeface="Source Sans Pro"/>
            </a:endParaRPr>
          </a:p>
          <a:p>
            <a:pPr indent="0" lvl="0" marL="0" marR="0" rtl="0" algn="l">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a:t>
            </a:r>
            <a:r>
              <a:rPr b="1" lang="en" sz="1800" u="none" cap="none" strike="noStrike">
                <a:solidFill>
                  <a:srgbClr val="FFFFFF"/>
                </a:solidFill>
                <a:latin typeface="Source Sans Pro"/>
                <a:ea typeface="Source Sans Pro"/>
                <a:cs typeface="Source Sans Pro"/>
                <a:sym typeface="Source Sans Pro"/>
              </a:rPr>
              <a:t>: </a:t>
            </a:r>
            <a:r>
              <a:rPr b="1" lang="en" sz="1800">
                <a:solidFill>
                  <a:srgbClr val="FFFFFF"/>
                </a:solidFill>
                <a:latin typeface="Source Sans Pro"/>
                <a:ea typeface="Source Sans Pro"/>
                <a:cs typeface="Source Sans Pro"/>
                <a:sym typeface="Source Sans Pro"/>
              </a:rPr>
              <a:t>Customer 360</a:t>
            </a:r>
            <a:endParaRPr b="1" sz="1800">
              <a:solidFill>
                <a:srgbClr val="FFFFFF"/>
              </a:solidFill>
              <a:latin typeface="Source Sans Pro"/>
              <a:ea typeface="Source Sans Pro"/>
              <a:cs typeface="Source Sans Pro"/>
              <a:sym typeface="Source Sans Pro"/>
            </a:endParaRPr>
          </a:p>
          <a:p>
            <a:pPr indent="0" lvl="0" marL="0" marR="0" rtl="0" algn="l">
              <a:spcBef>
                <a:spcPts val="0"/>
              </a:spcBef>
              <a:spcAft>
                <a:spcPts val="0"/>
              </a:spcAft>
              <a:buNone/>
            </a:pPr>
            <a:r>
              <a:rPr lang="en" sz="1500">
                <a:solidFill>
                  <a:schemeClr val="lt1"/>
                </a:solidFill>
                <a:latin typeface="Source Sans Pro"/>
                <a:ea typeface="Source Sans Pro"/>
                <a:cs typeface="Source Sans Pro"/>
                <a:sym typeface="Source Sans Pro"/>
              </a:rPr>
              <a:t>G</a:t>
            </a:r>
            <a:r>
              <a:rPr lang="en" sz="1500">
                <a:solidFill>
                  <a:schemeClr val="lt1"/>
                </a:solidFill>
                <a:latin typeface="Source Sans Pro"/>
                <a:ea typeface="Source Sans Pro"/>
                <a:cs typeface="Source Sans Pro"/>
                <a:sym typeface="Source Sans Pro"/>
              </a:rPr>
              <a:t>enerating millions of complete customer records in weeks for better upsell opportunities</a:t>
            </a:r>
            <a:endParaRPr b="0" i="0" sz="1200" u="none" cap="none" strike="noStrike">
              <a:solidFill>
                <a:srgbClr val="FFFFFF"/>
              </a:solidFill>
              <a:latin typeface="Source Sans Pro"/>
              <a:ea typeface="Source Sans Pro"/>
              <a:cs typeface="Source Sans Pro"/>
              <a:sym typeface="Source Sans Pro"/>
            </a:endParaRPr>
          </a:p>
        </p:txBody>
      </p:sp>
      <p:sp>
        <p:nvSpPr>
          <p:cNvPr id="1323" name="Google Shape;1323;p105"/>
          <p:cNvSpPr txBox="1"/>
          <p:nvPr/>
        </p:nvSpPr>
        <p:spPr>
          <a:xfrm>
            <a:off x="920425" y="4222413"/>
            <a:ext cx="6212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Source Sans Pro"/>
                <a:ea typeface="Source Sans Pro"/>
                <a:cs typeface="Source Sans Pro"/>
                <a:sym typeface="Source Sans Pro"/>
              </a:rPr>
              <a:t>Generated more than 3 million complete customer records in weeks</a:t>
            </a:r>
            <a:endParaRPr sz="1800">
              <a:solidFill>
                <a:schemeClr val="dk1"/>
              </a:solidFill>
              <a:latin typeface="Source Sans Pro"/>
              <a:ea typeface="Source Sans Pro"/>
              <a:cs typeface="Source Sans Pro"/>
              <a:sym typeface="Source Sans Pro"/>
            </a:endParaRPr>
          </a:p>
        </p:txBody>
      </p:sp>
      <p:pic>
        <p:nvPicPr>
          <p:cNvPr id="1324" name="Google Shape;1324;p105"/>
          <p:cNvPicPr preferRelativeResize="0"/>
          <p:nvPr/>
        </p:nvPicPr>
        <p:blipFill>
          <a:blip r:embed="rId3">
            <a:alphaModFix/>
          </a:blip>
          <a:stretch>
            <a:fillRect/>
          </a:stretch>
        </p:blipFill>
        <p:spPr>
          <a:xfrm>
            <a:off x="6940725" y="4081903"/>
            <a:ext cx="2050874" cy="678347"/>
          </a:xfrm>
          <a:prstGeom prst="rect">
            <a:avLst/>
          </a:prstGeom>
          <a:noFill/>
          <a:ln>
            <a:noFill/>
          </a:ln>
        </p:spPr>
      </p:pic>
      <p:pic>
        <p:nvPicPr>
          <p:cNvPr id="1325" name="Google Shape;1325;p105"/>
          <p:cNvPicPr preferRelativeResize="0"/>
          <p:nvPr/>
        </p:nvPicPr>
        <p:blipFill>
          <a:blip r:embed="rId4">
            <a:alphaModFix/>
          </a:blip>
          <a:stretch>
            <a:fillRect/>
          </a:stretch>
        </p:blipFill>
        <p:spPr>
          <a:xfrm flipH="1">
            <a:off x="488925" y="4222425"/>
            <a:ext cx="480250" cy="431100"/>
          </a:xfrm>
          <a:prstGeom prst="rect">
            <a:avLst/>
          </a:prstGeom>
          <a:noFill/>
          <a:ln>
            <a:noFill/>
          </a:ln>
        </p:spPr>
      </p:pic>
      <p:sp>
        <p:nvSpPr>
          <p:cNvPr id="1326" name="Google Shape;1326;p105"/>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27" name="Google Shape;1327;p105"/>
          <p:cNvPicPr preferRelativeResize="0"/>
          <p:nvPr/>
        </p:nvPicPr>
        <p:blipFill>
          <a:blip r:embed="rId5">
            <a:alphaModFix/>
          </a:blip>
          <a:stretch>
            <a:fillRect/>
          </a:stretch>
        </p:blipFill>
        <p:spPr>
          <a:xfrm>
            <a:off x="488925" y="22575"/>
            <a:ext cx="1797075" cy="898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06"/>
          <p:cNvSpPr/>
          <p:nvPr/>
        </p:nvSpPr>
        <p:spPr>
          <a:xfrm>
            <a:off x="0" y="0"/>
            <a:ext cx="9144000" cy="1114500"/>
          </a:xfrm>
          <a:prstGeom prst="rect">
            <a:avLst/>
          </a:prstGeom>
          <a:solidFill>
            <a:srgbClr val="9999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06"/>
          <p:cNvSpPr txBox="1"/>
          <p:nvPr/>
        </p:nvSpPr>
        <p:spPr>
          <a:xfrm>
            <a:off x="2361200" y="0"/>
            <a:ext cx="6684900" cy="6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200">
                <a:solidFill>
                  <a:schemeClr val="lt1"/>
                </a:solidFill>
                <a:latin typeface="Source Sans Pro"/>
                <a:ea typeface="Source Sans Pro"/>
                <a:cs typeface="Source Sans Pro"/>
                <a:sym typeface="Source Sans Pro"/>
              </a:rPr>
              <a:t>Use Cases: </a:t>
            </a:r>
            <a:r>
              <a:rPr b="1" lang="en" sz="2200">
                <a:solidFill>
                  <a:schemeClr val="lt1"/>
                </a:solidFill>
                <a:latin typeface="Source Sans Pro"/>
                <a:ea typeface="Source Sans Pro"/>
                <a:cs typeface="Source Sans Pro"/>
                <a:sym typeface="Source Sans Pro"/>
              </a:rPr>
              <a:t>Customer Mastering</a:t>
            </a:r>
            <a:r>
              <a:rPr b="1" i="1" lang="en" sz="2200">
                <a:solidFill>
                  <a:schemeClr val="lt1"/>
                </a:solidFill>
                <a:latin typeface="Source Sans Pro"/>
                <a:ea typeface="Source Sans Pro"/>
                <a:cs typeface="Source Sans Pro"/>
                <a:sym typeface="Source Sans Pro"/>
              </a:rPr>
              <a:t>, </a:t>
            </a:r>
            <a:r>
              <a:rPr b="1" lang="en" sz="2200">
                <a:solidFill>
                  <a:schemeClr val="lt1"/>
                </a:solidFill>
                <a:latin typeface="Source Sans Pro"/>
                <a:ea typeface="Source Sans Pro"/>
                <a:cs typeface="Source Sans Pro"/>
                <a:sym typeface="Source Sans Pro"/>
              </a:rPr>
              <a:t>Supplier Mastering</a:t>
            </a:r>
            <a:endParaRPr sz="1800"/>
          </a:p>
          <a:p>
            <a:pPr indent="0" lvl="0" marL="0" rtl="0" algn="l">
              <a:spcBef>
                <a:spcPts val="0"/>
              </a:spcBef>
              <a:spcAft>
                <a:spcPts val="0"/>
              </a:spcAft>
              <a:buNone/>
            </a:pPr>
            <a:r>
              <a:t/>
            </a:r>
            <a:endParaRPr sz="1700">
              <a:solidFill>
                <a:schemeClr val="lt1"/>
              </a:solidFill>
              <a:latin typeface="Source Sans Pro"/>
              <a:ea typeface="Source Sans Pro"/>
              <a:cs typeface="Source Sans Pro"/>
              <a:sym typeface="Source Sans Pro"/>
            </a:endParaRPr>
          </a:p>
          <a:p>
            <a:pPr indent="0" lvl="0" marL="0" rtl="0" algn="l">
              <a:spcBef>
                <a:spcPts val="0"/>
              </a:spcBef>
              <a:spcAft>
                <a:spcPts val="0"/>
              </a:spcAft>
              <a:buNone/>
            </a:pPr>
            <a:r>
              <a:t/>
            </a:r>
            <a:endParaRPr sz="1900">
              <a:latin typeface="Source Sans Pro"/>
              <a:ea typeface="Source Sans Pro"/>
              <a:cs typeface="Source Sans Pro"/>
              <a:sym typeface="Source Sans Pro"/>
            </a:endParaRPr>
          </a:p>
        </p:txBody>
      </p:sp>
      <p:cxnSp>
        <p:nvCxnSpPr>
          <p:cNvPr id="1334" name="Google Shape;1334;p106"/>
          <p:cNvCxnSpPr/>
          <p:nvPr/>
        </p:nvCxnSpPr>
        <p:spPr>
          <a:xfrm>
            <a:off x="3067859" y="1522271"/>
            <a:ext cx="0" cy="2304000"/>
          </a:xfrm>
          <a:prstGeom prst="straightConnector1">
            <a:avLst/>
          </a:prstGeom>
          <a:noFill/>
          <a:ln cap="flat" cmpd="sng" w="19050">
            <a:solidFill>
              <a:srgbClr val="D9D9D9"/>
            </a:solidFill>
            <a:prstDash val="solid"/>
            <a:round/>
            <a:headEnd len="sm" w="sm" type="none"/>
            <a:tailEnd len="sm" w="sm" type="none"/>
          </a:ln>
        </p:spPr>
      </p:cxnSp>
      <p:sp>
        <p:nvSpPr>
          <p:cNvPr id="1335" name="Google Shape;1335;p106"/>
          <p:cNvSpPr txBox="1"/>
          <p:nvPr/>
        </p:nvSpPr>
        <p:spPr>
          <a:xfrm>
            <a:off x="131861" y="1266035"/>
            <a:ext cx="2952000" cy="30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cxnSp>
        <p:nvCxnSpPr>
          <p:cNvPr id="1336" name="Google Shape;1336;p106"/>
          <p:cNvCxnSpPr/>
          <p:nvPr/>
        </p:nvCxnSpPr>
        <p:spPr>
          <a:xfrm>
            <a:off x="6051874" y="1522271"/>
            <a:ext cx="0" cy="2304000"/>
          </a:xfrm>
          <a:prstGeom prst="straightConnector1">
            <a:avLst/>
          </a:prstGeom>
          <a:noFill/>
          <a:ln cap="flat" cmpd="sng" w="19050">
            <a:solidFill>
              <a:srgbClr val="D9D9D9"/>
            </a:solidFill>
            <a:prstDash val="solid"/>
            <a:round/>
            <a:headEnd len="sm" w="sm" type="none"/>
            <a:tailEnd len="sm" w="sm" type="none"/>
          </a:ln>
        </p:spPr>
      </p:cxnSp>
      <p:sp>
        <p:nvSpPr>
          <p:cNvPr id="1337" name="Google Shape;1337;p106"/>
          <p:cNvSpPr txBox="1"/>
          <p:nvPr/>
        </p:nvSpPr>
        <p:spPr>
          <a:xfrm>
            <a:off x="3083870" y="1266047"/>
            <a:ext cx="2952000" cy="30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338" name="Google Shape;1338;p106"/>
          <p:cNvSpPr txBox="1"/>
          <p:nvPr/>
        </p:nvSpPr>
        <p:spPr>
          <a:xfrm>
            <a:off x="6035896" y="1266035"/>
            <a:ext cx="2952000" cy="30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sp>
        <p:nvSpPr>
          <p:cNvPr id="1339" name="Google Shape;1339;p106"/>
          <p:cNvSpPr txBox="1"/>
          <p:nvPr/>
        </p:nvSpPr>
        <p:spPr>
          <a:xfrm>
            <a:off x="6236175" y="1778125"/>
            <a:ext cx="2884500" cy="2912700"/>
          </a:xfrm>
          <a:prstGeom prst="rect">
            <a:avLst/>
          </a:prstGeom>
          <a:noFill/>
          <a:ln>
            <a:noFill/>
          </a:ln>
        </p:spPr>
        <p:txBody>
          <a:bodyPr anchorCtr="0" anchor="t" bIns="45700" lIns="91425" spcFirstLastPara="1" rIns="91425" wrap="square" tIns="45700">
            <a:noAutofit/>
          </a:bodyPr>
          <a:lstStyle/>
          <a:p>
            <a:pPr indent="-304800" lvl="0" marL="457200" marR="0" rtl="0" algn="l">
              <a:spcBef>
                <a:spcPts val="60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Improve customer upsell opportunities by $10 million </a:t>
            </a:r>
            <a:r>
              <a:rPr lang="en" sz="1200">
                <a:solidFill>
                  <a:schemeClr val="dk1"/>
                </a:solidFill>
                <a:latin typeface="Source Sans Pro"/>
                <a:ea typeface="Source Sans Pro"/>
                <a:cs typeface="Source Sans Pro"/>
                <a:sym typeface="Source Sans Pro"/>
              </a:rPr>
              <a:t>and increased operational efficiency by reducing manual workflows around consolidating marketing data</a:t>
            </a:r>
            <a:endParaRPr sz="12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200">
              <a:solidFill>
                <a:schemeClr val="dk1"/>
              </a:solidFill>
              <a:latin typeface="Source Sans Pro"/>
              <a:ea typeface="Source Sans Pro"/>
              <a:cs typeface="Source Sans Pro"/>
              <a:sym typeface="Source Sans Pro"/>
            </a:endParaRPr>
          </a:p>
          <a:p>
            <a:pPr indent="-304800" lvl="0" marL="457200" marR="0" rtl="0" algn="l">
              <a:spcBef>
                <a:spcPts val="60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Drive $17 million in cost savings </a:t>
            </a:r>
            <a:r>
              <a:rPr lang="en" sz="1200">
                <a:solidFill>
                  <a:schemeClr val="dk1"/>
                </a:solidFill>
                <a:latin typeface="Source Sans Pro"/>
                <a:ea typeface="Source Sans Pro"/>
                <a:cs typeface="Source Sans Pro"/>
                <a:sym typeface="Source Sans Pro"/>
              </a:rPr>
              <a:t>with improved contract negotiations, optimized repair maintenance plans,  better inventory management</a:t>
            </a:r>
            <a:endParaRPr sz="1200">
              <a:solidFill>
                <a:schemeClr val="dk1"/>
              </a:solidFill>
              <a:latin typeface="Source Sans Pro"/>
              <a:ea typeface="Source Sans Pro"/>
              <a:cs typeface="Source Sans Pro"/>
              <a:sym typeface="Source Sans Pro"/>
            </a:endParaRPr>
          </a:p>
        </p:txBody>
      </p:sp>
      <p:sp>
        <p:nvSpPr>
          <p:cNvPr id="1340" name="Google Shape;1340;p106"/>
          <p:cNvSpPr txBox="1"/>
          <p:nvPr/>
        </p:nvSpPr>
        <p:spPr>
          <a:xfrm>
            <a:off x="3218575" y="1778125"/>
            <a:ext cx="2817300" cy="1114500"/>
          </a:xfrm>
          <a:prstGeom prst="rect">
            <a:avLst/>
          </a:prstGeom>
          <a:noFill/>
          <a:ln>
            <a:noFill/>
          </a:ln>
        </p:spPr>
        <p:txBody>
          <a:bodyPr anchorCtr="0" anchor="t" bIns="45700" lIns="91425" spcFirstLastPara="1" rIns="91425" wrap="square" tIns="45700">
            <a:noAutofit/>
          </a:bodyPr>
          <a:lstStyle/>
          <a:p>
            <a:pPr indent="-304800" lvl="0" marL="457200" marR="0" rtl="0" algn="l">
              <a:spcBef>
                <a:spcPts val="600"/>
              </a:spcBef>
              <a:spcAft>
                <a:spcPts val="0"/>
              </a:spcAft>
              <a:buClr>
                <a:schemeClr val="dk1"/>
              </a:buClr>
              <a:buSzPts val="1200"/>
              <a:buFont typeface="Source Sans Pro"/>
              <a:buChar char="●"/>
            </a:pPr>
            <a:r>
              <a:rPr lang="en" sz="1200">
                <a:solidFill>
                  <a:schemeClr val="dk1"/>
                </a:solidFill>
                <a:latin typeface="Source Sans Pro"/>
                <a:ea typeface="Source Sans Pro"/>
                <a:cs typeface="Source Sans Pro"/>
                <a:sym typeface="Source Sans Pro"/>
              </a:rPr>
              <a:t>Adopt modern approach to MDM that uses </a:t>
            </a:r>
            <a:r>
              <a:rPr b="1" lang="en" sz="1200">
                <a:solidFill>
                  <a:schemeClr val="dk1"/>
                </a:solidFill>
                <a:latin typeface="Source Sans Pro"/>
                <a:ea typeface="Source Sans Pro"/>
                <a:cs typeface="Source Sans Pro"/>
                <a:sym typeface="Source Sans Pro"/>
              </a:rPr>
              <a:t>human-guided </a:t>
            </a:r>
            <a:r>
              <a:rPr b="1" lang="en" sz="1200">
                <a:solidFill>
                  <a:schemeClr val="dk1"/>
                </a:solidFill>
                <a:latin typeface="Source Sans Pro"/>
                <a:ea typeface="Source Sans Pro"/>
                <a:cs typeface="Source Sans Pro"/>
                <a:sym typeface="Source Sans Pro"/>
              </a:rPr>
              <a:t>machine</a:t>
            </a:r>
            <a:r>
              <a:rPr b="1" lang="en" sz="1200">
                <a:solidFill>
                  <a:schemeClr val="dk1"/>
                </a:solidFill>
                <a:latin typeface="Source Sans Pro"/>
                <a:ea typeface="Source Sans Pro"/>
                <a:cs typeface="Source Sans Pro"/>
                <a:sym typeface="Source Sans Pro"/>
              </a:rPr>
              <a:t> </a:t>
            </a:r>
            <a:r>
              <a:rPr b="1" lang="en" sz="1200">
                <a:solidFill>
                  <a:schemeClr val="dk1"/>
                </a:solidFill>
                <a:latin typeface="Source Sans Pro"/>
                <a:ea typeface="Source Sans Pro"/>
                <a:cs typeface="Source Sans Pro"/>
                <a:sym typeface="Source Sans Pro"/>
              </a:rPr>
              <a:t>learning</a:t>
            </a:r>
            <a:r>
              <a:rPr lang="en" sz="1200">
                <a:solidFill>
                  <a:schemeClr val="dk1"/>
                </a:solidFill>
                <a:latin typeface="Source Sans Pro"/>
                <a:ea typeface="Source Sans Pro"/>
                <a:cs typeface="Source Sans Pro"/>
                <a:sym typeface="Source Sans Pro"/>
              </a:rPr>
              <a:t> </a:t>
            </a:r>
            <a:endParaRPr sz="1200">
              <a:solidFill>
                <a:schemeClr val="dk1"/>
              </a:solidFill>
              <a:latin typeface="Source Sans Pro"/>
              <a:ea typeface="Source Sans Pro"/>
              <a:cs typeface="Source Sans Pro"/>
              <a:sym typeface="Source Sans Pro"/>
            </a:endParaRPr>
          </a:p>
          <a:p>
            <a:pPr indent="0" lvl="0" marL="0" marR="0" rtl="0" algn="l">
              <a:spcBef>
                <a:spcPts val="600"/>
              </a:spcBef>
              <a:spcAft>
                <a:spcPts val="0"/>
              </a:spcAft>
              <a:buNone/>
            </a:pPr>
            <a:r>
              <a:t/>
            </a:r>
            <a:endParaRPr sz="1200">
              <a:solidFill>
                <a:schemeClr val="dk1"/>
              </a:solidFill>
              <a:latin typeface="Source Sans Pro"/>
              <a:ea typeface="Source Sans Pro"/>
              <a:cs typeface="Source Sans Pro"/>
              <a:sym typeface="Source Sans Pro"/>
            </a:endParaRPr>
          </a:p>
          <a:p>
            <a:pPr indent="-304800" lvl="0" marL="457200" marR="0" rtl="0" algn="l">
              <a:spcBef>
                <a:spcPts val="60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Create golden customer and supplier records</a:t>
            </a:r>
            <a:r>
              <a:rPr lang="en" sz="1200">
                <a:solidFill>
                  <a:schemeClr val="dk1"/>
                </a:solidFill>
                <a:latin typeface="Source Sans Pro"/>
                <a:ea typeface="Source Sans Pro"/>
                <a:cs typeface="Source Sans Pro"/>
                <a:sym typeface="Source Sans Pro"/>
              </a:rPr>
              <a:t> by mastering millions of entities in weeks</a:t>
            </a:r>
            <a:endParaRPr sz="12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200">
              <a:solidFill>
                <a:schemeClr val="dk1"/>
              </a:solidFill>
              <a:latin typeface="Source Sans Pro"/>
              <a:ea typeface="Source Sans Pro"/>
              <a:cs typeface="Source Sans Pro"/>
              <a:sym typeface="Source Sans Pro"/>
            </a:endParaRPr>
          </a:p>
          <a:p>
            <a:pPr indent="-304800" lvl="0" marL="457200" rtl="0" algn="l">
              <a:spcBef>
                <a:spcPts val="60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Reduce manual data preparation by 80%</a:t>
            </a:r>
            <a:r>
              <a:rPr lang="en" sz="1200">
                <a:solidFill>
                  <a:schemeClr val="dk1"/>
                </a:solidFill>
                <a:latin typeface="Source Sans Pro"/>
                <a:ea typeface="Source Sans Pro"/>
                <a:cs typeface="Source Sans Pro"/>
                <a:sym typeface="Source Sans Pro"/>
              </a:rPr>
              <a:t> with automation</a:t>
            </a:r>
            <a:endParaRPr sz="12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3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300">
              <a:solidFill>
                <a:schemeClr val="dk1"/>
              </a:solidFill>
              <a:latin typeface="Source Sans Pro"/>
              <a:ea typeface="Source Sans Pro"/>
              <a:cs typeface="Source Sans Pro"/>
              <a:sym typeface="Source Sans Pro"/>
            </a:endParaRPr>
          </a:p>
          <a:p>
            <a:pPr indent="0" lvl="0" marL="0" marR="0" rtl="0" algn="l">
              <a:spcBef>
                <a:spcPts val="600"/>
              </a:spcBef>
              <a:spcAft>
                <a:spcPts val="0"/>
              </a:spcAft>
              <a:buNone/>
            </a:pPr>
            <a:r>
              <a:t/>
            </a:r>
            <a:endParaRPr sz="13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3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300">
              <a:solidFill>
                <a:schemeClr val="dk1"/>
              </a:solidFill>
              <a:latin typeface="Source Sans Pro"/>
              <a:ea typeface="Source Sans Pro"/>
              <a:cs typeface="Source Sans Pro"/>
              <a:sym typeface="Source Sans Pro"/>
            </a:endParaRPr>
          </a:p>
          <a:p>
            <a:pPr indent="0" lvl="0" marL="457200" marR="0" rtl="0" algn="l">
              <a:spcBef>
                <a:spcPts val="600"/>
              </a:spcBef>
              <a:spcAft>
                <a:spcPts val="0"/>
              </a:spcAft>
              <a:buNone/>
            </a:pPr>
            <a:r>
              <a:t/>
            </a:r>
            <a:endParaRPr sz="1300">
              <a:solidFill>
                <a:schemeClr val="dk1"/>
              </a:solidFill>
              <a:latin typeface="Source Sans Pro"/>
              <a:ea typeface="Source Sans Pro"/>
              <a:cs typeface="Source Sans Pro"/>
              <a:sym typeface="Source Sans Pro"/>
            </a:endParaRPr>
          </a:p>
          <a:p>
            <a:pPr indent="0" lvl="0" marL="0" marR="0" rtl="0" algn="l">
              <a:spcBef>
                <a:spcPts val="600"/>
              </a:spcBef>
              <a:spcAft>
                <a:spcPts val="0"/>
              </a:spcAft>
              <a:buNone/>
            </a:pPr>
            <a:r>
              <a:t/>
            </a:r>
            <a:endParaRPr>
              <a:solidFill>
                <a:schemeClr val="dk1"/>
              </a:solidFill>
              <a:latin typeface="Source Sans Pro"/>
              <a:ea typeface="Source Sans Pro"/>
              <a:cs typeface="Source Sans Pro"/>
              <a:sym typeface="Source Sans Pro"/>
            </a:endParaRPr>
          </a:p>
          <a:p>
            <a:pPr indent="0" lvl="0" marL="0" marR="0" rtl="0" algn="l">
              <a:spcBef>
                <a:spcPts val="600"/>
              </a:spcBef>
              <a:spcAft>
                <a:spcPts val="0"/>
              </a:spcAft>
              <a:buNone/>
            </a:pPr>
            <a:r>
              <a:t/>
            </a:r>
            <a:endParaRPr>
              <a:solidFill>
                <a:schemeClr val="dk1"/>
              </a:solidFill>
              <a:latin typeface="Source Sans Pro"/>
              <a:ea typeface="Source Sans Pro"/>
              <a:cs typeface="Source Sans Pro"/>
              <a:sym typeface="Source Sans Pro"/>
            </a:endParaRPr>
          </a:p>
        </p:txBody>
      </p:sp>
      <p:sp>
        <p:nvSpPr>
          <p:cNvPr id="1341" name="Google Shape;1341;p106"/>
          <p:cNvSpPr txBox="1"/>
          <p:nvPr/>
        </p:nvSpPr>
        <p:spPr>
          <a:xfrm>
            <a:off x="9455700" y="1898928"/>
            <a:ext cx="2682600" cy="977100"/>
          </a:xfrm>
          <a:prstGeom prst="rect">
            <a:avLst/>
          </a:prstGeom>
          <a:noFill/>
          <a:ln>
            <a:noFill/>
          </a:ln>
        </p:spPr>
        <p:txBody>
          <a:bodyPr anchorCtr="0" anchor="t" bIns="45700" lIns="91425" spcFirstLastPara="1" rIns="91425" wrap="square" tIns="45700">
            <a:noAutofit/>
          </a:bodyPr>
          <a:lstStyle/>
          <a:p>
            <a:pPr indent="0" lvl="0" marL="0" marR="0" rtl="0" algn="l">
              <a:spcBef>
                <a:spcPts val="600"/>
              </a:spcBef>
              <a:spcAft>
                <a:spcPts val="0"/>
              </a:spcAft>
              <a:buNone/>
            </a:pPr>
            <a:r>
              <a:t/>
            </a:r>
            <a:endParaRPr sz="1500">
              <a:latin typeface="Source Sans Pro"/>
              <a:ea typeface="Source Sans Pro"/>
              <a:cs typeface="Source Sans Pro"/>
              <a:sym typeface="Source Sans Pro"/>
            </a:endParaRPr>
          </a:p>
        </p:txBody>
      </p:sp>
      <p:sp>
        <p:nvSpPr>
          <p:cNvPr id="1342" name="Google Shape;1342;p106"/>
          <p:cNvSpPr txBox="1"/>
          <p:nvPr/>
        </p:nvSpPr>
        <p:spPr>
          <a:xfrm>
            <a:off x="32650" y="1778125"/>
            <a:ext cx="2952000" cy="3278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Integrating millions of customer and supplier records </a:t>
            </a:r>
            <a:r>
              <a:rPr lang="en" sz="1200">
                <a:solidFill>
                  <a:schemeClr val="dk1"/>
                </a:solidFill>
                <a:latin typeface="Source Sans Pro"/>
                <a:ea typeface="Source Sans Pro"/>
                <a:cs typeface="Source Sans Pro"/>
                <a:sym typeface="Source Sans Pro"/>
              </a:rPr>
              <a:t>using manual, rules-based data mastering approaches</a:t>
            </a:r>
            <a:endParaRPr sz="1200">
              <a:solidFill>
                <a:schemeClr val="dk1"/>
              </a:solidFill>
              <a:latin typeface="Source Sans Pro"/>
              <a:ea typeface="Source Sans Pro"/>
              <a:cs typeface="Source Sans Pro"/>
              <a:sym typeface="Source Sans Pro"/>
            </a:endParaRPr>
          </a:p>
          <a:p>
            <a:pPr indent="0" lvl="0" marL="45720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304800" lvl="0" marL="45720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Improving marketing analytics</a:t>
            </a:r>
            <a:r>
              <a:rPr lang="en" sz="1200">
                <a:solidFill>
                  <a:schemeClr val="dk1"/>
                </a:solidFill>
                <a:latin typeface="Source Sans Pro"/>
                <a:ea typeface="Source Sans Pro"/>
                <a:cs typeface="Source Sans Pro"/>
                <a:sym typeface="Source Sans Pro"/>
              </a:rPr>
              <a:t> to drive customer retention and identify upsell opportunities</a:t>
            </a:r>
            <a:endParaRPr sz="1200">
              <a:solidFill>
                <a:schemeClr val="dk1"/>
              </a:solidFill>
              <a:latin typeface="Source Sans Pro"/>
              <a:ea typeface="Source Sans Pro"/>
              <a:cs typeface="Source Sans Pro"/>
              <a:sym typeface="Source Sans Pro"/>
            </a:endParaRPr>
          </a:p>
          <a:p>
            <a:pPr indent="0" lvl="0" marL="457200" rtl="0" algn="l">
              <a:spcBef>
                <a:spcPts val="0"/>
              </a:spcBef>
              <a:spcAft>
                <a:spcPts val="0"/>
              </a:spcAft>
              <a:buNone/>
            </a:pPr>
            <a:r>
              <a:t/>
            </a:r>
            <a:endParaRPr sz="1200">
              <a:solidFill>
                <a:schemeClr val="dk1"/>
              </a:solidFill>
              <a:latin typeface="Source Sans Pro"/>
              <a:ea typeface="Source Sans Pro"/>
              <a:cs typeface="Source Sans Pro"/>
              <a:sym typeface="Source Sans Pro"/>
            </a:endParaRPr>
          </a:p>
          <a:p>
            <a:pPr indent="-304800" lvl="0" marL="457200" rtl="0" algn="l">
              <a:spcBef>
                <a:spcPts val="0"/>
              </a:spcBef>
              <a:spcAft>
                <a:spcPts val="0"/>
              </a:spcAft>
              <a:buClr>
                <a:schemeClr val="dk1"/>
              </a:buClr>
              <a:buSzPts val="1200"/>
              <a:buFont typeface="Source Sans Pro"/>
              <a:buChar char="●"/>
            </a:pPr>
            <a:r>
              <a:rPr b="1" lang="en" sz="1200">
                <a:solidFill>
                  <a:schemeClr val="dk1"/>
                </a:solidFill>
                <a:latin typeface="Source Sans Pro"/>
                <a:ea typeface="Source Sans Pro"/>
                <a:cs typeface="Source Sans Pro"/>
                <a:sym typeface="Source Sans Pro"/>
              </a:rPr>
              <a:t>Realizing cost savings</a:t>
            </a:r>
            <a:r>
              <a:rPr lang="en" sz="1200">
                <a:solidFill>
                  <a:schemeClr val="dk1"/>
                </a:solidFill>
                <a:latin typeface="Source Sans Pro"/>
                <a:ea typeface="Source Sans Pro"/>
                <a:cs typeface="Source Sans Pro"/>
                <a:sym typeface="Source Sans Pro"/>
              </a:rPr>
              <a:t> by driving supply chain efficiencies </a:t>
            </a:r>
            <a:endParaRPr b="1"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b="1">
              <a:solidFill>
                <a:schemeClr val="dk1"/>
              </a:solidFill>
              <a:latin typeface="Source Sans Pro"/>
              <a:ea typeface="Source Sans Pro"/>
              <a:cs typeface="Source Sans Pro"/>
              <a:sym typeface="Source Sans Pro"/>
            </a:endParaRPr>
          </a:p>
        </p:txBody>
      </p:sp>
      <p:pic>
        <p:nvPicPr>
          <p:cNvPr id="1343" name="Google Shape;1343;p106"/>
          <p:cNvPicPr preferRelativeResize="0"/>
          <p:nvPr/>
        </p:nvPicPr>
        <p:blipFill>
          <a:blip r:embed="rId3">
            <a:alphaModFix/>
          </a:blip>
          <a:stretch>
            <a:fillRect/>
          </a:stretch>
        </p:blipFill>
        <p:spPr>
          <a:xfrm>
            <a:off x="131850" y="287025"/>
            <a:ext cx="2178801" cy="540450"/>
          </a:xfrm>
          <a:prstGeom prst="rect">
            <a:avLst/>
          </a:prstGeom>
          <a:noFill/>
          <a:ln>
            <a:noFill/>
          </a:ln>
        </p:spPr>
      </p:pic>
      <p:sp>
        <p:nvSpPr>
          <p:cNvPr id="1344" name="Google Shape;1344;p106"/>
          <p:cNvSpPr txBox="1"/>
          <p:nvPr/>
        </p:nvSpPr>
        <p:spPr>
          <a:xfrm>
            <a:off x="2361200" y="394075"/>
            <a:ext cx="6917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Source Sans Pro"/>
                <a:ea typeface="Source Sans Pro"/>
                <a:cs typeface="Source Sans Pro"/>
                <a:sym typeface="Source Sans Pro"/>
              </a:rPr>
              <a:t>Adopted modern master data management solution to drive  millions in supplier savings and customer upsell opportunities</a:t>
            </a:r>
            <a:endParaRPr>
              <a:solidFill>
                <a:schemeClr val="lt1"/>
              </a:solidFill>
              <a:latin typeface="Source Sans Pro"/>
              <a:ea typeface="Source Sans Pro"/>
              <a:cs typeface="Source Sans Pro"/>
              <a:sym typeface="Source Sans Pro"/>
            </a:endParaRPr>
          </a:p>
        </p:txBody>
      </p:sp>
      <p:sp>
        <p:nvSpPr>
          <p:cNvPr id="1345" name="Google Shape;1345;p106"/>
          <p:cNvSpPr txBox="1"/>
          <p:nvPr/>
        </p:nvSpPr>
        <p:spPr>
          <a:xfrm>
            <a:off x="1558225" y="4451963"/>
            <a:ext cx="6684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Source Sans Pro"/>
                <a:ea typeface="Source Sans Pro"/>
                <a:cs typeface="Source Sans Pro"/>
                <a:sym typeface="Source Sans Pro"/>
              </a:rPr>
              <a:t>Drive millions in cost savings and upsell opportunities</a:t>
            </a:r>
            <a:r>
              <a:rPr lang="en">
                <a:solidFill>
                  <a:schemeClr val="dk1"/>
                </a:solidFill>
                <a:latin typeface="Source Sans Pro"/>
                <a:ea typeface="Source Sans Pro"/>
                <a:cs typeface="Source Sans Pro"/>
                <a:sym typeface="Source Sans Pro"/>
              </a:rPr>
              <a:t> with integrated customer, supplier records</a:t>
            </a:r>
            <a:endParaRPr>
              <a:solidFill>
                <a:schemeClr val="dk1"/>
              </a:solidFill>
              <a:latin typeface="Source Sans Pro"/>
              <a:ea typeface="Source Sans Pro"/>
              <a:cs typeface="Source Sans Pro"/>
              <a:sym typeface="Source Sans Pro"/>
            </a:endParaRPr>
          </a:p>
        </p:txBody>
      </p:sp>
      <p:pic>
        <p:nvPicPr>
          <p:cNvPr id="1346" name="Google Shape;1346;p106"/>
          <p:cNvPicPr preferRelativeResize="0"/>
          <p:nvPr/>
        </p:nvPicPr>
        <p:blipFill>
          <a:blip r:embed="rId4">
            <a:alphaModFix/>
          </a:blip>
          <a:stretch>
            <a:fillRect/>
          </a:stretch>
        </p:blipFill>
        <p:spPr>
          <a:xfrm>
            <a:off x="1054237" y="4519213"/>
            <a:ext cx="598726" cy="48111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07"/>
          <p:cNvSpPr txBox="1"/>
          <p:nvPr/>
        </p:nvSpPr>
        <p:spPr>
          <a:xfrm>
            <a:off x="3107682" y="1536200"/>
            <a:ext cx="2926200" cy="26424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Font typeface="Source Sans Pro"/>
              <a:buChar char="●"/>
            </a:pPr>
            <a:r>
              <a:rPr b="1" lang="en" sz="1000">
                <a:solidFill>
                  <a:schemeClr val="dk1"/>
                </a:solidFill>
                <a:latin typeface="Source Sans Pro"/>
                <a:ea typeface="Source Sans Pro"/>
                <a:cs typeface="Source Sans Pro"/>
                <a:sym typeface="Source Sans Pro"/>
              </a:rPr>
              <a:t>Created golden records for people, organizations, and addresses </a:t>
            </a:r>
            <a:r>
              <a:rPr lang="en" sz="1000">
                <a:solidFill>
                  <a:schemeClr val="dk1"/>
                </a:solidFill>
                <a:latin typeface="Source Sans Pro"/>
                <a:ea typeface="Source Sans Pro"/>
                <a:cs typeface="Source Sans Pro"/>
                <a:sym typeface="Source Sans Pro"/>
              </a:rPr>
              <a:t>by unifying hundreds of thousands of records</a:t>
            </a:r>
            <a:endParaRPr sz="1000">
              <a:solidFill>
                <a:schemeClr val="dk1"/>
              </a:solidFill>
              <a:latin typeface="Source Sans Pro"/>
              <a:ea typeface="Source Sans Pro"/>
              <a:cs typeface="Source Sans Pro"/>
              <a:sym typeface="Source Sans Pro"/>
            </a:endParaRPr>
          </a:p>
          <a:p>
            <a:pPr indent="-292100" lvl="0" marL="457200" rtl="0" algn="l">
              <a:spcBef>
                <a:spcPts val="1000"/>
              </a:spcBef>
              <a:spcAft>
                <a:spcPts val="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Used </a:t>
            </a:r>
            <a:r>
              <a:rPr b="1" lang="en" sz="1000">
                <a:solidFill>
                  <a:schemeClr val="dk1"/>
                </a:solidFill>
                <a:latin typeface="Source Sans Pro"/>
                <a:ea typeface="Source Sans Pro"/>
                <a:cs typeface="Source Sans Pro"/>
                <a:sym typeface="Source Sans Pro"/>
              </a:rPr>
              <a:t>machine learning to improve data quality</a:t>
            </a:r>
            <a:r>
              <a:rPr lang="en" sz="1000">
                <a:solidFill>
                  <a:schemeClr val="dk1"/>
                </a:solidFill>
                <a:latin typeface="Source Sans Pro"/>
                <a:ea typeface="Source Sans Pro"/>
                <a:cs typeface="Source Sans Pro"/>
                <a:sym typeface="Source Sans Pro"/>
              </a:rPr>
              <a:t> by identifying duplicate and incomplete records</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Used </a:t>
            </a:r>
            <a:r>
              <a:rPr b="1" lang="en" sz="1000">
                <a:solidFill>
                  <a:schemeClr val="dk1"/>
                </a:solidFill>
                <a:latin typeface="Source Sans Pro"/>
                <a:ea typeface="Source Sans Pro"/>
                <a:cs typeface="Source Sans Pro"/>
                <a:sym typeface="Source Sans Pro"/>
              </a:rPr>
              <a:t>Tamr’s persistent cluster IDs to create unique EOE IDs for people and organizations,</a:t>
            </a:r>
            <a:r>
              <a:rPr lang="en" sz="1000">
                <a:solidFill>
                  <a:schemeClr val="dk1"/>
                </a:solidFill>
                <a:latin typeface="Source Sans Pro"/>
                <a:ea typeface="Source Sans Pro"/>
                <a:cs typeface="Source Sans Pro"/>
                <a:sym typeface="Source Sans Pro"/>
              </a:rPr>
              <a:t> replacing existing student and education professional identifiers</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100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Demonstrated fast time to value by establishing a repeatable pipeline six months into the project</a:t>
            </a:r>
            <a:endParaRPr b="1" sz="1200">
              <a:latin typeface="Source Sans Pro"/>
              <a:ea typeface="Source Sans Pro"/>
              <a:cs typeface="Source Sans Pro"/>
              <a:sym typeface="Source Sans Pro"/>
            </a:endParaRPr>
          </a:p>
        </p:txBody>
      </p:sp>
      <p:sp>
        <p:nvSpPr>
          <p:cNvPr id="1352" name="Google Shape;1352;p107"/>
          <p:cNvSpPr txBox="1"/>
          <p:nvPr/>
        </p:nvSpPr>
        <p:spPr>
          <a:xfrm>
            <a:off x="181600" y="1545336"/>
            <a:ext cx="2926200" cy="26424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Font typeface="Source Sans Pro"/>
              <a:buChar char="●"/>
            </a:pPr>
            <a:r>
              <a:rPr b="1" lang="en" sz="1000">
                <a:solidFill>
                  <a:schemeClr val="dk1"/>
                </a:solidFill>
                <a:latin typeface="Source Sans Pro"/>
                <a:ea typeface="Source Sans Pro"/>
                <a:cs typeface="Source Sans Pro"/>
                <a:sym typeface="Source Sans Pro"/>
              </a:rPr>
              <a:t>Siloed, disparate data</a:t>
            </a:r>
            <a:r>
              <a:rPr lang="en" sz="1000">
                <a:solidFill>
                  <a:schemeClr val="dk1"/>
                </a:solidFill>
                <a:latin typeface="Source Sans Pro"/>
                <a:ea typeface="Source Sans Pro"/>
                <a:cs typeface="Source Sans Pro"/>
                <a:sym typeface="Source Sans Pro"/>
              </a:rPr>
              <a:t> prevented EOE from obtaining a deep understanding of the people and organizations it works with</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A bad experience using a legacy, rules-based data mastering product that had </a:t>
            </a:r>
            <a:r>
              <a:rPr b="1" lang="en" sz="1000">
                <a:solidFill>
                  <a:schemeClr val="dk1"/>
                </a:solidFill>
                <a:latin typeface="Source Sans Pro"/>
                <a:ea typeface="Source Sans Pro"/>
                <a:cs typeface="Source Sans Pro"/>
                <a:sym typeface="Source Sans Pro"/>
              </a:rPr>
              <a:t>a steep learning curve</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Different entities and </a:t>
            </a:r>
            <a:r>
              <a:rPr b="1" lang="en" sz="1000">
                <a:solidFill>
                  <a:schemeClr val="dk1"/>
                </a:solidFill>
                <a:latin typeface="Source Sans Pro"/>
                <a:ea typeface="Source Sans Pro"/>
                <a:cs typeface="Source Sans Pro"/>
                <a:sym typeface="Source Sans Pro"/>
              </a:rPr>
              <a:t>lack of visibility of relationships across entities</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1000"/>
              </a:spcAft>
              <a:buClr>
                <a:schemeClr val="dk1"/>
              </a:buClr>
              <a:buSzPts val="1000"/>
              <a:buFont typeface="Source Sans Pro"/>
              <a:buChar char="●"/>
            </a:pPr>
            <a:r>
              <a:rPr b="1" lang="en" sz="1000">
                <a:solidFill>
                  <a:schemeClr val="dk1"/>
                </a:solidFill>
                <a:latin typeface="Source Sans Pro"/>
                <a:ea typeface="Source Sans Pro"/>
                <a:cs typeface="Source Sans Pro"/>
                <a:sym typeface="Source Sans Pro"/>
              </a:rPr>
              <a:t>System workflow limitations</a:t>
            </a:r>
            <a:r>
              <a:rPr lang="en" sz="1000">
                <a:solidFill>
                  <a:schemeClr val="dk1"/>
                </a:solidFill>
                <a:latin typeface="Source Sans Pro"/>
                <a:ea typeface="Source Sans Pro"/>
                <a:cs typeface="Source Sans Pro"/>
                <a:sym typeface="Source Sans Pro"/>
              </a:rPr>
              <a:t> that drove users to create </a:t>
            </a:r>
            <a:r>
              <a:rPr b="1" lang="en" sz="1000">
                <a:solidFill>
                  <a:schemeClr val="dk1"/>
                </a:solidFill>
                <a:latin typeface="Source Sans Pro"/>
                <a:ea typeface="Source Sans Pro"/>
                <a:cs typeface="Source Sans Pro"/>
                <a:sym typeface="Source Sans Pro"/>
              </a:rPr>
              <a:t>duplicate records </a:t>
            </a:r>
            <a:r>
              <a:rPr lang="en" sz="1000">
                <a:solidFill>
                  <a:schemeClr val="dk1"/>
                </a:solidFill>
                <a:latin typeface="Source Sans Pro"/>
                <a:ea typeface="Source Sans Pro"/>
                <a:cs typeface="Source Sans Pro"/>
                <a:sym typeface="Source Sans Pro"/>
              </a:rPr>
              <a:t>to achieve short-term goals</a:t>
            </a:r>
            <a:endParaRPr b="1" sz="1200">
              <a:latin typeface="Source Sans Pro"/>
              <a:ea typeface="Source Sans Pro"/>
              <a:cs typeface="Source Sans Pro"/>
              <a:sym typeface="Source Sans Pro"/>
            </a:endParaRPr>
          </a:p>
        </p:txBody>
      </p:sp>
      <p:sp>
        <p:nvSpPr>
          <p:cNvPr id="1353" name="Google Shape;1353;p107"/>
          <p:cNvSpPr txBox="1"/>
          <p:nvPr/>
        </p:nvSpPr>
        <p:spPr>
          <a:xfrm>
            <a:off x="6033753" y="1536192"/>
            <a:ext cx="2926200" cy="26424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Established a data publishing service to supplement or augment Mass EOE application data based on the golden records</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0"/>
              </a:spcAft>
              <a:buClr>
                <a:schemeClr val="dk1"/>
              </a:buClr>
              <a:buSzPts val="1000"/>
              <a:buFont typeface="Source Sans Pro"/>
              <a:buChar char="●"/>
            </a:pPr>
            <a:r>
              <a:rPr b="1" lang="en" sz="1000">
                <a:solidFill>
                  <a:schemeClr val="dk1"/>
                </a:solidFill>
                <a:latin typeface="Source Sans Pro"/>
                <a:ea typeface="Source Sans Pro"/>
                <a:cs typeface="Source Sans Pro"/>
                <a:sym typeface="Source Sans Pro"/>
              </a:rPr>
              <a:t>Enabled analysts and researchers to make evidence-based policy decisions</a:t>
            </a:r>
            <a:endParaRPr b="1"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Micro-targeted populations to </a:t>
            </a:r>
            <a:r>
              <a:rPr b="1" lang="en" sz="1000">
                <a:solidFill>
                  <a:schemeClr val="dk1"/>
                </a:solidFill>
                <a:latin typeface="Source Sans Pro"/>
                <a:ea typeface="Source Sans Pro"/>
                <a:cs typeface="Source Sans Pro"/>
                <a:sym typeface="Source Sans Pro"/>
              </a:rPr>
              <a:t>better allocate scarce resources</a:t>
            </a:r>
            <a:endParaRPr sz="1000">
              <a:solidFill>
                <a:schemeClr val="dk1"/>
              </a:solidFill>
              <a:latin typeface="Source Sans Pro"/>
              <a:ea typeface="Source Sans Pro"/>
              <a:cs typeface="Source Sans Pro"/>
              <a:sym typeface="Source Sans Pro"/>
            </a:endParaRPr>
          </a:p>
          <a:p>
            <a:pPr indent="-292100" lvl="0" marL="457200" rtl="0" algn="l">
              <a:lnSpc>
                <a:spcPct val="115000"/>
              </a:lnSpc>
              <a:spcBef>
                <a:spcPts val="1000"/>
              </a:spcBef>
              <a:spcAft>
                <a:spcPts val="1000"/>
              </a:spcAft>
              <a:buClr>
                <a:schemeClr val="dk1"/>
              </a:buClr>
              <a:buSzPts val="1000"/>
              <a:buFont typeface="Source Sans Pro"/>
              <a:buChar char="●"/>
            </a:pPr>
            <a:r>
              <a:rPr lang="en" sz="1000">
                <a:solidFill>
                  <a:schemeClr val="dk1"/>
                </a:solidFill>
                <a:latin typeface="Source Sans Pro"/>
                <a:ea typeface="Source Sans Pro"/>
                <a:cs typeface="Source Sans Pro"/>
                <a:sym typeface="Source Sans Pro"/>
              </a:rPr>
              <a:t>Leveraged 360-customer views to </a:t>
            </a:r>
            <a:r>
              <a:rPr b="1" lang="en" sz="1000">
                <a:solidFill>
                  <a:schemeClr val="dk1"/>
                </a:solidFill>
                <a:latin typeface="Source Sans Pro"/>
                <a:ea typeface="Source Sans Pro"/>
                <a:cs typeface="Source Sans Pro"/>
                <a:sym typeface="Source Sans Pro"/>
              </a:rPr>
              <a:t>anticipate and recommend services</a:t>
            </a:r>
            <a:endParaRPr b="1" sz="1200">
              <a:latin typeface="Source Sans Pro"/>
              <a:ea typeface="Source Sans Pro"/>
              <a:cs typeface="Source Sans Pro"/>
              <a:sym typeface="Source Sans Pro"/>
            </a:endParaRPr>
          </a:p>
        </p:txBody>
      </p:sp>
      <p:sp>
        <p:nvSpPr>
          <p:cNvPr id="1354" name="Google Shape;1354;p107"/>
          <p:cNvSpPr/>
          <p:nvPr/>
        </p:nvSpPr>
        <p:spPr>
          <a:xfrm>
            <a:off x="0" y="0"/>
            <a:ext cx="9144000" cy="8388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FF9900"/>
              </a:solidFill>
              <a:latin typeface="Arial"/>
              <a:ea typeface="Arial"/>
              <a:cs typeface="Arial"/>
              <a:sym typeface="Arial"/>
            </a:endParaRPr>
          </a:p>
        </p:txBody>
      </p:sp>
      <p:sp>
        <p:nvSpPr>
          <p:cNvPr id="1355" name="Google Shape;1355;p107"/>
          <p:cNvSpPr txBox="1"/>
          <p:nvPr/>
        </p:nvSpPr>
        <p:spPr>
          <a:xfrm>
            <a:off x="2386584" y="0"/>
            <a:ext cx="6775800" cy="83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1" lang="en" sz="1800" u="none" cap="none" strike="noStrike">
                <a:solidFill>
                  <a:srgbClr val="FFFFFF"/>
                </a:solidFill>
                <a:latin typeface="Source Sans Pro"/>
                <a:ea typeface="Source Sans Pro"/>
                <a:cs typeface="Source Sans Pro"/>
                <a:sym typeface="Source Sans Pro"/>
              </a:rPr>
              <a:t>Use Case: </a:t>
            </a:r>
            <a:r>
              <a:rPr b="1" lang="en" sz="1800">
                <a:solidFill>
                  <a:srgbClr val="FFFFFF"/>
                </a:solidFill>
                <a:latin typeface="Source Sans Pro"/>
                <a:ea typeface="Source Sans Pro"/>
                <a:cs typeface="Source Sans Pro"/>
                <a:sym typeface="Source Sans Pro"/>
              </a:rPr>
              <a:t>Customer Mastering</a:t>
            </a:r>
            <a:endParaRPr b="0" i="0" sz="1400" u="none" cap="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 sz="1200">
                <a:solidFill>
                  <a:schemeClr val="lt1"/>
                </a:solidFill>
                <a:latin typeface="Source Sans Pro"/>
                <a:ea typeface="Source Sans Pro"/>
                <a:cs typeface="Source Sans Pro"/>
                <a:sym typeface="Source Sans Pro"/>
              </a:rPr>
              <a:t>EOE uses Tamr to create golden records and obtain a 360-degree view of the people and organizations served across all agencies, allowing EOE to improve its services.</a:t>
            </a:r>
            <a:endParaRPr sz="1200">
              <a:solidFill>
                <a:srgbClr val="FFFFFF"/>
              </a:solidFill>
              <a:latin typeface="Source Sans Pro"/>
              <a:ea typeface="Source Sans Pro"/>
              <a:cs typeface="Source Sans Pro"/>
              <a:sym typeface="Source Sans Pro"/>
            </a:endParaRPr>
          </a:p>
        </p:txBody>
      </p:sp>
      <p:sp>
        <p:nvSpPr>
          <p:cNvPr id="1356" name="Google Shape;1356;p107"/>
          <p:cNvSpPr txBox="1"/>
          <p:nvPr/>
        </p:nvSpPr>
        <p:spPr>
          <a:xfrm>
            <a:off x="169936" y="1034420"/>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Challenge</a:t>
            </a:r>
            <a:endParaRPr b="0" i="0" sz="1600" u="none" cap="none" strike="noStrike">
              <a:solidFill>
                <a:schemeClr val="dk1"/>
              </a:solidFill>
              <a:latin typeface="Arial"/>
              <a:ea typeface="Arial"/>
              <a:cs typeface="Arial"/>
              <a:sym typeface="Arial"/>
            </a:endParaRPr>
          </a:p>
        </p:txBody>
      </p:sp>
      <p:sp>
        <p:nvSpPr>
          <p:cNvPr id="1357" name="Google Shape;1357;p107"/>
          <p:cNvSpPr txBox="1"/>
          <p:nvPr/>
        </p:nvSpPr>
        <p:spPr>
          <a:xfrm>
            <a:off x="3095995" y="1033610"/>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i="0" lang="en" sz="1600" u="none" cap="none" strike="noStrike">
                <a:solidFill>
                  <a:schemeClr val="dk1"/>
                </a:solidFill>
                <a:latin typeface="Source Sans Pro"/>
                <a:ea typeface="Source Sans Pro"/>
                <a:cs typeface="Source Sans Pro"/>
                <a:sym typeface="Source Sans Pro"/>
              </a:rPr>
              <a:t>Solution</a:t>
            </a:r>
            <a:endParaRPr b="0" i="0" sz="1600" u="none" cap="none" strike="noStrike">
              <a:solidFill>
                <a:schemeClr val="dk1"/>
              </a:solidFill>
              <a:latin typeface="Arial"/>
              <a:ea typeface="Arial"/>
              <a:cs typeface="Arial"/>
              <a:sym typeface="Arial"/>
            </a:endParaRPr>
          </a:p>
        </p:txBody>
      </p:sp>
      <p:sp>
        <p:nvSpPr>
          <p:cNvPr id="1358" name="Google Shape;1358;p107"/>
          <p:cNvSpPr txBox="1"/>
          <p:nvPr/>
        </p:nvSpPr>
        <p:spPr>
          <a:xfrm>
            <a:off x="6022071" y="1036135"/>
            <a:ext cx="2952000" cy="307800"/>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lang="en" sz="1600">
                <a:solidFill>
                  <a:schemeClr val="dk1"/>
                </a:solidFill>
                <a:latin typeface="Source Sans Pro"/>
                <a:ea typeface="Source Sans Pro"/>
                <a:cs typeface="Source Sans Pro"/>
                <a:sym typeface="Source Sans Pro"/>
              </a:rPr>
              <a:t>Impact</a:t>
            </a:r>
            <a:endParaRPr b="0" i="0" sz="1600" u="none" cap="none" strike="noStrike">
              <a:solidFill>
                <a:schemeClr val="dk1"/>
              </a:solidFill>
              <a:latin typeface="Arial"/>
              <a:ea typeface="Arial"/>
              <a:cs typeface="Arial"/>
              <a:sym typeface="Arial"/>
            </a:endParaRPr>
          </a:p>
        </p:txBody>
      </p:sp>
      <p:sp>
        <p:nvSpPr>
          <p:cNvPr id="1359" name="Google Shape;1359;p107"/>
          <p:cNvSpPr txBox="1"/>
          <p:nvPr/>
        </p:nvSpPr>
        <p:spPr>
          <a:xfrm>
            <a:off x="1515575" y="4245600"/>
            <a:ext cx="6987300" cy="5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73763"/>
                </a:solidFill>
                <a:latin typeface="Source Sans Pro"/>
                <a:ea typeface="Source Sans Pro"/>
                <a:cs typeface="Source Sans Pro"/>
                <a:sym typeface="Source Sans Pro"/>
              </a:rPr>
              <a:t>“Tamr has allowed us to better understand how our various data sources intersect with each other. It provides the means to creatively experiment and iterate, rapidly deepening our understanding and pinpointing the source system data inconsistencies.” - Ed Anderson, Business Analyst, EOE</a:t>
            </a:r>
            <a:endParaRPr b="1" sz="1200">
              <a:solidFill>
                <a:srgbClr val="073763"/>
              </a:solidFill>
              <a:latin typeface="Source Sans Pro"/>
              <a:ea typeface="Source Sans Pro"/>
              <a:cs typeface="Source Sans Pro"/>
              <a:sym typeface="Source Sans Pro"/>
            </a:endParaRPr>
          </a:p>
          <a:p>
            <a:pPr indent="0" lvl="0" marL="0" rtl="0" algn="l">
              <a:lnSpc>
                <a:spcPct val="115000"/>
              </a:lnSpc>
              <a:spcBef>
                <a:spcPts val="0"/>
              </a:spcBef>
              <a:spcAft>
                <a:spcPts val="0"/>
              </a:spcAft>
              <a:buNone/>
            </a:pPr>
            <a:r>
              <a:t/>
            </a:r>
            <a:endParaRPr b="1" i="1" sz="1150">
              <a:solidFill>
                <a:srgbClr val="073763"/>
              </a:solidFill>
              <a:highlight>
                <a:srgbClr val="F8F8F8"/>
              </a:highlight>
              <a:latin typeface="Source Sans Pro"/>
              <a:ea typeface="Source Sans Pro"/>
              <a:cs typeface="Source Sans Pro"/>
              <a:sym typeface="Source Sans Pro"/>
            </a:endParaRPr>
          </a:p>
        </p:txBody>
      </p:sp>
      <p:pic>
        <p:nvPicPr>
          <p:cNvPr id="1360" name="Google Shape;1360;p107"/>
          <p:cNvPicPr preferRelativeResize="0"/>
          <p:nvPr/>
        </p:nvPicPr>
        <p:blipFill>
          <a:blip r:embed="rId3">
            <a:alphaModFix/>
          </a:blip>
          <a:stretch>
            <a:fillRect/>
          </a:stretch>
        </p:blipFill>
        <p:spPr>
          <a:xfrm>
            <a:off x="248925" y="108600"/>
            <a:ext cx="619167" cy="619167"/>
          </a:xfrm>
          <a:prstGeom prst="rect">
            <a:avLst/>
          </a:prstGeom>
          <a:noFill/>
          <a:ln>
            <a:noFill/>
          </a:ln>
        </p:spPr>
      </p:pic>
      <p:sp>
        <p:nvSpPr>
          <p:cNvPr id="1361" name="Google Shape;1361;p107"/>
          <p:cNvSpPr txBox="1"/>
          <p:nvPr/>
        </p:nvSpPr>
        <p:spPr>
          <a:xfrm>
            <a:off x="896525" y="21150"/>
            <a:ext cx="13182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lt1"/>
                </a:solidFill>
                <a:latin typeface="Source Sans Pro"/>
                <a:ea typeface="Source Sans Pro"/>
                <a:cs typeface="Source Sans Pro"/>
                <a:sym typeface="Source Sans Pro"/>
              </a:rPr>
              <a:t>Massachusetts Executive Office of Education</a:t>
            </a:r>
            <a:endParaRPr b="1" sz="1200">
              <a:solidFill>
                <a:schemeClr val="lt1"/>
              </a:solidFill>
              <a:latin typeface="Source Sans Pro"/>
              <a:ea typeface="Source Sans Pro"/>
              <a:cs typeface="Source Sans Pro"/>
              <a:sym typeface="Source Sans Pro"/>
            </a:endParaRPr>
          </a:p>
        </p:txBody>
      </p:sp>
      <p:sp>
        <p:nvSpPr>
          <p:cNvPr id="1362" name="Google Shape;1362;p107"/>
          <p:cNvSpPr/>
          <p:nvPr/>
        </p:nvSpPr>
        <p:spPr>
          <a:xfrm>
            <a:off x="771198" y="4245607"/>
            <a:ext cx="671400" cy="664200"/>
          </a:xfrm>
          <a:prstGeom prst="ellipse">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3" name="Google Shape;1363;p107"/>
          <p:cNvPicPr preferRelativeResize="0"/>
          <p:nvPr/>
        </p:nvPicPr>
        <p:blipFill>
          <a:blip r:embed="rId4">
            <a:alphaModFix/>
          </a:blip>
          <a:stretch>
            <a:fillRect/>
          </a:stretch>
        </p:blipFill>
        <p:spPr>
          <a:xfrm>
            <a:off x="890186" y="4360986"/>
            <a:ext cx="433425" cy="433425"/>
          </a:xfrm>
          <a:prstGeom prst="rect">
            <a:avLst/>
          </a:prstGeom>
          <a:noFill/>
          <a:ln>
            <a:noFill/>
          </a:ln>
        </p:spPr>
      </p:pic>
      <p:cxnSp>
        <p:nvCxnSpPr>
          <p:cNvPr id="1364" name="Google Shape;1364;p107"/>
          <p:cNvCxnSpPr/>
          <p:nvPr/>
        </p:nvCxnSpPr>
        <p:spPr>
          <a:xfrm>
            <a:off x="3108960" y="1537406"/>
            <a:ext cx="0" cy="2304000"/>
          </a:xfrm>
          <a:prstGeom prst="straightConnector1">
            <a:avLst/>
          </a:prstGeom>
          <a:noFill/>
          <a:ln cap="flat" cmpd="sng" w="19050">
            <a:solidFill>
              <a:srgbClr val="073763"/>
            </a:solidFill>
            <a:prstDash val="solid"/>
            <a:round/>
            <a:headEnd len="sm" w="sm" type="none"/>
            <a:tailEnd len="sm" w="sm" type="none"/>
          </a:ln>
        </p:spPr>
      </p:cxnSp>
      <p:cxnSp>
        <p:nvCxnSpPr>
          <p:cNvPr id="1365" name="Google Shape;1365;p107"/>
          <p:cNvCxnSpPr/>
          <p:nvPr/>
        </p:nvCxnSpPr>
        <p:spPr>
          <a:xfrm>
            <a:off x="6035040" y="1536192"/>
            <a:ext cx="0" cy="2304000"/>
          </a:xfrm>
          <a:prstGeom prst="straightConnector1">
            <a:avLst/>
          </a:prstGeom>
          <a:noFill/>
          <a:ln cap="flat" cmpd="sng" w="19050">
            <a:solidFill>
              <a:srgbClr val="073763"/>
            </a:solidFill>
            <a:prstDash val="solid"/>
            <a:round/>
            <a:headEnd len="sm" w="sm" type="none"/>
            <a:tailEnd len="sm" w="sm" type="none"/>
          </a:ln>
        </p:spPr>
      </p:cxnSp>
      <p:sp>
        <p:nvSpPr>
          <p:cNvPr id="1366" name="Google Shape;1366;p107"/>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pic>
        <p:nvPicPr>
          <p:cNvPr id="1371" name="Google Shape;1371;p108"/>
          <p:cNvPicPr preferRelativeResize="0"/>
          <p:nvPr/>
        </p:nvPicPr>
        <p:blipFill>
          <a:blip r:embed="rId3">
            <a:alphaModFix/>
          </a:blip>
          <a:stretch>
            <a:fillRect/>
          </a:stretch>
        </p:blipFill>
        <p:spPr>
          <a:xfrm>
            <a:off x="5427750" y="2838900"/>
            <a:ext cx="1257000" cy="1257000"/>
          </a:xfrm>
          <a:prstGeom prst="ellipse">
            <a:avLst/>
          </a:prstGeom>
          <a:noFill/>
          <a:ln>
            <a:noFill/>
          </a:ln>
        </p:spPr>
      </p:pic>
      <p:sp>
        <p:nvSpPr>
          <p:cNvPr id="1372" name="Google Shape;1372;p108"/>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373" name="Google Shape;1373;p108"/>
          <p:cNvSpPr/>
          <p:nvPr/>
        </p:nvSpPr>
        <p:spPr>
          <a:xfrm>
            <a:off x="0" y="0"/>
            <a:ext cx="49023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08"/>
          <p:cNvSpPr txBox="1"/>
          <p:nvPr/>
        </p:nvSpPr>
        <p:spPr>
          <a:xfrm>
            <a:off x="256925" y="11922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Blackstone is one of the world’s leading investment firms, managing over $500bn in assets</a:t>
            </a:r>
            <a:endParaRPr b="1" sz="1800">
              <a:solidFill>
                <a:srgbClr val="FFFFFF"/>
              </a:solidFill>
              <a:latin typeface="Source Sans Pro"/>
              <a:ea typeface="Source Sans Pro"/>
              <a:cs typeface="Source Sans Pro"/>
              <a:sym typeface="Source Sans Pro"/>
            </a:endParaRPr>
          </a:p>
        </p:txBody>
      </p:sp>
      <p:sp>
        <p:nvSpPr>
          <p:cNvPr id="1375" name="Google Shape;1375;p108"/>
          <p:cNvSpPr txBox="1"/>
          <p:nvPr/>
        </p:nvSpPr>
        <p:spPr>
          <a:xfrm>
            <a:off x="256925" y="2411425"/>
            <a:ext cx="4167300" cy="12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Tamr is Blackstone’s solution for mastering four decades of institutional data, along with a growing library of external data sources, and serves as a cornerstone for their data work across all key business entities</a:t>
            </a:r>
            <a:endParaRPr>
              <a:solidFill>
                <a:srgbClr val="FFFFFF"/>
              </a:solidFill>
              <a:latin typeface="Source Sans Pro"/>
              <a:ea typeface="Source Sans Pro"/>
              <a:cs typeface="Source Sans Pro"/>
              <a:sym typeface="Source Sans Pro"/>
            </a:endParaRPr>
          </a:p>
        </p:txBody>
      </p:sp>
      <p:sp>
        <p:nvSpPr>
          <p:cNvPr id="1376" name="Google Shape;1376;p108"/>
          <p:cNvSpPr txBox="1"/>
          <p:nvPr/>
        </p:nvSpPr>
        <p:spPr>
          <a:xfrm>
            <a:off x="6771050" y="3171913"/>
            <a:ext cx="18363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hlink"/>
                </a:solidFill>
                <a:latin typeface="Source Sans Pro"/>
                <a:ea typeface="Source Sans Pro"/>
                <a:cs typeface="Source Sans Pro"/>
                <a:sym typeface="Source Sans Pro"/>
                <a:hlinkClick r:id="rId4"/>
              </a:rPr>
              <a:t>Thomas Pologruto</a:t>
            </a:r>
            <a:endParaRPr b="1">
              <a:latin typeface="Source Sans Pro"/>
              <a:ea typeface="Source Sans Pro"/>
              <a:cs typeface="Source Sans Pro"/>
              <a:sym typeface="Source Sans Pro"/>
            </a:endParaRPr>
          </a:p>
          <a:p>
            <a:pPr indent="0" lvl="0" marL="0" rtl="0" algn="l">
              <a:spcBef>
                <a:spcPts val="600"/>
              </a:spcBef>
              <a:spcAft>
                <a:spcPts val="0"/>
              </a:spcAft>
              <a:buNone/>
            </a:pPr>
            <a:r>
              <a:rPr lang="en" sz="1200">
                <a:solidFill>
                  <a:schemeClr val="dk1"/>
                </a:solidFill>
                <a:latin typeface="Source Sans Pro"/>
                <a:ea typeface="Source Sans Pro"/>
                <a:cs typeface="Source Sans Pro"/>
                <a:sym typeface="Source Sans Pro"/>
              </a:rPr>
              <a:t>Managing Director, Chief Data Architect &amp; CTO</a:t>
            </a:r>
            <a:endParaRPr sz="1200">
              <a:solidFill>
                <a:schemeClr val="dk1"/>
              </a:solidFill>
              <a:latin typeface="Source Sans Pro"/>
              <a:ea typeface="Source Sans Pro"/>
              <a:cs typeface="Source Sans Pro"/>
              <a:sym typeface="Source Sans Pro"/>
            </a:endParaRPr>
          </a:p>
        </p:txBody>
      </p:sp>
      <p:sp>
        <p:nvSpPr>
          <p:cNvPr id="1377" name="Google Shape;1377;p108"/>
          <p:cNvSpPr txBox="1"/>
          <p:nvPr/>
        </p:nvSpPr>
        <p:spPr>
          <a:xfrm>
            <a:off x="5327200" y="1192225"/>
            <a:ext cx="36291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“Ultimately how I was led to engage with Tamr was our MDM project and understanding how we can take </a:t>
            </a:r>
            <a:r>
              <a:rPr lang="en" u="sng">
                <a:solidFill>
                  <a:schemeClr val="hlink"/>
                </a:solidFill>
                <a:latin typeface="Source Sans Pro"/>
                <a:ea typeface="Source Sans Pro"/>
                <a:cs typeface="Source Sans Pro"/>
                <a:sym typeface="Source Sans Pro"/>
                <a:hlinkClick r:id="rId5"/>
              </a:rPr>
              <a:t>four decades of data and produce a golden copy of a unified data set</a:t>
            </a:r>
            <a:r>
              <a:rPr lang="en">
                <a:solidFill>
                  <a:schemeClr val="dk1"/>
                </a:solidFill>
                <a:latin typeface="Source Sans Pro"/>
                <a:ea typeface="Source Sans Pro"/>
                <a:cs typeface="Source Sans Pro"/>
                <a:sym typeface="Source Sans Pro"/>
              </a:rPr>
              <a:t>”</a:t>
            </a:r>
            <a:endParaRPr>
              <a:solidFill>
                <a:schemeClr val="dk1"/>
              </a:solidFill>
              <a:latin typeface="Source Sans Pro"/>
              <a:ea typeface="Source Sans Pro"/>
              <a:cs typeface="Source Sans Pro"/>
              <a:sym typeface="Source Sans Pro"/>
            </a:endParaRPr>
          </a:p>
        </p:txBody>
      </p:sp>
      <p:pic>
        <p:nvPicPr>
          <p:cNvPr id="1378" name="Google Shape;1378;p108"/>
          <p:cNvPicPr preferRelativeResize="0"/>
          <p:nvPr/>
        </p:nvPicPr>
        <p:blipFill>
          <a:blip r:embed="rId6">
            <a:alphaModFix/>
          </a:blip>
          <a:stretch>
            <a:fillRect/>
          </a:stretch>
        </p:blipFill>
        <p:spPr>
          <a:xfrm>
            <a:off x="341691" y="228593"/>
            <a:ext cx="1768828" cy="690600"/>
          </a:xfrm>
          <a:prstGeom prst="rect">
            <a:avLst/>
          </a:prstGeom>
          <a:noFill/>
          <a:ln>
            <a:noFill/>
          </a:ln>
        </p:spPr>
      </p:pic>
      <p:sp>
        <p:nvSpPr>
          <p:cNvPr id="1379" name="Google Shape;1379;p108"/>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09"/>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385" name="Google Shape;1385;p109"/>
          <p:cNvSpPr/>
          <p:nvPr/>
        </p:nvSpPr>
        <p:spPr>
          <a:xfrm>
            <a:off x="0" y="0"/>
            <a:ext cx="4902300" cy="5143500"/>
          </a:xfrm>
          <a:prstGeom prst="rect">
            <a:avLst/>
          </a:prstGeom>
          <a:solidFill>
            <a:srgbClr val="C72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6" name="Google Shape;1386;p109"/>
          <p:cNvPicPr preferRelativeResize="0"/>
          <p:nvPr/>
        </p:nvPicPr>
        <p:blipFill>
          <a:blip r:embed="rId3">
            <a:alphaModFix/>
          </a:blip>
          <a:stretch>
            <a:fillRect/>
          </a:stretch>
        </p:blipFill>
        <p:spPr>
          <a:xfrm>
            <a:off x="5431536" y="2834640"/>
            <a:ext cx="1252800" cy="1252800"/>
          </a:xfrm>
          <a:prstGeom prst="ellipse">
            <a:avLst/>
          </a:prstGeom>
          <a:noFill/>
          <a:ln>
            <a:noFill/>
          </a:ln>
        </p:spPr>
      </p:pic>
      <p:sp>
        <p:nvSpPr>
          <p:cNvPr id="1387" name="Google Shape;1387;p109"/>
          <p:cNvSpPr txBox="1"/>
          <p:nvPr/>
        </p:nvSpPr>
        <p:spPr>
          <a:xfrm>
            <a:off x="256925" y="11922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Toyota is the second largest automobile manufacturer in the world.</a:t>
            </a:r>
            <a:endParaRPr b="1" sz="1800">
              <a:solidFill>
                <a:srgbClr val="FFFFFF"/>
              </a:solidFill>
              <a:latin typeface="Source Sans Pro"/>
              <a:ea typeface="Source Sans Pro"/>
              <a:cs typeface="Source Sans Pro"/>
              <a:sym typeface="Source Sans Pro"/>
            </a:endParaRPr>
          </a:p>
        </p:txBody>
      </p:sp>
      <p:sp>
        <p:nvSpPr>
          <p:cNvPr id="1388" name="Google Shape;1388;p109"/>
          <p:cNvSpPr txBox="1"/>
          <p:nvPr/>
        </p:nvSpPr>
        <p:spPr>
          <a:xfrm>
            <a:off x="256925" y="24114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Tamr enables Toyota to deliver a consistent, high quality experience to its customers across Europe through up-to-date, mastered data across 50 countries and 250+ data sources</a:t>
            </a:r>
            <a:endParaRPr>
              <a:solidFill>
                <a:srgbClr val="FFFFFF"/>
              </a:solidFill>
              <a:latin typeface="Source Sans Pro"/>
              <a:ea typeface="Source Sans Pro"/>
              <a:cs typeface="Source Sans Pro"/>
              <a:sym typeface="Source Sans Pro"/>
            </a:endParaRPr>
          </a:p>
        </p:txBody>
      </p:sp>
      <p:sp>
        <p:nvSpPr>
          <p:cNvPr id="1389" name="Google Shape;1389;p109"/>
          <p:cNvSpPr txBox="1"/>
          <p:nvPr/>
        </p:nvSpPr>
        <p:spPr>
          <a:xfrm>
            <a:off x="6858000" y="3048104"/>
            <a:ext cx="2051400" cy="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hlink"/>
                </a:solidFill>
                <a:latin typeface="Source Sans Pro"/>
                <a:ea typeface="Source Sans Pro"/>
                <a:cs typeface="Source Sans Pro"/>
                <a:sym typeface="Source Sans Pro"/>
                <a:hlinkClick r:id="rId4"/>
              </a:rPr>
              <a:t>Matt Stevens</a:t>
            </a:r>
            <a:endParaRPr b="1">
              <a:latin typeface="Source Sans Pro"/>
              <a:ea typeface="Source Sans Pro"/>
              <a:cs typeface="Source Sans Pro"/>
              <a:sym typeface="Source Sans Pro"/>
            </a:endParaRPr>
          </a:p>
          <a:p>
            <a:pPr indent="0" lvl="0" marL="0" rtl="0" algn="l">
              <a:spcBef>
                <a:spcPts val="600"/>
              </a:spcBef>
              <a:spcAft>
                <a:spcPts val="0"/>
              </a:spcAft>
              <a:buNone/>
            </a:pPr>
            <a:r>
              <a:rPr lang="en" sz="1200">
                <a:solidFill>
                  <a:schemeClr val="dk1"/>
                </a:solidFill>
                <a:latin typeface="Source Sans Pro"/>
                <a:ea typeface="Source Sans Pro"/>
                <a:cs typeface="Source Sans Pro"/>
                <a:sym typeface="Source Sans Pro"/>
              </a:rPr>
              <a:t>Director of Information Systems</a:t>
            </a:r>
            <a:endParaRPr sz="1200">
              <a:solidFill>
                <a:schemeClr val="dk1"/>
              </a:solidFill>
              <a:latin typeface="Source Sans Pro"/>
              <a:ea typeface="Source Sans Pro"/>
              <a:cs typeface="Source Sans Pro"/>
              <a:sym typeface="Source Sans Pro"/>
            </a:endParaRPr>
          </a:p>
        </p:txBody>
      </p:sp>
      <p:sp>
        <p:nvSpPr>
          <p:cNvPr id="1390" name="Google Shape;1390;p109"/>
          <p:cNvSpPr txBox="1"/>
          <p:nvPr/>
        </p:nvSpPr>
        <p:spPr>
          <a:xfrm>
            <a:off x="5327200" y="1192225"/>
            <a:ext cx="3567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“We want to deeply understand our customers and provide them with the best products and services we have to offer in a very innovative way. We saw a more integrated approach to unifying customer data as a core component of this.”</a:t>
            </a:r>
            <a:endParaRPr>
              <a:solidFill>
                <a:schemeClr val="dk1"/>
              </a:solidFill>
              <a:latin typeface="Source Sans Pro"/>
              <a:ea typeface="Source Sans Pro"/>
              <a:cs typeface="Source Sans Pro"/>
              <a:sym typeface="Source Sans Pro"/>
            </a:endParaRPr>
          </a:p>
        </p:txBody>
      </p:sp>
      <p:pic>
        <p:nvPicPr>
          <p:cNvPr id="1391" name="Google Shape;1391;p109"/>
          <p:cNvPicPr preferRelativeResize="0"/>
          <p:nvPr/>
        </p:nvPicPr>
        <p:blipFill rotWithShape="1">
          <a:blip r:embed="rId5">
            <a:alphaModFix/>
          </a:blip>
          <a:srcRect b="39246" l="0" r="0" t="37205"/>
          <a:stretch/>
        </p:blipFill>
        <p:spPr>
          <a:xfrm>
            <a:off x="310896" y="365760"/>
            <a:ext cx="1679052" cy="395400"/>
          </a:xfrm>
          <a:prstGeom prst="rect">
            <a:avLst/>
          </a:prstGeom>
          <a:noFill/>
          <a:ln>
            <a:noFill/>
          </a:ln>
        </p:spPr>
      </p:pic>
      <p:sp>
        <p:nvSpPr>
          <p:cNvPr id="1392" name="Google Shape;1392;p109"/>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10"/>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398" name="Google Shape;1398;p110"/>
          <p:cNvSpPr/>
          <p:nvPr/>
        </p:nvSpPr>
        <p:spPr>
          <a:xfrm>
            <a:off x="0" y="0"/>
            <a:ext cx="4902300" cy="5143500"/>
          </a:xfrm>
          <a:prstGeom prst="rect">
            <a:avLst/>
          </a:prstGeom>
          <a:solidFill>
            <a:srgbClr val="295E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10"/>
          <p:cNvSpPr txBox="1"/>
          <p:nvPr/>
        </p:nvSpPr>
        <p:spPr>
          <a:xfrm>
            <a:off x="256925" y="11922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Novartis is one of the largest pharmaceutical companies in the world </a:t>
            </a:r>
            <a:endParaRPr b="1" sz="1800">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Our purpose is to reimagine medicine to improve and extend people's lives. </a:t>
            </a:r>
            <a:endParaRPr b="1" sz="1800">
              <a:solidFill>
                <a:srgbClr val="FFFFFF"/>
              </a:solidFill>
              <a:latin typeface="Source Sans Pro"/>
              <a:ea typeface="Source Sans Pro"/>
              <a:cs typeface="Source Sans Pro"/>
              <a:sym typeface="Source Sans Pro"/>
            </a:endParaRPr>
          </a:p>
        </p:txBody>
      </p:sp>
      <p:sp>
        <p:nvSpPr>
          <p:cNvPr id="1400" name="Google Shape;1400;p110"/>
          <p:cNvSpPr txBox="1"/>
          <p:nvPr/>
        </p:nvSpPr>
        <p:spPr>
          <a:xfrm>
            <a:off x="256925" y="2591125"/>
            <a:ext cx="4167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Novartis is pursuing an enterprise-wide initiative to improve its data management practices. Tamr’s data mastering capability will be part of Novartis’ core data management infrastructure as part of a 3 year deal at or above $1m annually</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In addition, Tamr Supplier Mastering project enables Novartis’ procurement team to pursue multi-million dollar cost-savings</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 </a:t>
            </a:r>
            <a:endParaRPr>
              <a:solidFill>
                <a:srgbClr val="FFFFFF"/>
              </a:solidFill>
              <a:latin typeface="Source Sans Pro"/>
              <a:ea typeface="Source Sans Pro"/>
              <a:cs typeface="Source Sans Pro"/>
              <a:sym typeface="Source Sans Pro"/>
            </a:endParaRPr>
          </a:p>
        </p:txBody>
      </p:sp>
      <p:sp>
        <p:nvSpPr>
          <p:cNvPr id="1401" name="Google Shape;1401;p110"/>
          <p:cNvSpPr txBox="1"/>
          <p:nvPr/>
        </p:nvSpPr>
        <p:spPr>
          <a:xfrm>
            <a:off x="6858000" y="2873304"/>
            <a:ext cx="1968000" cy="12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hlink"/>
                </a:solidFill>
                <a:latin typeface="Source Sans Pro"/>
                <a:ea typeface="Source Sans Pro"/>
                <a:cs typeface="Source Sans Pro"/>
                <a:sym typeface="Source Sans Pro"/>
                <a:hlinkClick r:id="rId3"/>
              </a:rPr>
              <a:t>Remy Evard</a:t>
            </a:r>
            <a:endParaRPr b="1">
              <a:latin typeface="Source Sans Pro"/>
              <a:ea typeface="Source Sans Pro"/>
              <a:cs typeface="Source Sans Pro"/>
              <a:sym typeface="Source Sans Pro"/>
            </a:endParaRPr>
          </a:p>
          <a:p>
            <a:pPr indent="0" lvl="0" marL="0" rtl="0" algn="l">
              <a:spcBef>
                <a:spcPts val="600"/>
              </a:spcBef>
              <a:spcAft>
                <a:spcPts val="0"/>
              </a:spcAft>
              <a:buNone/>
            </a:pPr>
            <a:r>
              <a:rPr lang="en" sz="1200">
                <a:solidFill>
                  <a:schemeClr val="dk1"/>
                </a:solidFill>
                <a:latin typeface="Source Sans Pro"/>
                <a:ea typeface="Source Sans Pro"/>
                <a:cs typeface="Source Sans Pro"/>
                <a:sym typeface="Source Sans Pro"/>
              </a:rPr>
              <a:t>Former CIO, Novartis</a:t>
            </a:r>
            <a:endParaRPr sz="12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chemeClr val="dk1"/>
                </a:solidFill>
                <a:latin typeface="Source Sans Pro"/>
                <a:ea typeface="Source Sans Pro"/>
                <a:cs typeface="Source Sans Pro"/>
                <a:sym typeface="Source Sans Pro"/>
              </a:rPr>
              <a:t>Chief Information and Digital Officer at Flagship Pioneering</a:t>
            </a:r>
            <a:endParaRPr sz="1200">
              <a:solidFill>
                <a:schemeClr val="dk1"/>
              </a:solidFill>
              <a:latin typeface="Source Sans Pro"/>
              <a:ea typeface="Source Sans Pro"/>
              <a:cs typeface="Source Sans Pro"/>
              <a:sym typeface="Source Sans Pro"/>
            </a:endParaRPr>
          </a:p>
        </p:txBody>
      </p:sp>
      <p:sp>
        <p:nvSpPr>
          <p:cNvPr id="1402" name="Google Shape;1402;p110"/>
          <p:cNvSpPr txBox="1"/>
          <p:nvPr/>
        </p:nvSpPr>
        <p:spPr>
          <a:xfrm>
            <a:off x="5329829" y="1188720"/>
            <a:ext cx="3567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“Tamr passed stringent vendor requirements and is now installed and configured in Novartis-managed environments serving several business use cases.”</a:t>
            </a:r>
            <a:endParaRPr b="1">
              <a:solidFill>
                <a:schemeClr val="dk1"/>
              </a:solidFill>
              <a:latin typeface="Source Sans Pro"/>
              <a:ea typeface="Source Sans Pro"/>
              <a:cs typeface="Source Sans Pro"/>
              <a:sym typeface="Source Sans Pro"/>
            </a:endParaRPr>
          </a:p>
        </p:txBody>
      </p:sp>
      <p:pic>
        <p:nvPicPr>
          <p:cNvPr id="1403" name="Google Shape;1403;p110"/>
          <p:cNvPicPr preferRelativeResize="0"/>
          <p:nvPr/>
        </p:nvPicPr>
        <p:blipFill>
          <a:blip r:embed="rId4">
            <a:alphaModFix/>
          </a:blip>
          <a:stretch>
            <a:fillRect/>
          </a:stretch>
        </p:blipFill>
        <p:spPr>
          <a:xfrm>
            <a:off x="5431536" y="2834640"/>
            <a:ext cx="1252800" cy="1252800"/>
          </a:xfrm>
          <a:prstGeom prst="ellipse">
            <a:avLst/>
          </a:prstGeom>
          <a:noFill/>
          <a:ln>
            <a:noFill/>
          </a:ln>
        </p:spPr>
      </p:pic>
      <p:pic>
        <p:nvPicPr>
          <p:cNvPr id="1404" name="Google Shape;1404;p110"/>
          <p:cNvPicPr preferRelativeResize="0"/>
          <p:nvPr/>
        </p:nvPicPr>
        <p:blipFill>
          <a:blip r:embed="rId5">
            <a:alphaModFix/>
          </a:blip>
          <a:stretch>
            <a:fillRect/>
          </a:stretch>
        </p:blipFill>
        <p:spPr>
          <a:xfrm>
            <a:off x="351682" y="289560"/>
            <a:ext cx="1688775" cy="729550"/>
          </a:xfrm>
          <a:prstGeom prst="rect">
            <a:avLst/>
          </a:prstGeom>
          <a:noFill/>
          <a:ln>
            <a:noFill/>
          </a:ln>
        </p:spPr>
      </p:pic>
      <p:sp>
        <p:nvSpPr>
          <p:cNvPr id="1405" name="Google Shape;1405;p110"/>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pic>
        <p:nvPicPr>
          <p:cNvPr id="1410" name="Google Shape;1410;p111"/>
          <p:cNvPicPr preferRelativeResize="0"/>
          <p:nvPr/>
        </p:nvPicPr>
        <p:blipFill>
          <a:blip r:embed="rId3">
            <a:alphaModFix/>
          </a:blip>
          <a:stretch>
            <a:fillRect/>
          </a:stretch>
        </p:blipFill>
        <p:spPr>
          <a:xfrm>
            <a:off x="5436726" y="2843466"/>
            <a:ext cx="1257000" cy="1257000"/>
          </a:xfrm>
          <a:prstGeom prst="ellipse">
            <a:avLst/>
          </a:prstGeom>
          <a:noFill/>
          <a:ln>
            <a:noFill/>
          </a:ln>
        </p:spPr>
      </p:pic>
      <p:sp>
        <p:nvSpPr>
          <p:cNvPr id="1411" name="Google Shape;1411;p111"/>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412" name="Google Shape;1412;p111"/>
          <p:cNvSpPr/>
          <p:nvPr/>
        </p:nvSpPr>
        <p:spPr>
          <a:xfrm>
            <a:off x="0" y="0"/>
            <a:ext cx="4902300" cy="5143500"/>
          </a:xfrm>
          <a:prstGeom prst="rect">
            <a:avLst/>
          </a:prstGeom>
          <a:solidFill>
            <a:srgbClr val="367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11"/>
          <p:cNvSpPr txBox="1"/>
          <p:nvPr/>
        </p:nvSpPr>
        <p:spPr>
          <a:xfrm>
            <a:off x="256925" y="24114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Tamr enables Hess to master dozens of internal and external data sources about their wells to prioritize asset acquisition, divestiture, and improvement opportunities</a:t>
            </a:r>
            <a:endParaRPr>
              <a:solidFill>
                <a:srgbClr val="FFFFFF"/>
              </a:solidFill>
              <a:latin typeface="Source Sans Pro"/>
              <a:ea typeface="Source Sans Pro"/>
              <a:cs typeface="Source Sans Pro"/>
              <a:sym typeface="Source Sans Pro"/>
            </a:endParaRPr>
          </a:p>
        </p:txBody>
      </p:sp>
      <p:sp>
        <p:nvSpPr>
          <p:cNvPr id="1414" name="Google Shape;1414;p111"/>
          <p:cNvSpPr txBox="1"/>
          <p:nvPr/>
        </p:nvSpPr>
        <p:spPr>
          <a:xfrm>
            <a:off x="256925" y="11922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Hess is a leading global independent energy company engaged in the exploration and production of crude oil and natural gas.</a:t>
            </a:r>
            <a:endParaRPr b="1" sz="1800">
              <a:solidFill>
                <a:srgbClr val="FFFFFF"/>
              </a:solidFill>
              <a:latin typeface="Source Sans Pro"/>
              <a:ea typeface="Source Sans Pro"/>
              <a:cs typeface="Source Sans Pro"/>
              <a:sym typeface="Source Sans Pro"/>
            </a:endParaRPr>
          </a:p>
        </p:txBody>
      </p:sp>
      <p:sp>
        <p:nvSpPr>
          <p:cNvPr id="1415" name="Google Shape;1415;p111"/>
          <p:cNvSpPr txBox="1"/>
          <p:nvPr/>
        </p:nvSpPr>
        <p:spPr>
          <a:xfrm>
            <a:off x="6859625" y="2879015"/>
            <a:ext cx="1825500" cy="11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hlink"/>
                </a:solidFill>
                <a:latin typeface="Source Sans Pro"/>
                <a:ea typeface="Source Sans Pro"/>
                <a:cs typeface="Source Sans Pro"/>
                <a:sym typeface="Source Sans Pro"/>
                <a:hlinkClick r:id="rId4"/>
              </a:rPr>
              <a:t>Graeme Gordon</a:t>
            </a:r>
            <a:endParaRPr b="1">
              <a:latin typeface="Source Sans Pro"/>
              <a:ea typeface="Source Sans Pro"/>
              <a:cs typeface="Source Sans Pro"/>
              <a:sym typeface="Source Sans Pro"/>
            </a:endParaRPr>
          </a:p>
          <a:p>
            <a:pPr indent="0" lvl="0" marL="0" rtl="0" algn="l">
              <a:spcBef>
                <a:spcPts val="600"/>
              </a:spcBef>
              <a:spcAft>
                <a:spcPts val="0"/>
              </a:spcAft>
              <a:buNone/>
            </a:pPr>
            <a:r>
              <a:rPr lang="en" sz="1200">
                <a:solidFill>
                  <a:schemeClr val="dk1"/>
                </a:solidFill>
                <a:latin typeface="Source Sans Pro"/>
                <a:ea typeface="Source Sans Pro"/>
                <a:cs typeface="Source Sans Pro"/>
                <a:sym typeface="Source Sans Pro"/>
              </a:rPr>
              <a:t>Exploration Senior Geological Advisor – Strategy, Planning &amp; New Basins</a:t>
            </a:r>
            <a:endParaRPr sz="1200">
              <a:solidFill>
                <a:schemeClr val="dk1"/>
              </a:solidFill>
              <a:latin typeface="Source Sans Pro"/>
              <a:ea typeface="Source Sans Pro"/>
              <a:cs typeface="Source Sans Pro"/>
              <a:sym typeface="Source Sans Pro"/>
            </a:endParaRPr>
          </a:p>
        </p:txBody>
      </p:sp>
      <p:sp>
        <p:nvSpPr>
          <p:cNvPr id="1416" name="Google Shape;1416;p111"/>
          <p:cNvSpPr txBox="1"/>
          <p:nvPr/>
        </p:nvSpPr>
        <p:spPr>
          <a:xfrm>
            <a:off x="5327200" y="1192225"/>
            <a:ext cx="3567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“A data source that would have taken us months, and $150k+ to connect, now can be connected in &lt; 1 day with Tamr.”</a:t>
            </a:r>
            <a:endParaRPr>
              <a:solidFill>
                <a:schemeClr val="dk1"/>
              </a:solidFill>
              <a:latin typeface="Source Sans Pro"/>
              <a:ea typeface="Source Sans Pro"/>
              <a:cs typeface="Source Sans Pro"/>
              <a:sym typeface="Source Sans Pro"/>
            </a:endParaRPr>
          </a:p>
        </p:txBody>
      </p:sp>
      <p:pic>
        <p:nvPicPr>
          <p:cNvPr id="1417" name="Google Shape;1417;p111"/>
          <p:cNvPicPr preferRelativeResize="0"/>
          <p:nvPr/>
        </p:nvPicPr>
        <p:blipFill>
          <a:blip r:embed="rId5">
            <a:alphaModFix/>
          </a:blip>
          <a:stretch>
            <a:fillRect/>
          </a:stretch>
        </p:blipFill>
        <p:spPr>
          <a:xfrm>
            <a:off x="356225" y="365760"/>
            <a:ext cx="942651" cy="561675"/>
          </a:xfrm>
          <a:prstGeom prst="rect">
            <a:avLst/>
          </a:prstGeom>
          <a:noFill/>
          <a:ln>
            <a:noFill/>
          </a:ln>
        </p:spPr>
      </p:pic>
      <p:sp>
        <p:nvSpPr>
          <p:cNvPr id="1418" name="Google Shape;1418;p111"/>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1100">
                <a:latin typeface="Source Sans Pro"/>
                <a:ea typeface="Source Sans Pro"/>
                <a:cs typeface="Source Sans Pro"/>
                <a:sym typeface="Source Sans Pro"/>
              </a:rPr>
              <a:t>‹#›</a:t>
            </a:fld>
            <a:endParaRPr sz="1100">
              <a:latin typeface="Source Sans Pro"/>
              <a:ea typeface="Source Sans Pro"/>
              <a:cs typeface="Source Sans Pro"/>
              <a:sym typeface="Source Sans Pr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12"/>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424" name="Google Shape;1424;p112"/>
          <p:cNvSpPr/>
          <p:nvPr/>
        </p:nvSpPr>
        <p:spPr>
          <a:xfrm>
            <a:off x="0" y="0"/>
            <a:ext cx="4902300" cy="5143500"/>
          </a:xfrm>
          <a:prstGeom prst="rect">
            <a:avLst/>
          </a:prstGeom>
          <a:solidFill>
            <a:srgbClr val="BC1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12"/>
          <p:cNvSpPr txBox="1"/>
          <p:nvPr/>
        </p:nvSpPr>
        <p:spPr>
          <a:xfrm>
            <a:off x="256925" y="11922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CAA creates limitless opportunities for the storytellers, trendsetters, icons, and thought leaders who shape popular culture.</a:t>
            </a:r>
            <a:endParaRPr b="1" sz="1800">
              <a:solidFill>
                <a:srgbClr val="FFFFFF"/>
              </a:solidFill>
              <a:latin typeface="Source Sans Pro"/>
              <a:ea typeface="Source Sans Pro"/>
              <a:cs typeface="Source Sans Pro"/>
              <a:sym typeface="Source Sans Pro"/>
            </a:endParaRPr>
          </a:p>
        </p:txBody>
      </p:sp>
      <p:sp>
        <p:nvSpPr>
          <p:cNvPr id="1426" name="Google Shape;1426;p112"/>
          <p:cNvSpPr txBox="1"/>
          <p:nvPr/>
        </p:nvSpPr>
        <p:spPr>
          <a:xfrm>
            <a:off x="256925" y="24114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Tamr enables CAA to provide 1000+ agents with curated data about talent &amp; content to match the best talent with the best opportunities</a:t>
            </a:r>
            <a:endParaRPr>
              <a:solidFill>
                <a:srgbClr val="FFFFFF"/>
              </a:solidFill>
              <a:latin typeface="Source Sans Pro"/>
              <a:ea typeface="Source Sans Pro"/>
              <a:cs typeface="Source Sans Pro"/>
              <a:sym typeface="Source Sans Pro"/>
            </a:endParaRPr>
          </a:p>
        </p:txBody>
      </p:sp>
      <p:pic>
        <p:nvPicPr>
          <p:cNvPr id="1427" name="Google Shape;1427;p112"/>
          <p:cNvPicPr preferRelativeResize="0"/>
          <p:nvPr/>
        </p:nvPicPr>
        <p:blipFill>
          <a:blip r:embed="rId3">
            <a:alphaModFix/>
          </a:blip>
          <a:stretch>
            <a:fillRect/>
          </a:stretch>
        </p:blipFill>
        <p:spPr>
          <a:xfrm>
            <a:off x="369865" y="365760"/>
            <a:ext cx="1128825" cy="568950"/>
          </a:xfrm>
          <a:prstGeom prst="rect">
            <a:avLst/>
          </a:prstGeom>
          <a:noFill/>
          <a:ln>
            <a:noFill/>
          </a:ln>
        </p:spPr>
      </p:pic>
      <p:pic>
        <p:nvPicPr>
          <p:cNvPr id="1428" name="Google Shape;1428;p112"/>
          <p:cNvPicPr preferRelativeResize="0"/>
          <p:nvPr/>
        </p:nvPicPr>
        <p:blipFill>
          <a:blip r:embed="rId4">
            <a:alphaModFix/>
          </a:blip>
          <a:stretch>
            <a:fillRect/>
          </a:stretch>
        </p:blipFill>
        <p:spPr>
          <a:xfrm>
            <a:off x="5431536" y="2852289"/>
            <a:ext cx="1212300" cy="1212300"/>
          </a:xfrm>
          <a:prstGeom prst="ellipse">
            <a:avLst/>
          </a:prstGeom>
          <a:noFill/>
          <a:ln>
            <a:noFill/>
          </a:ln>
        </p:spPr>
      </p:pic>
      <p:sp>
        <p:nvSpPr>
          <p:cNvPr id="1429" name="Google Shape;1429;p112"/>
          <p:cNvSpPr txBox="1"/>
          <p:nvPr/>
        </p:nvSpPr>
        <p:spPr>
          <a:xfrm>
            <a:off x="6858000" y="3233591"/>
            <a:ext cx="1941000" cy="4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hlink"/>
                </a:solidFill>
                <a:latin typeface="Source Sans Pro"/>
                <a:ea typeface="Source Sans Pro"/>
                <a:cs typeface="Source Sans Pro"/>
                <a:sym typeface="Source Sans Pro"/>
                <a:hlinkClick r:id="rId5"/>
              </a:rPr>
              <a:t>André Vargas </a:t>
            </a:r>
            <a:endParaRPr b="1">
              <a:latin typeface="Source Sans Pro"/>
              <a:ea typeface="Source Sans Pro"/>
              <a:cs typeface="Source Sans Pro"/>
              <a:sym typeface="Source Sans Pro"/>
            </a:endParaRPr>
          </a:p>
          <a:p>
            <a:pPr indent="0" lvl="0" marL="0" rtl="0" algn="l">
              <a:spcBef>
                <a:spcPts val="600"/>
              </a:spcBef>
              <a:spcAft>
                <a:spcPts val="0"/>
              </a:spcAft>
              <a:buNone/>
            </a:pPr>
            <a:r>
              <a:rPr lang="en" sz="1200">
                <a:solidFill>
                  <a:schemeClr val="dk1"/>
                </a:solidFill>
                <a:latin typeface="Source Sans Pro"/>
                <a:ea typeface="Source Sans Pro"/>
                <a:cs typeface="Source Sans Pro"/>
                <a:sym typeface="Source Sans Pro"/>
              </a:rPr>
              <a:t>Executive - Data Innovation</a:t>
            </a:r>
            <a:endParaRPr sz="1200">
              <a:solidFill>
                <a:schemeClr val="dk1"/>
              </a:solidFill>
              <a:latin typeface="Source Sans Pro"/>
              <a:ea typeface="Source Sans Pro"/>
              <a:cs typeface="Source Sans Pro"/>
              <a:sym typeface="Source Sans Pro"/>
            </a:endParaRPr>
          </a:p>
        </p:txBody>
      </p:sp>
      <p:sp>
        <p:nvSpPr>
          <p:cNvPr id="1430" name="Google Shape;1430;p112"/>
          <p:cNvSpPr txBox="1"/>
          <p:nvPr/>
        </p:nvSpPr>
        <p:spPr>
          <a:xfrm>
            <a:off x="5327200" y="1192225"/>
            <a:ext cx="3567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“Time to insight has been significantly reduced. Imagine 1000 agents empowered by easy access to all this information to quickly identify opportunities and demonstrate our clients are the best.”</a:t>
            </a:r>
            <a:endParaRPr>
              <a:solidFill>
                <a:schemeClr val="dk1"/>
              </a:solidFill>
              <a:latin typeface="Source Sans Pro"/>
              <a:ea typeface="Source Sans Pro"/>
              <a:cs typeface="Source Sans Pro"/>
              <a:sym typeface="Source Sans Pro"/>
            </a:endParaRPr>
          </a:p>
        </p:txBody>
      </p:sp>
      <p:sp>
        <p:nvSpPr>
          <p:cNvPr id="1431" name="Google Shape;1431;p112"/>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1100">
                <a:latin typeface="Source Sans Pro"/>
                <a:ea typeface="Source Sans Pro"/>
                <a:cs typeface="Source Sans Pro"/>
                <a:sym typeface="Source Sans Pro"/>
              </a:rPr>
              <a:t>‹#›</a:t>
            </a:fld>
            <a:endParaRPr sz="1100">
              <a:latin typeface="Source Sans Pro"/>
              <a:ea typeface="Source Sans Pro"/>
              <a:cs typeface="Source Sans Pro"/>
              <a:sym typeface="Source Sans Pr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113"/>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437" name="Google Shape;1437;p113"/>
          <p:cNvSpPr/>
          <p:nvPr/>
        </p:nvSpPr>
        <p:spPr>
          <a:xfrm>
            <a:off x="0" y="0"/>
            <a:ext cx="4902300" cy="5143500"/>
          </a:xfrm>
          <a:prstGeom prst="rect">
            <a:avLst/>
          </a:prstGeom>
          <a:solidFill>
            <a:srgbClr val="BC1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13"/>
          <p:cNvSpPr txBox="1"/>
          <p:nvPr/>
        </p:nvSpPr>
        <p:spPr>
          <a:xfrm>
            <a:off x="256925" y="11922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Societe Generale is a leading European financial services institution with assets exceeding $1 trillion.</a:t>
            </a:r>
            <a:endParaRPr b="1" sz="1800">
              <a:solidFill>
                <a:srgbClr val="FFFFFF"/>
              </a:solidFill>
              <a:latin typeface="Source Sans Pro"/>
              <a:ea typeface="Source Sans Pro"/>
              <a:cs typeface="Source Sans Pro"/>
              <a:sym typeface="Source Sans Pro"/>
            </a:endParaRPr>
          </a:p>
        </p:txBody>
      </p:sp>
      <p:sp>
        <p:nvSpPr>
          <p:cNvPr id="1439" name="Google Shape;1439;p113"/>
          <p:cNvSpPr txBox="1"/>
          <p:nvPr/>
        </p:nvSpPr>
        <p:spPr>
          <a:xfrm>
            <a:off x="256925" y="2530850"/>
            <a:ext cx="4167300" cy="16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Societe Generale used Tamr to obtain a global view of spend analytics by mastering data from more than 100 ERP systems. With Tamr, </a:t>
            </a:r>
            <a:r>
              <a:rPr lang="en">
                <a:solidFill>
                  <a:schemeClr val="lt1"/>
                </a:solidFill>
                <a:latin typeface="Source Sans Pro"/>
                <a:ea typeface="Source Sans Pro"/>
                <a:cs typeface="Source Sans Pro"/>
                <a:sym typeface="Source Sans Pro"/>
              </a:rPr>
              <a:t>Societe Generale added data sets faster, allowing IT to focus on more valuable projects, and reduced procurement costs by obtaining a holistic view of supplier spend and engagement. </a:t>
            </a:r>
            <a:endParaRPr>
              <a:solidFill>
                <a:srgbClr val="FFFFFF"/>
              </a:solidFill>
              <a:latin typeface="Source Sans Pro"/>
              <a:ea typeface="Source Sans Pro"/>
              <a:cs typeface="Source Sans Pro"/>
              <a:sym typeface="Source Sans Pro"/>
            </a:endParaRPr>
          </a:p>
        </p:txBody>
      </p:sp>
      <p:sp>
        <p:nvSpPr>
          <p:cNvPr id="1440" name="Google Shape;1440;p113"/>
          <p:cNvSpPr txBox="1"/>
          <p:nvPr/>
        </p:nvSpPr>
        <p:spPr>
          <a:xfrm>
            <a:off x="6858000" y="2976101"/>
            <a:ext cx="1941000" cy="9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accent3"/>
                </a:solidFill>
                <a:latin typeface="Source Sans Pro"/>
                <a:ea typeface="Source Sans Pro"/>
                <a:cs typeface="Source Sans Pro"/>
                <a:sym typeface="Source Sans Pro"/>
              </a:rPr>
              <a:t>Jean-Baptiste Anne</a:t>
            </a:r>
            <a:endParaRPr b="1" u="sng">
              <a:solidFill>
                <a:schemeClr val="accent3"/>
              </a:solidFill>
              <a:latin typeface="Source Sans Pro"/>
              <a:ea typeface="Source Sans Pro"/>
              <a:cs typeface="Source Sans Pro"/>
              <a:sym typeface="Source Sans Pro"/>
            </a:endParaRPr>
          </a:p>
          <a:p>
            <a:pPr indent="0" lvl="0" marL="0" rtl="0" algn="l">
              <a:spcBef>
                <a:spcPts val="600"/>
              </a:spcBef>
              <a:spcAft>
                <a:spcPts val="0"/>
              </a:spcAft>
              <a:buNone/>
            </a:pPr>
            <a:r>
              <a:rPr lang="en" sz="1200">
                <a:solidFill>
                  <a:schemeClr val="dk1"/>
                </a:solidFill>
                <a:latin typeface="Source Sans Pro"/>
                <a:ea typeface="Source Sans Pro"/>
                <a:cs typeface="Source Sans Pro"/>
                <a:sym typeface="Source Sans Pro"/>
              </a:rPr>
              <a:t>Former Head of Sourcing Methods and Information Systems</a:t>
            </a:r>
            <a:endParaRPr sz="1200">
              <a:solidFill>
                <a:schemeClr val="dk1"/>
              </a:solidFill>
              <a:latin typeface="Source Sans Pro"/>
              <a:ea typeface="Source Sans Pro"/>
              <a:cs typeface="Source Sans Pro"/>
              <a:sym typeface="Source Sans Pro"/>
            </a:endParaRPr>
          </a:p>
        </p:txBody>
      </p:sp>
      <p:sp>
        <p:nvSpPr>
          <p:cNvPr id="1441" name="Google Shape;1441;p113"/>
          <p:cNvSpPr txBox="1"/>
          <p:nvPr/>
        </p:nvSpPr>
        <p:spPr>
          <a:xfrm>
            <a:off x="5327057" y="1188720"/>
            <a:ext cx="3567300" cy="103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Source Sans Pro"/>
                <a:ea typeface="Source Sans Pro"/>
                <a:cs typeface="Source Sans Pro"/>
                <a:sym typeface="Source Sans Pro"/>
              </a:rPr>
              <a:t>“I’ve been impressed by not only the caliber of the human-guided machine learning that rapidly scaled our analytical operations but also by the professionalism and expertise of the field engineering teams of Tamr.”</a:t>
            </a:r>
            <a:endParaRPr>
              <a:solidFill>
                <a:schemeClr val="dk1"/>
              </a:solidFill>
              <a:latin typeface="Source Sans Pro"/>
              <a:ea typeface="Source Sans Pro"/>
              <a:cs typeface="Source Sans Pro"/>
              <a:sym typeface="Source Sans Pro"/>
            </a:endParaRPr>
          </a:p>
        </p:txBody>
      </p:sp>
      <p:sp>
        <p:nvSpPr>
          <p:cNvPr id="1442" name="Google Shape;1442;p113"/>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43" name="Google Shape;1443;p113"/>
          <p:cNvPicPr preferRelativeResize="0"/>
          <p:nvPr/>
        </p:nvPicPr>
        <p:blipFill>
          <a:blip r:embed="rId3">
            <a:alphaModFix/>
          </a:blip>
          <a:stretch>
            <a:fillRect/>
          </a:stretch>
        </p:blipFill>
        <p:spPr>
          <a:xfrm>
            <a:off x="365250" y="372299"/>
            <a:ext cx="1833155" cy="449700"/>
          </a:xfrm>
          <a:prstGeom prst="rect">
            <a:avLst/>
          </a:prstGeom>
          <a:noFill/>
          <a:ln>
            <a:noFill/>
          </a:ln>
        </p:spPr>
      </p:pic>
      <p:pic>
        <p:nvPicPr>
          <p:cNvPr id="1444" name="Google Shape;1444;p113"/>
          <p:cNvPicPr preferRelativeResize="0"/>
          <p:nvPr/>
        </p:nvPicPr>
        <p:blipFill rotWithShape="1">
          <a:blip r:embed="rId4">
            <a:alphaModFix/>
          </a:blip>
          <a:srcRect b="0" l="6477" r="6468" t="0"/>
          <a:stretch/>
        </p:blipFill>
        <p:spPr>
          <a:xfrm>
            <a:off x="5431536" y="2834640"/>
            <a:ext cx="1252800" cy="1252800"/>
          </a:xfrm>
          <a:prstGeom prst="ellipse">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114"/>
          <p:cNvSpPr txBox="1"/>
          <p:nvPr/>
        </p:nvSpPr>
        <p:spPr>
          <a:xfrm>
            <a:off x="6858000" y="3126376"/>
            <a:ext cx="1837800" cy="6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accent3"/>
                </a:solidFill>
                <a:latin typeface="Source Sans Pro"/>
                <a:ea typeface="Source Sans Pro"/>
                <a:cs typeface="Source Sans Pro"/>
                <a:sym typeface="Source Sans Pro"/>
              </a:rPr>
              <a:t>Mona Vernon</a:t>
            </a:r>
            <a:endParaRPr b="1" u="sng">
              <a:solidFill>
                <a:schemeClr val="accent3"/>
              </a:solidFill>
              <a:latin typeface="Source Sans Pro"/>
              <a:ea typeface="Source Sans Pro"/>
              <a:cs typeface="Source Sans Pro"/>
              <a:sym typeface="Source Sans Pro"/>
            </a:endParaRPr>
          </a:p>
          <a:p>
            <a:pPr indent="0" lvl="0" marL="0" rtl="0" algn="l">
              <a:spcBef>
                <a:spcPts val="0"/>
              </a:spcBef>
              <a:spcAft>
                <a:spcPts val="0"/>
              </a:spcAft>
              <a:buNone/>
            </a:pPr>
            <a:r>
              <a:rPr lang="en" sz="1200">
                <a:solidFill>
                  <a:schemeClr val="dk1"/>
                </a:solidFill>
                <a:latin typeface="Source Sans Pro"/>
                <a:ea typeface="Source Sans Pro"/>
                <a:cs typeface="Source Sans Pro"/>
                <a:sym typeface="Source Sans Pro"/>
              </a:rPr>
              <a:t>Former CIO Thomson Reuters Labs</a:t>
            </a:r>
            <a:endParaRPr b="1">
              <a:latin typeface="Source Sans Pro"/>
              <a:ea typeface="Source Sans Pro"/>
              <a:cs typeface="Source Sans Pro"/>
              <a:sym typeface="Source Sans Pro"/>
            </a:endParaRPr>
          </a:p>
        </p:txBody>
      </p:sp>
      <p:sp>
        <p:nvSpPr>
          <p:cNvPr id="1450" name="Google Shape;1450;p114"/>
          <p:cNvSpPr txBox="1"/>
          <p:nvPr/>
        </p:nvSpPr>
        <p:spPr>
          <a:xfrm>
            <a:off x="86200" y="4693925"/>
            <a:ext cx="1609200" cy="4497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1451" name="Google Shape;1451;p114"/>
          <p:cNvSpPr/>
          <p:nvPr/>
        </p:nvSpPr>
        <p:spPr>
          <a:xfrm>
            <a:off x="0" y="0"/>
            <a:ext cx="4902300" cy="5143500"/>
          </a:xfrm>
          <a:prstGeom prst="rect">
            <a:avLst/>
          </a:prstGeom>
          <a:solidFill>
            <a:srgbClr val="367A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14"/>
          <p:cNvSpPr txBox="1"/>
          <p:nvPr/>
        </p:nvSpPr>
        <p:spPr>
          <a:xfrm>
            <a:off x="256925" y="2411425"/>
            <a:ext cx="4167300" cy="8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TR’s Enterprise Customer Mastering (ECM) team maintains data spanning &gt;20 different sources into a single view of ultimate company ownership and industry classification. </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rPr lang="en">
                <a:solidFill>
                  <a:srgbClr val="FFFFFF"/>
                </a:solidFill>
                <a:latin typeface="Source Sans Pro"/>
                <a:ea typeface="Source Sans Pro"/>
                <a:cs typeface="Source Sans Pro"/>
                <a:sym typeface="Source Sans Pro"/>
              </a:rPr>
              <a:t>Tamr enabled Thomson Reuters to expedite entity integration efforts by several months while reducing the manual effort by over 40%. </a:t>
            </a:r>
            <a:endParaRPr>
              <a:solidFill>
                <a:srgbClr val="FFFFFF"/>
              </a:solidFill>
              <a:latin typeface="Source Sans Pro"/>
              <a:ea typeface="Source Sans Pro"/>
              <a:cs typeface="Source Sans Pro"/>
              <a:sym typeface="Source Sans Pro"/>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rgbClr val="FFFFFF"/>
              </a:solidFill>
              <a:latin typeface="Source Sans Pro"/>
              <a:ea typeface="Source Sans Pro"/>
              <a:cs typeface="Source Sans Pro"/>
              <a:sym typeface="Source Sans Pro"/>
            </a:endParaRPr>
          </a:p>
          <a:p>
            <a:pPr indent="0" lvl="0" marL="0" rtl="0" algn="l">
              <a:spcBef>
                <a:spcPts val="0"/>
              </a:spcBef>
              <a:spcAft>
                <a:spcPts val="0"/>
              </a:spcAft>
              <a:buNone/>
            </a:pPr>
            <a:r>
              <a:t/>
            </a:r>
            <a:endParaRPr>
              <a:solidFill>
                <a:srgbClr val="FFFFFF"/>
              </a:solidFill>
              <a:latin typeface="Source Sans Pro"/>
              <a:ea typeface="Source Sans Pro"/>
              <a:cs typeface="Source Sans Pro"/>
              <a:sym typeface="Source Sans Pro"/>
            </a:endParaRPr>
          </a:p>
        </p:txBody>
      </p:sp>
      <p:sp>
        <p:nvSpPr>
          <p:cNvPr id="1453" name="Google Shape;1453;p114"/>
          <p:cNvSpPr txBox="1"/>
          <p:nvPr/>
        </p:nvSpPr>
        <p:spPr>
          <a:xfrm>
            <a:off x="256925" y="1192225"/>
            <a:ext cx="4344600" cy="12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Source Sans Pro"/>
                <a:ea typeface="Source Sans Pro"/>
                <a:cs typeface="Source Sans Pro"/>
                <a:sym typeface="Source Sans Pro"/>
              </a:rPr>
              <a:t>Thomson Reuters is the world's leading provider of news and information-based tools to professionals. </a:t>
            </a:r>
            <a:endParaRPr b="1" sz="1800">
              <a:solidFill>
                <a:srgbClr val="FFFFFF"/>
              </a:solidFill>
              <a:latin typeface="Source Sans Pro"/>
              <a:ea typeface="Source Sans Pro"/>
              <a:cs typeface="Source Sans Pro"/>
              <a:sym typeface="Source Sans Pro"/>
            </a:endParaRPr>
          </a:p>
        </p:txBody>
      </p:sp>
      <p:sp>
        <p:nvSpPr>
          <p:cNvPr id="1454" name="Google Shape;1454;p114"/>
          <p:cNvSpPr txBox="1"/>
          <p:nvPr/>
        </p:nvSpPr>
        <p:spPr>
          <a:xfrm>
            <a:off x="5327200" y="1192225"/>
            <a:ext cx="3567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Pro"/>
                <a:ea typeface="Source Sans Pro"/>
                <a:cs typeface="Source Sans Pro"/>
                <a:sym typeface="Source Sans Pro"/>
              </a:rPr>
              <a:t>“Since we brought Tamr in four years ago, it has become an integral part of our big data platform which powers our products and services.”</a:t>
            </a:r>
            <a:endParaRPr>
              <a:solidFill>
                <a:schemeClr val="dk1"/>
              </a:solidFill>
              <a:latin typeface="Source Sans Pro"/>
              <a:ea typeface="Source Sans Pro"/>
              <a:cs typeface="Source Sans Pro"/>
              <a:sym typeface="Source Sans Pro"/>
            </a:endParaRPr>
          </a:p>
        </p:txBody>
      </p:sp>
      <p:pic>
        <p:nvPicPr>
          <p:cNvPr id="1455" name="Google Shape;1455;p114"/>
          <p:cNvPicPr preferRelativeResize="0"/>
          <p:nvPr/>
        </p:nvPicPr>
        <p:blipFill>
          <a:blip r:embed="rId3">
            <a:alphaModFix/>
          </a:blip>
          <a:stretch>
            <a:fillRect/>
          </a:stretch>
        </p:blipFill>
        <p:spPr>
          <a:xfrm>
            <a:off x="329184" y="365760"/>
            <a:ext cx="2618952" cy="361200"/>
          </a:xfrm>
          <a:prstGeom prst="rect">
            <a:avLst/>
          </a:prstGeom>
          <a:noFill/>
          <a:ln>
            <a:noFill/>
          </a:ln>
        </p:spPr>
      </p:pic>
      <p:grpSp>
        <p:nvGrpSpPr>
          <p:cNvPr id="1456" name="Google Shape;1456;p114"/>
          <p:cNvGrpSpPr/>
          <p:nvPr/>
        </p:nvGrpSpPr>
        <p:grpSpPr>
          <a:xfrm>
            <a:off x="5431536" y="2839125"/>
            <a:ext cx="1252800" cy="1252800"/>
            <a:chOff x="5420000" y="2839125"/>
            <a:chExt cx="1252800" cy="1252800"/>
          </a:xfrm>
        </p:grpSpPr>
        <p:pic>
          <p:nvPicPr>
            <p:cNvPr id="1457" name="Google Shape;1457;p114"/>
            <p:cNvPicPr preferRelativeResize="0"/>
            <p:nvPr/>
          </p:nvPicPr>
          <p:blipFill rotWithShape="1">
            <a:blip r:embed="rId4">
              <a:alphaModFix/>
            </a:blip>
            <a:srcRect b="35886" l="17700" r="13671" t="-4516"/>
            <a:stretch/>
          </p:blipFill>
          <p:spPr>
            <a:xfrm>
              <a:off x="5420000" y="2839125"/>
              <a:ext cx="1252800" cy="1252800"/>
            </a:xfrm>
            <a:prstGeom prst="ellipse">
              <a:avLst/>
            </a:prstGeom>
            <a:noFill/>
            <a:ln>
              <a:noFill/>
            </a:ln>
          </p:spPr>
        </p:pic>
        <p:sp>
          <p:nvSpPr>
            <p:cNvPr id="1458" name="Google Shape;1458;p114"/>
            <p:cNvSpPr/>
            <p:nvPr/>
          </p:nvSpPr>
          <p:spPr>
            <a:xfrm>
              <a:off x="5420000" y="2839125"/>
              <a:ext cx="1252800" cy="1252800"/>
            </a:xfrm>
            <a:prstGeom prst="ellipse">
              <a:avLst/>
            </a:prstGeom>
            <a:solidFill>
              <a:srgbClr val="000000">
                <a:alpha val="33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9" name="Google Shape;1459;p114"/>
          <p:cNvSpPr txBox="1"/>
          <p:nvPr>
            <p:ph idx="12" type="sldNum"/>
          </p:nvPr>
        </p:nvSpPr>
        <p:spPr>
          <a:xfrm>
            <a:off x="8458200" y="4724400"/>
            <a:ext cx="533400" cy="292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amr">
  <a:themeElements>
    <a:clrScheme name="Simple Light">
      <a:dk1>
        <a:srgbClr val="343A43"/>
      </a:dk1>
      <a:lt1>
        <a:srgbClr val="FFFFFF"/>
      </a:lt1>
      <a:dk2>
        <a:srgbClr val="CCCCCC"/>
      </a:dk2>
      <a:lt2>
        <a:srgbClr val="37404A"/>
      </a:lt2>
      <a:accent1>
        <a:srgbClr val="0859C6"/>
      </a:accent1>
      <a:accent2>
        <a:srgbClr val="089FFF"/>
      </a:accent2>
      <a:accent3>
        <a:srgbClr val="00CCFF"/>
      </a:accent3>
      <a:accent4>
        <a:srgbClr val="8AD1FF"/>
      </a:accent4>
      <a:accent5>
        <a:srgbClr val="187AE1"/>
      </a:accent5>
      <a:accent6>
        <a:srgbClr val="00367F"/>
      </a:accent6>
      <a:hlink>
        <a:srgbClr val="00CC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amr">
  <a:themeElements>
    <a:clrScheme name="Simple Light">
      <a:dk1>
        <a:srgbClr val="343A43"/>
      </a:dk1>
      <a:lt1>
        <a:srgbClr val="FFFFFF"/>
      </a:lt1>
      <a:dk2>
        <a:srgbClr val="CCCCCC"/>
      </a:dk2>
      <a:lt2>
        <a:srgbClr val="37404A"/>
      </a:lt2>
      <a:accent1>
        <a:srgbClr val="0859C6"/>
      </a:accent1>
      <a:accent2>
        <a:srgbClr val="089FFF"/>
      </a:accent2>
      <a:accent3>
        <a:srgbClr val="00CCFF"/>
      </a:accent3>
      <a:accent4>
        <a:srgbClr val="8AD1FF"/>
      </a:accent4>
      <a:accent5>
        <a:srgbClr val="187AE1"/>
      </a:accent5>
      <a:accent6>
        <a:srgbClr val="00367F"/>
      </a:accent6>
      <a:hlink>
        <a:srgbClr val="00CC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amr">
  <a:themeElements>
    <a:clrScheme name="Simple Light">
      <a:dk1>
        <a:srgbClr val="343A43"/>
      </a:dk1>
      <a:lt1>
        <a:srgbClr val="FFFFFF"/>
      </a:lt1>
      <a:dk2>
        <a:srgbClr val="797E84"/>
      </a:dk2>
      <a:lt2>
        <a:srgbClr val="C4C5C6"/>
      </a:lt2>
      <a:accent1>
        <a:srgbClr val="0859C6"/>
      </a:accent1>
      <a:accent2>
        <a:srgbClr val="089FFF"/>
      </a:accent2>
      <a:accent3>
        <a:srgbClr val="00CCFF"/>
      </a:accent3>
      <a:accent4>
        <a:srgbClr val="FFB600"/>
      </a:accent4>
      <a:accent5>
        <a:srgbClr val="F67800"/>
      </a:accent5>
      <a:accent6>
        <a:srgbClr val="F52357"/>
      </a:accent6>
      <a:hlink>
        <a:srgbClr val="0EB0F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